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Inter" panose="02000503000000020004" pitchFamily="2" charset="0"/>
      <p:regular r:id="rId20"/>
      <p:bold r:id="rId21"/>
    </p:embeddedFont>
    <p:embeddedFont>
      <p:font typeface="PT Serif" panose="020A0603040505090204" pitchFamily="18" charset="0"/>
      <p: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80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Привет, мы команда RWB. Capibara, маркетплейс из Сан-Паулу: два года работы, почти сто тысяч заказов и восемь выгрузок, которые никто не приводил в порядок. Каждый отчёт аналитики собирают заново и каждый раз получают разные цифры. Мы построили модель, на которую можно опереться. Расскажем, что нашли в данных, как построили модель и почему каждое решение именно такое.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таблиц, около 550 тысяч строк. Заказы с хронологией, позиции, платежи, отзывы, товары, продавцы, покупатели и справочник переводов. Важно: каждая колонка приехала текстом, даже даты и деньги. Это нормально для raw-слоя: грузим как есть, чтобы загрузка не падала на мусоре. А вот типизация и чистка уже наша работа. Прежде чем проектировать схему, мы прошлись скриптами по каждой колонке. Вот что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Первое: в данных врут идентификаторы. У покупателя два id. customer_id это учётка одного заказа, их 99 441, на каждый заказ новая. Человек это customer_unique_id, их 96 096. Если считать по customer_id, повторных покупок не будет вовсе. Второе: review_id неуникален, 789 отзывов висят сразу на нескольких заказах. Третье: order_item_id вообще не идентификатор, это порядковый номер позиции внутри заказа.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дыры. 610 товаров без категории, и на них 170 тысяч выручки: выбросишь, и сумма по категориям не сойдётся с общей. В товарах 73 категории, в файле переводов 71: соберёшь справочник из переводов, и две категории молча исчезнут из отчётов. 775 заказов вообще без позиций, почти все unavailable и canceled. И в ноябре 2016 ни одного заказа: если строить отчёт только от фактов, месяц молча пропадёт.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просто грязь. 1 359 заказов отгружены раньше подтверждения оплаты, 23 вручены раньше отгрузки, у шести отменённых стоит дата вручения. Города продавцов записаны 611 способами, один вместо города вписал почтовый индекс. Платежи не бьются с суммой позиций в тысяче с лишним заказов. Вывод простой: источникам доверять нельзя, проверки должны жить в модели, а не в голове аналитика.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правила переноса. Типы приводим жёстко: если в дате мусор, сборка падает, и это хорошо, мы видим грязь, а не прячем её в отчёте. Пустые строки превращаем в NULL. На каждой таблице первичный ключ, между таблицами внешние ключи, плюс CHECK: статус только из списка, оценка 1–5, цена не отрицательная. База сама не даёт записать мусор. И всё это собирается одним скриптом с нуля, в одной транзакции: наполовину собранной модели не бывает.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классическая, три слоя. raw не трогаем вообще, только читаем. core это наша модель: типы, ключи, связи, дедупликация; именно отсюда считаются ответы. mart это витрины под конкретную задачу, у нас это исполнение заказа. Каждый слой пересобирается из предыдущего одним скриптом.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таблиц. Ключевые решения видны по первичным ключам: покупатель по customer_unique_id, позиции по паре заказ плюс номер, отзывы по паре review_id плюс order_id, потому что один отзыв бывает на нескольких заказах. Деньги numeric, даты timestamp. Любой дубль или провисшая связь не запишется.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Самые спорные решения с аргументами. Человек равен customer_unique_id: иначе 99 441 «покупатель» и ноль повторных, а у нас 96 096 и 3,12%, сходится с контролем организаторов. География хранится снимком в заказе: если брать из справочника, старые заказы получат новый адрес человека и исторические отчёты по регионам поедут. Справочник категорий собран из товаров, а не из файла переводов, перевод просто опционален. Товары без категории не выбрасываем, а показываем отдельной строкой. И везде, где пары может не быть, LEFT JOIN: 775 заказов без позиций остаются в отчётах.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мы убедились, что ничего не потеряли: сверка. Счётчики raw против core совпадают по всем таблицам, вот они на слайде. В витринах проверяются число строк, пары заказ-продавец и сумма денег, и при расхождении скрипт падает с ошибкой, а не молчит. 96 096 против 99 441 в customers это не потеря, а дедупликация, в ней смысл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витрины. order_fulfillment: одна строка, один заказ, все 99 441. Этапы в днях, флаг on_time, суммы, последний отзыв. Этапы с нарушенной хронологией становятся NULL, чтобы не портить медианы. seller_shipment: строка на пару заказ-продавец, срок отгрузки и флаг «успел ли». Тонкость: дата отгрузки в источнике одна на весь заказ, поэтому рейтинг продавца честно считается только по заказам с одним продавцом, для этого флаг is_single_seller. Зачем всё это: вопрос про исполнение заказа становится одним SELECT без join, ошибиться уровнем просто негде.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Ответы. Все пять контрольных цифр сошлись: 24 месяца с итогом 13 221 498.11; топ-продавец из Гуарибы с 226 987.93; средний чек 159.88; 96 096 покупателей и 3,12% повторных; 74 категории. В каждом вопросе своя ловушка, и у нас на неё приём: календарь через generate_series, выручка продавца от позиций, чек в две ступени. Выручка везде определена одинаково: сумма цен по доставленным заказам. Поэтому цифры сходятся между отчётами.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 к вашим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U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:\Projects\hacks\rwb-new\presentation\pptx\assets\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175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2200" y="304800"/>
            <a:ext cx="12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41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5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41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x:fade:900:500:1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4" name="fx:fly_0.075_-0.406:236:900:2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5" name="fx:fly_-0.198_-0.237:336:900:3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6" name="fx:fly_-0.153_-0.262:386:900:4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7" name="fx:fly_-0.081_-0.335:436:900:5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8" name="fx:fly_0.226_-0.310:416:900:6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9" name="fx:fly_-0.023_-0.291:495:900:7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0" name="fx:fly_-0.122_-0.383:484:900:8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1" name="fx:fly_0.140_-0.190:553:900:9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2" name="fx:fly_-0.030_-0.315:631:900:10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3" name="fx:fly_0.077_-0.364:650:900:11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4" name="fx:fade:1320:500:12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5" name="fx:fly_0.169_-0.190:627:900:13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6" name="fx:fly_-0.046_-0.397:675:900:14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7" name="fx:fly_0.140_-0.339:813:900:15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8" name="fx:fly_-0.063_-0.372:850:900:16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19" name="fx:fly_0.052_-0.348:836:900:17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0" name="fx:fly_0.193_-0.372:943:900:18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1" name="fx:fly_0.069_-0.298:979:900:19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2" name="fx:fly_-0.111_-0.231:995:900:20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3" name="fx:fly_-0.140_-0.275:1041:900:21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4" name="fx:fly_0.192_-0.283:1046:900:22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5" name="fx:fade:1740:500:23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6" name="fx:fly_0.091_-0.359:1151:900:24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7" name="fx:fly_-0.233_-0.359:1106:900:25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8" name="fx:fly_-0.071_-0.387:1171:900:26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29" name="fx:fly_-0.217_-0.295:1275:900:27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0" name="fx:fly_0.039_-0.189:1229:900:28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1" name="fx:fly_-0.095_-0.423:1323:900:29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2" name="fx:fly_0.089_-0.350:1367:900:30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3" name="fx:fly_-0.200_-0.326:1410:900:31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4" name="fx:fly_0.246_-0.204:1503:900:32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5" name="fx:fly_0.135_-0.338:1455:900:33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6" name="fx:fade:2400:500:34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7" name="fx:drop:2100:800:35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38" name="fx:rise:250:700:36" descr="W:\Projects\hacks\rwb-new\presentation\pptx\assets\wm-0-ink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39" name="fx:rise:340:700:37" descr="W:\Projects\hacks\rwb-new\presentation\pptx\assets\wm-1-ink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40" name="fx:rise:430:700:38" descr="W:\Projects\hacks\rwb-new\presentation\pptx\assets\wm-2-ink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41" name="fx:rise:520:700:39" descr="W:\Projects\hacks\rwb-new\presentation\pptx\assets\wm-3-ink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42" name="fx:rise:610:700:40" descr="W:\Projects\hacks\rwb-new\presentation\pptx\assets\wm-4-ink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sp>
        <p:nvSpPr>
          <p:cNvPr id="43" name="fx:rise:1100:700:41"/>
          <p:cNvSpPr txBox="1"/>
          <p:nvPr/>
        </p:nvSpPr>
        <p:spPr>
          <a:xfrm>
            <a:off x="762000" y="3810000"/>
            <a:ext cx="571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данных Capibara:</a:t>
            </a:r>
            <a:endParaRPr lang="en-US" sz="3200" dirty="0"/>
          </a:p>
          <a:p>
            <a:pPr marL="0" indent="0" algn="l">
              <a:lnSpc>
                <a:spcPct val="95000"/>
              </a:lnSpc>
              <a:buNone/>
            </a:pPr>
            <a:r>
              <a:rPr lang="en-US" sz="3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от корзины до выкупа</a:t>
            </a:r>
            <a:endParaRPr lang="en-US" sz="3200" dirty="0"/>
          </a:p>
        </p:txBody>
      </p:sp>
      <p:sp>
        <p:nvSpPr>
          <p:cNvPr id="44" name="fx:fade:1700:600:42"/>
          <p:cNvSpPr txBox="1"/>
          <p:nvPr/>
        </p:nvSpPr>
        <p:spPr>
          <a:xfrm>
            <a:off x="762000" y="6223000"/>
            <a:ext cx="571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Хакатон, кейс «Модель маркетплейса»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23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4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7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4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4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98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3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5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6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416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1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436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8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9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2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9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9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553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9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4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9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9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627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9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6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9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9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fill="hold" nodeType="withEffect">
                                  <p:stCondLst>
                                    <p:cond delay="631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9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3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9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9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77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9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6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9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4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9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nodeType="withEffect">
                                  <p:stCondLst>
                                    <p:cond delay="81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9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4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9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3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2" presetClass="entr" presetSubtype="4" fill="hold" nodeType="withEffect">
                                  <p:stCondLst>
                                    <p:cond delay="836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9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5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9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4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9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6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9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7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9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9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9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7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nodeType="withEffect">
                                  <p:stCondLst>
                                    <p:cond delay="979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9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9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9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99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1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nodeType="withEffect">
                                  <p:stCondLst>
                                    <p:cond delay="1041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9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14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9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7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nodeType="withEffect">
                                  <p:stCondLst>
                                    <p:cond delay="1046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4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9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9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2" presetClass="entr" presetSubtype="4" fill="hold" nodeType="withEffect">
                                  <p:stCondLst>
                                    <p:cond delay="1106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9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9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5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nodeType="withEffect">
                                  <p:stCondLst>
                                    <p:cond delay="1151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9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5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4" fill="hold" nodeType="withEffect">
                                  <p:stCondLst>
                                    <p:cond delay="1171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7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8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nodeType="withEffect">
                                  <p:stCondLst>
                                    <p:cond delay="1229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3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2" presetClass="entr" presetSubtype="4" fill="hold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4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9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17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9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9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" presetClass="entr" presetSubtype="4" fill="hold" nodeType="withEffect">
                                  <p:stCondLst>
                                    <p:cond delay="132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9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09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9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42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nodeType="withEffect">
                                  <p:stCondLst>
                                    <p:cond delay="1367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9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89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9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5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4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3" dur="9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9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2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nodeType="withEffect">
                                  <p:stCondLst>
                                    <p:cond delay="1455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4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8" dur="9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9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33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2" presetClass="entr" presetSubtype="4" fill="hold" nodeType="withEffect">
                                  <p:stCondLst>
                                    <p:cond delay="1503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4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9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9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2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" presetClass="entr" presetSubtype="1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8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550 759 строк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все текстом</a:t>
            </a:r>
            <a:endParaRPr lang="en-US" sz="3400" dirty="0"/>
          </a:p>
        </p:txBody>
      </p:sp>
      <p:pic>
        <p:nvPicPr>
          <p:cNvPr id="4" name="fx:wiperight:300:520:43" descr="W:\Projects\hacks\rwb-new\presentation\pptx\assets\wf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5" name="fx:wiperight:530:520:44" descr="W:\Projects\hacks\rwb-new\presentation\pptx\assets\wf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6" name="fx:wiperight:760:520:45" descr="W:\Projects\hacks\rwb-new\presentation\pptx\assets\wf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7" name="fx:wiperight:990:520:46" descr="W:\Projects\hacks\rwb-new\presentation\pptx\assets\wf-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8" name="fx:wiperight:1220:520:47" descr="W:\Projects\hacks\rwb-new\presentation\pptx\assets\wf-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9" name="fx:wiperight:1450:520:48" descr="W:\Projects\hacks\rwb-new\presentation\pptx\assets\wf-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0" name="fx:wiperight:1680:520:49" descr="W:\Projects\hacks\rwb-new\presentation\pptx\assets\wf-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1" name="fx:wiperight:1910:520:50" descr="W:\Projects\hacks\rwb-new\presentation\pptx\assets\wf-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sp>
        <p:nvSpPr>
          <p:cNvPr id="12" name="fx:rise:400:500:51"/>
          <p:cNvSpPr/>
          <p:nvPr/>
        </p:nvSpPr>
        <p:spPr>
          <a:xfrm>
            <a:off x="7620000" y="2032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2348FF"/>
          </a:solidFill>
          <a:ln/>
        </p:spPr>
      </p:sp>
      <p:sp>
        <p:nvSpPr>
          <p:cNvPr id="13" name="fx:rise:400:500:52"/>
          <p:cNvSpPr txBox="1"/>
          <p:nvPr/>
        </p:nvSpPr>
        <p:spPr>
          <a:xfrm>
            <a:off x="7937500" y="1968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14" name="fx:rise:400:500:53"/>
          <p:cNvSpPr txBox="1"/>
          <p:nvPr/>
        </p:nvSpPr>
        <p:spPr>
          <a:xfrm>
            <a:off x="10287000" y="1968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400" dirty="0"/>
          </a:p>
        </p:txBody>
      </p:sp>
      <p:sp>
        <p:nvSpPr>
          <p:cNvPr id="15" name="fx:rise:630:500:54"/>
          <p:cNvSpPr/>
          <p:nvPr/>
        </p:nvSpPr>
        <p:spPr>
          <a:xfrm>
            <a:off x="7620000" y="2438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28EF9"/>
          </a:solidFill>
          <a:ln/>
        </p:spPr>
      </p:sp>
      <p:sp>
        <p:nvSpPr>
          <p:cNvPr id="16" name="fx:rise:630:500:55"/>
          <p:cNvSpPr txBox="1"/>
          <p:nvPr/>
        </p:nvSpPr>
        <p:spPr>
          <a:xfrm>
            <a:off x="7937500" y="2374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order_payments</a:t>
            </a:r>
            <a:endParaRPr lang="en-US" sz="1200" dirty="0"/>
          </a:p>
        </p:txBody>
      </p:sp>
      <p:sp>
        <p:nvSpPr>
          <p:cNvPr id="17" name="fx:rise:630:500:56"/>
          <p:cNvSpPr txBox="1"/>
          <p:nvPr/>
        </p:nvSpPr>
        <p:spPr>
          <a:xfrm>
            <a:off x="10287000" y="2374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400" dirty="0"/>
          </a:p>
        </p:txBody>
      </p:sp>
      <p:sp>
        <p:nvSpPr>
          <p:cNvPr id="18" name="fx:rise:860:500:57"/>
          <p:cNvSpPr/>
          <p:nvPr/>
        </p:nvSpPr>
        <p:spPr>
          <a:xfrm>
            <a:off x="7620000" y="2844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BC4EE"/>
          </a:solidFill>
          <a:ln/>
        </p:spPr>
      </p:sp>
      <p:sp>
        <p:nvSpPr>
          <p:cNvPr id="19" name="fx:rise:860:500:58"/>
          <p:cNvSpPr txBox="1"/>
          <p:nvPr/>
        </p:nvSpPr>
        <p:spPr>
          <a:xfrm>
            <a:off x="7937500" y="2781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200" dirty="0"/>
          </a:p>
        </p:txBody>
      </p:sp>
      <p:sp>
        <p:nvSpPr>
          <p:cNvPr id="20" name="fx:rise:860:500:59"/>
          <p:cNvSpPr txBox="1"/>
          <p:nvPr/>
        </p:nvSpPr>
        <p:spPr>
          <a:xfrm>
            <a:off x="10287000" y="2781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21" name="fx:rise:1090:500:60"/>
          <p:cNvSpPr/>
          <p:nvPr/>
        </p:nvSpPr>
        <p:spPr>
          <a:xfrm>
            <a:off x="7620000" y="32512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518FF2"/>
          </a:solidFill>
          <a:ln/>
        </p:spPr>
      </p:sp>
      <p:sp>
        <p:nvSpPr>
          <p:cNvPr id="22" name="fx:rise:1090:500:61"/>
          <p:cNvSpPr txBox="1"/>
          <p:nvPr/>
        </p:nvSpPr>
        <p:spPr>
          <a:xfrm>
            <a:off x="7937500" y="31877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order_reviews</a:t>
            </a:r>
            <a:endParaRPr lang="en-US" sz="1200" dirty="0"/>
          </a:p>
        </p:txBody>
      </p:sp>
      <p:sp>
        <p:nvSpPr>
          <p:cNvPr id="23" name="fx:rise:1090:500:62"/>
          <p:cNvSpPr txBox="1"/>
          <p:nvPr/>
        </p:nvSpPr>
        <p:spPr>
          <a:xfrm>
            <a:off x="10287000" y="31877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400" dirty="0"/>
          </a:p>
        </p:txBody>
      </p:sp>
      <p:sp>
        <p:nvSpPr>
          <p:cNvPr id="24" name="fx:rise:1320:500:63"/>
          <p:cNvSpPr/>
          <p:nvPr/>
        </p:nvSpPr>
        <p:spPr>
          <a:xfrm>
            <a:off x="7620000" y="36576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F57EB"/>
          </a:solidFill>
          <a:ln/>
        </p:spPr>
      </p:sp>
      <p:sp>
        <p:nvSpPr>
          <p:cNvPr id="25" name="fx:rise:1320:500:64"/>
          <p:cNvSpPr txBox="1"/>
          <p:nvPr/>
        </p:nvSpPr>
        <p:spPr>
          <a:xfrm>
            <a:off x="7937500" y="35941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26" name="fx:rise:1320:500:65"/>
          <p:cNvSpPr txBox="1"/>
          <p:nvPr/>
        </p:nvSpPr>
        <p:spPr>
          <a:xfrm>
            <a:off x="10287000" y="3594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27" name="fx:rise:1550:500:66"/>
          <p:cNvSpPr/>
          <p:nvPr/>
        </p:nvSpPr>
        <p:spPr>
          <a:xfrm>
            <a:off x="7620000" y="4064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1A36CC"/>
          </a:solidFill>
          <a:ln/>
        </p:spPr>
      </p:sp>
      <p:sp>
        <p:nvSpPr>
          <p:cNvPr id="28" name="fx:rise:1550:500:67"/>
          <p:cNvSpPr txBox="1"/>
          <p:nvPr/>
        </p:nvSpPr>
        <p:spPr>
          <a:xfrm>
            <a:off x="7937500" y="4000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9" name="fx:rise:1550:500:68"/>
          <p:cNvSpPr txBox="1"/>
          <p:nvPr/>
        </p:nvSpPr>
        <p:spPr>
          <a:xfrm>
            <a:off x="10287000" y="4000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400" dirty="0"/>
          </a:p>
        </p:txBody>
      </p:sp>
      <p:sp>
        <p:nvSpPr>
          <p:cNvPr id="30" name="fx:rise:1780:500:69"/>
          <p:cNvSpPr/>
          <p:nvPr/>
        </p:nvSpPr>
        <p:spPr>
          <a:xfrm>
            <a:off x="7620000" y="4470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8E9FF"/>
          </a:solidFill>
          <a:ln/>
        </p:spPr>
      </p:sp>
      <p:sp>
        <p:nvSpPr>
          <p:cNvPr id="31" name="fx:rise:1780:500:70"/>
          <p:cNvSpPr txBox="1"/>
          <p:nvPr/>
        </p:nvSpPr>
        <p:spPr>
          <a:xfrm>
            <a:off x="7937500" y="4406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sellers</a:t>
            </a:r>
            <a:endParaRPr lang="en-US" sz="1200" dirty="0"/>
          </a:p>
        </p:txBody>
      </p:sp>
      <p:sp>
        <p:nvSpPr>
          <p:cNvPr id="32" name="fx:rise:1780:500:71"/>
          <p:cNvSpPr txBox="1"/>
          <p:nvPr/>
        </p:nvSpPr>
        <p:spPr>
          <a:xfrm>
            <a:off x="10287000" y="4406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400" dirty="0"/>
          </a:p>
        </p:txBody>
      </p:sp>
      <p:sp>
        <p:nvSpPr>
          <p:cNvPr id="33" name="fx:rise:2010:500:72"/>
          <p:cNvSpPr/>
          <p:nvPr/>
        </p:nvSpPr>
        <p:spPr>
          <a:xfrm>
            <a:off x="7620000" y="4876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8A8A93"/>
          </a:solidFill>
          <a:ln/>
        </p:spPr>
      </p:sp>
      <p:sp>
        <p:nvSpPr>
          <p:cNvPr id="34" name="fx:rise:2010:500:73"/>
          <p:cNvSpPr txBox="1"/>
          <p:nvPr/>
        </p:nvSpPr>
        <p:spPr>
          <a:xfrm>
            <a:off x="7937500" y="4813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category_translation</a:t>
            </a:r>
            <a:endParaRPr lang="en-US" sz="1200" dirty="0"/>
          </a:p>
        </p:txBody>
      </p:sp>
      <p:sp>
        <p:nvSpPr>
          <p:cNvPr id="35" name="fx:rise:2010:500:74"/>
          <p:cNvSpPr txBox="1"/>
          <p:nvPr/>
        </p:nvSpPr>
        <p:spPr>
          <a:xfrm>
            <a:off x="10287000" y="4813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400" dirty="0"/>
          </a:p>
        </p:txBody>
      </p:sp>
      <p:sp>
        <p:nvSpPr>
          <p:cNvPr id="36" name="fx:fade:2300:600:75"/>
          <p:cNvSpPr txBox="1"/>
          <p:nvPr/>
        </p:nvSpPr>
        <p:spPr>
          <a:xfrm>
            <a:off x="762000" y="5873750"/>
            <a:ext cx="1066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клетка = 1 000 строк. Даты, суммы и оценки приехали строками, каждую колонку проверили скриптами.</a:t>
            </a:r>
            <a:endParaRPr lang="en-US" sz="11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2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7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2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Анкета не равна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человеку</a:t>
            </a:r>
            <a:endParaRPr lang="en-US" sz="3400" dirty="0"/>
          </a:p>
        </p:txBody>
      </p:sp>
      <p:sp>
        <p:nvSpPr>
          <p:cNvPr id="4" name="fx:fade:200:600:76"/>
          <p:cNvSpPr/>
          <p:nvPr/>
        </p:nvSpPr>
        <p:spPr>
          <a:xfrm>
            <a:off x="1270000" y="2286000"/>
            <a:ext cx="3175000" cy="3175000"/>
          </a:xfrm>
          <a:prstGeom prst="ellipse">
            <a:avLst/>
          </a:prstGeom>
          <a:ln w="19050">
            <a:solidFill>
              <a:srgbClr val="E2E2E7"/>
            </a:solidFill>
            <a:prstDash val="dash"/>
          </a:ln>
        </p:spPr>
      </p:sp>
      <p:sp>
        <p:nvSpPr>
          <p:cNvPr id="5" name="fx:fade:900:400:77"/>
          <p:cNvSpPr/>
          <p:nvPr/>
        </p:nvSpPr>
        <p:spPr>
          <a:xfrm>
            <a:off x="2857500" y="2286000"/>
            <a:ext cx="0" cy="1587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fx:zoom:350:450:78"/>
          <p:cNvSpPr/>
          <p:nvPr/>
        </p:nvSpPr>
        <p:spPr>
          <a:xfrm>
            <a:off x="2679700" y="21653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7" name="fx:fade:945:400:79"/>
          <p:cNvSpPr/>
          <p:nvPr/>
        </p:nvSpPr>
        <p:spPr>
          <a:xfrm flipH="1">
            <a:off x="2857500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fx:zoom:395:450:80"/>
          <p:cNvSpPr/>
          <p:nvPr/>
        </p:nvSpPr>
        <p:spPr>
          <a:xfrm>
            <a:off x="3253171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9" name="fx:fade:990:400:81"/>
          <p:cNvSpPr/>
          <p:nvPr/>
        </p:nvSpPr>
        <p:spPr>
          <a:xfrm flipH="1">
            <a:off x="2857500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fx:zoom:440:450:82"/>
          <p:cNvSpPr/>
          <p:nvPr/>
        </p:nvSpPr>
        <p:spPr>
          <a:xfrm>
            <a:off x="3749192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1" name="fx:fade:1035:400:83"/>
          <p:cNvSpPr/>
          <p:nvPr/>
        </p:nvSpPr>
        <p:spPr>
          <a:xfrm flipH="1">
            <a:off x="2857500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2" name="fx:zoom:485:450:84"/>
          <p:cNvSpPr/>
          <p:nvPr/>
        </p:nvSpPr>
        <p:spPr>
          <a:xfrm>
            <a:off x="4100772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3" name="fx:fade:1080:400:85"/>
          <p:cNvSpPr/>
          <p:nvPr/>
        </p:nvSpPr>
        <p:spPr>
          <a:xfrm flipH="1">
            <a:off x="2857500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4" name="fx:zoom:530:450:86"/>
          <p:cNvSpPr/>
          <p:nvPr/>
        </p:nvSpPr>
        <p:spPr>
          <a:xfrm>
            <a:off x="4260428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5" name="fx:fade:1125:400:87"/>
          <p:cNvSpPr/>
          <p:nvPr/>
        </p:nvSpPr>
        <p:spPr>
          <a:xfrm>
            <a:off x="2857500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6" name="fx:zoom:575:450:88"/>
          <p:cNvSpPr/>
          <p:nvPr/>
        </p:nvSpPr>
        <p:spPr>
          <a:xfrm>
            <a:off x="4206598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7" name="fx:fade:1170:400:89"/>
          <p:cNvSpPr/>
          <p:nvPr/>
        </p:nvSpPr>
        <p:spPr>
          <a:xfrm>
            <a:off x="2857500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8" name="fx:zoom:620:450:90"/>
          <p:cNvSpPr/>
          <p:nvPr/>
        </p:nvSpPr>
        <p:spPr>
          <a:xfrm>
            <a:off x="3946552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9" name="fx:fade:1215:400:91"/>
          <p:cNvSpPr/>
          <p:nvPr/>
        </p:nvSpPr>
        <p:spPr>
          <a:xfrm>
            <a:off x="2857500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0" name="fx:zoom:665:450:92"/>
          <p:cNvSpPr/>
          <p:nvPr/>
        </p:nvSpPr>
        <p:spPr>
          <a:xfrm>
            <a:off x="3515411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1" name="fx:fade:1260:400:93"/>
          <p:cNvSpPr/>
          <p:nvPr/>
        </p:nvSpPr>
        <p:spPr>
          <a:xfrm>
            <a:off x="2857500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2" name="fx:zoom:710:450:94"/>
          <p:cNvSpPr/>
          <p:nvPr/>
        </p:nvSpPr>
        <p:spPr>
          <a:xfrm>
            <a:off x="2971402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3" name="fx:fade:1305:400:95"/>
          <p:cNvSpPr/>
          <p:nvPr/>
        </p:nvSpPr>
        <p:spPr>
          <a:xfrm flipH="1">
            <a:off x="2565798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4" name="fx:zoom:755:450:96"/>
          <p:cNvSpPr/>
          <p:nvPr/>
        </p:nvSpPr>
        <p:spPr>
          <a:xfrm>
            <a:off x="2387998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5" name="fx:fade:1350:400:97"/>
          <p:cNvSpPr/>
          <p:nvPr/>
        </p:nvSpPr>
        <p:spPr>
          <a:xfrm flipH="1">
            <a:off x="2021789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6" name="fx:zoom:800:450:98"/>
          <p:cNvSpPr/>
          <p:nvPr/>
        </p:nvSpPr>
        <p:spPr>
          <a:xfrm>
            <a:off x="1843989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7" name="fx:fade:1395:400:99"/>
          <p:cNvSpPr/>
          <p:nvPr/>
        </p:nvSpPr>
        <p:spPr>
          <a:xfrm flipH="1">
            <a:off x="1590648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8" name="fx:zoom:845:450:100"/>
          <p:cNvSpPr/>
          <p:nvPr/>
        </p:nvSpPr>
        <p:spPr>
          <a:xfrm>
            <a:off x="1412848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9" name="fx:fade:1440:400:101"/>
          <p:cNvSpPr/>
          <p:nvPr/>
        </p:nvSpPr>
        <p:spPr>
          <a:xfrm flipH="1">
            <a:off x="1330602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0" name="fx:zoom:890:450:102"/>
          <p:cNvSpPr/>
          <p:nvPr/>
        </p:nvSpPr>
        <p:spPr>
          <a:xfrm>
            <a:off x="1152802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1" name="fx:fade:1485:400:103"/>
          <p:cNvSpPr/>
          <p:nvPr/>
        </p:nvSpPr>
        <p:spPr>
          <a:xfrm>
            <a:off x="1276772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2" name="fx:zoom:935:450:104"/>
          <p:cNvSpPr/>
          <p:nvPr/>
        </p:nvSpPr>
        <p:spPr>
          <a:xfrm>
            <a:off x="1098972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3" name="fx:fade:1530:400:105"/>
          <p:cNvSpPr/>
          <p:nvPr/>
        </p:nvSpPr>
        <p:spPr>
          <a:xfrm>
            <a:off x="1436428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4" name="fx:zoom:980:450:106"/>
          <p:cNvSpPr/>
          <p:nvPr/>
        </p:nvSpPr>
        <p:spPr>
          <a:xfrm>
            <a:off x="1258628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5" name="fx:fade:1575:400:107"/>
          <p:cNvSpPr/>
          <p:nvPr/>
        </p:nvSpPr>
        <p:spPr>
          <a:xfrm>
            <a:off x="1788008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6" name="fx:zoom:1025:450:108"/>
          <p:cNvSpPr/>
          <p:nvPr/>
        </p:nvSpPr>
        <p:spPr>
          <a:xfrm>
            <a:off x="1610208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7" name="fx:fade:1620:400:109"/>
          <p:cNvSpPr/>
          <p:nvPr/>
        </p:nvSpPr>
        <p:spPr>
          <a:xfrm>
            <a:off x="2284029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8" name="fx:zoom:1070:450:110"/>
          <p:cNvSpPr/>
          <p:nvPr/>
        </p:nvSpPr>
        <p:spPr>
          <a:xfrm>
            <a:off x="2106229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9" name="fx:zoom:1750:600:111"/>
          <p:cNvSpPr/>
          <p:nvPr/>
        </p:nvSpPr>
        <p:spPr>
          <a:xfrm>
            <a:off x="2273300" y="3289300"/>
            <a:ext cx="1168400" cy="1168400"/>
          </a:xfrm>
          <a:prstGeom prst="ellipse">
            <a:avLst/>
          </a:prstGeom>
          <a:solidFill>
            <a:srgbClr val="2348FF"/>
          </a:solidFill>
          <a:ln/>
        </p:spPr>
      </p:sp>
      <p:pic>
        <p:nvPicPr>
          <p:cNvPr id="40" name="fx:zoom:1900:500:112" descr="W:\Projects\hacks\rwb-new\presentation\pptx\assets\ico-use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3606800"/>
            <a:ext cx="533400" cy="533400"/>
          </a:xfrm>
          <a:prstGeom prst="rect">
            <a:avLst/>
          </a:prstGeom>
        </p:spPr>
      </p:pic>
      <p:sp>
        <p:nvSpPr>
          <p:cNvPr id="41" name="fx:fade:2100:500:113"/>
          <p:cNvSpPr txBox="1"/>
          <p:nvPr/>
        </p:nvSpPr>
        <p:spPr>
          <a:xfrm>
            <a:off x="952500" y="558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17 анкет у одного человека</a:t>
            </a:r>
            <a:endParaRPr lang="en-US" sz="1100" dirty="0"/>
          </a:p>
        </p:txBody>
      </p:sp>
      <p:sp>
        <p:nvSpPr>
          <p:cNvPr id="42" name="fx:rise:400:600:114"/>
          <p:cNvSpPr/>
          <p:nvPr/>
        </p:nvSpPr>
        <p:spPr>
          <a:xfrm>
            <a:off x="5461000" y="1905000"/>
            <a:ext cx="5969000" cy="1206500"/>
          </a:xfrm>
          <a:prstGeom prst="roundRect">
            <a:avLst>
              <a:gd name="adj" fmla="val 15789"/>
            </a:avLst>
          </a:prstGeom>
          <a:solidFill>
            <a:srgbClr val="F1F1F3"/>
          </a:solidFill>
          <a:ln/>
        </p:spPr>
      </p:sp>
      <p:sp>
        <p:nvSpPr>
          <p:cNvPr id="43" name="fx:rise:500:600:115"/>
          <p:cNvSpPr txBox="1"/>
          <p:nvPr/>
        </p:nvSpPr>
        <p:spPr>
          <a:xfrm>
            <a:off x="5715000" y="2032000"/>
            <a:ext cx="2095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strike="sngStrike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4200" dirty="0"/>
          </a:p>
        </p:txBody>
      </p:sp>
      <p:pic>
        <p:nvPicPr>
          <p:cNvPr id="44" name="fx:fade:800:400:116" descr="W:\Projects\hacks\rwb-new\presentation\pptx\assets\ico-arrow-right-cob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2190750"/>
            <a:ext cx="355600" cy="355600"/>
          </a:xfrm>
          <a:prstGeom prst="rect">
            <a:avLst/>
          </a:prstGeom>
        </p:spPr>
      </p:pic>
      <p:sp>
        <p:nvSpPr>
          <p:cNvPr id="45" name="fx:zoom:950:600:117"/>
          <p:cNvSpPr txBox="1"/>
          <p:nvPr/>
        </p:nvSpPr>
        <p:spPr>
          <a:xfrm>
            <a:off x="8382000" y="2032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4200" dirty="0"/>
          </a:p>
        </p:txBody>
      </p:sp>
      <p:sp>
        <p:nvSpPr>
          <p:cNvPr id="46" name="fx:fade:700:400:118"/>
          <p:cNvSpPr txBox="1"/>
          <p:nvPr/>
        </p:nvSpPr>
        <p:spPr>
          <a:xfrm>
            <a:off x="5715000" y="2698750"/>
            <a:ext cx="266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customer_id: анкета на каждый заказ</a:t>
            </a:r>
            <a:endParaRPr lang="en-US" sz="950" dirty="0"/>
          </a:p>
        </p:txBody>
      </p:sp>
      <p:sp>
        <p:nvSpPr>
          <p:cNvPr id="47" name="fx:fade:1050:400:119"/>
          <p:cNvSpPr txBox="1"/>
          <p:nvPr/>
        </p:nvSpPr>
        <p:spPr>
          <a:xfrm>
            <a:off x="8382000" y="269875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customer_unique_id: человек</a:t>
            </a:r>
            <a:endParaRPr lang="en-US" sz="950" dirty="0"/>
          </a:p>
        </p:txBody>
      </p:sp>
      <p:sp>
        <p:nvSpPr>
          <p:cNvPr id="48" name="fx:zoom:1200:400:120"/>
          <p:cNvSpPr/>
          <p:nvPr/>
        </p:nvSpPr>
        <p:spPr>
          <a:xfrm>
            <a:off x="5588000" y="3797300"/>
            <a:ext cx="762000" cy="292100"/>
          </a:xfrm>
          <a:prstGeom prst="roundRect">
            <a:avLst>
              <a:gd name="adj" fmla="val 30435"/>
            </a:avLst>
          </a:prstGeom>
          <a:solidFill>
            <a:srgbClr val="7F57EB"/>
          </a:solidFill>
          <a:ln/>
        </p:spPr>
      </p:sp>
      <p:sp>
        <p:nvSpPr>
          <p:cNvPr id="49" name="fx:zoom:1200:400:121"/>
          <p:cNvSpPr txBox="1"/>
          <p:nvPr/>
        </p:nvSpPr>
        <p:spPr>
          <a:xfrm>
            <a:off x="5588000" y="3797300"/>
            <a:ext cx="76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950" dirty="0"/>
          </a:p>
        </p:txBody>
      </p:sp>
      <p:sp>
        <p:nvSpPr>
          <p:cNvPr id="50" name="fx:fade:1400:400:122"/>
          <p:cNvSpPr/>
          <p:nvPr/>
        </p:nvSpPr>
        <p:spPr>
          <a:xfrm flipH="1">
            <a:off x="6350000" y="367030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1" name="fx:fade:1450:400:123"/>
          <p:cNvSpPr/>
          <p:nvPr/>
        </p:nvSpPr>
        <p:spPr>
          <a:xfrm>
            <a:off x="6350000" y="394335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2" name="fx:zoom:1550:400:124"/>
          <p:cNvSpPr/>
          <p:nvPr/>
        </p:nvSpPr>
        <p:spPr>
          <a:xfrm>
            <a:off x="6858000" y="35560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3" name="fx:zoom:1600:400:125"/>
          <p:cNvSpPr/>
          <p:nvPr/>
        </p:nvSpPr>
        <p:spPr>
          <a:xfrm>
            <a:off x="6858000" y="41021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4" name="fx:rise:1500:500:126"/>
          <p:cNvSpPr txBox="1"/>
          <p:nvPr/>
        </p:nvSpPr>
        <p:spPr>
          <a:xfrm>
            <a:off x="7874000" y="36195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789</a:t>
            </a:r>
            <a:endParaRPr lang="en-US" sz="3200" dirty="0"/>
          </a:p>
        </p:txBody>
      </p:sp>
      <p:sp>
        <p:nvSpPr>
          <p:cNvPr id="55" name="fx:rise:1500:500:127"/>
          <p:cNvSpPr txBox="1"/>
          <p:nvPr/>
        </p:nvSpPr>
        <p:spPr>
          <a:xfrm>
            <a:off x="7874000" y="4076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отзывов висят сразу на нескольких заказах</a:t>
            </a:r>
            <a:endParaRPr lang="en-US" sz="1050" dirty="0"/>
          </a:p>
        </p:txBody>
      </p:sp>
      <p:sp>
        <p:nvSpPr>
          <p:cNvPr id="56" name="fx:zoom:1800:400:128"/>
          <p:cNvSpPr/>
          <p:nvPr/>
        </p:nvSpPr>
        <p:spPr>
          <a:xfrm>
            <a:off x="5588000" y="4826000"/>
            <a:ext cx="9207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57" name="fx:zoom:1800:400:129"/>
          <p:cNvSpPr txBox="1"/>
          <p:nvPr/>
        </p:nvSpPr>
        <p:spPr>
          <a:xfrm>
            <a:off x="5588000" y="4826000"/>
            <a:ext cx="9207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1050" dirty="0"/>
          </a:p>
        </p:txBody>
      </p:sp>
      <p:sp>
        <p:nvSpPr>
          <p:cNvPr id="58" name="fx:zoom:1980:400:130"/>
          <p:cNvSpPr/>
          <p:nvPr/>
        </p:nvSpPr>
        <p:spPr>
          <a:xfrm>
            <a:off x="6572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9" name="fx:zoom:1980:400:131"/>
          <p:cNvSpPr txBox="1"/>
          <p:nvPr/>
        </p:nvSpPr>
        <p:spPr>
          <a:xfrm>
            <a:off x="6572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fx:zoom:2060:400:132"/>
          <p:cNvSpPr/>
          <p:nvPr/>
        </p:nvSpPr>
        <p:spPr>
          <a:xfrm>
            <a:off x="6953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1" name="fx:zoom:2060:400:133"/>
          <p:cNvSpPr txBox="1"/>
          <p:nvPr/>
        </p:nvSpPr>
        <p:spPr>
          <a:xfrm>
            <a:off x="6953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fx:zoom:2140:400:134"/>
          <p:cNvSpPr/>
          <p:nvPr/>
        </p:nvSpPr>
        <p:spPr>
          <a:xfrm>
            <a:off x="7334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3" name="fx:zoom:2140:400:135"/>
          <p:cNvSpPr txBox="1"/>
          <p:nvPr/>
        </p:nvSpPr>
        <p:spPr>
          <a:xfrm>
            <a:off x="7334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fx:rise:2100:500:136"/>
          <p:cNvSpPr txBox="1"/>
          <p:nvPr/>
        </p:nvSpPr>
        <p:spPr>
          <a:xfrm>
            <a:off x="7874000" y="47117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order_item_id</a:t>
            </a:r>
            <a:endParaRPr lang="en-US" sz="2000" dirty="0"/>
          </a:p>
        </p:txBody>
      </p:sp>
      <p:sp>
        <p:nvSpPr>
          <p:cNvPr id="65" name="fx:rise:2100:500:137"/>
          <p:cNvSpPr txBox="1"/>
          <p:nvPr/>
        </p:nvSpPr>
        <p:spPr>
          <a:xfrm>
            <a:off x="7874000" y="5092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строки внутри заказа, а не ключ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95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485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7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75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4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84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935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6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6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4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4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4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4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035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4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4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1215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1305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1395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1485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5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4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5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4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4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4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4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4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4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2" dur="4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3" dur="4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7" dur="4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8" dur="4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6" dur="5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0" dur="50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3" dur="4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4" dur="4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5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потери</a:t>
            </a:r>
            <a:endParaRPr lang="en-US" sz="3400" dirty="0"/>
          </a:p>
        </p:txBody>
      </p:sp>
      <p:sp>
        <p:nvSpPr>
          <p:cNvPr id="4" name="fx:wipeup:300:500:138"/>
          <p:cNvSpPr/>
          <p:nvPr/>
        </p:nvSpPr>
        <p:spPr>
          <a:xfrm>
            <a:off x="812800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5" name="fx:fade:300:400:139"/>
          <p:cNvSpPr txBox="1"/>
          <p:nvPr/>
        </p:nvSpPr>
        <p:spPr>
          <a:xfrm>
            <a:off x="812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6" name="fx:fade:300:400:140"/>
          <p:cNvSpPr txBox="1"/>
          <p:nvPr/>
        </p:nvSpPr>
        <p:spPr>
          <a:xfrm>
            <a:off x="812800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2016</a:t>
            </a:r>
            <a:endParaRPr lang="en-US" sz="900" dirty="0"/>
          </a:p>
        </p:txBody>
      </p:sp>
      <p:sp>
        <p:nvSpPr>
          <p:cNvPr id="7" name="fx:wipeup:340:500:141"/>
          <p:cNvSpPr/>
          <p:nvPr/>
        </p:nvSpPr>
        <p:spPr>
          <a:xfrm>
            <a:off x="1223108" y="4526412"/>
            <a:ext cx="308708" cy="109088"/>
          </a:xfrm>
          <a:prstGeom prst="roundRect">
            <a:avLst>
              <a:gd name="adj" fmla="val 34926"/>
            </a:avLst>
          </a:prstGeom>
          <a:solidFill>
            <a:srgbClr val="328EF9"/>
          </a:solidFill>
          <a:ln/>
        </p:spPr>
      </p:sp>
      <p:sp>
        <p:nvSpPr>
          <p:cNvPr id="8" name="fx:fade:300:400:142"/>
          <p:cNvSpPr txBox="1"/>
          <p:nvPr/>
        </p:nvSpPr>
        <p:spPr>
          <a:xfrm>
            <a:off x="1223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9" name="fx:fade:300:400:143"/>
          <p:cNvSpPr txBox="1"/>
          <p:nvPr/>
        </p:nvSpPr>
        <p:spPr>
          <a:xfrm>
            <a:off x="1633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10" name="fx:wipeup:420:500:144"/>
          <p:cNvSpPr/>
          <p:nvPr/>
        </p:nvSpPr>
        <p:spPr>
          <a:xfrm>
            <a:off x="2043723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11" name="fx:fade:300:400:145"/>
          <p:cNvSpPr txBox="1"/>
          <p:nvPr/>
        </p:nvSpPr>
        <p:spPr>
          <a:xfrm>
            <a:off x="2043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12" name="fx:wipeup:460:500:146"/>
          <p:cNvSpPr/>
          <p:nvPr/>
        </p:nvSpPr>
        <p:spPr>
          <a:xfrm>
            <a:off x="2454031" y="4366147"/>
            <a:ext cx="308708" cy="269353"/>
          </a:xfrm>
          <a:prstGeom prst="roundRect">
            <a:avLst>
              <a:gd name="adj" fmla="val 14145"/>
            </a:avLst>
          </a:prstGeom>
          <a:solidFill>
            <a:srgbClr val="328EF9"/>
          </a:solidFill>
          <a:ln/>
        </p:spPr>
      </p:sp>
      <p:sp>
        <p:nvSpPr>
          <p:cNvPr id="13" name="fx:fade:300:400:147"/>
          <p:cNvSpPr txBox="1"/>
          <p:nvPr/>
        </p:nvSpPr>
        <p:spPr>
          <a:xfrm>
            <a:off x="2454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14" name="fx:fade:300:400:148"/>
          <p:cNvSpPr txBox="1"/>
          <p:nvPr/>
        </p:nvSpPr>
        <p:spPr>
          <a:xfrm>
            <a:off x="2454031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2017</a:t>
            </a:r>
            <a:endParaRPr lang="en-US" sz="900" dirty="0"/>
          </a:p>
        </p:txBody>
      </p:sp>
      <p:sp>
        <p:nvSpPr>
          <p:cNvPr id="15" name="fx:wipeup:500:500:149"/>
          <p:cNvSpPr/>
          <p:nvPr/>
        </p:nvSpPr>
        <p:spPr>
          <a:xfrm>
            <a:off x="2864338" y="4036189"/>
            <a:ext cx="308708" cy="599311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6" name="fx:fade:300:400:150"/>
          <p:cNvSpPr txBox="1"/>
          <p:nvPr/>
        </p:nvSpPr>
        <p:spPr>
          <a:xfrm>
            <a:off x="2864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17" name="fx:wipeup:540:500:151"/>
          <p:cNvSpPr/>
          <p:nvPr/>
        </p:nvSpPr>
        <p:spPr>
          <a:xfrm>
            <a:off x="3274646" y="3732494"/>
            <a:ext cx="308708" cy="9030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8" name="fx:fade:300:400:152"/>
          <p:cNvSpPr txBox="1"/>
          <p:nvPr/>
        </p:nvSpPr>
        <p:spPr>
          <a:xfrm>
            <a:off x="3274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19" name="fx:wipeup:580:500:153"/>
          <p:cNvSpPr/>
          <p:nvPr/>
        </p:nvSpPr>
        <p:spPr>
          <a:xfrm>
            <a:off x="3684954" y="3826094"/>
            <a:ext cx="308708" cy="8094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0" name="fx:fade:300:400:154"/>
          <p:cNvSpPr txBox="1"/>
          <p:nvPr/>
        </p:nvSpPr>
        <p:spPr>
          <a:xfrm>
            <a:off x="3684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21" name="fx:wipeup:620:500:155"/>
          <p:cNvSpPr/>
          <p:nvPr/>
        </p:nvSpPr>
        <p:spPr>
          <a:xfrm>
            <a:off x="4095262" y="3389742"/>
            <a:ext cx="308708" cy="124575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2" name="fx:fade:300:400:156"/>
          <p:cNvSpPr txBox="1"/>
          <p:nvPr/>
        </p:nvSpPr>
        <p:spPr>
          <a:xfrm>
            <a:off x="4095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3" name="fx:wipeup:660:500:157"/>
          <p:cNvSpPr/>
          <p:nvPr/>
        </p:nvSpPr>
        <p:spPr>
          <a:xfrm>
            <a:off x="4505569" y="3542936"/>
            <a:ext cx="308708" cy="109256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4" name="fx:fade:300:400:158"/>
          <p:cNvSpPr txBox="1"/>
          <p:nvPr/>
        </p:nvSpPr>
        <p:spPr>
          <a:xfrm>
            <a:off x="4505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5" name="fx:wipeup:700:500:159"/>
          <p:cNvSpPr/>
          <p:nvPr/>
        </p:nvSpPr>
        <p:spPr>
          <a:xfrm>
            <a:off x="4915877" y="3279980"/>
            <a:ext cx="308708" cy="135552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6" name="fx:fade:300:400:160"/>
          <p:cNvSpPr txBox="1"/>
          <p:nvPr/>
        </p:nvSpPr>
        <p:spPr>
          <a:xfrm>
            <a:off x="4915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7" name="fx:wipeup:740:500:161"/>
          <p:cNvSpPr/>
          <p:nvPr/>
        </p:nvSpPr>
        <p:spPr>
          <a:xfrm>
            <a:off x="5326185" y="3177290"/>
            <a:ext cx="308708" cy="14582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8" name="fx:fade:300:400:162"/>
          <p:cNvSpPr txBox="1"/>
          <p:nvPr/>
        </p:nvSpPr>
        <p:spPr>
          <a:xfrm>
            <a:off x="5326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29" name="fx:wipeup:780:500:163"/>
          <p:cNvSpPr/>
          <p:nvPr/>
        </p:nvSpPr>
        <p:spPr>
          <a:xfrm>
            <a:off x="5736492" y="3192777"/>
            <a:ext cx="308708" cy="1442723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0" name="fx:fade:300:400:164"/>
          <p:cNvSpPr txBox="1"/>
          <p:nvPr/>
        </p:nvSpPr>
        <p:spPr>
          <a:xfrm>
            <a:off x="5736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31" name="fx:wipeup:820:500:165"/>
          <p:cNvSpPr/>
          <p:nvPr/>
        </p:nvSpPr>
        <p:spPr>
          <a:xfrm>
            <a:off x="6146800" y="3076282"/>
            <a:ext cx="308708" cy="155921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2" name="fx:fade:300:400:166"/>
          <p:cNvSpPr txBox="1"/>
          <p:nvPr/>
        </p:nvSpPr>
        <p:spPr>
          <a:xfrm>
            <a:off x="6146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33" name="fx:wipeup:860:500:167"/>
          <p:cNvSpPr/>
          <p:nvPr/>
        </p:nvSpPr>
        <p:spPr>
          <a:xfrm>
            <a:off x="6557108" y="2095500"/>
            <a:ext cx="308708" cy="254000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4" name="fx:fade:300:400:168"/>
          <p:cNvSpPr txBox="1"/>
          <p:nvPr/>
        </p:nvSpPr>
        <p:spPr>
          <a:xfrm>
            <a:off x="6557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35" name="fx:wipeup:900:500:169"/>
          <p:cNvSpPr/>
          <p:nvPr/>
        </p:nvSpPr>
        <p:spPr>
          <a:xfrm>
            <a:off x="6967415" y="2725450"/>
            <a:ext cx="308708" cy="191005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6" name="fx:fade:300:400:170"/>
          <p:cNvSpPr txBox="1"/>
          <p:nvPr/>
        </p:nvSpPr>
        <p:spPr>
          <a:xfrm>
            <a:off x="6967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37" name="fx:wipeup:940:500:171"/>
          <p:cNvSpPr/>
          <p:nvPr/>
        </p:nvSpPr>
        <p:spPr>
          <a:xfrm>
            <a:off x="7377723" y="2188090"/>
            <a:ext cx="308708" cy="24474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8" name="fx:fade:300:400:172"/>
          <p:cNvSpPr txBox="1"/>
          <p:nvPr/>
        </p:nvSpPr>
        <p:spPr>
          <a:xfrm>
            <a:off x="7377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39" name="fx:fade:300:400:173"/>
          <p:cNvSpPr txBox="1"/>
          <p:nvPr/>
        </p:nvSpPr>
        <p:spPr>
          <a:xfrm>
            <a:off x="7377723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2018</a:t>
            </a:r>
            <a:endParaRPr lang="en-US" sz="900" dirty="0"/>
          </a:p>
        </p:txBody>
      </p:sp>
      <p:sp>
        <p:nvSpPr>
          <p:cNvPr id="40" name="fx:wipeup:980:500:174"/>
          <p:cNvSpPr/>
          <p:nvPr/>
        </p:nvSpPr>
        <p:spPr>
          <a:xfrm>
            <a:off x="7788031" y="2370240"/>
            <a:ext cx="308708" cy="226526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1" name="fx:fade:300:400:175"/>
          <p:cNvSpPr txBox="1"/>
          <p:nvPr/>
        </p:nvSpPr>
        <p:spPr>
          <a:xfrm>
            <a:off x="7788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42" name="fx:wipeup:1020:500:176"/>
          <p:cNvSpPr/>
          <p:nvPr/>
        </p:nvSpPr>
        <p:spPr>
          <a:xfrm>
            <a:off x="8198338" y="2207618"/>
            <a:ext cx="308708" cy="242788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3" name="fx:fade:300:400:177"/>
          <p:cNvSpPr txBox="1"/>
          <p:nvPr/>
        </p:nvSpPr>
        <p:spPr>
          <a:xfrm>
            <a:off x="8198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4" name="fx:wipeup:1060:500:178"/>
          <p:cNvSpPr/>
          <p:nvPr/>
        </p:nvSpPr>
        <p:spPr>
          <a:xfrm>
            <a:off x="8608646" y="2299198"/>
            <a:ext cx="308708" cy="233630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5" name="fx:fade:300:400:179"/>
          <p:cNvSpPr txBox="1"/>
          <p:nvPr/>
        </p:nvSpPr>
        <p:spPr>
          <a:xfrm>
            <a:off x="8608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46" name="fx:wipeup:1100:500:180"/>
          <p:cNvSpPr/>
          <p:nvPr/>
        </p:nvSpPr>
        <p:spPr>
          <a:xfrm>
            <a:off x="9018954" y="2321420"/>
            <a:ext cx="308708" cy="231408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7" name="fx:fade:300:400:181"/>
          <p:cNvSpPr txBox="1"/>
          <p:nvPr/>
        </p:nvSpPr>
        <p:spPr>
          <a:xfrm>
            <a:off x="9018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8" name="fx:wipeup:1140:500:182"/>
          <p:cNvSpPr/>
          <p:nvPr/>
        </p:nvSpPr>
        <p:spPr>
          <a:xfrm>
            <a:off x="9429262" y="2559124"/>
            <a:ext cx="308708" cy="207637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9" name="fx:fade:300:400:183"/>
          <p:cNvSpPr txBox="1"/>
          <p:nvPr/>
        </p:nvSpPr>
        <p:spPr>
          <a:xfrm>
            <a:off x="9429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0" name="fx:wipeup:1180:500:184"/>
          <p:cNvSpPr/>
          <p:nvPr/>
        </p:nvSpPr>
        <p:spPr>
          <a:xfrm>
            <a:off x="9839569" y="2517038"/>
            <a:ext cx="308708" cy="211846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1" name="fx:fade:300:400:185"/>
          <p:cNvSpPr txBox="1"/>
          <p:nvPr/>
        </p:nvSpPr>
        <p:spPr>
          <a:xfrm>
            <a:off x="9839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2" name="fx:wipeup:1220:500:186"/>
          <p:cNvSpPr/>
          <p:nvPr/>
        </p:nvSpPr>
        <p:spPr>
          <a:xfrm>
            <a:off x="10249877" y="2442966"/>
            <a:ext cx="308708" cy="219253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3" name="fx:fade:300:400:187"/>
          <p:cNvSpPr txBox="1"/>
          <p:nvPr/>
        </p:nvSpPr>
        <p:spPr>
          <a:xfrm>
            <a:off x="10249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54" name="fx:wipeup:1260:500:188"/>
          <p:cNvSpPr/>
          <p:nvPr/>
        </p:nvSpPr>
        <p:spPr>
          <a:xfrm>
            <a:off x="10660185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5" name="fx:fade:300:400:189"/>
          <p:cNvSpPr txBox="1"/>
          <p:nvPr/>
        </p:nvSpPr>
        <p:spPr>
          <a:xfrm>
            <a:off x="10660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56" name="fx:wipeup:1300:500:190"/>
          <p:cNvSpPr/>
          <p:nvPr/>
        </p:nvSpPr>
        <p:spPr>
          <a:xfrm>
            <a:off x="11070492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7" name="fx:fade:300:400:191"/>
          <p:cNvSpPr txBox="1"/>
          <p:nvPr/>
        </p:nvSpPr>
        <p:spPr>
          <a:xfrm>
            <a:off x="11070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58" name="fx:fade:200:400:192"/>
          <p:cNvSpPr/>
          <p:nvPr/>
        </p:nvSpPr>
        <p:spPr>
          <a:xfrm>
            <a:off x="762000" y="46355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59" name="fx:zoom:1500:500:193"/>
          <p:cNvSpPr/>
          <p:nvPr/>
        </p:nvSpPr>
        <p:spPr>
          <a:xfrm>
            <a:off x="1508369" y="4165600"/>
            <a:ext cx="558800" cy="558800"/>
          </a:xfrm>
          <a:prstGeom prst="ellipse">
            <a:avLst/>
          </a:prstGeom>
          <a:ln w="38100">
            <a:solidFill>
              <a:srgbClr val="D3263A"/>
            </a:solidFill>
            <a:prstDash val="dash"/>
          </a:ln>
        </p:spPr>
      </p:sp>
      <p:sp>
        <p:nvSpPr>
          <p:cNvPr id="60" name="fx:zoom:1700:500:194"/>
          <p:cNvSpPr/>
          <p:nvPr/>
        </p:nvSpPr>
        <p:spPr>
          <a:xfrm>
            <a:off x="2232269" y="2540000"/>
            <a:ext cx="2984500" cy="635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1" name="fx:zoom:1700:500:195"/>
          <p:cNvSpPr txBox="1"/>
          <p:nvPr/>
        </p:nvSpPr>
        <p:spPr>
          <a:xfrm>
            <a:off x="2397369" y="25908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заказов</a:t>
            </a:r>
            <a:endParaRPr lang="en-US" sz="2000" dirty="0"/>
          </a:p>
        </p:txBody>
      </p:sp>
      <p:sp>
        <p:nvSpPr>
          <p:cNvPr id="62" name="fx:zoom:1700:500:196"/>
          <p:cNvSpPr txBox="1"/>
          <p:nvPr/>
        </p:nvSpPr>
        <p:spPr>
          <a:xfrm>
            <a:off x="2397369" y="2921000"/>
            <a:ext cx="273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ноябрь 2016 молча выпадет из отчёта</a:t>
            </a:r>
            <a:endParaRPr lang="en-US" sz="950" dirty="0"/>
          </a:p>
        </p:txBody>
      </p:sp>
      <p:sp>
        <p:nvSpPr>
          <p:cNvPr id="63" name="fx:fade:1900:400:197"/>
          <p:cNvSpPr/>
          <p:nvPr/>
        </p:nvSpPr>
        <p:spPr>
          <a:xfrm>
            <a:off x="762000" y="52070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64" name="fx:rise:2000:500:198"/>
          <p:cNvSpPr txBox="1"/>
          <p:nvPr/>
        </p:nvSpPr>
        <p:spPr>
          <a:xfrm>
            <a:off x="762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610</a:t>
            </a:r>
            <a:endParaRPr lang="en-US" sz="2800" dirty="0"/>
          </a:p>
        </p:txBody>
      </p:sp>
      <p:sp>
        <p:nvSpPr>
          <p:cNvPr id="65" name="fx:rise:2000:500:199"/>
          <p:cNvSpPr txBox="1"/>
          <p:nvPr/>
        </p:nvSpPr>
        <p:spPr>
          <a:xfrm>
            <a:off x="762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товаров без категории</a:t>
            </a:r>
            <a:endParaRPr lang="en-US" sz="1000" dirty="0"/>
          </a:p>
        </p:txBody>
      </p:sp>
      <p:sp>
        <p:nvSpPr>
          <p:cNvPr id="66" name="fx:rise:2100:500:200"/>
          <p:cNvSpPr txBox="1"/>
          <p:nvPr/>
        </p:nvSpPr>
        <p:spPr>
          <a:xfrm>
            <a:off x="3492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775</a:t>
            </a:r>
            <a:endParaRPr lang="en-US" sz="2800" dirty="0"/>
          </a:p>
        </p:txBody>
      </p:sp>
      <p:sp>
        <p:nvSpPr>
          <p:cNvPr id="67" name="fx:rise:2100:500:201"/>
          <p:cNvSpPr txBox="1"/>
          <p:nvPr/>
        </p:nvSpPr>
        <p:spPr>
          <a:xfrm>
            <a:off x="3492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 без позиций: unavailable и canceled</a:t>
            </a:r>
            <a:endParaRPr lang="en-US" sz="1000" dirty="0"/>
          </a:p>
        </p:txBody>
      </p:sp>
      <p:sp>
        <p:nvSpPr>
          <p:cNvPr id="68" name="fx:rise:2200:500:202"/>
          <p:cNvSpPr txBox="1"/>
          <p:nvPr/>
        </p:nvSpPr>
        <p:spPr>
          <a:xfrm>
            <a:off x="6223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170 726,63</a:t>
            </a:r>
            <a:endParaRPr lang="en-US" sz="2800" dirty="0"/>
          </a:p>
        </p:txBody>
      </p:sp>
      <p:sp>
        <p:nvSpPr>
          <p:cNvPr id="69" name="fx:rise:2200:500:203"/>
          <p:cNvSpPr txBox="1"/>
          <p:nvPr/>
        </p:nvSpPr>
        <p:spPr>
          <a:xfrm>
            <a:off x="6223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выручки на товарах без категории</a:t>
            </a:r>
            <a:endParaRPr lang="en-US" sz="1000" dirty="0"/>
          </a:p>
        </p:txBody>
      </p:sp>
      <p:sp>
        <p:nvSpPr>
          <p:cNvPr id="70" name="fx:rise:2300:500:204"/>
          <p:cNvSpPr txBox="1"/>
          <p:nvPr/>
        </p:nvSpPr>
        <p:spPr>
          <a:xfrm>
            <a:off x="8953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≠ 71</a:t>
            </a:r>
            <a:endParaRPr lang="en-US" sz="2800" dirty="0"/>
          </a:p>
        </p:txBody>
      </p:sp>
      <p:sp>
        <p:nvSpPr>
          <p:cNvPr id="71" name="fx:rise:2300:500:205"/>
          <p:cNvSpPr txBox="1"/>
          <p:nvPr/>
        </p:nvSpPr>
        <p:spPr>
          <a:xfrm>
            <a:off x="8953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категорий в товарах и в переводах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5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50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50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500" decel="100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5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6" dur="500" decel="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7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0" dur="50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500" decel="100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Хронология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грязь</a:t>
            </a:r>
            <a:endParaRPr lang="en-US" sz="3400" dirty="0"/>
          </a:p>
        </p:txBody>
      </p:sp>
      <p:sp>
        <p:nvSpPr>
          <p:cNvPr id="4" name="fx:fade:150:500:206"/>
          <p:cNvSpPr/>
          <p:nvPr/>
        </p:nvSpPr>
        <p:spPr>
          <a:xfrm>
            <a:off x="762000" y="2095500"/>
            <a:ext cx="2253226" cy="2603500"/>
          </a:xfrm>
          <a:prstGeom prst="roundRect">
            <a:avLst>
              <a:gd name="adj" fmla="val 5073"/>
            </a:avLst>
          </a:prstGeom>
          <a:solidFill>
            <a:srgbClr val="FBE9EB"/>
          </a:solidFill>
          <a:ln/>
        </p:spPr>
      </p:sp>
      <p:sp>
        <p:nvSpPr>
          <p:cNvPr id="5" name="fx:wipeup:300:450:207"/>
          <p:cNvSpPr/>
          <p:nvPr/>
        </p:nvSpPr>
        <p:spPr>
          <a:xfrm>
            <a:off x="781050" y="4658278"/>
            <a:ext cx="187223" cy="4072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6" name="fx:wipeup:330:450:208"/>
          <p:cNvSpPr/>
          <p:nvPr/>
        </p:nvSpPr>
        <p:spPr>
          <a:xfrm>
            <a:off x="1006373" y="4670205"/>
            <a:ext cx="187223" cy="28795"/>
          </a:xfrm>
          <a:prstGeom prst="roundRect">
            <a:avLst>
              <a:gd name="adj" fmla="val 49999"/>
            </a:avLst>
          </a:prstGeom>
          <a:solidFill>
            <a:srgbClr val="D3263A"/>
          </a:solidFill>
          <a:ln/>
        </p:spPr>
      </p:sp>
      <p:sp>
        <p:nvSpPr>
          <p:cNvPr id="7" name="fx:wipeup:360:450:209"/>
          <p:cNvSpPr/>
          <p:nvPr/>
        </p:nvSpPr>
        <p:spPr>
          <a:xfrm>
            <a:off x="1231695" y="4673600"/>
            <a:ext cx="187223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8" name="fx:wipeup:390:450:210"/>
          <p:cNvSpPr/>
          <p:nvPr/>
        </p:nvSpPr>
        <p:spPr>
          <a:xfrm>
            <a:off x="1457018" y="4660908"/>
            <a:ext cx="187223" cy="3809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9" name="fx:wipeup:420:450:211"/>
          <p:cNvSpPr/>
          <p:nvPr/>
        </p:nvSpPr>
        <p:spPr>
          <a:xfrm>
            <a:off x="1682340" y="4658278"/>
            <a:ext cx="187223" cy="40722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10" name="fx:wipeup:450:450:212"/>
          <p:cNvSpPr/>
          <p:nvPr/>
        </p:nvSpPr>
        <p:spPr>
          <a:xfrm>
            <a:off x="1907663" y="4625588"/>
            <a:ext cx="187223" cy="73412"/>
          </a:xfrm>
          <a:prstGeom prst="roundRect">
            <a:avLst>
              <a:gd name="adj" fmla="val 34599"/>
            </a:avLst>
          </a:prstGeom>
          <a:solidFill>
            <a:srgbClr val="D3263A"/>
          </a:solidFill>
          <a:ln/>
        </p:spPr>
      </p:sp>
      <p:sp>
        <p:nvSpPr>
          <p:cNvPr id="11" name="fx:wipeup:480:450:213"/>
          <p:cNvSpPr/>
          <p:nvPr/>
        </p:nvSpPr>
        <p:spPr>
          <a:xfrm>
            <a:off x="2132985" y="4607943"/>
            <a:ext cx="187223" cy="91057"/>
          </a:xfrm>
          <a:prstGeom prst="roundRect">
            <a:avLst>
              <a:gd name="adj" fmla="val 27895"/>
            </a:avLst>
          </a:prstGeom>
          <a:solidFill>
            <a:srgbClr val="D3263A"/>
          </a:solidFill>
          <a:ln/>
        </p:spPr>
      </p:sp>
      <p:sp>
        <p:nvSpPr>
          <p:cNvPr id="12" name="fx:wipeup:510:450:214"/>
          <p:cNvSpPr/>
          <p:nvPr/>
        </p:nvSpPr>
        <p:spPr>
          <a:xfrm>
            <a:off x="2358308" y="4567834"/>
            <a:ext cx="187223" cy="131166"/>
          </a:xfrm>
          <a:prstGeom prst="roundRect">
            <a:avLst>
              <a:gd name="adj" fmla="val 19365"/>
            </a:avLst>
          </a:prstGeom>
          <a:solidFill>
            <a:srgbClr val="D3263A"/>
          </a:solidFill>
          <a:ln/>
        </p:spPr>
      </p:sp>
      <p:sp>
        <p:nvSpPr>
          <p:cNvPr id="13" name="fx:wipeup:540:450:215"/>
          <p:cNvSpPr/>
          <p:nvPr/>
        </p:nvSpPr>
        <p:spPr>
          <a:xfrm>
            <a:off x="2583631" y="4458087"/>
            <a:ext cx="187223" cy="240913"/>
          </a:xfrm>
          <a:prstGeom prst="roundRect">
            <a:avLst>
              <a:gd name="adj" fmla="val 13567"/>
            </a:avLst>
          </a:prstGeom>
          <a:solidFill>
            <a:srgbClr val="D3263A"/>
          </a:solidFill>
          <a:ln/>
        </p:spPr>
      </p:sp>
      <p:sp>
        <p:nvSpPr>
          <p:cNvPr id="14" name="fx:wipeup:570:450:216"/>
          <p:cNvSpPr/>
          <p:nvPr/>
        </p:nvSpPr>
        <p:spPr>
          <a:xfrm>
            <a:off x="2808953" y="4266841"/>
            <a:ext cx="187223" cy="432159"/>
          </a:xfrm>
          <a:prstGeom prst="roundRect">
            <a:avLst>
              <a:gd name="adj" fmla="val 13567"/>
            </a:avLst>
          </a:prstGeom>
          <a:solidFill>
            <a:srgbClr val="D3263A"/>
          </a:solidFill>
          <a:ln/>
        </p:spPr>
      </p:sp>
      <p:sp>
        <p:nvSpPr>
          <p:cNvPr id="15" name="fx:wipeup:600:450:217"/>
          <p:cNvSpPr/>
          <p:nvPr/>
        </p:nvSpPr>
        <p:spPr>
          <a:xfrm>
            <a:off x="3034276" y="2286000"/>
            <a:ext cx="187223" cy="241300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6" name="fx:wipeup:630:450:218"/>
          <p:cNvSpPr/>
          <p:nvPr/>
        </p:nvSpPr>
        <p:spPr>
          <a:xfrm>
            <a:off x="3259598" y="2510324"/>
            <a:ext cx="187223" cy="218867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7" name="fx:wipeup:660:450:219"/>
          <p:cNvSpPr/>
          <p:nvPr/>
        </p:nvSpPr>
        <p:spPr>
          <a:xfrm>
            <a:off x="3484921" y="2976309"/>
            <a:ext cx="187223" cy="172269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8" name="fx:wipeup:690:450:220"/>
          <p:cNvSpPr/>
          <p:nvPr/>
        </p:nvSpPr>
        <p:spPr>
          <a:xfrm>
            <a:off x="3710244" y="3243945"/>
            <a:ext cx="187223" cy="1455055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19" name="fx:wipeup:720:450:221"/>
          <p:cNvSpPr/>
          <p:nvPr/>
        </p:nvSpPr>
        <p:spPr>
          <a:xfrm>
            <a:off x="3935566" y="3549557"/>
            <a:ext cx="187223" cy="1149443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0" name="fx:wipeup:750:450:222"/>
          <p:cNvSpPr/>
          <p:nvPr/>
        </p:nvSpPr>
        <p:spPr>
          <a:xfrm>
            <a:off x="4160889" y="3740848"/>
            <a:ext cx="187223" cy="958152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1" name="fx:wipeup:780:450:223"/>
          <p:cNvSpPr/>
          <p:nvPr/>
        </p:nvSpPr>
        <p:spPr>
          <a:xfrm>
            <a:off x="4386211" y="3897650"/>
            <a:ext cx="187223" cy="80135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2" name="fx:wipeup:810:450:224"/>
          <p:cNvSpPr/>
          <p:nvPr/>
        </p:nvSpPr>
        <p:spPr>
          <a:xfrm>
            <a:off x="4611534" y="4118447"/>
            <a:ext cx="187223" cy="580553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3" name="fx:wipeup:840:450:225"/>
          <p:cNvSpPr/>
          <p:nvPr/>
        </p:nvSpPr>
        <p:spPr>
          <a:xfrm>
            <a:off x="4836856" y="4264449"/>
            <a:ext cx="187223" cy="43455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4" name="fx:wipeup:870:450:226"/>
          <p:cNvSpPr/>
          <p:nvPr/>
        </p:nvSpPr>
        <p:spPr>
          <a:xfrm>
            <a:off x="5062179" y="4320540"/>
            <a:ext cx="187223" cy="37846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5" name="fx:wipeup:900:450:227"/>
          <p:cNvSpPr/>
          <p:nvPr/>
        </p:nvSpPr>
        <p:spPr>
          <a:xfrm>
            <a:off x="5287502" y="4343121"/>
            <a:ext cx="187223" cy="355879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6" name="fx:wipeup:930:450:228"/>
          <p:cNvSpPr/>
          <p:nvPr/>
        </p:nvSpPr>
        <p:spPr>
          <a:xfrm>
            <a:off x="5512824" y="4400798"/>
            <a:ext cx="187223" cy="298202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7" name="fx:wipeup:960:450:229"/>
          <p:cNvSpPr/>
          <p:nvPr/>
        </p:nvSpPr>
        <p:spPr>
          <a:xfrm>
            <a:off x="5738147" y="4423940"/>
            <a:ext cx="187223" cy="275060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8" name="fx:wipeup:990:450:230"/>
          <p:cNvSpPr/>
          <p:nvPr/>
        </p:nvSpPr>
        <p:spPr>
          <a:xfrm>
            <a:off x="5963469" y="4417239"/>
            <a:ext cx="187223" cy="281761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29" name="fx:wipeup:1020:450:231"/>
          <p:cNvSpPr/>
          <p:nvPr/>
        </p:nvSpPr>
        <p:spPr>
          <a:xfrm>
            <a:off x="6188792" y="4450464"/>
            <a:ext cx="187223" cy="24853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30" name="fx:wipeup:1050:450:232"/>
          <p:cNvSpPr/>
          <p:nvPr/>
        </p:nvSpPr>
        <p:spPr>
          <a:xfrm>
            <a:off x="6414115" y="4501594"/>
            <a:ext cx="187223" cy="197406"/>
          </a:xfrm>
          <a:prstGeom prst="roundRect">
            <a:avLst>
              <a:gd name="adj" fmla="val 13567"/>
            </a:avLst>
          </a:prstGeom>
          <a:solidFill>
            <a:srgbClr val="328EF9"/>
          </a:solidFill>
          <a:ln/>
        </p:spPr>
      </p:sp>
      <p:sp>
        <p:nvSpPr>
          <p:cNvPr id="31" name="fx:wipeup:1080:450:233"/>
          <p:cNvSpPr/>
          <p:nvPr/>
        </p:nvSpPr>
        <p:spPr>
          <a:xfrm>
            <a:off x="6639437" y="4520334"/>
            <a:ext cx="187223" cy="178666"/>
          </a:xfrm>
          <a:prstGeom prst="roundRect">
            <a:avLst>
              <a:gd name="adj" fmla="val 14216"/>
            </a:avLst>
          </a:prstGeom>
          <a:solidFill>
            <a:srgbClr val="328EF9"/>
          </a:solidFill>
          <a:ln/>
        </p:spPr>
      </p:sp>
      <p:sp>
        <p:nvSpPr>
          <p:cNvPr id="32" name="fx:wipeup:1110:450:234"/>
          <p:cNvSpPr/>
          <p:nvPr/>
        </p:nvSpPr>
        <p:spPr>
          <a:xfrm>
            <a:off x="6864760" y="4523258"/>
            <a:ext cx="187223" cy="175742"/>
          </a:xfrm>
          <a:prstGeom prst="roundRect">
            <a:avLst>
              <a:gd name="adj" fmla="val 14453"/>
            </a:avLst>
          </a:prstGeom>
          <a:solidFill>
            <a:srgbClr val="328EF9"/>
          </a:solidFill>
          <a:ln/>
        </p:spPr>
      </p:sp>
      <p:sp>
        <p:nvSpPr>
          <p:cNvPr id="33" name="fx:wipeup:1140:450:235"/>
          <p:cNvSpPr/>
          <p:nvPr/>
        </p:nvSpPr>
        <p:spPr>
          <a:xfrm>
            <a:off x="7090082" y="4552176"/>
            <a:ext cx="187223" cy="146824"/>
          </a:xfrm>
          <a:prstGeom prst="roundRect">
            <a:avLst>
              <a:gd name="adj" fmla="val 17300"/>
            </a:avLst>
          </a:prstGeom>
          <a:solidFill>
            <a:srgbClr val="328EF9"/>
          </a:solidFill>
          <a:ln/>
        </p:spPr>
      </p:sp>
      <p:sp>
        <p:nvSpPr>
          <p:cNvPr id="34" name="fx:wipeup:1170:450:236"/>
          <p:cNvSpPr/>
          <p:nvPr/>
        </p:nvSpPr>
        <p:spPr>
          <a:xfrm>
            <a:off x="7315405" y="4550073"/>
            <a:ext cx="187223" cy="148927"/>
          </a:xfrm>
          <a:prstGeom prst="roundRect">
            <a:avLst>
              <a:gd name="adj" fmla="val 17055"/>
            </a:avLst>
          </a:prstGeom>
          <a:solidFill>
            <a:srgbClr val="328EF9"/>
          </a:solidFill>
          <a:ln/>
        </p:spPr>
      </p:sp>
      <p:sp>
        <p:nvSpPr>
          <p:cNvPr id="35" name="fx:wipeup:1200:450:237"/>
          <p:cNvSpPr/>
          <p:nvPr/>
        </p:nvSpPr>
        <p:spPr>
          <a:xfrm>
            <a:off x="7540727" y="4552883"/>
            <a:ext cx="187223" cy="146117"/>
          </a:xfrm>
          <a:prstGeom prst="roundRect">
            <a:avLst>
              <a:gd name="adj" fmla="val 17383"/>
            </a:avLst>
          </a:prstGeom>
          <a:solidFill>
            <a:srgbClr val="328EF9"/>
          </a:solidFill>
          <a:ln/>
        </p:spPr>
      </p:sp>
      <p:sp>
        <p:nvSpPr>
          <p:cNvPr id="36" name="fx:fade:200:400:238"/>
          <p:cNvSpPr/>
          <p:nvPr/>
        </p:nvSpPr>
        <p:spPr>
          <a:xfrm>
            <a:off x="762000" y="4699000"/>
            <a:ext cx="6985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37" name="fx:wipedown:1200:600:239"/>
          <p:cNvSpPr/>
          <p:nvPr/>
        </p:nvSpPr>
        <p:spPr>
          <a:xfrm>
            <a:off x="3015226" y="2032000"/>
            <a:ext cx="0" cy="2730500"/>
          </a:xfrm>
          <a:prstGeom prst="line">
            <a:avLst/>
          </a:prstGeom>
          <a:noFill/>
          <a:ln w="31750">
            <a:solidFill>
              <a:srgbClr val="D3263A"/>
            </a:solidFill>
            <a:prstDash val="dash"/>
          </a:ln>
        </p:spPr>
      </p:sp>
      <p:sp>
        <p:nvSpPr>
          <p:cNvPr id="38" name="fx:fade:1300:400:240"/>
          <p:cNvSpPr txBox="1"/>
          <p:nvPr/>
        </p:nvSpPr>
        <p:spPr>
          <a:xfrm>
            <a:off x="1364226" y="4800600"/>
            <a:ext cx="158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раньше оплаты</a:t>
            </a:r>
            <a:endParaRPr lang="en-US" sz="950" dirty="0"/>
          </a:p>
        </p:txBody>
      </p:sp>
      <p:sp>
        <p:nvSpPr>
          <p:cNvPr id="39" name="fx:fade:1300:400:241"/>
          <p:cNvSpPr txBox="1"/>
          <p:nvPr/>
        </p:nvSpPr>
        <p:spPr>
          <a:xfrm>
            <a:off x="3091426" y="4800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дни от оплаты до отгрузки</a:t>
            </a:r>
            <a:endParaRPr lang="en-US" sz="950" dirty="0"/>
          </a:p>
        </p:txBody>
      </p:sp>
      <p:sp>
        <p:nvSpPr>
          <p:cNvPr id="40" name="fx:zoom:1600:500:242"/>
          <p:cNvSpPr/>
          <p:nvPr/>
        </p:nvSpPr>
        <p:spPr>
          <a:xfrm>
            <a:off x="920750" y="2247900"/>
            <a:ext cx="1841500" cy="6985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41" name="fx:zoom:1600:500:243"/>
          <p:cNvSpPr txBox="1"/>
          <p:nvPr/>
        </p:nvSpPr>
        <p:spPr>
          <a:xfrm>
            <a:off x="1066800" y="2298700"/>
            <a:ext cx="1587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1 359</a:t>
            </a:r>
            <a:endParaRPr lang="en-US" sz="2100" dirty="0"/>
          </a:p>
        </p:txBody>
      </p:sp>
      <p:sp>
        <p:nvSpPr>
          <p:cNvPr id="42" name="fx:zoom:1600:500:244"/>
          <p:cNvSpPr txBox="1"/>
          <p:nvPr/>
        </p:nvSpPr>
        <p:spPr>
          <a:xfrm>
            <a:off x="1066800" y="26416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отгружены раньше оплаты</a:t>
            </a:r>
            <a:endParaRPr lang="en-US" sz="950" dirty="0"/>
          </a:p>
        </p:txBody>
      </p:sp>
      <p:sp>
        <p:nvSpPr>
          <p:cNvPr id="43" name="fx:rise:1400:500:245"/>
          <p:cNvSpPr txBox="1"/>
          <p:nvPr/>
        </p:nvSpPr>
        <p:spPr>
          <a:xfrm>
            <a:off x="8255000" y="17780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600" dirty="0"/>
          </a:p>
        </p:txBody>
      </p:sp>
      <p:sp>
        <p:nvSpPr>
          <p:cNvPr id="44" name="fx:rise:1400:500:246"/>
          <p:cNvSpPr txBox="1"/>
          <p:nvPr/>
        </p:nvSpPr>
        <p:spPr>
          <a:xfrm>
            <a:off x="8255000" y="21971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вручены раньше отгрузки</a:t>
            </a:r>
            <a:endParaRPr lang="en-US" sz="1000" dirty="0"/>
          </a:p>
        </p:txBody>
      </p:sp>
      <p:sp>
        <p:nvSpPr>
          <p:cNvPr id="45" name="fx:rise:1550:500:247"/>
          <p:cNvSpPr txBox="1"/>
          <p:nvPr/>
        </p:nvSpPr>
        <p:spPr>
          <a:xfrm>
            <a:off x="8255000" y="250825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600" dirty="0"/>
          </a:p>
        </p:txBody>
      </p:sp>
      <p:sp>
        <p:nvSpPr>
          <p:cNvPr id="46" name="fx:rise:1550:500:248"/>
          <p:cNvSpPr txBox="1"/>
          <p:nvPr/>
        </p:nvSpPr>
        <p:spPr>
          <a:xfrm>
            <a:off x="8255000" y="292735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отменённых с датой вручения</a:t>
            </a:r>
            <a:endParaRPr lang="en-US" sz="1000" dirty="0"/>
          </a:p>
        </p:txBody>
      </p:sp>
      <p:sp>
        <p:nvSpPr>
          <p:cNvPr id="47" name="fx:rise:1700:500:249"/>
          <p:cNvSpPr txBox="1"/>
          <p:nvPr/>
        </p:nvSpPr>
        <p:spPr>
          <a:xfrm>
            <a:off x="8255000" y="32385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1 139</a:t>
            </a:r>
            <a:endParaRPr lang="en-US" sz="2600" dirty="0"/>
          </a:p>
        </p:txBody>
      </p:sp>
      <p:sp>
        <p:nvSpPr>
          <p:cNvPr id="48" name="fx:rise:1700:500:250"/>
          <p:cNvSpPr txBox="1"/>
          <p:nvPr/>
        </p:nvSpPr>
        <p:spPr>
          <a:xfrm>
            <a:off x="8255000" y="3657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заказов: платежи не бьются с позициями</a:t>
            </a:r>
            <a:endParaRPr lang="en-US" sz="1000" dirty="0"/>
          </a:p>
        </p:txBody>
      </p:sp>
      <p:sp>
        <p:nvSpPr>
          <p:cNvPr id="49" name="fx:zoom:1850:400:251"/>
          <p:cNvSpPr/>
          <p:nvPr/>
        </p:nvSpPr>
        <p:spPr>
          <a:xfrm>
            <a:off x="8255000" y="4064000"/>
            <a:ext cx="11493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0" name="fx:zoom:1850:400:252"/>
          <p:cNvSpPr txBox="1"/>
          <p:nvPr/>
        </p:nvSpPr>
        <p:spPr>
          <a:xfrm>
            <a:off x="8255000" y="4064000"/>
            <a:ext cx="1149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auriflama/sp</a:t>
            </a:r>
            <a:endParaRPr lang="en-US" sz="950" dirty="0"/>
          </a:p>
        </p:txBody>
      </p:sp>
      <p:sp>
        <p:nvSpPr>
          <p:cNvPr id="51" name="fx:zoom:1850:400:253"/>
          <p:cNvSpPr/>
          <p:nvPr/>
        </p:nvSpPr>
        <p:spPr>
          <a:xfrm>
            <a:off x="8255000" y="4368800"/>
            <a:ext cx="2520950" cy="2540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2" name="fx:zoom:1850:400:254"/>
          <p:cNvSpPr txBox="1"/>
          <p:nvPr/>
        </p:nvSpPr>
        <p:spPr>
          <a:xfrm>
            <a:off x="8255000" y="4368800"/>
            <a:ext cx="25209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rio de janeiro \ rio de janeiro</a:t>
            </a:r>
            <a:endParaRPr lang="en-US" sz="950" dirty="0"/>
          </a:p>
        </p:txBody>
      </p:sp>
      <p:sp>
        <p:nvSpPr>
          <p:cNvPr id="53" name="fx:zoom:1850:400:255"/>
          <p:cNvSpPr/>
          <p:nvPr/>
        </p:nvSpPr>
        <p:spPr>
          <a:xfrm>
            <a:off x="8255000" y="4673600"/>
            <a:ext cx="857250" cy="2540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4" name="fx:zoom:1850:400:256"/>
          <p:cNvSpPr txBox="1"/>
          <p:nvPr/>
        </p:nvSpPr>
        <p:spPr>
          <a:xfrm>
            <a:off x="8255000" y="4673600"/>
            <a:ext cx="857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04482255</a:t>
            </a:r>
            <a:endParaRPr lang="en-US" sz="950" dirty="0"/>
          </a:p>
        </p:txBody>
      </p:sp>
      <p:sp>
        <p:nvSpPr>
          <p:cNvPr id="55" name="fx:rise:2000:500:257"/>
          <p:cNvSpPr txBox="1"/>
          <p:nvPr/>
        </p:nvSpPr>
        <p:spPr>
          <a:xfrm>
            <a:off x="8255000" y="48768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611</a:t>
            </a:r>
            <a:endParaRPr lang="en-US" sz="2600" dirty="0"/>
          </a:p>
        </p:txBody>
      </p:sp>
      <p:sp>
        <p:nvSpPr>
          <p:cNvPr id="56" name="fx:rise:2000:500:258"/>
          <p:cNvSpPr txBox="1"/>
          <p:nvPr/>
        </p:nvSpPr>
        <p:spPr>
          <a:xfrm>
            <a:off x="8255000" y="52959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написаний городов, индекс вместо города</a:t>
            </a:r>
            <a:endParaRPr lang="en-US" sz="1000" dirty="0"/>
          </a:p>
        </p:txBody>
      </p:sp>
      <p:sp>
        <p:nvSpPr>
          <p:cNvPr id="57" name="fx:rise:2300:500:259"/>
          <p:cNvSpPr/>
          <p:nvPr/>
        </p:nvSpPr>
        <p:spPr>
          <a:xfrm>
            <a:off x="762000" y="5715000"/>
            <a:ext cx="10668000" cy="508000"/>
          </a:xfrm>
          <a:prstGeom prst="roundRect">
            <a:avLst>
              <a:gd name="adj" fmla="val 32500"/>
            </a:avLst>
          </a:prstGeom>
          <a:solidFill>
            <a:srgbClr val="F0E4FF"/>
          </a:solidFill>
          <a:ln/>
        </p:spPr>
      </p:sp>
      <p:pic>
        <p:nvPicPr>
          <p:cNvPr id="58" name="fx:rise:2300:500:260" descr="W:\Projects\hacks\rwb-new\presentation\pptx\assets\ico-shield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54700"/>
            <a:ext cx="228600" cy="228600"/>
          </a:xfrm>
          <a:prstGeom prst="rect">
            <a:avLst/>
          </a:prstGeom>
        </p:spPr>
      </p:pic>
      <p:sp>
        <p:nvSpPr>
          <p:cNvPr id="59" name="fx:rise:2300:500:261"/>
          <p:cNvSpPr txBox="1"/>
          <p:nvPr/>
        </p:nvSpPr>
        <p:spPr>
          <a:xfrm>
            <a:off x="1308100" y="5715000"/>
            <a:ext cx="993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источникам доверять нельзя. Проверки живут в модели, а не в голове аналитика.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4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4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4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4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4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4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53" presetClass="entr" presetSubtype="16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4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4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5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5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3" dur="5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4" presetID="42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7" dur="5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решили: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правила переноса</a:t>
            </a:r>
            <a:endParaRPr lang="en-US" sz="3400" dirty="0"/>
          </a:p>
        </p:txBody>
      </p:sp>
      <p:sp>
        <p:nvSpPr>
          <p:cNvPr id="4" name="fx:fade:200:400:262"/>
          <p:cNvSpPr/>
          <p:nvPr/>
        </p:nvSpPr>
        <p:spPr>
          <a:xfrm>
            <a:off x="762000" y="161925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F0E4FF"/>
          </a:solidFill>
          <a:ln/>
        </p:spPr>
      </p:sp>
      <p:sp>
        <p:nvSpPr>
          <p:cNvPr id="5" name="fx:fade:200:400:263"/>
          <p:cNvSpPr txBox="1"/>
          <p:nvPr/>
        </p:nvSpPr>
        <p:spPr>
          <a:xfrm>
            <a:off x="762000" y="1619250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raw: всё text</a:t>
            </a:r>
            <a:endParaRPr lang="en-US" sz="1050" dirty="0"/>
          </a:p>
        </p:txBody>
      </p:sp>
      <p:sp>
        <p:nvSpPr>
          <p:cNvPr id="6" name="fx:fade:1400:400:264"/>
          <p:cNvSpPr/>
          <p:nvPr/>
        </p:nvSpPr>
        <p:spPr>
          <a:xfrm>
            <a:off x="8667750" y="1619250"/>
            <a:ext cx="27622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7" name="fx:fade:1400:400:265"/>
          <p:cNvSpPr txBox="1"/>
          <p:nvPr/>
        </p:nvSpPr>
        <p:spPr>
          <a:xfrm>
            <a:off x="8667750" y="1619250"/>
            <a:ext cx="2762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core: типы, NULL, PK, FK, CHECK</a:t>
            </a:r>
            <a:endParaRPr lang="en-US" sz="1050" dirty="0"/>
          </a:p>
        </p:txBody>
      </p:sp>
      <p:sp>
        <p:nvSpPr>
          <p:cNvPr id="8" name="fx:fade:300:400:266"/>
          <p:cNvSpPr txBox="1"/>
          <p:nvPr/>
        </p:nvSpPr>
        <p:spPr>
          <a:xfrm>
            <a:off x="76200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purchase_ts</a:t>
            </a:r>
            <a:endParaRPr lang="en-US" sz="950" dirty="0"/>
          </a:p>
        </p:txBody>
      </p:sp>
      <p:sp>
        <p:nvSpPr>
          <p:cNvPr id="9" name="fx:rise:300:500:267"/>
          <p:cNvSpPr/>
          <p:nvPr/>
        </p:nvSpPr>
        <p:spPr>
          <a:xfrm>
            <a:off x="76200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0" name="fx:rise:300:500:268"/>
          <p:cNvSpPr txBox="1"/>
          <p:nvPr/>
        </p:nvSpPr>
        <p:spPr>
          <a:xfrm>
            <a:off x="85090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'2017-10-02 10:56'</a:t>
            </a:r>
            <a:endParaRPr lang="en-US" sz="950" dirty="0"/>
          </a:p>
        </p:txBody>
      </p:sp>
      <p:sp>
        <p:nvSpPr>
          <p:cNvPr id="11" name="fx:wipedown:800:600:269"/>
          <p:cNvSpPr/>
          <p:nvPr/>
        </p:nvSpPr>
        <p:spPr>
          <a:xfrm>
            <a:off x="158009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12" name="fx:zoom:1100:400:270"/>
          <p:cNvSpPr/>
          <p:nvPr/>
        </p:nvSpPr>
        <p:spPr>
          <a:xfrm>
            <a:off x="1067075" y="3251200"/>
            <a:ext cx="1051433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13" name="fx:zoom:1100:400:271"/>
          <p:cNvSpPr txBox="1"/>
          <p:nvPr/>
        </p:nvSpPr>
        <p:spPr>
          <a:xfrm>
            <a:off x="1067075" y="3251200"/>
            <a:ext cx="10514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::timestamp</a:t>
            </a:r>
            <a:endParaRPr lang="en-US" sz="950" dirty="0"/>
          </a:p>
        </p:txBody>
      </p:sp>
      <p:sp>
        <p:nvSpPr>
          <p:cNvPr id="14" name="fx:rise:1400:500:272"/>
          <p:cNvSpPr/>
          <p:nvPr/>
        </p:nvSpPr>
        <p:spPr>
          <a:xfrm>
            <a:off x="76200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15" name="fx:rise:1400:500:273"/>
          <p:cNvSpPr txBox="1"/>
          <p:nvPr/>
        </p:nvSpPr>
        <p:spPr>
          <a:xfrm>
            <a:off x="86360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2017-10-02 10:56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16" name="fx:fade:420:400:274"/>
          <p:cNvSpPr txBox="1"/>
          <p:nvPr/>
        </p:nvSpPr>
        <p:spPr>
          <a:xfrm>
            <a:off x="256328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approved_at</a:t>
            </a:r>
            <a:endParaRPr lang="en-US" sz="950" dirty="0"/>
          </a:p>
        </p:txBody>
      </p:sp>
      <p:sp>
        <p:nvSpPr>
          <p:cNvPr id="17" name="fx:rise:420:500:275"/>
          <p:cNvSpPr/>
          <p:nvPr/>
        </p:nvSpPr>
        <p:spPr>
          <a:xfrm>
            <a:off x="256328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8" name="fx:rise:420:500:276"/>
          <p:cNvSpPr txBox="1"/>
          <p:nvPr/>
        </p:nvSpPr>
        <p:spPr>
          <a:xfrm>
            <a:off x="265218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endParaRPr lang="en-US" sz="950" dirty="0"/>
          </a:p>
        </p:txBody>
      </p:sp>
      <p:sp>
        <p:nvSpPr>
          <p:cNvPr id="19" name="fx:wipedown:920:600:277"/>
          <p:cNvSpPr/>
          <p:nvPr/>
        </p:nvSpPr>
        <p:spPr>
          <a:xfrm>
            <a:off x="338137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20" name="fx:zoom:1220:400:278"/>
          <p:cNvSpPr/>
          <p:nvPr/>
        </p:nvSpPr>
        <p:spPr>
          <a:xfrm>
            <a:off x="2830957" y="3251200"/>
            <a:ext cx="1126236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21" name="fx:zoom:1220:400:279"/>
          <p:cNvSpPr txBox="1"/>
          <p:nvPr/>
        </p:nvSpPr>
        <p:spPr>
          <a:xfrm>
            <a:off x="2830957" y="3251200"/>
            <a:ext cx="11262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NULLIF(trim)</a:t>
            </a:r>
            <a:endParaRPr lang="en-US" sz="950" dirty="0"/>
          </a:p>
        </p:txBody>
      </p:sp>
      <p:sp>
        <p:nvSpPr>
          <p:cNvPr id="22" name="fx:rise:1520:500:280"/>
          <p:cNvSpPr/>
          <p:nvPr/>
        </p:nvSpPr>
        <p:spPr>
          <a:xfrm>
            <a:off x="256328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23" name="fx:rise:1520:500:281"/>
          <p:cNvSpPr txBox="1"/>
          <p:nvPr/>
        </p:nvSpPr>
        <p:spPr>
          <a:xfrm>
            <a:off x="266488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данных нет</a:t>
            </a:r>
            <a:endParaRPr lang="en-US" sz="1100" dirty="0"/>
          </a:p>
        </p:txBody>
      </p:sp>
      <p:sp>
        <p:nvSpPr>
          <p:cNvPr id="24" name="fx:fade:540:400:282"/>
          <p:cNvSpPr txBox="1"/>
          <p:nvPr/>
        </p:nvSpPr>
        <p:spPr>
          <a:xfrm>
            <a:off x="436456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950" dirty="0"/>
          </a:p>
        </p:txBody>
      </p:sp>
      <p:sp>
        <p:nvSpPr>
          <p:cNvPr id="25" name="fx:rise:540:500:283"/>
          <p:cNvSpPr/>
          <p:nvPr/>
        </p:nvSpPr>
        <p:spPr>
          <a:xfrm>
            <a:off x="436456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26" name="fx:rise:540:500:284"/>
          <p:cNvSpPr txBox="1"/>
          <p:nvPr/>
        </p:nvSpPr>
        <p:spPr>
          <a:xfrm>
            <a:off x="445346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'29.99'</a:t>
            </a:r>
            <a:endParaRPr lang="en-US" sz="950" dirty="0"/>
          </a:p>
        </p:txBody>
      </p:sp>
      <p:sp>
        <p:nvSpPr>
          <p:cNvPr id="27" name="fx:wipedown:1040:600:285"/>
          <p:cNvSpPr/>
          <p:nvPr/>
        </p:nvSpPr>
        <p:spPr>
          <a:xfrm>
            <a:off x="5182658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28" name="fx:zoom:1340:400:286"/>
          <p:cNvSpPr/>
          <p:nvPr/>
        </p:nvSpPr>
        <p:spPr>
          <a:xfrm>
            <a:off x="4594839" y="3251200"/>
            <a:ext cx="1201039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29" name="fx:zoom:1340:400:287"/>
          <p:cNvSpPr txBox="1"/>
          <p:nvPr/>
        </p:nvSpPr>
        <p:spPr>
          <a:xfrm>
            <a:off x="4594839" y="3251200"/>
            <a:ext cx="120103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::numeric ≥ 0</a:t>
            </a:r>
            <a:endParaRPr lang="en-US" sz="950" dirty="0"/>
          </a:p>
        </p:txBody>
      </p:sp>
      <p:sp>
        <p:nvSpPr>
          <p:cNvPr id="30" name="fx:rise:1640:500:288"/>
          <p:cNvSpPr/>
          <p:nvPr/>
        </p:nvSpPr>
        <p:spPr>
          <a:xfrm>
            <a:off x="436456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31" name="fx:rise:1640:500:289"/>
          <p:cNvSpPr txBox="1"/>
          <p:nvPr/>
        </p:nvSpPr>
        <p:spPr>
          <a:xfrm>
            <a:off x="446616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29.99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</a:t>
            </a:r>
            <a:endParaRPr lang="en-US" sz="1100" dirty="0"/>
          </a:p>
        </p:txBody>
      </p:sp>
      <p:sp>
        <p:nvSpPr>
          <p:cNvPr id="32" name="fx:fade:660:400:290"/>
          <p:cNvSpPr txBox="1"/>
          <p:nvPr/>
        </p:nvSpPr>
        <p:spPr>
          <a:xfrm>
            <a:off x="616585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order_status</a:t>
            </a:r>
            <a:endParaRPr lang="en-US" sz="950" dirty="0"/>
          </a:p>
        </p:txBody>
      </p:sp>
      <p:sp>
        <p:nvSpPr>
          <p:cNvPr id="33" name="fx:rise:660:500:291"/>
          <p:cNvSpPr/>
          <p:nvPr/>
        </p:nvSpPr>
        <p:spPr>
          <a:xfrm>
            <a:off x="616585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34" name="fx:rise:660:500:292"/>
          <p:cNvSpPr txBox="1"/>
          <p:nvPr/>
        </p:nvSpPr>
        <p:spPr>
          <a:xfrm>
            <a:off x="625475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'delivered'</a:t>
            </a:r>
            <a:endParaRPr lang="en-US" sz="950" dirty="0"/>
          </a:p>
        </p:txBody>
      </p:sp>
      <p:sp>
        <p:nvSpPr>
          <p:cNvPr id="35" name="fx:wipedown:1160:600:293"/>
          <p:cNvSpPr/>
          <p:nvPr/>
        </p:nvSpPr>
        <p:spPr>
          <a:xfrm>
            <a:off x="698394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6" name="fx:zoom:1460:400:294"/>
          <p:cNvSpPr/>
          <p:nvPr/>
        </p:nvSpPr>
        <p:spPr>
          <a:xfrm>
            <a:off x="6321319" y="3251200"/>
            <a:ext cx="135064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37" name="fx:zoom:1460:400:295"/>
          <p:cNvSpPr txBox="1"/>
          <p:nvPr/>
        </p:nvSpPr>
        <p:spPr>
          <a:xfrm>
            <a:off x="6321319" y="3251200"/>
            <a:ext cx="135064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из списка</a:t>
            </a:r>
            <a:endParaRPr lang="en-US" sz="950" dirty="0"/>
          </a:p>
        </p:txBody>
      </p:sp>
      <p:sp>
        <p:nvSpPr>
          <p:cNvPr id="38" name="fx:rise:1760:500:296"/>
          <p:cNvSpPr/>
          <p:nvPr/>
        </p:nvSpPr>
        <p:spPr>
          <a:xfrm>
            <a:off x="616585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39" name="fx:rise:1760:500:297"/>
          <p:cNvSpPr txBox="1"/>
          <p:nvPr/>
        </p:nvSpPr>
        <p:spPr>
          <a:xfrm>
            <a:off x="626745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 есть</a:t>
            </a:r>
            <a:endParaRPr lang="en-US" sz="1100" dirty="0"/>
          </a:p>
        </p:txBody>
      </p:sp>
      <p:sp>
        <p:nvSpPr>
          <p:cNvPr id="40" name="fx:fade:780:400:298"/>
          <p:cNvSpPr txBox="1"/>
          <p:nvPr/>
        </p:nvSpPr>
        <p:spPr>
          <a:xfrm>
            <a:off x="796713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seller_id</a:t>
            </a:r>
            <a:endParaRPr lang="en-US" sz="950" dirty="0"/>
          </a:p>
        </p:txBody>
      </p:sp>
      <p:sp>
        <p:nvSpPr>
          <p:cNvPr id="41" name="fx:rise:780:500:299"/>
          <p:cNvSpPr/>
          <p:nvPr/>
        </p:nvSpPr>
        <p:spPr>
          <a:xfrm>
            <a:off x="796713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42" name="fx:rise:780:500:300"/>
          <p:cNvSpPr txBox="1"/>
          <p:nvPr/>
        </p:nvSpPr>
        <p:spPr>
          <a:xfrm>
            <a:off x="805603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'3504c0cb…'</a:t>
            </a:r>
            <a:endParaRPr lang="en-US" sz="950" dirty="0"/>
          </a:p>
        </p:txBody>
      </p:sp>
      <p:sp>
        <p:nvSpPr>
          <p:cNvPr id="43" name="fx:wipedown:1280:600:301"/>
          <p:cNvSpPr/>
          <p:nvPr/>
        </p:nvSpPr>
        <p:spPr>
          <a:xfrm>
            <a:off x="878522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44" name="fx:zoom:1580:400:302"/>
          <p:cNvSpPr/>
          <p:nvPr/>
        </p:nvSpPr>
        <p:spPr>
          <a:xfrm>
            <a:off x="8309610" y="3251200"/>
            <a:ext cx="97663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45" name="fx:zoom:1580:400:303"/>
          <p:cNvSpPr txBox="1"/>
          <p:nvPr/>
        </p:nvSpPr>
        <p:spPr>
          <a:xfrm>
            <a:off x="8309610" y="3251200"/>
            <a:ext cx="976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46" name="fx:rise:1880:500:304"/>
          <p:cNvSpPr/>
          <p:nvPr/>
        </p:nvSpPr>
        <p:spPr>
          <a:xfrm>
            <a:off x="796713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47" name="fx:rise:1880:500:305"/>
          <p:cNvSpPr txBox="1"/>
          <p:nvPr/>
        </p:nvSpPr>
        <p:spPr>
          <a:xfrm>
            <a:off x="806873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3504c0cb…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найден</a:t>
            </a:r>
            <a:endParaRPr lang="en-US" sz="1100" dirty="0"/>
          </a:p>
        </p:txBody>
      </p:sp>
      <p:sp>
        <p:nvSpPr>
          <p:cNvPr id="48" name="fx:fade:900:400:306"/>
          <p:cNvSpPr txBox="1"/>
          <p:nvPr/>
        </p:nvSpPr>
        <p:spPr>
          <a:xfrm>
            <a:off x="976841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950" dirty="0"/>
          </a:p>
        </p:txBody>
      </p:sp>
      <p:sp>
        <p:nvSpPr>
          <p:cNvPr id="49" name="fx:rise:900:500:307"/>
          <p:cNvSpPr/>
          <p:nvPr/>
        </p:nvSpPr>
        <p:spPr>
          <a:xfrm>
            <a:off x="976841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50" name="fx:rise:900:500:308"/>
          <p:cNvSpPr txBox="1"/>
          <p:nvPr/>
        </p:nvSpPr>
        <p:spPr>
          <a:xfrm>
            <a:off x="985731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'7'</a:t>
            </a:r>
            <a:endParaRPr lang="en-US" sz="950" dirty="0"/>
          </a:p>
        </p:txBody>
      </p:sp>
      <p:sp>
        <p:nvSpPr>
          <p:cNvPr id="51" name="fx:wipedown:1400:600:309"/>
          <p:cNvSpPr/>
          <p:nvPr/>
        </p:nvSpPr>
        <p:spPr>
          <a:xfrm>
            <a:off x="10586508" y="2768600"/>
            <a:ext cx="25400" cy="1270000"/>
          </a:xfrm>
          <a:prstGeom prst="rect">
            <a:avLst/>
          </a:prstGeom>
          <a:solidFill>
            <a:srgbClr val="D3263A"/>
          </a:solidFill>
          <a:ln/>
        </p:spPr>
      </p:sp>
      <p:sp>
        <p:nvSpPr>
          <p:cNvPr id="52" name="fx:zoom:1700:400:310"/>
          <p:cNvSpPr/>
          <p:nvPr/>
        </p:nvSpPr>
        <p:spPr>
          <a:xfrm>
            <a:off x="10148295" y="3251200"/>
            <a:ext cx="901827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3263A"/>
            </a:solidFill>
            <a:prstDash val="solid"/>
          </a:ln>
        </p:spPr>
      </p:sp>
      <p:sp>
        <p:nvSpPr>
          <p:cNvPr id="53" name="fx:zoom:1700:400:311"/>
          <p:cNvSpPr txBox="1"/>
          <p:nvPr/>
        </p:nvSpPr>
        <p:spPr>
          <a:xfrm>
            <a:off x="10148295" y="3251200"/>
            <a:ext cx="9018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1–5</a:t>
            </a:r>
            <a:endParaRPr lang="en-US" sz="950" dirty="0"/>
          </a:p>
        </p:txBody>
      </p:sp>
      <p:sp>
        <p:nvSpPr>
          <p:cNvPr id="54" name="fx:rise:2000:500:312"/>
          <p:cNvSpPr/>
          <p:nvPr/>
        </p:nvSpPr>
        <p:spPr>
          <a:xfrm>
            <a:off x="976841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D3263A"/>
          </a:solidFill>
          <a:ln/>
        </p:spPr>
      </p:sp>
      <p:sp>
        <p:nvSpPr>
          <p:cNvPr id="55" name="fx:rise:2000:500:313"/>
          <p:cNvSpPr txBox="1"/>
          <p:nvPr/>
        </p:nvSpPr>
        <p:spPr>
          <a:xfrm>
            <a:off x="987001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отказ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падает</a:t>
            </a:r>
            <a:endParaRPr lang="en-US" sz="1100" dirty="0"/>
          </a:p>
        </p:txBody>
      </p:sp>
      <p:pic>
        <p:nvPicPr>
          <p:cNvPr id="56" name="fx:fade:2300:500:314" descr="W:\Projects\hacks\rwb-new\presentation\pptx\assets\ico-refresh-cob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56200"/>
            <a:ext cx="215900" cy="215900"/>
          </a:xfrm>
          <a:prstGeom prst="rect">
            <a:avLst/>
          </a:prstGeom>
        </p:spPr>
      </p:pic>
      <p:sp>
        <p:nvSpPr>
          <p:cNvPr id="57" name="fx:fade:2300:500:315"/>
          <p:cNvSpPr txBox="1"/>
          <p:nvPr/>
        </p:nvSpPr>
        <p:spPr>
          <a:xfrm>
            <a:off x="1079500" y="5118100"/>
            <a:ext cx="1035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скрипт </a:t>
            </a:r>
            <a:r>
              <a:rPr lang="en-US" sz="12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 нуля, DROP SCHEMA и BEGIN … COMMIT: наполовину собранной модели не бывает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2" presetClass="entr" presetSubtype="1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2" presetClass="entr" presetSubtype="1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1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4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1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4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4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4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4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1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1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4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4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2" presetClass="entr" presetSubtype="1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4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4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4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4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53" presetClass="entr" presetSubtype="16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4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4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53" presetClass="entr" presetSubtype="16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4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4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4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42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2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5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5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5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слоя,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как в нашем знаке</a:t>
            </a:r>
            <a:endParaRPr lang="en-US" sz="3400" dirty="0"/>
          </a:p>
        </p:txBody>
      </p:sp>
      <p:pic>
        <p:nvPicPr>
          <p:cNvPr id="4" name="fx:drop:200:900:316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5" name="fx:drop:200:900:317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6" name="fx:drop:200:900:318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7" name="fx:drop:200:900:319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8" name="fx:drop:200:900:320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9" name="fx:drop:200:900:321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0" name="fx:drop:200:900:322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1" name="fx:drop:200:900:323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2" name="fx:drop:200:900:324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3" name="fx:drop:200:900:325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4" name="fx:drop:200:900:326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5" name="fx:drop:360:900:327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6" name="fx:drop:360:900:328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7" name="fx:drop:360:900:329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8" name="fx:drop:360:900:330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19" name="fx:drop:360:900:331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0" name="fx:drop:360:900:332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1" name="fx:drop:360:900:333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2" name="fx:drop:360:900:334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3" name="fx:drop:360:900:335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4" name="fx:drop:360:900:336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5" name="fx:drop:360:900:337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6" name="fx:drop:520:900:338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7" name="fx:drop:520:900:339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8" name="fx:drop:520:900:340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29" name="fx:drop:520:900:341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0" name="fx:drop:520:900:342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1" name="fx:drop:520:900:343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2" name="fx:drop:520:900:344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3" name="fx:drop:520:900:345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4" name="fx:drop:520:900:346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5" name="fx:drop:520:900:347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6" name="fx:drop:520:900:348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7" name="fx:fade:1400:500:349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38" name="fx:drop:1100:800:350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sp>
        <p:nvSpPr>
          <p:cNvPr id="39" name="fx:rise:1300:500:351"/>
          <p:cNvSpPr/>
          <p:nvPr/>
        </p:nvSpPr>
        <p:spPr>
          <a:xfrm>
            <a:off x="5842000" y="2019300"/>
            <a:ext cx="152400" cy="1524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0" name="fx:rise:1300:500:352"/>
          <p:cNvSpPr txBox="1"/>
          <p:nvPr/>
        </p:nvSpPr>
        <p:spPr>
          <a:xfrm>
            <a:off x="6127750" y="1905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</a:t>
            </a:r>
            <a:endParaRPr lang="en-US" sz="2100" dirty="0"/>
          </a:p>
        </p:txBody>
      </p:sp>
      <p:sp>
        <p:nvSpPr>
          <p:cNvPr id="41" name="fx:rise:1300:500:353"/>
          <p:cNvSpPr txBox="1"/>
          <p:nvPr/>
        </p:nvSpPr>
        <p:spPr>
          <a:xfrm>
            <a:off x="7366000" y="1905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считаются из core</a:t>
            </a:r>
            <a:endParaRPr lang="en-US" sz="1350" dirty="0"/>
          </a:p>
        </p:txBody>
      </p:sp>
      <p:sp>
        <p:nvSpPr>
          <p:cNvPr id="42" name="fx:rise:800:500:354"/>
          <p:cNvSpPr/>
          <p:nvPr/>
        </p:nvSpPr>
        <p:spPr>
          <a:xfrm>
            <a:off x="5842000" y="2844800"/>
            <a:ext cx="152400" cy="152400"/>
          </a:xfrm>
          <a:prstGeom prst="ellipse">
            <a:avLst/>
          </a:prstGeom>
          <a:solidFill>
            <a:srgbClr val="3BC4EE"/>
          </a:solidFill>
          <a:ln/>
        </p:spPr>
      </p:sp>
      <p:sp>
        <p:nvSpPr>
          <p:cNvPr id="43" name="fx:rise:800:500:355"/>
          <p:cNvSpPr txBox="1"/>
          <p:nvPr/>
        </p:nvSpPr>
        <p:spPr>
          <a:xfrm>
            <a:off x="6127750" y="2730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mart</a:t>
            </a:r>
            <a:endParaRPr lang="en-US" sz="2100" dirty="0"/>
          </a:p>
        </p:txBody>
      </p:sp>
      <p:sp>
        <p:nvSpPr>
          <p:cNvPr id="44" name="fx:rise:800:500:356"/>
          <p:cNvSpPr txBox="1"/>
          <p:nvPr/>
        </p:nvSpPr>
        <p:spPr>
          <a:xfrm>
            <a:off x="7366000" y="2730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 под задачу: исполнение заказа</a:t>
            </a:r>
            <a:endParaRPr lang="en-US" sz="1350" dirty="0"/>
          </a:p>
        </p:txBody>
      </p:sp>
      <p:sp>
        <p:nvSpPr>
          <p:cNvPr id="45" name="fx:rise:650:500:357"/>
          <p:cNvSpPr/>
          <p:nvPr/>
        </p:nvSpPr>
        <p:spPr>
          <a:xfrm>
            <a:off x="5842000" y="3670300"/>
            <a:ext cx="152400" cy="152400"/>
          </a:xfrm>
          <a:prstGeom prst="ellipse">
            <a:avLst/>
          </a:prstGeom>
          <a:solidFill>
            <a:srgbClr val="518FF2"/>
          </a:solidFill>
          <a:ln/>
        </p:spPr>
      </p:sp>
      <p:sp>
        <p:nvSpPr>
          <p:cNvPr id="46" name="fx:rise:650:500:358"/>
          <p:cNvSpPr txBox="1"/>
          <p:nvPr/>
        </p:nvSpPr>
        <p:spPr>
          <a:xfrm>
            <a:off x="6127750" y="3556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2100" dirty="0"/>
          </a:p>
        </p:txBody>
      </p:sp>
      <p:sp>
        <p:nvSpPr>
          <p:cNvPr id="47" name="fx:rise:650:500:359"/>
          <p:cNvSpPr txBox="1"/>
          <p:nvPr/>
        </p:nvSpPr>
        <p:spPr>
          <a:xfrm>
            <a:off x="7366000" y="3556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модель: типы, ключи, связи, дедупликация</a:t>
            </a:r>
            <a:endParaRPr lang="en-US" sz="1350" dirty="0"/>
          </a:p>
        </p:txBody>
      </p:sp>
      <p:sp>
        <p:nvSpPr>
          <p:cNvPr id="48" name="fx:rise:500:500:360"/>
          <p:cNvSpPr/>
          <p:nvPr/>
        </p:nvSpPr>
        <p:spPr>
          <a:xfrm>
            <a:off x="5842000" y="4495800"/>
            <a:ext cx="152400" cy="1524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49" name="fx:rise:500:500:361"/>
          <p:cNvSpPr txBox="1"/>
          <p:nvPr/>
        </p:nvSpPr>
        <p:spPr>
          <a:xfrm>
            <a:off x="6127750" y="4381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2100" dirty="0"/>
          </a:p>
        </p:txBody>
      </p:sp>
      <p:sp>
        <p:nvSpPr>
          <p:cNvPr id="50" name="fx:rise:500:500:362"/>
          <p:cNvSpPr txBox="1"/>
          <p:nvPr/>
        </p:nvSpPr>
        <p:spPr>
          <a:xfrm>
            <a:off x="7366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приехало, только читаем</a:t>
            </a:r>
            <a:endParaRPr lang="en-US" sz="1350" dirty="0"/>
          </a:p>
        </p:txBody>
      </p:sp>
      <p:sp>
        <p:nvSpPr>
          <p:cNvPr id="51" name="fx:fade:1700:500:363"/>
          <p:cNvSpPr/>
          <p:nvPr/>
        </p:nvSpPr>
        <p:spPr>
          <a:xfrm>
            <a:off x="6127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2" name="fx:fade:1700:500:364"/>
          <p:cNvSpPr txBox="1"/>
          <p:nvPr/>
        </p:nvSpPr>
        <p:spPr>
          <a:xfrm>
            <a:off x="6127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endParaRPr lang="en-US" sz="1000" dirty="0"/>
          </a:p>
        </p:txBody>
      </p:sp>
      <p:pic>
        <p:nvPicPr>
          <p:cNvPr id="53" name="fx:fade:1700:500:365" descr="W:\Projects\hacks\rwb-new\presentation\pptx\assets\ico-arrow-right-mut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537450" y="5518150"/>
            <a:ext cx="177800" cy="177800"/>
          </a:xfrm>
          <a:prstGeom prst="rect">
            <a:avLst/>
          </a:prstGeom>
        </p:spPr>
      </p:pic>
      <p:sp>
        <p:nvSpPr>
          <p:cNvPr id="54" name="fx:fade:1700:500:366"/>
          <p:cNvSpPr/>
          <p:nvPr/>
        </p:nvSpPr>
        <p:spPr>
          <a:xfrm>
            <a:off x="7778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5" name="fx:fade:1700:500:367"/>
          <p:cNvSpPr txBox="1"/>
          <p:nvPr/>
        </p:nvSpPr>
        <p:spPr>
          <a:xfrm>
            <a:off x="7778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build_mart.sql</a:t>
            </a:r>
            <a:endParaRPr lang="en-US" sz="1000" dirty="0"/>
          </a:p>
        </p:txBody>
      </p:sp>
      <p:pic>
        <p:nvPicPr>
          <p:cNvPr id="56" name="fx:fade:1700:500:368" descr="W:\Projects\hacks\rwb-new\presentation\pptx\assets\ico-arrow-right-mut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188450" y="5518150"/>
            <a:ext cx="177800" cy="177800"/>
          </a:xfrm>
          <a:prstGeom prst="rect">
            <a:avLst/>
          </a:prstGeom>
        </p:spPr>
      </p:pic>
      <p:sp>
        <p:nvSpPr>
          <p:cNvPr id="57" name="fx:fade:1700:500:369"/>
          <p:cNvSpPr/>
          <p:nvPr/>
        </p:nvSpPr>
        <p:spPr>
          <a:xfrm>
            <a:off x="942975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8" name="fx:fade:1700:500:370"/>
          <p:cNvSpPr txBox="1"/>
          <p:nvPr/>
        </p:nvSpPr>
        <p:spPr>
          <a:xfrm>
            <a:off x="942975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build_dashboard.py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9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9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9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9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1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9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9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9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9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9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9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9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9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9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1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9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9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9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9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9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9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9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9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9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9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9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9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1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9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9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5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5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1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8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8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7" grpId="0" animBg="1"/>
      <p:bldP spid="5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core: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 это решение</a:t>
            </a:r>
            <a:endParaRPr lang="en-US" sz="3400" dirty="0"/>
          </a:p>
        </p:txBody>
      </p:sp>
      <p:sp>
        <p:nvSpPr>
          <p:cNvPr id="4" name="fx:fade:900:400:371"/>
          <p:cNvSpPr/>
          <p:nvPr/>
        </p:nvSpPr>
        <p:spPr>
          <a:xfrm>
            <a:off x="34290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5" name="fx:fade:960:400:372"/>
          <p:cNvSpPr/>
          <p:nvPr/>
        </p:nvSpPr>
        <p:spPr>
          <a:xfrm>
            <a:off x="74295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fx:fade:1020:400:373"/>
          <p:cNvSpPr/>
          <p:nvPr/>
        </p:nvSpPr>
        <p:spPr>
          <a:xfrm>
            <a:off x="6096000" y="27305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7" name="fx:fade:1080:400:374"/>
          <p:cNvSpPr/>
          <p:nvPr/>
        </p:nvSpPr>
        <p:spPr>
          <a:xfrm>
            <a:off x="3429000" y="38100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fx:fade:1140:400:375"/>
          <p:cNvSpPr/>
          <p:nvPr/>
        </p:nvSpPr>
        <p:spPr>
          <a:xfrm>
            <a:off x="6096000" y="43180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9" name="fx:fade:1200:400:376"/>
          <p:cNvSpPr/>
          <p:nvPr/>
        </p:nvSpPr>
        <p:spPr>
          <a:xfrm>
            <a:off x="3429000" y="5397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fx:fade:1260:400:377"/>
          <p:cNvSpPr/>
          <p:nvPr/>
        </p:nvSpPr>
        <p:spPr>
          <a:xfrm>
            <a:off x="7429500" y="2476500"/>
            <a:ext cx="1333500" cy="1333500"/>
          </a:xfrm>
          <a:custGeom>
            <a:avLst/>
            <a:gdLst/>
            <a:ahLst/>
            <a:cxnLst/>
            <a:rect l="l" t="t" r="r" b="b"/>
            <a:pathLst>
              <a:path w="1333500" h="1333500">
                <a:moveTo>
                  <a:pt x="0" y="0"/>
                </a:moveTo>
                <a:lnTo>
                  <a:pt x="666750" y="0"/>
                </a:lnTo>
                <a:lnTo>
                  <a:pt x="666750" y="1333500"/>
                </a:lnTo>
                <a:lnTo>
                  <a:pt x="1333500" y="1333500"/>
                </a:lnTo>
              </a:path>
            </a:pathLst>
          </a:custGeom>
          <a:ln w="28575">
            <a:solidFill>
              <a:srgbClr val="2348FF"/>
            </a:solidFill>
            <a:prstDash val="solid"/>
          </a:ln>
        </p:spPr>
      </p:sp>
      <p:sp>
        <p:nvSpPr>
          <p:cNvPr id="11" name="fx:zoom:300:450:378"/>
          <p:cNvSpPr/>
          <p:nvPr/>
        </p:nvSpPr>
        <p:spPr>
          <a:xfrm>
            <a:off x="762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12" name="fx:zoom:300:450:379"/>
          <p:cNvSpPr txBox="1"/>
          <p:nvPr/>
        </p:nvSpPr>
        <p:spPr>
          <a:xfrm>
            <a:off x="952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13" name="fx:zoom:300:450:380"/>
          <p:cNvSpPr txBox="1"/>
          <p:nvPr/>
        </p:nvSpPr>
        <p:spPr>
          <a:xfrm>
            <a:off x="952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customer_unique_id</a:t>
            </a:r>
            <a:endParaRPr lang="en-US" sz="1050" dirty="0"/>
          </a:p>
        </p:txBody>
      </p:sp>
      <p:sp>
        <p:nvSpPr>
          <p:cNvPr id="14" name="fx:zoom:300:450:381"/>
          <p:cNvSpPr txBox="1"/>
          <p:nvPr/>
        </p:nvSpPr>
        <p:spPr>
          <a:xfrm>
            <a:off x="952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человек, а не учётка заказа</a:t>
            </a:r>
            <a:endParaRPr lang="en-US" sz="950" dirty="0"/>
          </a:p>
        </p:txBody>
      </p:sp>
      <p:sp>
        <p:nvSpPr>
          <p:cNvPr id="15" name="fx:zoom:370:450:382"/>
          <p:cNvSpPr/>
          <p:nvPr/>
        </p:nvSpPr>
        <p:spPr>
          <a:xfrm>
            <a:off x="47625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16" name="fx:zoom:370:450:383"/>
          <p:cNvSpPr txBox="1"/>
          <p:nvPr/>
        </p:nvSpPr>
        <p:spPr>
          <a:xfrm>
            <a:off x="49530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1500" dirty="0"/>
          </a:p>
        </p:txBody>
      </p:sp>
      <p:sp>
        <p:nvSpPr>
          <p:cNvPr id="17" name="fx:zoom:370:450:384"/>
          <p:cNvSpPr txBox="1"/>
          <p:nvPr/>
        </p:nvSpPr>
        <p:spPr>
          <a:xfrm>
            <a:off x="49530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</a:t>
            </a:r>
            <a:endParaRPr lang="en-US" sz="1050" dirty="0"/>
          </a:p>
        </p:txBody>
      </p:sp>
      <p:sp>
        <p:nvSpPr>
          <p:cNvPr id="18" name="fx:zoom:370:450:385"/>
          <p:cNvSpPr txBox="1"/>
          <p:nvPr/>
        </p:nvSpPr>
        <p:spPr>
          <a:xfrm>
            <a:off x="49530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по статусам, гео снимком</a:t>
            </a:r>
            <a:endParaRPr lang="en-US" sz="950" dirty="0"/>
          </a:p>
        </p:txBody>
      </p:sp>
      <p:sp>
        <p:nvSpPr>
          <p:cNvPr id="19" name="fx:zoom:440:450:386"/>
          <p:cNvSpPr/>
          <p:nvPr/>
        </p:nvSpPr>
        <p:spPr>
          <a:xfrm>
            <a:off x="8763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20" name="fx:zoom:440:450:387"/>
          <p:cNvSpPr txBox="1"/>
          <p:nvPr/>
        </p:nvSpPr>
        <p:spPr>
          <a:xfrm>
            <a:off x="8953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order_reviews</a:t>
            </a:r>
            <a:endParaRPr lang="en-US" sz="1500" dirty="0"/>
          </a:p>
        </p:txBody>
      </p:sp>
      <p:sp>
        <p:nvSpPr>
          <p:cNvPr id="21" name="fx:zoom:440:450:388"/>
          <p:cNvSpPr txBox="1"/>
          <p:nvPr/>
        </p:nvSpPr>
        <p:spPr>
          <a:xfrm>
            <a:off x="8953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review_id + order_id</a:t>
            </a:r>
            <a:endParaRPr lang="en-US" sz="1050" dirty="0"/>
          </a:p>
        </p:txBody>
      </p:sp>
      <p:sp>
        <p:nvSpPr>
          <p:cNvPr id="22" name="fx:zoom:440:450:389"/>
          <p:cNvSpPr txBox="1"/>
          <p:nvPr/>
        </p:nvSpPr>
        <p:spPr>
          <a:xfrm>
            <a:off x="8953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отзыв на нескольких заказах</a:t>
            </a:r>
            <a:endParaRPr lang="en-US" sz="950" dirty="0"/>
          </a:p>
        </p:txBody>
      </p:sp>
      <p:sp>
        <p:nvSpPr>
          <p:cNvPr id="23" name="fx:zoom:510:450:390"/>
          <p:cNvSpPr/>
          <p:nvPr/>
        </p:nvSpPr>
        <p:spPr>
          <a:xfrm>
            <a:off x="762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24" name="fx:zoom:510:450:391"/>
          <p:cNvSpPr txBox="1"/>
          <p:nvPr/>
        </p:nvSpPr>
        <p:spPr>
          <a:xfrm>
            <a:off x="952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sellers</a:t>
            </a:r>
            <a:endParaRPr lang="en-US" sz="1500" dirty="0"/>
          </a:p>
        </p:txBody>
      </p:sp>
      <p:sp>
        <p:nvSpPr>
          <p:cNvPr id="25" name="fx:zoom:510:450:392"/>
          <p:cNvSpPr txBox="1"/>
          <p:nvPr/>
        </p:nvSpPr>
        <p:spPr>
          <a:xfrm>
            <a:off x="952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seller_id</a:t>
            </a:r>
            <a:endParaRPr lang="en-US" sz="1050" dirty="0"/>
          </a:p>
        </p:txBody>
      </p:sp>
      <p:sp>
        <p:nvSpPr>
          <p:cNvPr id="26" name="fx:zoom:510:450:393"/>
          <p:cNvSpPr txBox="1"/>
          <p:nvPr/>
        </p:nvSpPr>
        <p:spPr>
          <a:xfrm>
            <a:off x="952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город и штат как в источнике</a:t>
            </a:r>
            <a:endParaRPr lang="en-US" sz="950" dirty="0"/>
          </a:p>
        </p:txBody>
      </p:sp>
      <p:sp>
        <p:nvSpPr>
          <p:cNvPr id="27" name="fx:zoom:580:450:394"/>
          <p:cNvSpPr/>
          <p:nvPr/>
        </p:nvSpPr>
        <p:spPr>
          <a:xfrm>
            <a:off x="47625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28" name="fx:zoom:580:450:395"/>
          <p:cNvSpPr txBox="1"/>
          <p:nvPr/>
        </p:nvSpPr>
        <p:spPr>
          <a:xfrm>
            <a:off x="49530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order_items</a:t>
            </a:r>
            <a:endParaRPr lang="en-US" sz="1500" dirty="0"/>
          </a:p>
        </p:txBody>
      </p:sp>
      <p:sp>
        <p:nvSpPr>
          <p:cNvPr id="29" name="fx:zoom:580:450:396"/>
          <p:cNvSpPr txBox="1"/>
          <p:nvPr/>
        </p:nvSpPr>
        <p:spPr>
          <a:xfrm>
            <a:off x="49530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item_no</a:t>
            </a:r>
            <a:endParaRPr lang="en-US" sz="1050" dirty="0"/>
          </a:p>
        </p:txBody>
      </p:sp>
      <p:sp>
        <p:nvSpPr>
          <p:cNvPr id="30" name="fx:zoom:580:450:397"/>
          <p:cNvSpPr txBox="1"/>
          <p:nvPr/>
        </p:nvSpPr>
        <p:spPr>
          <a:xfrm>
            <a:off x="49530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позиции стал частью ключа</a:t>
            </a:r>
            <a:endParaRPr lang="en-US" sz="950" dirty="0"/>
          </a:p>
        </p:txBody>
      </p:sp>
      <p:sp>
        <p:nvSpPr>
          <p:cNvPr id="31" name="fx:zoom:650:450:398"/>
          <p:cNvSpPr/>
          <p:nvPr/>
        </p:nvSpPr>
        <p:spPr>
          <a:xfrm>
            <a:off x="8763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2" name="fx:zoom:650:450:399"/>
          <p:cNvSpPr txBox="1"/>
          <p:nvPr/>
        </p:nvSpPr>
        <p:spPr>
          <a:xfrm>
            <a:off x="8953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order_payments</a:t>
            </a:r>
            <a:endParaRPr lang="en-US" sz="1500" dirty="0"/>
          </a:p>
        </p:txBody>
      </p:sp>
      <p:sp>
        <p:nvSpPr>
          <p:cNvPr id="33" name="fx:zoom:650:450:400"/>
          <p:cNvSpPr txBox="1"/>
          <p:nvPr/>
        </p:nvSpPr>
        <p:spPr>
          <a:xfrm>
            <a:off x="8953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payment_no</a:t>
            </a:r>
            <a:endParaRPr lang="en-US" sz="1050" dirty="0"/>
          </a:p>
        </p:txBody>
      </p:sp>
      <p:sp>
        <p:nvSpPr>
          <p:cNvPr id="34" name="fx:zoom:650:450:401"/>
          <p:cNvSpPr txBox="1"/>
          <p:nvPr/>
        </p:nvSpPr>
        <p:spPr>
          <a:xfrm>
            <a:off x="8953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платежей легально</a:t>
            </a:r>
            <a:endParaRPr lang="en-US" sz="950" dirty="0"/>
          </a:p>
        </p:txBody>
      </p:sp>
      <p:sp>
        <p:nvSpPr>
          <p:cNvPr id="35" name="fx:zoom:720:450:402"/>
          <p:cNvSpPr/>
          <p:nvPr/>
        </p:nvSpPr>
        <p:spPr>
          <a:xfrm>
            <a:off x="7620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6" name="fx:zoom:720:450:403"/>
          <p:cNvSpPr txBox="1"/>
          <p:nvPr/>
        </p:nvSpPr>
        <p:spPr>
          <a:xfrm>
            <a:off x="9525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product_categories</a:t>
            </a:r>
            <a:endParaRPr lang="en-US" sz="1500" dirty="0"/>
          </a:p>
        </p:txBody>
      </p:sp>
      <p:sp>
        <p:nvSpPr>
          <p:cNvPr id="37" name="fx:zoom:720:450:404"/>
          <p:cNvSpPr txBox="1"/>
          <p:nvPr/>
        </p:nvSpPr>
        <p:spPr>
          <a:xfrm>
            <a:off x="9525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category_name</a:t>
            </a:r>
            <a:endParaRPr lang="en-US" sz="1050" dirty="0"/>
          </a:p>
        </p:txBody>
      </p:sp>
      <p:sp>
        <p:nvSpPr>
          <p:cNvPr id="38" name="fx:zoom:720:450:405"/>
          <p:cNvSpPr txBox="1"/>
          <p:nvPr/>
        </p:nvSpPr>
        <p:spPr>
          <a:xfrm>
            <a:off x="9525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товаров, перевод опционален</a:t>
            </a:r>
            <a:endParaRPr lang="en-US" sz="950" dirty="0"/>
          </a:p>
        </p:txBody>
      </p:sp>
      <p:sp>
        <p:nvSpPr>
          <p:cNvPr id="39" name="fx:zoom:790:450:406"/>
          <p:cNvSpPr/>
          <p:nvPr/>
        </p:nvSpPr>
        <p:spPr>
          <a:xfrm>
            <a:off x="47625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40" name="fx:zoom:790:450:407"/>
          <p:cNvSpPr txBox="1"/>
          <p:nvPr/>
        </p:nvSpPr>
        <p:spPr>
          <a:xfrm>
            <a:off x="49530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</a:t>
            </a:r>
            <a:endParaRPr lang="en-US" sz="1500" dirty="0"/>
          </a:p>
        </p:txBody>
      </p:sp>
      <p:sp>
        <p:nvSpPr>
          <p:cNvPr id="41" name="fx:zoom:790:450:408"/>
          <p:cNvSpPr txBox="1"/>
          <p:nvPr/>
        </p:nvSpPr>
        <p:spPr>
          <a:xfrm>
            <a:off x="49530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product_id</a:t>
            </a:r>
            <a:endParaRPr lang="en-US" sz="1050" dirty="0"/>
          </a:p>
        </p:txBody>
      </p:sp>
      <p:sp>
        <p:nvSpPr>
          <p:cNvPr id="42" name="fx:zoom:790:450:409"/>
          <p:cNvSpPr txBox="1"/>
          <p:nvPr/>
        </p:nvSpPr>
        <p:spPr>
          <a:xfrm>
            <a:off x="49530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категория: nullable FK</a:t>
            </a:r>
            <a:endParaRPr lang="en-US" sz="950" dirty="0"/>
          </a:p>
        </p:txBody>
      </p:sp>
      <p:sp>
        <p:nvSpPr>
          <p:cNvPr id="43" name="fx:zoom:1350:300:410"/>
          <p:cNvSpPr/>
          <p:nvPr/>
        </p:nvSpPr>
        <p:spPr>
          <a:xfrm>
            <a:off x="47053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4" name="fx:zoom:1400:300:411"/>
          <p:cNvSpPr/>
          <p:nvPr/>
        </p:nvSpPr>
        <p:spPr>
          <a:xfrm>
            <a:off x="87058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5" name="fx:zoom:1450:300:412"/>
          <p:cNvSpPr/>
          <p:nvPr/>
        </p:nvSpPr>
        <p:spPr>
          <a:xfrm>
            <a:off x="6038850" y="3244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6" name="fx:zoom:1500:300:413"/>
          <p:cNvSpPr/>
          <p:nvPr/>
        </p:nvSpPr>
        <p:spPr>
          <a:xfrm>
            <a:off x="3371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7" name="fx:zoom:1550:300:414"/>
          <p:cNvSpPr/>
          <p:nvPr/>
        </p:nvSpPr>
        <p:spPr>
          <a:xfrm>
            <a:off x="6038850" y="4832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8" name="fx:zoom:1600:300:415"/>
          <p:cNvSpPr/>
          <p:nvPr/>
        </p:nvSpPr>
        <p:spPr>
          <a:xfrm>
            <a:off x="3371850" y="5340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fx:zoom:1650:300:416"/>
          <p:cNvSpPr/>
          <p:nvPr/>
        </p:nvSpPr>
        <p:spPr>
          <a:xfrm>
            <a:off x="8705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0" name="fx:rise:1900:400:417"/>
          <p:cNvSpPr/>
          <p:nvPr/>
        </p:nvSpPr>
        <p:spPr>
          <a:xfrm>
            <a:off x="8763000" y="49212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1" name="fx:rise:1900:400:418"/>
          <p:cNvSpPr txBox="1"/>
          <p:nvPr/>
        </p:nvSpPr>
        <p:spPr>
          <a:xfrm>
            <a:off x="8763000" y="49212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numeric</a:t>
            </a:r>
            <a:endParaRPr lang="en-US" sz="1050" dirty="0"/>
          </a:p>
        </p:txBody>
      </p:sp>
      <p:sp>
        <p:nvSpPr>
          <p:cNvPr id="52" name="fx:rise:2000:400:419"/>
          <p:cNvSpPr/>
          <p:nvPr/>
        </p:nvSpPr>
        <p:spPr>
          <a:xfrm>
            <a:off x="8763000" y="52895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3" name="fx:rise:2000:400:420"/>
          <p:cNvSpPr txBox="1"/>
          <p:nvPr/>
        </p:nvSpPr>
        <p:spPr>
          <a:xfrm>
            <a:off x="8763000" y="52895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даты timestamp</a:t>
            </a:r>
            <a:endParaRPr lang="en-US" sz="1050" dirty="0"/>
          </a:p>
        </p:txBody>
      </p:sp>
      <p:sp>
        <p:nvSpPr>
          <p:cNvPr id="54" name="fx:rise:2100:400:421"/>
          <p:cNvSpPr/>
          <p:nvPr/>
        </p:nvSpPr>
        <p:spPr>
          <a:xfrm>
            <a:off x="7493000" y="5657850"/>
            <a:ext cx="393700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55" name="fx:rise:2100:400:422"/>
          <p:cNvSpPr txBox="1"/>
          <p:nvPr/>
        </p:nvSpPr>
        <p:spPr>
          <a:xfrm>
            <a:off x="7493000" y="5657850"/>
            <a:ext cx="393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дубль или провисшая связь не запишется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4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4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4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4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4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4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4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4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4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4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4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4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4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4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4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4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4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4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4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4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4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4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4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4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3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3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3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3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3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3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3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3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8" dur="3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3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3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3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3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3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4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4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4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4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0" dur="4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4" dur="40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именно так</a:t>
            </a:r>
            <a:endParaRPr lang="en-US" sz="3400" dirty="0"/>
          </a:p>
        </p:txBody>
      </p:sp>
      <p:sp>
        <p:nvSpPr>
          <p:cNvPr id="4" name="fx:fade:200:400:423"/>
          <p:cNvSpPr txBox="1"/>
          <p:nvPr/>
        </p:nvSpPr>
        <p:spPr>
          <a:xfrm>
            <a:off x="939800" y="163830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endParaRPr lang="en-US" sz="1000" dirty="0"/>
          </a:p>
        </p:txBody>
      </p:sp>
      <p:sp>
        <p:nvSpPr>
          <p:cNvPr id="5" name="fx:fade:200:400:424"/>
          <p:cNvSpPr txBox="1"/>
          <p:nvPr/>
        </p:nvSpPr>
        <p:spPr>
          <a:xfrm>
            <a:off x="2730500" y="16383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наивно</a:t>
            </a:r>
            <a:endParaRPr lang="en-US" sz="1000" dirty="0"/>
          </a:p>
        </p:txBody>
      </p:sp>
      <p:sp>
        <p:nvSpPr>
          <p:cNvPr id="6" name="fx:fade:200:400:425"/>
          <p:cNvSpPr txBox="1"/>
          <p:nvPr/>
        </p:nvSpPr>
        <p:spPr>
          <a:xfrm>
            <a:off x="48895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модели</a:t>
            </a:r>
            <a:endParaRPr lang="en-US" sz="1000" dirty="0"/>
          </a:p>
        </p:txBody>
      </p:sp>
      <p:sp>
        <p:nvSpPr>
          <p:cNvPr id="7" name="fx:fade:200:400:426"/>
          <p:cNvSpPr txBox="1"/>
          <p:nvPr/>
        </p:nvSpPr>
        <p:spPr>
          <a:xfrm>
            <a:off x="6921500" y="16383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потеря</a:t>
            </a:r>
            <a:endParaRPr lang="en-US" sz="1000" dirty="0"/>
          </a:p>
        </p:txBody>
      </p:sp>
      <p:sp>
        <p:nvSpPr>
          <p:cNvPr id="8" name="fx:fade:200:400:427"/>
          <p:cNvSpPr txBox="1"/>
          <p:nvPr/>
        </p:nvSpPr>
        <p:spPr>
          <a:xfrm>
            <a:off x="8763000" y="16383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9" name="fx:rise:300:500:428"/>
          <p:cNvSpPr/>
          <p:nvPr/>
        </p:nvSpPr>
        <p:spPr>
          <a:xfrm>
            <a:off x="762000" y="19050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10" name="fx:rise:300:500:429"/>
          <p:cNvSpPr txBox="1"/>
          <p:nvPr/>
        </p:nvSpPr>
        <p:spPr>
          <a:xfrm>
            <a:off x="939800" y="19050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Покупатель</a:t>
            </a:r>
            <a:endParaRPr lang="en-US" sz="1350" dirty="0"/>
          </a:p>
        </p:txBody>
      </p:sp>
      <p:sp>
        <p:nvSpPr>
          <p:cNvPr id="11" name="fx:rise:300:500:430"/>
          <p:cNvSpPr txBox="1"/>
          <p:nvPr/>
        </p:nvSpPr>
        <p:spPr>
          <a:xfrm>
            <a:off x="2730500" y="19050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strike="sngStrike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600" dirty="0"/>
          </a:p>
        </p:txBody>
      </p:sp>
      <p:pic>
        <p:nvPicPr>
          <p:cNvPr id="12" name="fx:rise:300:500:431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146300"/>
            <a:ext cx="203200" cy="203200"/>
          </a:xfrm>
          <a:prstGeom prst="rect">
            <a:avLst/>
          </a:prstGeom>
        </p:spPr>
      </p:pic>
      <p:sp>
        <p:nvSpPr>
          <p:cNvPr id="13" name="fx:zoom:600:450:432"/>
          <p:cNvSpPr txBox="1"/>
          <p:nvPr/>
        </p:nvSpPr>
        <p:spPr>
          <a:xfrm>
            <a:off x="4889500" y="19050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700" dirty="0"/>
          </a:p>
        </p:txBody>
      </p:sp>
      <p:sp>
        <p:nvSpPr>
          <p:cNvPr id="14" name="fx:zoom:750:400:433"/>
          <p:cNvSpPr/>
          <p:nvPr/>
        </p:nvSpPr>
        <p:spPr>
          <a:xfrm>
            <a:off x="6921500" y="21018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15" name="fx:zoom:750:400:434"/>
          <p:cNvSpPr txBox="1"/>
          <p:nvPr/>
        </p:nvSpPr>
        <p:spPr>
          <a:xfrm>
            <a:off x="6921500" y="21018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3 345 дублей</a:t>
            </a:r>
            <a:endParaRPr lang="en-US" sz="1000" dirty="0"/>
          </a:p>
        </p:txBody>
      </p:sp>
      <p:sp>
        <p:nvSpPr>
          <p:cNvPr id="16" name="fx:rise:300:500:435"/>
          <p:cNvSpPr txBox="1"/>
          <p:nvPr/>
        </p:nvSpPr>
        <p:spPr>
          <a:xfrm>
            <a:off x="8763000" y="19050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customer_unique_id, повторных 3,12% вместо 0</a:t>
            </a:r>
            <a:endParaRPr lang="en-US" sz="1000" dirty="0"/>
          </a:p>
        </p:txBody>
      </p:sp>
      <p:sp>
        <p:nvSpPr>
          <p:cNvPr id="17" name="fx:rise:450:500:436"/>
          <p:cNvSpPr/>
          <p:nvPr/>
        </p:nvSpPr>
        <p:spPr>
          <a:xfrm>
            <a:off x="762000" y="26924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18" name="fx:rise:450:500:437"/>
          <p:cNvSpPr txBox="1"/>
          <p:nvPr/>
        </p:nvSpPr>
        <p:spPr>
          <a:xfrm>
            <a:off x="939800" y="26924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География</a:t>
            </a:r>
            <a:endParaRPr lang="en-US" sz="1350" dirty="0"/>
          </a:p>
        </p:txBody>
      </p:sp>
      <p:sp>
        <p:nvSpPr>
          <p:cNvPr id="19" name="fx:rise:450:500:438"/>
          <p:cNvSpPr txBox="1"/>
          <p:nvPr/>
        </p:nvSpPr>
        <p:spPr>
          <a:xfrm>
            <a:off x="2730500" y="26924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strike="sngStrike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сейчас</a:t>
            </a:r>
            <a:endParaRPr lang="en-US" sz="1600" dirty="0"/>
          </a:p>
        </p:txBody>
      </p:sp>
      <p:pic>
        <p:nvPicPr>
          <p:cNvPr id="20" name="fx:rise:450:500:439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933700"/>
            <a:ext cx="203200" cy="203200"/>
          </a:xfrm>
          <a:prstGeom prst="rect">
            <a:avLst/>
          </a:prstGeom>
        </p:spPr>
      </p:pic>
      <p:sp>
        <p:nvSpPr>
          <p:cNvPr id="21" name="fx:zoom:750:450:440"/>
          <p:cNvSpPr txBox="1"/>
          <p:nvPr/>
        </p:nvSpPr>
        <p:spPr>
          <a:xfrm>
            <a:off x="4889500" y="26924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в заказе</a:t>
            </a:r>
            <a:endParaRPr lang="en-US" sz="1700" dirty="0"/>
          </a:p>
        </p:txBody>
      </p:sp>
      <p:sp>
        <p:nvSpPr>
          <p:cNvPr id="22" name="fx:zoom:900:400:441"/>
          <p:cNvSpPr/>
          <p:nvPr/>
        </p:nvSpPr>
        <p:spPr>
          <a:xfrm>
            <a:off x="6921500" y="28892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23" name="fx:zoom:900:400:442"/>
          <p:cNvSpPr txBox="1"/>
          <p:nvPr/>
        </p:nvSpPr>
        <p:spPr>
          <a:xfrm>
            <a:off x="6921500" y="28892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 переездов</a:t>
            </a:r>
            <a:endParaRPr lang="en-US" sz="1000" dirty="0"/>
          </a:p>
        </p:txBody>
      </p:sp>
      <p:sp>
        <p:nvSpPr>
          <p:cNvPr id="24" name="fx:rise:450:500:443"/>
          <p:cNvSpPr txBox="1"/>
          <p:nvPr/>
        </p:nvSpPr>
        <p:spPr>
          <a:xfrm>
            <a:off x="8763000" y="26924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снимок в заказе, регионы не плывут</a:t>
            </a:r>
            <a:endParaRPr lang="en-US" sz="1000" dirty="0"/>
          </a:p>
        </p:txBody>
      </p:sp>
      <p:sp>
        <p:nvSpPr>
          <p:cNvPr id="25" name="fx:rise:600:500:444"/>
          <p:cNvSpPr/>
          <p:nvPr/>
        </p:nvSpPr>
        <p:spPr>
          <a:xfrm>
            <a:off x="762000" y="34798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26" name="fx:rise:600:500:445"/>
          <p:cNvSpPr txBox="1"/>
          <p:nvPr/>
        </p:nvSpPr>
        <p:spPr>
          <a:xfrm>
            <a:off x="939800" y="34798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</a:t>
            </a:r>
            <a:endParaRPr lang="en-US" sz="1350" dirty="0"/>
          </a:p>
        </p:txBody>
      </p:sp>
      <p:sp>
        <p:nvSpPr>
          <p:cNvPr id="27" name="fx:rise:600:500:446"/>
          <p:cNvSpPr txBox="1"/>
          <p:nvPr/>
        </p:nvSpPr>
        <p:spPr>
          <a:xfrm>
            <a:off x="2730500" y="34798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strike="sngStrike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600" dirty="0"/>
          </a:p>
        </p:txBody>
      </p:sp>
      <p:pic>
        <p:nvPicPr>
          <p:cNvPr id="28" name="fx:rise:600:500:447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3721100"/>
            <a:ext cx="203200" cy="203200"/>
          </a:xfrm>
          <a:prstGeom prst="rect">
            <a:avLst/>
          </a:prstGeom>
        </p:spPr>
      </p:pic>
      <p:sp>
        <p:nvSpPr>
          <p:cNvPr id="29" name="fx:zoom:900:450:448"/>
          <p:cNvSpPr txBox="1"/>
          <p:nvPr/>
        </p:nvSpPr>
        <p:spPr>
          <a:xfrm>
            <a:off x="4889500" y="34798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1700" dirty="0"/>
          </a:p>
        </p:txBody>
      </p:sp>
      <p:sp>
        <p:nvSpPr>
          <p:cNvPr id="30" name="fx:zoom:1050:400:449"/>
          <p:cNvSpPr/>
          <p:nvPr/>
        </p:nvSpPr>
        <p:spPr>
          <a:xfrm>
            <a:off x="6921500" y="36766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1" name="fx:zoom:1050:400:450"/>
          <p:cNvSpPr txBox="1"/>
          <p:nvPr/>
        </p:nvSpPr>
        <p:spPr>
          <a:xfrm>
            <a:off x="6921500" y="36766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 категории</a:t>
            </a:r>
            <a:endParaRPr lang="en-US" sz="1000" dirty="0"/>
          </a:p>
        </p:txBody>
      </p:sp>
      <p:sp>
        <p:nvSpPr>
          <p:cNvPr id="32" name="fx:rise:600:500:451"/>
          <p:cNvSpPr txBox="1"/>
          <p:nvPr/>
        </p:nvSpPr>
        <p:spPr>
          <a:xfrm>
            <a:off x="8763000" y="34798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справочник из товаров, перевод опционален</a:t>
            </a:r>
            <a:endParaRPr lang="en-US" sz="1000" dirty="0"/>
          </a:p>
        </p:txBody>
      </p:sp>
      <p:sp>
        <p:nvSpPr>
          <p:cNvPr id="33" name="fx:rise:750:500:452"/>
          <p:cNvSpPr/>
          <p:nvPr/>
        </p:nvSpPr>
        <p:spPr>
          <a:xfrm>
            <a:off x="762000" y="42672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34" name="fx:rise:750:500:453"/>
          <p:cNvSpPr txBox="1"/>
          <p:nvPr/>
        </p:nvSpPr>
        <p:spPr>
          <a:xfrm>
            <a:off x="939800" y="42672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категории</a:t>
            </a:r>
            <a:endParaRPr lang="en-US" sz="1350" dirty="0"/>
          </a:p>
        </p:txBody>
      </p:sp>
      <p:sp>
        <p:nvSpPr>
          <p:cNvPr id="35" name="fx:rise:750:500:454"/>
          <p:cNvSpPr txBox="1"/>
          <p:nvPr/>
        </p:nvSpPr>
        <p:spPr>
          <a:xfrm>
            <a:off x="2730500" y="42672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strike="sngStrike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13 050 771,48</a:t>
            </a:r>
            <a:endParaRPr lang="en-US" sz="1600" dirty="0"/>
          </a:p>
        </p:txBody>
      </p:sp>
      <p:pic>
        <p:nvPicPr>
          <p:cNvPr id="36" name="fx:rise:750:500:455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4508500"/>
            <a:ext cx="203200" cy="203200"/>
          </a:xfrm>
          <a:prstGeom prst="rect">
            <a:avLst/>
          </a:prstGeom>
        </p:spPr>
      </p:pic>
      <p:sp>
        <p:nvSpPr>
          <p:cNvPr id="37" name="fx:zoom:1050:450:456"/>
          <p:cNvSpPr txBox="1"/>
          <p:nvPr/>
        </p:nvSpPr>
        <p:spPr>
          <a:xfrm>
            <a:off x="4889500" y="42672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1700" dirty="0"/>
          </a:p>
        </p:txBody>
      </p:sp>
      <p:sp>
        <p:nvSpPr>
          <p:cNvPr id="38" name="fx:zoom:1200:400:457"/>
          <p:cNvSpPr/>
          <p:nvPr/>
        </p:nvSpPr>
        <p:spPr>
          <a:xfrm>
            <a:off x="6921500" y="44640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9" name="fx:zoom:1200:400:458"/>
          <p:cNvSpPr txBox="1"/>
          <p:nvPr/>
        </p:nvSpPr>
        <p:spPr>
          <a:xfrm>
            <a:off x="6921500" y="44640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−170 726,63</a:t>
            </a:r>
            <a:endParaRPr lang="en-US" sz="1000" dirty="0"/>
          </a:p>
        </p:txBody>
      </p:sp>
      <p:sp>
        <p:nvSpPr>
          <p:cNvPr id="40" name="fx:rise:750:500:459"/>
          <p:cNvSpPr txBox="1"/>
          <p:nvPr/>
        </p:nvSpPr>
        <p:spPr>
          <a:xfrm>
            <a:off x="8763000" y="42672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строка, сумма сходится</a:t>
            </a:r>
            <a:endParaRPr lang="en-US" sz="1000" dirty="0"/>
          </a:p>
        </p:txBody>
      </p:sp>
      <p:sp>
        <p:nvSpPr>
          <p:cNvPr id="41" name="fx:rise:900:500:460"/>
          <p:cNvSpPr/>
          <p:nvPr/>
        </p:nvSpPr>
        <p:spPr>
          <a:xfrm>
            <a:off x="762000" y="50546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42" name="fx:rise:900:500:461"/>
          <p:cNvSpPr txBox="1"/>
          <p:nvPr/>
        </p:nvSpPr>
        <p:spPr>
          <a:xfrm>
            <a:off x="939800" y="50546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 в отчётах</a:t>
            </a:r>
            <a:endParaRPr lang="en-US" sz="1350" dirty="0"/>
          </a:p>
        </p:txBody>
      </p:sp>
      <p:sp>
        <p:nvSpPr>
          <p:cNvPr id="43" name="fx:rise:900:500:462"/>
          <p:cNvSpPr txBox="1"/>
          <p:nvPr/>
        </p:nvSpPr>
        <p:spPr>
          <a:xfrm>
            <a:off x="2730500" y="50546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strike="sngStrike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98 666</a:t>
            </a:r>
            <a:endParaRPr lang="en-US" sz="1600" dirty="0"/>
          </a:p>
        </p:txBody>
      </p:sp>
      <p:pic>
        <p:nvPicPr>
          <p:cNvPr id="44" name="fx:rise:900:500:463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295900"/>
            <a:ext cx="203200" cy="203200"/>
          </a:xfrm>
          <a:prstGeom prst="rect">
            <a:avLst/>
          </a:prstGeom>
        </p:spPr>
      </p:pic>
      <p:sp>
        <p:nvSpPr>
          <p:cNvPr id="45" name="fx:zoom:1200:450:464"/>
          <p:cNvSpPr txBox="1"/>
          <p:nvPr/>
        </p:nvSpPr>
        <p:spPr>
          <a:xfrm>
            <a:off x="4889500" y="50546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700" dirty="0"/>
          </a:p>
        </p:txBody>
      </p:sp>
      <p:sp>
        <p:nvSpPr>
          <p:cNvPr id="46" name="fx:zoom:1350:400:465"/>
          <p:cNvSpPr/>
          <p:nvPr/>
        </p:nvSpPr>
        <p:spPr>
          <a:xfrm>
            <a:off x="6921500" y="52514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47" name="fx:zoom:1350:400:466"/>
          <p:cNvSpPr txBox="1"/>
          <p:nvPr/>
        </p:nvSpPr>
        <p:spPr>
          <a:xfrm>
            <a:off x="6921500" y="52514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−775 заказов</a:t>
            </a:r>
            <a:endParaRPr lang="en-US" sz="1000" dirty="0"/>
          </a:p>
        </p:txBody>
      </p:sp>
      <p:sp>
        <p:nvSpPr>
          <p:cNvPr id="48" name="fx:rise:900:500:467"/>
          <p:cNvSpPr txBox="1"/>
          <p:nvPr/>
        </p:nvSpPr>
        <p:spPr>
          <a:xfrm>
            <a:off x="8763000" y="50546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 JOIN, где пары может не быть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4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4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4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4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4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4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4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4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4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5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4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4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53" presetClass="entr" presetSubtype="16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4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4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4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4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4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4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4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4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4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4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Ничего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не потеряли</a:t>
            </a:r>
            <a:endParaRPr lang="en-US" sz="3400" dirty="0"/>
          </a:p>
        </p:txBody>
      </p:sp>
      <p:sp>
        <p:nvSpPr>
          <p:cNvPr id="4" name="fx:fade:200:400:468"/>
          <p:cNvSpPr txBox="1"/>
          <p:nvPr/>
        </p:nvSpPr>
        <p:spPr>
          <a:xfrm>
            <a:off x="762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1300" dirty="0"/>
          </a:p>
        </p:txBody>
      </p:sp>
      <p:sp>
        <p:nvSpPr>
          <p:cNvPr id="5" name="fx:zoom:2000:500:469"/>
          <p:cNvSpPr txBox="1"/>
          <p:nvPr/>
        </p:nvSpPr>
        <p:spPr>
          <a:xfrm>
            <a:off x="4826000" y="16256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потерь: </a:t>
            </a:r>
            <a:r>
              <a:rPr lang="en-US" sz="17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fx:fade:200:400:470"/>
          <p:cNvSpPr txBox="1"/>
          <p:nvPr/>
        </p:nvSpPr>
        <p:spPr>
          <a:xfrm>
            <a:off x="10160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1300" dirty="0"/>
          </a:p>
        </p:txBody>
      </p:sp>
      <p:sp>
        <p:nvSpPr>
          <p:cNvPr id="7" name="fx:fade:300:400:471"/>
          <p:cNvSpPr txBox="1"/>
          <p:nvPr/>
        </p:nvSpPr>
        <p:spPr>
          <a:xfrm>
            <a:off x="762000" y="20320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8" name="fx:wipeleft:300:700:472"/>
          <p:cNvSpPr/>
          <p:nvPr/>
        </p:nvSpPr>
        <p:spPr>
          <a:xfrm>
            <a:off x="2579899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9" name="fx:fade:300:400:473"/>
          <p:cNvSpPr txBox="1"/>
          <p:nvPr/>
        </p:nvSpPr>
        <p:spPr>
          <a:xfrm>
            <a:off x="5334000" y="20320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</a:t>
            </a:r>
            <a:endParaRPr lang="en-US" sz="1250" dirty="0"/>
          </a:p>
        </p:txBody>
      </p:sp>
      <p:sp>
        <p:nvSpPr>
          <p:cNvPr id="10" name="fx:zoom:1200:350:474"/>
          <p:cNvSpPr/>
          <p:nvPr/>
        </p:nvSpPr>
        <p:spPr>
          <a:xfrm>
            <a:off x="6540500" y="20637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11" name="fx:zoom:1200:350:475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101850"/>
            <a:ext cx="139700" cy="139700"/>
          </a:xfrm>
          <a:prstGeom prst="rect">
            <a:avLst/>
          </a:prstGeom>
        </p:spPr>
      </p:pic>
      <p:sp>
        <p:nvSpPr>
          <p:cNvPr id="12" name="fx:wiperight:300:700:476"/>
          <p:cNvSpPr/>
          <p:nvPr/>
        </p:nvSpPr>
        <p:spPr>
          <a:xfrm>
            <a:off x="6921500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3" name="fx:fade:800:400:477"/>
          <p:cNvSpPr txBox="1"/>
          <p:nvPr/>
        </p:nvSpPr>
        <p:spPr>
          <a:xfrm>
            <a:off x="9713701" y="20320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4" name="fx:fade:420:400:478"/>
          <p:cNvSpPr txBox="1"/>
          <p:nvPr/>
        </p:nvSpPr>
        <p:spPr>
          <a:xfrm>
            <a:off x="762000" y="25019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5" name="fx:wipeleft:420:700:479"/>
          <p:cNvSpPr/>
          <p:nvPr/>
        </p:nvSpPr>
        <p:spPr>
          <a:xfrm>
            <a:off x="2222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16" name="fx:fade:420:400:480"/>
          <p:cNvSpPr txBox="1"/>
          <p:nvPr/>
        </p:nvSpPr>
        <p:spPr>
          <a:xfrm>
            <a:off x="5334000" y="25019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позиции</a:t>
            </a:r>
            <a:endParaRPr lang="en-US" sz="1250" dirty="0"/>
          </a:p>
        </p:txBody>
      </p:sp>
      <p:sp>
        <p:nvSpPr>
          <p:cNvPr id="17" name="fx:zoom:1320:350:481"/>
          <p:cNvSpPr/>
          <p:nvPr/>
        </p:nvSpPr>
        <p:spPr>
          <a:xfrm>
            <a:off x="6540500" y="25336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18" name="fx:zoom:1320:350:482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571750"/>
            <a:ext cx="139700" cy="139700"/>
          </a:xfrm>
          <a:prstGeom prst="rect">
            <a:avLst/>
          </a:prstGeom>
        </p:spPr>
      </p:pic>
      <p:sp>
        <p:nvSpPr>
          <p:cNvPr id="19" name="fx:wiperight:420:700:483"/>
          <p:cNvSpPr/>
          <p:nvPr/>
        </p:nvSpPr>
        <p:spPr>
          <a:xfrm>
            <a:off x="6921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20" name="fx:fade:920:400:484"/>
          <p:cNvSpPr txBox="1"/>
          <p:nvPr/>
        </p:nvSpPr>
        <p:spPr>
          <a:xfrm>
            <a:off x="10071100" y="25019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21" name="fx:fade:540:400:485"/>
          <p:cNvSpPr txBox="1"/>
          <p:nvPr/>
        </p:nvSpPr>
        <p:spPr>
          <a:xfrm>
            <a:off x="762000" y="29718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2" name="fx:wipeleft:540:700:486"/>
          <p:cNvSpPr/>
          <p:nvPr/>
        </p:nvSpPr>
        <p:spPr>
          <a:xfrm>
            <a:off x="245963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23" name="fx:fade:540:400:487"/>
          <p:cNvSpPr txBox="1"/>
          <p:nvPr/>
        </p:nvSpPr>
        <p:spPr>
          <a:xfrm>
            <a:off x="5334000" y="29718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4" name="fx:zoom:1440:350:488"/>
          <p:cNvSpPr/>
          <p:nvPr/>
        </p:nvSpPr>
        <p:spPr>
          <a:xfrm>
            <a:off x="6540500" y="30035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5" name="fx:zoom:1440:350:489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041650"/>
            <a:ext cx="139700" cy="139700"/>
          </a:xfrm>
          <a:prstGeom prst="rect">
            <a:avLst/>
          </a:prstGeom>
        </p:spPr>
      </p:pic>
      <p:sp>
        <p:nvSpPr>
          <p:cNvPr id="26" name="fx:wiperight:540:700:490"/>
          <p:cNvSpPr/>
          <p:nvPr/>
        </p:nvSpPr>
        <p:spPr>
          <a:xfrm>
            <a:off x="692150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27" name="fx:fade:1040:400:491"/>
          <p:cNvSpPr txBox="1"/>
          <p:nvPr/>
        </p:nvSpPr>
        <p:spPr>
          <a:xfrm>
            <a:off x="9833970" y="29718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8" name="fx:fade:660:400:492"/>
          <p:cNvSpPr txBox="1"/>
          <p:nvPr/>
        </p:nvSpPr>
        <p:spPr>
          <a:xfrm>
            <a:off x="762000" y="34417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29" name="fx:wipeleft:660:700:493"/>
          <p:cNvSpPr/>
          <p:nvPr/>
        </p:nvSpPr>
        <p:spPr>
          <a:xfrm>
            <a:off x="2585771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0" name="fx:fade:660:400:494"/>
          <p:cNvSpPr txBox="1"/>
          <p:nvPr/>
        </p:nvSpPr>
        <p:spPr>
          <a:xfrm>
            <a:off x="5334000" y="34417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отзывы</a:t>
            </a:r>
            <a:endParaRPr lang="en-US" sz="1250" dirty="0"/>
          </a:p>
        </p:txBody>
      </p:sp>
      <p:sp>
        <p:nvSpPr>
          <p:cNvPr id="31" name="fx:zoom:1560:350:495"/>
          <p:cNvSpPr/>
          <p:nvPr/>
        </p:nvSpPr>
        <p:spPr>
          <a:xfrm>
            <a:off x="6540500" y="34734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32" name="fx:zoom:1560:350:496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511550"/>
            <a:ext cx="139700" cy="139700"/>
          </a:xfrm>
          <a:prstGeom prst="rect">
            <a:avLst/>
          </a:prstGeom>
        </p:spPr>
      </p:pic>
      <p:sp>
        <p:nvSpPr>
          <p:cNvPr id="33" name="fx:wiperight:660:700:497"/>
          <p:cNvSpPr/>
          <p:nvPr/>
        </p:nvSpPr>
        <p:spPr>
          <a:xfrm>
            <a:off x="6921500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4" name="fx:fade:1160:400:498"/>
          <p:cNvSpPr txBox="1"/>
          <p:nvPr/>
        </p:nvSpPr>
        <p:spPr>
          <a:xfrm>
            <a:off x="9707829" y="34417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5" name="fx:fade:780:400:499"/>
          <p:cNvSpPr txBox="1"/>
          <p:nvPr/>
        </p:nvSpPr>
        <p:spPr>
          <a:xfrm>
            <a:off x="762000" y="39116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36" name="fx:wipeleft:780:700:500"/>
          <p:cNvSpPr/>
          <p:nvPr/>
        </p:nvSpPr>
        <p:spPr>
          <a:xfrm>
            <a:off x="4378936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7" name="fx:fade:780:400:501"/>
          <p:cNvSpPr txBox="1"/>
          <p:nvPr/>
        </p:nvSpPr>
        <p:spPr>
          <a:xfrm>
            <a:off x="5334000" y="39116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товары</a:t>
            </a:r>
            <a:endParaRPr lang="en-US" sz="1250" dirty="0"/>
          </a:p>
        </p:txBody>
      </p:sp>
      <p:sp>
        <p:nvSpPr>
          <p:cNvPr id="38" name="fx:zoom:1680:350:502"/>
          <p:cNvSpPr/>
          <p:nvPr/>
        </p:nvSpPr>
        <p:spPr>
          <a:xfrm>
            <a:off x="6540500" y="39433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39" name="fx:zoom:1680:350:503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981450"/>
            <a:ext cx="139700" cy="139700"/>
          </a:xfrm>
          <a:prstGeom prst="rect">
            <a:avLst/>
          </a:prstGeom>
        </p:spPr>
      </p:pic>
      <p:sp>
        <p:nvSpPr>
          <p:cNvPr id="40" name="fx:wiperight:780:700:504"/>
          <p:cNvSpPr/>
          <p:nvPr/>
        </p:nvSpPr>
        <p:spPr>
          <a:xfrm>
            <a:off x="6921500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41" name="fx:fade:1280:400:505"/>
          <p:cNvSpPr txBox="1"/>
          <p:nvPr/>
        </p:nvSpPr>
        <p:spPr>
          <a:xfrm>
            <a:off x="7914664" y="39116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42" name="fx:fade:900:400:506"/>
          <p:cNvSpPr txBox="1"/>
          <p:nvPr/>
        </p:nvSpPr>
        <p:spPr>
          <a:xfrm>
            <a:off x="762000" y="43815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3" name="fx:wipeleft:900:700:507"/>
          <p:cNvSpPr/>
          <p:nvPr/>
        </p:nvSpPr>
        <p:spPr>
          <a:xfrm>
            <a:off x="51816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C9C9D1"/>
          </a:solidFill>
          <a:ln/>
        </p:spPr>
      </p:sp>
      <p:sp>
        <p:nvSpPr>
          <p:cNvPr id="44" name="fx:fade:900:400:508"/>
          <p:cNvSpPr txBox="1"/>
          <p:nvPr/>
        </p:nvSpPr>
        <p:spPr>
          <a:xfrm>
            <a:off x="5334000" y="43815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продавцы</a:t>
            </a:r>
            <a:endParaRPr lang="en-US" sz="1250" dirty="0"/>
          </a:p>
        </p:txBody>
      </p:sp>
      <p:sp>
        <p:nvSpPr>
          <p:cNvPr id="45" name="fx:zoom:1800:350:509"/>
          <p:cNvSpPr/>
          <p:nvPr/>
        </p:nvSpPr>
        <p:spPr>
          <a:xfrm>
            <a:off x="6540500" y="44132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6" name="fx:zoom:1800:350:510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451350"/>
            <a:ext cx="139700" cy="139700"/>
          </a:xfrm>
          <a:prstGeom prst="rect">
            <a:avLst/>
          </a:prstGeom>
        </p:spPr>
      </p:pic>
      <p:sp>
        <p:nvSpPr>
          <p:cNvPr id="47" name="fx:wiperight:900:700:511"/>
          <p:cNvSpPr/>
          <p:nvPr/>
        </p:nvSpPr>
        <p:spPr>
          <a:xfrm>
            <a:off x="69215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48" name="fx:fade:1400:400:512"/>
          <p:cNvSpPr txBox="1"/>
          <p:nvPr/>
        </p:nvSpPr>
        <p:spPr>
          <a:xfrm>
            <a:off x="7112000" y="43815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9" name="fx:fade:1020:400:513"/>
          <p:cNvSpPr txBox="1"/>
          <p:nvPr/>
        </p:nvSpPr>
        <p:spPr>
          <a:xfrm>
            <a:off x="762000" y="48514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50" name="fx:wipeleft:1020:700:514"/>
          <p:cNvSpPr/>
          <p:nvPr/>
        </p:nvSpPr>
        <p:spPr>
          <a:xfrm>
            <a:off x="2579899" y="48768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51" name="fx:fade:1020:400:515"/>
          <p:cNvSpPr txBox="1"/>
          <p:nvPr/>
        </p:nvSpPr>
        <p:spPr>
          <a:xfrm>
            <a:off x="5334000" y="48514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покупатели</a:t>
            </a:r>
            <a:endParaRPr lang="en-US" sz="1250" dirty="0"/>
          </a:p>
        </p:txBody>
      </p:sp>
      <p:sp>
        <p:nvSpPr>
          <p:cNvPr id="52" name="fx:zoom:1920:350:516"/>
          <p:cNvSpPr/>
          <p:nvPr/>
        </p:nvSpPr>
        <p:spPr>
          <a:xfrm>
            <a:off x="6540500" y="4883150"/>
            <a:ext cx="215900" cy="215900"/>
          </a:xfrm>
          <a:prstGeom prst="ellipse">
            <a:avLst/>
          </a:prstGeom>
          <a:solidFill>
            <a:srgbClr val="7F57EB"/>
          </a:solidFill>
          <a:ln/>
        </p:spPr>
      </p:sp>
      <p:pic>
        <p:nvPicPr>
          <p:cNvPr id="53" name="fx:zoom:1920:350:517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921250"/>
            <a:ext cx="139700" cy="139700"/>
          </a:xfrm>
          <a:prstGeom prst="rect">
            <a:avLst/>
          </a:prstGeom>
        </p:spPr>
      </p:pic>
      <p:sp>
        <p:nvSpPr>
          <p:cNvPr id="54" name="fx:wiperight:1020:700:518"/>
          <p:cNvSpPr/>
          <p:nvPr/>
        </p:nvSpPr>
        <p:spPr>
          <a:xfrm>
            <a:off x="6921500" y="4876800"/>
            <a:ext cx="2600094" cy="228600"/>
          </a:xfrm>
          <a:prstGeom prst="roundRect">
            <a:avLst>
              <a:gd name="adj" fmla="val 25000"/>
            </a:avLst>
          </a:prstGeom>
          <a:solidFill>
            <a:srgbClr val="7F57EB"/>
          </a:solidFill>
          <a:ln/>
        </p:spPr>
      </p:sp>
      <p:sp>
        <p:nvSpPr>
          <p:cNvPr id="55" name="fx:fade:1520:400:519"/>
          <p:cNvSpPr txBox="1"/>
          <p:nvPr/>
        </p:nvSpPr>
        <p:spPr>
          <a:xfrm>
            <a:off x="9623194" y="48514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200" dirty="0"/>
          </a:p>
        </p:txBody>
      </p:sp>
      <p:sp>
        <p:nvSpPr>
          <p:cNvPr id="56" name="fx:zoom:2020:400:520"/>
          <p:cNvSpPr/>
          <p:nvPr/>
        </p:nvSpPr>
        <p:spPr>
          <a:xfrm>
            <a:off x="10347094" y="4870450"/>
            <a:ext cx="1079500" cy="241300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/>
        </p:spPr>
      </p:sp>
      <p:sp>
        <p:nvSpPr>
          <p:cNvPr id="57" name="fx:zoom:2020:400:521"/>
          <p:cNvSpPr txBox="1"/>
          <p:nvPr/>
        </p:nvSpPr>
        <p:spPr>
          <a:xfrm>
            <a:off x="10347094" y="4870450"/>
            <a:ext cx="1079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дедупликация</a:t>
            </a:r>
            <a:endParaRPr lang="en-US" sz="850" dirty="0"/>
          </a:p>
        </p:txBody>
      </p:sp>
      <p:sp>
        <p:nvSpPr>
          <p:cNvPr id="58" name="fx:rise:2200:500:522"/>
          <p:cNvSpPr/>
          <p:nvPr/>
        </p:nvSpPr>
        <p:spPr>
          <a:xfrm>
            <a:off x="76200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9" name="fx:rise:2200:500:523"/>
          <p:cNvSpPr txBox="1"/>
          <p:nvPr/>
        </p:nvSpPr>
        <p:spPr>
          <a:xfrm>
            <a:off x="76200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 EXCEPTION</a:t>
            </a:r>
            <a:endParaRPr lang="en-US" sz="1050" dirty="0"/>
          </a:p>
        </p:txBody>
      </p:sp>
      <p:sp>
        <p:nvSpPr>
          <p:cNvPr id="60" name="fx:rise:2200:500:524"/>
          <p:cNvSpPr txBox="1"/>
          <p:nvPr/>
        </p:nvSpPr>
        <p:spPr>
          <a:xfrm>
            <a:off x="2540000" y="5461000"/>
            <a:ext cx="889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число строк, пары заказ и продавец, сумма денег. Расхождение валит сборку, а не молчит</a:t>
            </a:r>
            <a:endParaRPr lang="en-US" sz="11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2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5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0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3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3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53" presetClass="entr" presetSubtype="16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53" presetClass="entr" presetSubtype="16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3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3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3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3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53" presetClass="entr" presetSubtype="16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3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3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3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3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3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3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5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3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35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3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3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8" dur="3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35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3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35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5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4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4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5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5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5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один SELECT без join</a:t>
            </a:r>
            <a:endParaRPr lang="en-US" sz="3400" dirty="0"/>
          </a:p>
        </p:txBody>
      </p:sp>
      <p:sp>
        <p:nvSpPr>
          <p:cNvPr id="4" name="fx:zoom:300:500:525"/>
          <p:cNvSpPr/>
          <p:nvPr/>
        </p:nvSpPr>
        <p:spPr>
          <a:xfrm>
            <a:off x="762000" y="2730500"/>
            <a:ext cx="2413000" cy="1460500"/>
          </a:xfrm>
          <a:prstGeom prst="roundRect">
            <a:avLst>
              <a:gd name="adj" fmla="val 13913"/>
            </a:avLst>
          </a:prstGeom>
          <a:solidFill>
            <a:srgbClr val="2348FF"/>
          </a:solidFill>
          <a:ln/>
        </p:spPr>
      </p:sp>
      <p:sp>
        <p:nvSpPr>
          <p:cNvPr id="5" name="fx:zoom:300:500:526"/>
          <p:cNvSpPr txBox="1"/>
          <p:nvPr/>
        </p:nvSpPr>
        <p:spPr>
          <a:xfrm>
            <a:off x="990600" y="2895600"/>
            <a:ext cx="203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заказ</a:t>
            </a:r>
            <a:endParaRPr lang="en-US" sz="2400" dirty="0"/>
          </a:p>
        </p:txBody>
      </p:sp>
      <p:sp>
        <p:nvSpPr>
          <p:cNvPr id="6" name="fx:zoom:600:400:527"/>
          <p:cNvSpPr/>
          <p:nvPr/>
        </p:nvSpPr>
        <p:spPr>
          <a:xfrm>
            <a:off x="9906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7" name="fx:zoom:600:400:528"/>
          <p:cNvSpPr txBox="1"/>
          <p:nvPr/>
        </p:nvSpPr>
        <p:spPr>
          <a:xfrm>
            <a:off x="9906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П1</a:t>
            </a:r>
            <a:endParaRPr lang="en-US" sz="1050" dirty="0"/>
          </a:p>
        </p:txBody>
      </p:sp>
      <p:sp>
        <p:nvSpPr>
          <p:cNvPr id="8" name="fx:zoom:690:400:529"/>
          <p:cNvSpPr/>
          <p:nvPr/>
        </p:nvSpPr>
        <p:spPr>
          <a:xfrm>
            <a:off x="14478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9" name="fx:zoom:690:400:530"/>
          <p:cNvSpPr txBox="1"/>
          <p:nvPr/>
        </p:nvSpPr>
        <p:spPr>
          <a:xfrm>
            <a:off x="14478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П2</a:t>
            </a:r>
            <a:endParaRPr lang="en-US" sz="1050" dirty="0"/>
          </a:p>
        </p:txBody>
      </p:sp>
      <p:sp>
        <p:nvSpPr>
          <p:cNvPr id="10" name="fx:zoom:780:400:531"/>
          <p:cNvSpPr/>
          <p:nvPr/>
        </p:nvSpPr>
        <p:spPr>
          <a:xfrm>
            <a:off x="19050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fx:zoom:780:400:532"/>
          <p:cNvSpPr txBox="1"/>
          <p:nvPr/>
        </p:nvSpPr>
        <p:spPr>
          <a:xfrm>
            <a:off x="19050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П3</a:t>
            </a:r>
            <a:endParaRPr lang="en-US" sz="1050" dirty="0"/>
          </a:p>
        </p:txBody>
      </p:sp>
      <p:sp>
        <p:nvSpPr>
          <p:cNvPr id="12" name="fx:fade:900:400:533"/>
          <p:cNvSpPr txBox="1"/>
          <p:nvPr/>
        </p:nvSpPr>
        <p:spPr>
          <a:xfrm>
            <a:off x="990600" y="3848100"/>
            <a:ext cx="203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продавца</a:t>
            </a:r>
            <a:endParaRPr lang="en-US" sz="1050" dirty="0"/>
          </a:p>
        </p:txBody>
      </p:sp>
      <p:sp>
        <p:nvSpPr>
          <p:cNvPr id="13" name="fx:fade:900:500:534"/>
          <p:cNvSpPr/>
          <p:nvPr/>
        </p:nvSpPr>
        <p:spPr>
          <a:xfrm>
            <a:off x="3175000" y="2476500"/>
            <a:ext cx="1905000" cy="698500"/>
          </a:xfrm>
          <a:custGeom>
            <a:avLst/>
            <a:gdLst/>
            <a:ahLst/>
            <a:cxnLst/>
            <a:rect l="l" t="t" r="r" b="b"/>
            <a:pathLst>
              <a:path w="1905000" h="698500">
                <a:moveTo>
                  <a:pt x="0" y="698500"/>
                </a:moveTo>
                <a:lnTo>
                  <a:pt x="889000" y="698500"/>
                </a:lnTo>
                <a:lnTo>
                  <a:pt x="889000" y="0"/>
                </a:lnTo>
                <a:lnTo>
                  <a:pt x="1905000" y="0"/>
                </a:lnTo>
              </a:path>
            </a:pathLst>
          </a:custGeom>
          <a:ln w="38100">
            <a:solidFill>
              <a:srgbClr val="2348FF"/>
            </a:solidFill>
            <a:prstDash val="solid"/>
          </a:ln>
        </p:spPr>
      </p:sp>
      <p:sp>
        <p:nvSpPr>
          <p:cNvPr id="14" name="fx:fade:1000:500:535"/>
          <p:cNvSpPr/>
          <p:nvPr/>
        </p:nvSpPr>
        <p:spPr>
          <a:xfrm>
            <a:off x="3175000" y="374650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0" y="0"/>
                </a:moveTo>
                <a:lnTo>
                  <a:pt x="889000" y="0"/>
                </a:lnTo>
                <a:lnTo>
                  <a:pt x="889000" y="571500"/>
                </a:lnTo>
                <a:lnTo>
                  <a:pt x="1905000" y="571500"/>
                </a:lnTo>
              </a:path>
            </a:pathLst>
          </a:custGeom>
          <a:ln w="38100">
            <a:solidFill>
              <a:srgbClr val="7F57EB"/>
            </a:solidFill>
            <a:prstDash val="solid"/>
          </a:ln>
        </p:spPr>
      </p:sp>
      <p:sp>
        <p:nvSpPr>
          <p:cNvPr id="15" name="fx:rise:1100:500:536"/>
          <p:cNvSpPr txBox="1"/>
          <p:nvPr/>
        </p:nvSpPr>
        <p:spPr>
          <a:xfrm>
            <a:off x="5080000" y="1701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order_fulfillment</a:t>
            </a:r>
            <a:endParaRPr lang="en-US" sz="1400" dirty="0"/>
          </a:p>
        </p:txBody>
      </p:sp>
      <p:sp>
        <p:nvSpPr>
          <p:cNvPr id="16" name="fx:rise:1100:500:537"/>
          <p:cNvSpPr txBox="1"/>
          <p:nvPr/>
        </p:nvSpPr>
        <p:spPr>
          <a:xfrm>
            <a:off x="5080000" y="1955800"/>
            <a:ext cx="355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 в днях, on_time, суммы, последний отзыв; сломанная хронология в NULL</a:t>
            </a:r>
            <a:endParaRPr lang="en-US" sz="950" dirty="0"/>
          </a:p>
        </p:txBody>
      </p:sp>
      <p:sp>
        <p:nvSpPr>
          <p:cNvPr id="17" name="fx:wiperight:1200:600:538"/>
          <p:cNvSpPr/>
          <p:nvPr/>
        </p:nvSpPr>
        <p:spPr>
          <a:xfrm>
            <a:off x="5080000" y="2298700"/>
            <a:ext cx="3556000" cy="381000"/>
          </a:xfrm>
          <a:prstGeom prst="roundRect">
            <a:avLst>
              <a:gd name="adj" fmla="val 26667"/>
            </a:avLst>
          </a:prstGeom>
          <a:solidFill>
            <a:srgbClr val="E9EDFF"/>
          </a:solidFill>
          <a:ln w="28575">
            <a:solidFill>
              <a:srgbClr val="2348FF"/>
            </a:solidFill>
            <a:prstDash val="solid"/>
          </a:ln>
        </p:spPr>
      </p:sp>
      <p:sp>
        <p:nvSpPr>
          <p:cNvPr id="18" name="fx:rise:1300:500:539"/>
          <p:cNvSpPr txBox="1"/>
          <p:nvPr/>
        </p:nvSpPr>
        <p:spPr>
          <a:xfrm>
            <a:off x="5080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7F5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seller_shipment</a:t>
            </a:r>
            <a:endParaRPr lang="en-US" sz="1400" dirty="0"/>
          </a:p>
        </p:txBody>
      </p:sp>
      <p:sp>
        <p:nvSpPr>
          <p:cNvPr id="19" name="fx:rise:1300:500:540"/>
          <p:cNvSpPr txBox="1"/>
          <p:nvPr/>
        </p:nvSpPr>
        <p:spPr>
          <a:xfrm>
            <a:off x="5080000" y="3810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отгрузки пары и флаг «успел ли»</a:t>
            </a:r>
            <a:endParaRPr lang="en-US" sz="950" dirty="0"/>
          </a:p>
        </p:txBody>
      </p:sp>
      <p:sp>
        <p:nvSpPr>
          <p:cNvPr id="20" name="fx:wiperight:1400:600:541"/>
          <p:cNvSpPr/>
          <p:nvPr/>
        </p:nvSpPr>
        <p:spPr>
          <a:xfrm>
            <a:off x="5080000" y="40640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1" name="fx:wiperight:1520:600:542"/>
          <p:cNvSpPr/>
          <p:nvPr/>
        </p:nvSpPr>
        <p:spPr>
          <a:xfrm>
            <a:off x="5080000" y="44577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2" name="fx:wiperight:1640:600:543"/>
          <p:cNvSpPr/>
          <p:nvPr/>
        </p:nvSpPr>
        <p:spPr>
          <a:xfrm>
            <a:off x="5080000" y="48514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3" name="fx:zoom:1700:500:544"/>
          <p:cNvSpPr txBox="1"/>
          <p:nvPr/>
        </p:nvSpPr>
        <p:spPr>
          <a:xfrm>
            <a:off x="9017000" y="20955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3800" dirty="0"/>
          </a:p>
        </p:txBody>
      </p:sp>
      <p:sp>
        <p:nvSpPr>
          <p:cNvPr id="24" name="fx:zoom:1700:500:545"/>
          <p:cNvSpPr txBox="1"/>
          <p:nvPr/>
        </p:nvSpPr>
        <p:spPr>
          <a:xfrm>
            <a:off x="9017000" y="2667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1 заказ</a:t>
            </a:r>
            <a:endParaRPr lang="en-US" sz="1050" dirty="0"/>
          </a:p>
        </p:txBody>
      </p:sp>
      <p:sp>
        <p:nvSpPr>
          <p:cNvPr id="25" name="fx:zoom:1900:500:546"/>
          <p:cNvSpPr txBox="1"/>
          <p:nvPr/>
        </p:nvSpPr>
        <p:spPr>
          <a:xfrm>
            <a:off x="9017000" y="40640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100 010</a:t>
            </a:r>
            <a:endParaRPr lang="en-US" sz="3800" dirty="0"/>
          </a:p>
        </p:txBody>
      </p:sp>
      <p:sp>
        <p:nvSpPr>
          <p:cNvPr id="26" name="fx:zoom:1900:500:547"/>
          <p:cNvSpPr txBox="1"/>
          <p:nvPr/>
        </p:nvSpPr>
        <p:spPr>
          <a:xfrm>
            <a:off x="9017000" y="46355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заказ × продавец</a:t>
            </a:r>
            <a:endParaRPr lang="en-US" sz="1050" dirty="0"/>
          </a:p>
        </p:txBody>
      </p:sp>
      <p:sp>
        <p:nvSpPr>
          <p:cNvPr id="27" name="fx:rise:2200:500:548"/>
          <p:cNvSpPr/>
          <p:nvPr/>
        </p:nvSpPr>
        <p:spPr>
          <a:xfrm>
            <a:off x="762000" y="5588000"/>
            <a:ext cx="10668000" cy="571500"/>
          </a:xfrm>
          <a:prstGeom prst="roundRect">
            <a:avLst>
              <a:gd name="adj" fmla="val 28889"/>
            </a:avLst>
          </a:prstGeom>
          <a:solidFill>
            <a:srgbClr val="F0E4FF"/>
          </a:solidFill>
          <a:ln/>
        </p:spPr>
      </p:sp>
      <p:pic>
        <p:nvPicPr>
          <p:cNvPr id="28" name="fx:rise:2200:500:549" descr="W:\Projects\hacks\rwb-new\presentation\pptx\assets\ico-alert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759450"/>
            <a:ext cx="228600" cy="228600"/>
          </a:xfrm>
          <a:prstGeom prst="rect">
            <a:avLst/>
          </a:prstGeom>
        </p:spPr>
      </p:pic>
      <p:sp>
        <p:nvSpPr>
          <p:cNvPr id="29" name="fx:rise:2200:500:550"/>
          <p:cNvSpPr txBox="1"/>
          <p:nvPr/>
        </p:nvSpPr>
        <p:spPr>
          <a:xfrm>
            <a:off x="1308100" y="5588000"/>
            <a:ext cx="9931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is_single_seller: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отгрузки в источнике одна на заказ, поэтому рейтинг продавца честен только для заказов с одним продавцом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title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 А: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все пять контролей сошлись</a:t>
            </a:r>
            <a:endParaRPr lang="en-US" sz="3400" dirty="0"/>
          </a:p>
        </p:txBody>
      </p:sp>
      <p:sp>
        <p:nvSpPr>
          <p:cNvPr id="4" name="fx:zoom:300:600:551"/>
          <p:cNvSpPr txBox="1"/>
          <p:nvPr/>
        </p:nvSpPr>
        <p:spPr>
          <a:xfrm>
            <a:off x="762000" y="1524000"/>
            <a:ext cx="571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4800" dirty="0"/>
          </a:p>
        </p:txBody>
      </p:sp>
      <p:sp>
        <p:nvSpPr>
          <p:cNvPr id="5" name="fx:fade:500:500:552"/>
          <p:cNvSpPr txBox="1"/>
          <p:nvPr/>
        </p:nvSpPr>
        <p:spPr>
          <a:xfrm>
            <a:off x="762000" y="22352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за 24 месяца, R$, товары без доставки по доставленным заказам</a:t>
            </a:r>
            <a:endParaRPr lang="en-US" sz="1050" dirty="0"/>
          </a:p>
        </p:txBody>
      </p:sp>
      <p:sp>
        <p:nvSpPr>
          <p:cNvPr id="6" name="fx:wiperight:600:1600:553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  <a:lnTo>
                  <a:pt x="10668000" y="2222500"/>
                </a:lnTo>
                <a:lnTo>
                  <a:pt x="0" y="2222500"/>
                </a:lnTo>
                <a:close/>
              </a:path>
            </a:pathLst>
          </a:custGeom>
          <a:solidFill>
            <a:srgbClr val="328EF9">
              <a:alpha val="22000"/>
            </a:srgbClr>
          </a:solidFill>
          <a:ln/>
        </p:spPr>
      </p:sp>
      <p:sp>
        <p:nvSpPr>
          <p:cNvPr id="7" name="fx:wiperight:600:1600:554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</a:path>
            </a:pathLst>
          </a:custGeom>
          <a:ln w="44450">
            <a:solidFill>
              <a:srgbClr val="2348FF"/>
            </a:solidFill>
            <a:prstDash val="solid"/>
          </a:ln>
        </p:spPr>
      </p:sp>
      <p:sp>
        <p:nvSpPr>
          <p:cNvPr id="8" name="fx:fade:300:400:555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9" name="fx:fade:400:400:556"/>
          <p:cNvSpPr txBox="1"/>
          <p:nvPr/>
        </p:nvSpPr>
        <p:spPr>
          <a:xfrm>
            <a:off x="762000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сен 2016</a:t>
            </a:r>
            <a:endParaRPr lang="en-US" sz="950" dirty="0"/>
          </a:p>
        </p:txBody>
      </p:sp>
      <p:sp>
        <p:nvSpPr>
          <p:cNvPr id="10" name="fx:fade:400:400:557"/>
          <p:cNvSpPr txBox="1"/>
          <p:nvPr/>
        </p:nvSpPr>
        <p:spPr>
          <a:xfrm>
            <a:off x="2299804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2017</a:t>
            </a:r>
            <a:endParaRPr lang="en-US" sz="950" dirty="0"/>
          </a:p>
        </p:txBody>
      </p:sp>
      <p:sp>
        <p:nvSpPr>
          <p:cNvPr id="11" name="fx:fade:400:400:558"/>
          <p:cNvSpPr txBox="1"/>
          <p:nvPr/>
        </p:nvSpPr>
        <p:spPr>
          <a:xfrm>
            <a:off x="7865717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2018</a:t>
            </a:r>
            <a:endParaRPr lang="en-US" sz="950" dirty="0"/>
          </a:p>
        </p:txBody>
      </p:sp>
      <p:sp>
        <p:nvSpPr>
          <p:cNvPr id="12" name="fx:zoom:1500:400:559"/>
          <p:cNvSpPr/>
          <p:nvPr/>
        </p:nvSpPr>
        <p:spPr>
          <a:xfrm>
            <a:off x="1619802" y="4756150"/>
            <a:ext cx="139700" cy="1397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13" name="fx:fade:1600:400:560"/>
          <p:cNvSpPr txBox="1"/>
          <p:nvPr/>
        </p:nvSpPr>
        <p:spPr>
          <a:xfrm>
            <a:off x="1626152" y="42164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generate_series: ноябрь 2016 = 0, строка есть</a:t>
            </a:r>
            <a:endParaRPr lang="en-US" sz="950" dirty="0"/>
          </a:p>
        </p:txBody>
      </p:sp>
      <p:sp>
        <p:nvSpPr>
          <p:cNvPr id="14" name="fx:fade:1800:400:561"/>
          <p:cNvSpPr/>
          <p:nvPr/>
        </p:nvSpPr>
        <p:spPr>
          <a:xfrm>
            <a:off x="762000" y="52705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15" name="fx:rise:1900:500:562"/>
          <p:cNvSpPr txBox="1"/>
          <p:nvPr/>
        </p:nvSpPr>
        <p:spPr>
          <a:xfrm>
            <a:off x="762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226 987,93</a:t>
            </a:r>
            <a:endParaRPr lang="en-US" sz="2300" dirty="0"/>
          </a:p>
        </p:txBody>
      </p:sp>
      <p:sp>
        <p:nvSpPr>
          <p:cNvPr id="16" name="fx:rise:1900:500:563"/>
          <p:cNvSpPr txBox="1"/>
          <p:nvPr/>
        </p:nvSpPr>
        <p:spPr>
          <a:xfrm>
            <a:off x="762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топ-продавец из Гуарибы: выручка от позиций</a:t>
            </a:r>
            <a:endParaRPr lang="en-US" sz="1000" dirty="0"/>
          </a:p>
        </p:txBody>
      </p:sp>
      <p:sp>
        <p:nvSpPr>
          <p:cNvPr id="17" name="fx:rise:2020:500:564"/>
          <p:cNvSpPr txBox="1"/>
          <p:nvPr/>
        </p:nvSpPr>
        <p:spPr>
          <a:xfrm>
            <a:off x="3492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159,88</a:t>
            </a:r>
            <a:endParaRPr lang="en-US" sz="2300" dirty="0"/>
          </a:p>
        </p:txBody>
      </p:sp>
      <p:sp>
        <p:nvSpPr>
          <p:cNvPr id="18" name="fx:rise:2020:500:565"/>
          <p:cNvSpPr txBox="1"/>
          <p:nvPr/>
        </p:nvSpPr>
        <p:spPr>
          <a:xfrm>
            <a:off x="3492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средний чек: заказ, потом среднее</a:t>
            </a:r>
            <a:endParaRPr lang="en-US" sz="1000" dirty="0"/>
          </a:p>
        </p:txBody>
      </p:sp>
      <p:sp>
        <p:nvSpPr>
          <p:cNvPr id="19" name="fx:rise:2140:500:566"/>
          <p:cNvSpPr txBox="1"/>
          <p:nvPr/>
        </p:nvSpPr>
        <p:spPr>
          <a:xfrm>
            <a:off x="6223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 · 3,12%</a:t>
            </a:r>
            <a:endParaRPr lang="en-US" sz="2300" dirty="0"/>
          </a:p>
        </p:txBody>
      </p:sp>
      <p:sp>
        <p:nvSpPr>
          <p:cNvPr id="20" name="fx:rise:2140:500:567"/>
          <p:cNvSpPr txBox="1"/>
          <p:nvPr/>
        </p:nvSpPr>
        <p:spPr>
          <a:xfrm>
            <a:off x="6223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 по customer_unique_id</a:t>
            </a:r>
            <a:endParaRPr lang="en-US" sz="1000" dirty="0"/>
          </a:p>
        </p:txBody>
      </p:sp>
      <p:sp>
        <p:nvSpPr>
          <p:cNvPr id="21" name="fx:rise:2260:500:568"/>
          <p:cNvSpPr txBox="1"/>
          <p:nvPr/>
        </p:nvSpPr>
        <p:spPr>
          <a:xfrm>
            <a:off x="8953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2300" dirty="0"/>
          </a:p>
        </p:txBody>
      </p:sp>
      <p:sp>
        <p:nvSpPr>
          <p:cNvPr id="22" name="fx:rise:2260:500:569"/>
          <p:cNvSpPr txBox="1"/>
          <p:nvPr/>
        </p:nvSpPr>
        <p:spPr>
          <a:xfrm>
            <a:off x="8953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 с «(без категории)»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22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x:drop:150:900:570" descr="W:\Projects\hacks\rwb-new\presentation\pptx\assets\st-raw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4" name="fx:drop:150:900:571" descr="W:\Projects\hacks\rwb-new\presentation\pptx\assets\st-raw-row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5" name="fx:drop:150:900:572" descr="W:\Projects\hacks\rwb-new\presentation\pptx\assets\st-raw-row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6" name="fx:drop:150:900:573" descr="W:\Projects\hacks\rwb-new\presentation\pptx\assets\st-raw-row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7" name="fx:drop:150:900:574" descr="W:\Projects\hacks\rwb-new\presentation\pptx\assets\st-raw-row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8" name="fx:drop:150:900:575" descr="W:\Projects\hacks\rwb-new\presentation\pptx\assets\st-raw-row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9" name="fx:drop:150:900:576" descr="W:\Projects\hacks\rwb-new\presentation\pptx\assets\st-raw-row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0" name="fx:drop:150:900:577" descr="W:\Projects\hacks\rwb-new\presentation\pptx\assets\st-raw-row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1" name="fx:drop:150:900:578" descr="W:\Projects\hacks\rwb-new\presentation\pptx\assets\st-raw-row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2" name="fx:drop:150:900:579" descr="W:\Projects\hacks\rwb-new\presentation\pptx\assets\st-raw-row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3" name="fx:drop:150:900:580" descr="W:\Projects\hacks\rwb-new\presentation\pptx\assets\st-raw-row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4" name="fx:drop:310:900:581" descr="W:\Projects\hacks\rwb-new\presentation\pptx\assets\st-core-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5" name="fx:drop:310:900:582" descr="W:\Projects\hacks\rwb-new\presentation\pptx\assets\st-core-row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6" name="fx:drop:310:900:583" descr="W:\Projects\hacks\rwb-new\presentation\pptx\assets\st-core-row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7" name="fx:drop:310:900:584" descr="W:\Projects\hacks\rwb-new\presentation\pptx\assets\st-core-row2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8" name="fx:drop:310:900:585" descr="W:\Projects\hacks\rwb-new\presentation\pptx\assets\st-core-row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19" name="fx:drop:310:900:586" descr="W:\Projects\hacks\rwb-new\presentation\pptx\assets\st-core-row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0" name="fx:drop:310:900:587" descr="W:\Projects\hacks\rwb-new\presentation\pptx\assets\st-core-row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1" name="fx:drop:310:900:588" descr="W:\Projects\hacks\rwb-new\presentation\pptx\assets\st-core-row6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2" name="fx:drop:310:900:589" descr="W:\Projects\hacks\rwb-new\presentation\pptx\assets\st-core-row7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3" name="fx:drop:310:900:590" descr="W:\Projects\hacks\rwb-new\presentation\pptx\assets\st-core-row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4" name="fx:drop:310:900:591" descr="W:\Projects\hacks\rwb-new\presentation\pptx\assets\st-core-row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5" name="fx:drop:470:900:592" descr="W:\Projects\hacks\rwb-new\presentation\pptx\assets\st-mart-bas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6" name="fx:drop:470:900:593" descr="W:\Projects\hacks\rwb-new\presentation\pptx\assets\st-mart-row0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7" name="fx:drop:470:900:594" descr="W:\Projects\hacks\rwb-new\presentation\pptx\assets\st-mart-row1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8" name="fx:drop:470:900:595" descr="W:\Projects\hacks\rwb-new\presentation\pptx\assets\st-mart-row2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29" name="fx:drop:470:900:596" descr="W:\Projects\hacks\rwb-new\presentation\pptx\assets\st-mart-row3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0" name="fx:drop:470:900:597" descr="W:\Projects\hacks\rwb-new\presentation\pptx\assets\st-mart-row4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1" name="fx:drop:470:900:598" descr="W:\Projects\hacks\rwb-new\presentation\pptx\assets\st-mart-row5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2" name="fx:drop:470:900:599" descr="W:\Projects\hacks\rwb-new\presentation\pptx\assets\st-mart-row6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3" name="fx:drop:470:900:600" descr="W:\Projects\hacks\rwb-new\presentation\pptx\assets\st-mart-row7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4" name="fx:drop:470:900:601" descr="W:\Projects\hacks\rwb-new\presentation\pptx\assets\st-mart-row8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5" name="fx:drop:470:900:602" descr="W:\Projects\hacks\rwb-new\presentation\pptx\assets\st-mart-row9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6" name="fx:fade:1350:500:603" descr="W:\Projects\hacks\rwb-new\presentation\pptx\assets\st-shadow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7" name="fx:drop:1050:800:604" descr="W:\Projects\hacks\rwb-new\presentation\pptx\assets\st-cub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64000" y="127000"/>
            <a:ext cx="4064000" cy="4064000"/>
          </a:xfrm>
          <a:prstGeom prst="rect">
            <a:avLst/>
          </a:prstGeom>
        </p:spPr>
      </p:pic>
      <p:pic>
        <p:nvPicPr>
          <p:cNvPr id="38" name="fx:rise:300:700:605" descr="W:\Projects\hacks\rwb-new\presentation\pptx\assets\wm-0-ink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39" name="fx:rise:390:700:606" descr="W:\Projects\hacks\rwb-new\presentation\pptx\assets\wm-1-ink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0" name="fx:rise:480:700:607" descr="W:\Projects\hacks\rwb-new\presentation\pptx\assets\wm-2-ink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1" name="fx:rise:570:700:608" descr="W:\Projects\hacks\rwb-new\presentation\pptx\assets\wm-3-ink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pic>
        <p:nvPicPr>
          <p:cNvPr id="42" name="fx:rise:660:700:609" descr="W:\Projects\hacks\rwb-new\presentation\pptx\assets\wm-4-ink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62000" y="444500"/>
            <a:ext cx="2933311" cy="571500"/>
          </a:xfrm>
          <a:prstGeom prst="rect">
            <a:avLst/>
          </a:prstGeom>
        </p:spPr>
      </p:pic>
      <p:sp>
        <p:nvSpPr>
          <p:cNvPr id="43" name="fx:rise:1200:700:610"/>
          <p:cNvSpPr txBox="1"/>
          <p:nvPr/>
        </p:nvSpPr>
        <p:spPr>
          <a:xfrm>
            <a:off x="762000" y="4318000"/>
            <a:ext cx="1066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Готовы к вашим </a:t>
            </a:r>
            <a:r>
              <a:rPr lang="en-US" sz="6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вопросам</a:t>
            </a:r>
            <a:endParaRPr lang="en-US" sz="5800" dirty="0"/>
          </a:p>
        </p:txBody>
      </p:sp>
      <p:sp>
        <p:nvSpPr>
          <p:cNvPr id="44" name="fx:fade:1600:600:611"/>
          <p:cNvSpPr txBox="1"/>
          <p:nvPr/>
        </p:nvSpPr>
        <p:spPr>
          <a:xfrm>
            <a:off x="762000" y="5461000"/>
            <a:ext cx="1066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Одна модель, одна цифра для всех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9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9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9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9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1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9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9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9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9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9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9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9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9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9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9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1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9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9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9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9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9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9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9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9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9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9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9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9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1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9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9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1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8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1845</Words>
  <Application>Microsoft Office PowerPoint</Application>
  <PresentationFormat>Widescreen</PresentationFormat>
  <Paragraphs>294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Consolas</vt:lpstr>
      <vt:lpstr>Arial</vt:lpstr>
      <vt:lpstr>Inter</vt:lpstr>
      <vt:lpstr>PT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Datum: модель данных Capibara</dc:title>
  <dc:subject>PptxGenJS Presentation</dc:subject>
  <dc:creator>Команда RWB</dc:creator>
  <cp:lastModifiedBy>MIkhail Khorokhorin</cp:lastModifiedBy>
  <cp:revision>2</cp:revision>
  <dcterms:created xsi:type="dcterms:W3CDTF">2026-10-28T12:32:21Z</dcterms:created>
  <dcterms:modified xsi:type="dcterms:W3CDTF">2026-10-28T12:32:23Z</dcterms:modified>
</cp:coreProperties>
</file>