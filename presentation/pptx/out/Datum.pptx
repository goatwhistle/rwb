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ter" panose="02000503000000020004" pitchFamily="2" charset="0"/>
      <p:regular r:id="rId20"/>
      <p:bold r:id="rId21"/>
    </p:embeddedFont>
    <p:embeddedFont>
      <p:font typeface="PT Serif" panose="020A0603040505090204" pitchFamily="18" charset="0"/>
      <p: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452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Привет, мы команда RWB. Capibara, маркетплейс из Сан-Паулу: два года работы, почти сто тысяч заказов и восемь выгрузок, которые никто не приводил в порядок. Каждый отчёт аналитики собирают заново и каждый раз получают разные цифры. Мы построили модель, на которую можно опереться. Расскажем, что нашли в данных, как построили модель и почему каждое решение именно такое.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таблиц, около 550 тысяч строк. Заказы с хронологией, позиции, платежи, отзывы, товары, продавцы, покупатели и справочник переводов. Важно: каждая колонка приехала текстом, даже даты и деньги. Это нормально для raw-слоя: грузим как есть, чтобы загрузка не падала на мусоре. А вот типизация и чистка уже наша работа. Прежде чем проектировать схему, мы прошлись скриптами по каждой колонке. Вот что нашли.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Первое: в данных врут идентификаторы. У покупателя два id. customer_id это учётка одного заказа, их 99 441, на каждый заказ новая. Человек это customer_unique_id, их 96 096. Если считать по customer_id, повторных покупок не будет вовсе. Второе: review_id неуникален, 789 отзывов висят сразу на нескольких заказах. Третье: order_item_id вообще не идентификатор, это порядковый номер позиции внутри заказа.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дыры. 610 товаров без категории, и на них 170 тысяч выручки: выбросишь, и сумма по категориям не сойдётся с общей. В товарах 73 категории, в файле переводов 71: соберёшь справочник из переводов, и две категории молча исчезнут из отчётов. 775 заказов вообще без позиций, почти все unavailable и canceled. И в ноябре 2016 ни одного заказа: если строить отчёт только от фактов, месяц молча пропадёт.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просто грязь. 1 359 заказов отгружены раньше подтверждения оплаты, 23 вручены раньше отгрузки, у шести отменённых стоит дата вручения. Города продавцов записаны 611 способами, один вместо города вписал почтовый индекс. Платежи не бьются с суммой позиций в тысяче с лишним заказов. Вывод простой: источникам доверять нельзя, проверки должны жить в модели, а не в голове аналитика.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Наши правила переноса. Типы приводим жёстко: если в дате мусор, сборка падает, и это хорошо, мы видим грязь, а не прячем её в отчёте. Пустые строки превращаем в NULL. На каждой таблице первичный ключ, между таблицами внешние ключи, плюс CHECK: статус только из списка, оценка 1–5, цена не отрицательная. База сама не даёт записать мусор. И всё это собирается одним скриптом с нуля, в одной транзакции: наполовину собранной модели не бывает.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классическая, три слоя. raw не трогаем вообще, только читаем. core это наша модель: типы, ключи, связи, дедупликация; именно отсюда считаются ответы. mart это витрины под конкретную задачу, у нас это исполнение заказа. Каждый слой пересобирается из предыдущего одним скриптом.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таблиц. Ключевые решения видны по первичным ключам: покупатель по customer_unique_id, позиции по паре заказ плюс номер, отзывы по паре review_id плюс order_id, потому что один отзыв бывает на нескольких заказах. Деньги numeric, даты timestamp. Любой дубль или провисшая связь не запишется.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Самые спорные решения с аргументами. Человек равен customer_unique_id: иначе 99 441 «покупатель» и ноль повторных, а у нас 96 096 и 3,12%, сходится с контролем организаторов. География хранится снимком в заказе: если брать из справочника, старые заказы получат новый адрес человека и исторические отчёты по регионам поедут. Справочник категорий собран из товаров, а не из файла переводов, перевод просто опционален. Товары без категории не выбрасываем, а показываем отдельной строкой. И везде, где пары может не быть, LEFT JOIN: 775 заказов без позиций остаются в отчётах.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мы убедились, что ничего не потеряли: сверка. Счётчики raw против core совпадают по всем таблицам, вот они на слайде. В витринах проверяются число строк, пары заказ-продавец и сумма денег, и при расхождении скрипт падает с ошибкой, а не молчит. 96 096 против 99 441 в customers это не потеря, а дедупликация, в ней смысл 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витрины. order_fulfillment: одна строка, один заказ, все 99 441. Этапы в днях, флаг on_time, суммы, последний отзыв. Этапы с нарушенной хронологией становятся NULL, чтобы не портить медианы. seller_shipment: строка на пару заказ-продавец, срок отгрузки и флаг «успел ли». Тонкость: дата отгрузки в источнике одна на весь заказ, поэтому рейтинг продавца честно считается только по заказам с одним продавцом, для этого флаг is_single_seller. Зачем всё это: вопрос про исполнение заказа становится одним SELECT без join, ошибиться уровнем просто негде.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Ответы. Все пять контрольных цифр сошлись: 24 месяца с итогом 13 221 498.11; топ-продавец из Гуарибы с 226 987.93; средний чек 159.88; 96 096 покупателей и 3,12% повторных; 74 категории. В каждом вопросе своя ловушка, и у нас на неё приём: календарь через generate_series, выручка продавца от позиций, чек в две ступени. Выручка везде определена одинаково: сумма цен по доставленным заказам. Поэтому цифры сходятся между отчётами.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Готовы к вашим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U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:\Projects\hacks\rwb-new\presentation\pptx\assets\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75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2200" y="3048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117" Type="http://schemas.openxmlformats.org/officeDocument/2006/relationships/image" Target="../media/image116.pn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84" Type="http://schemas.openxmlformats.org/officeDocument/2006/relationships/image" Target="../media/image83.png"/><Relationship Id="rId89" Type="http://schemas.openxmlformats.org/officeDocument/2006/relationships/image" Target="../media/image88.png"/><Relationship Id="rId112" Type="http://schemas.openxmlformats.org/officeDocument/2006/relationships/image" Target="../media/image111.png"/><Relationship Id="rId16" Type="http://schemas.openxmlformats.org/officeDocument/2006/relationships/image" Target="../media/image15.png"/><Relationship Id="rId107" Type="http://schemas.openxmlformats.org/officeDocument/2006/relationships/image" Target="../media/image106.png"/><Relationship Id="rId11" Type="http://schemas.openxmlformats.org/officeDocument/2006/relationships/image" Target="../media/image10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png"/><Relationship Id="rId102" Type="http://schemas.openxmlformats.org/officeDocument/2006/relationships/image" Target="../media/image101.png"/><Relationship Id="rId123" Type="http://schemas.openxmlformats.org/officeDocument/2006/relationships/image" Target="../media/image122.png"/><Relationship Id="rId5" Type="http://schemas.openxmlformats.org/officeDocument/2006/relationships/image" Target="../media/image4.png"/><Relationship Id="rId90" Type="http://schemas.openxmlformats.org/officeDocument/2006/relationships/image" Target="../media/image89.png"/><Relationship Id="rId95" Type="http://schemas.openxmlformats.org/officeDocument/2006/relationships/image" Target="../media/image94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113" Type="http://schemas.openxmlformats.org/officeDocument/2006/relationships/image" Target="../media/image112.png"/><Relationship Id="rId118" Type="http://schemas.openxmlformats.org/officeDocument/2006/relationships/image" Target="../media/image117.png"/><Relationship Id="rId80" Type="http://schemas.openxmlformats.org/officeDocument/2006/relationships/image" Target="../media/image79.png"/><Relationship Id="rId85" Type="http://schemas.openxmlformats.org/officeDocument/2006/relationships/image" Target="../media/image84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59" Type="http://schemas.openxmlformats.org/officeDocument/2006/relationships/image" Target="../media/image58.png"/><Relationship Id="rId103" Type="http://schemas.openxmlformats.org/officeDocument/2006/relationships/image" Target="../media/image102.png"/><Relationship Id="rId108" Type="http://schemas.openxmlformats.org/officeDocument/2006/relationships/image" Target="../media/image107.png"/><Relationship Id="rId124" Type="http://schemas.openxmlformats.org/officeDocument/2006/relationships/image" Target="../media/image123.png"/><Relationship Id="rId54" Type="http://schemas.openxmlformats.org/officeDocument/2006/relationships/image" Target="../media/image53.png"/><Relationship Id="rId70" Type="http://schemas.openxmlformats.org/officeDocument/2006/relationships/image" Target="../media/image69.png"/><Relationship Id="rId75" Type="http://schemas.openxmlformats.org/officeDocument/2006/relationships/image" Target="../media/image74.png"/><Relationship Id="rId91" Type="http://schemas.openxmlformats.org/officeDocument/2006/relationships/image" Target="../media/image90.png"/><Relationship Id="rId96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49" Type="http://schemas.openxmlformats.org/officeDocument/2006/relationships/image" Target="../media/image48.png"/><Relationship Id="rId114" Type="http://schemas.openxmlformats.org/officeDocument/2006/relationships/image" Target="../media/image113.png"/><Relationship Id="rId119" Type="http://schemas.openxmlformats.org/officeDocument/2006/relationships/image" Target="../media/image118.png"/><Relationship Id="rId44" Type="http://schemas.openxmlformats.org/officeDocument/2006/relationships/image" Target="../media/image43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81" Type="http://schemas.openxmlformats.org/officeDocument/2006/relationships/image" Target="../media/image80.png"/><Relationship Id="rId86" Type="http://schemas.openxmlformats.org/officeDocument/2006/relationships/image" Target="../media/image85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109" Type="http://schemas.openxmlformats.org/officeDocument/2006/relationships/image" Target="../media/image10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6" Type="http://schemas.openxmlformats.org/officeDocument/2006/relationships/image" Target="../media/image75.png"/><Relationship Id="rId97" Type="http://schemas.openxmlformats.org/officeDocument/2006/relationships/image" Target="../media/image96.png"/><Relationship Id="rId104" Type="http://schemas.openxmlformats.org/officeDocument/2006/relationships/image" Target="../media/image103.png"/><Relationship Id="rId120" Type="http://schemas.openxmlformats.org/officeDocument/2006/relationships/image" Target="../media/image119.png"/><Relationship Id="rId125" Type="http://schemas.openxmlformats.org/officeDocument/2006/relationships/image" Target="../media/image124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Relationship Id="rId92" Type="http://schemas.openxmlformats.org/officeDocument/2006/relationships/image" Target="../media/image91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8.png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66" Type="http://schemas.openxmlformats.org/officeDocument/2006/relationships/image" Target="../media/image65.png"/><Relationship Id="rId87" Type="http://schemas.openxmlformats.org/officeDocument/2006/relationships/image" Target="../media/image86.png"/><Relationship Id="rId110" Type="http://schemas.openxmlformats.org/officeDocument/2006/relationships/image" Target="../media/image109.png"/><Relationship Id="rId115" Type="http://schemas.openxmlformats.org/officeDocument/2006/relationships/image" Target="../media/image114.png"/><Relationship Id="rId61" Type="http://schemas.openxmlformats.org/officeDocument/2006/relationships/image" Target="../media/image60.png"/><Relationship Id="rId82" Type="http://schemas.openxmlformats.org/officeDocument/2006/relationships/image" Target="../media/image81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56" Type="http://schemas.openxmlformats.org/officeDocument/2006/relationships/image" Target="../media/image55.png"/><Relationship Id="rId77" Type="http://schemas.openxmlformats.org/officeDocument/2006/relationships/image" Target="../media/image76.png"/><Relationship Id="rId100" Type="http://schemas.openxmlformats.org/officeDocument/2006/relationships/image" Target="../media/image99.png"/><Relationship Id="rId105" Type="http://schemas.openxmlformats.org/officeDocument/2006/relationships/image" Target="../media/image104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93" Type="http://schemas.openxmlformats.org/officeDocument/2006/relationships/image" Target="../media/image92.png"/><Relationship Id="rId98" Type="http://schemas.openxmlformats.org/officeDocument/2006/relationships/image" Target="../media/image97.png"/><Relationship Id="rId121" Type="http://schemas.openxmlformats.org/officeDocument/2006/relationships/image" Target="../media/image120.png"/><Relationship Id="rId3" Type="http://schemas.openxmlformats.org/officeDocument/2006/relationships/image" Target="../media/image2.png"/><Relationship Id="rId25" Type="http://schemas.openxmlformats.org/officeDocument/2006/relationships/image" Target="../media/image24.png"/><Relationship Id="rId46" Type="http://schemas.openxmlformats.org/officeDocument/2006/relationships/image" Target="../media/image45.png"/><Relationship Id="rId67" Type="http://schemas.openxmlformats.org/officeDocument/2006/relationships/image" Target="../media/image66.png"/><Relationship Id="rId116" Type="http://schemas.openxmlformats.org/officeDocument/2006/relationships/image" Target="../media/image11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62" Type="http://schemas.openxmlformats.org/officeDocument/2006/relationships/image" Target="../media/image61.png"/><Relationship Id="rId83" Type="http://schemas.openxmlformats.org/officeDocument/2006/relationships/image" Target="../media/image82.png"/><Relationship Id="rId88" Type="http://schemas.openxmlformats.org/officeDocument/2006/relationships/image" Target="../media/image87.png"/><Relationship Id="rId111" Type="http://schemas.openxmlformats.org/officeDocument/2006/relationships/image" Target="../media/image110.png"/><Relationship Id="rId15" Type="http://schemas.openxmlformats.org/officeDocument/2006/relationships/image" Target="../media/image14.png"/><Relationship Id="rId36" Type="http://schemas.openxmlformats.org/officeDocument/2006/relationships/image" Target="../media/image35.png"/><Relationship Id="rId57" Type="http://schemas.openxmlformats.org/officeDocument/2006/relationships/image" Target="../media/image56.png"/><Relationship Id="rId106" Type="http://schemas.openxmlformats.org/officeDocument/2006/relationships/image" Target="../media/image105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52" Type="http://schemas.openxmlformats.org/officeDocument/2006/relationships/image" Target="../media/image51.png"/><Relationship Id="rId73" Type="http://schemas.openxmlformats.org/officeDocument/2006/relationships/image" Target="../media/image72.png"/><Relationship Id="rId78" Type="http://schemas.openxmlformats.org/officeDocument/2006/relationships/image" Target="../media/image77.png"/><Relationship Id="rId94" Type="http://schemas.openxmlformats.org/officeDocument/2006/relationships/image" Target="../media/image93.png"/><Relationship Id="rId99" Type="http://schemas.openxmlformats.org/officeDocument/2006/relationships/image" Target="../media/image98.png"/><Relationship Id="rId101" Type="http://schemas.openxmlformats.org/officeDocument/2006/relationships/image" Target="../media/image100.png"/><Relationship Id="rId122" Type="http://schemas.openxmlformats.org/officeDocument/2006/relationships/image" Target="../media/image121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117" Type="http://schemas.openxmlformats.org/officeDocument/2006/relationships/image" Target="../media/image116.pn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84" Type="http://schemas.openxmlformats.org/officeDocument/2006/relationships/image" Target="../media/image83.png"/><Relationship Id="rId89" Type="http://schemas.openxmlformats.org/officeDocument/2006/relationships/image" Target="../media/image88.png"/><Relationship Id="rId112" Type="http://schemas.openxmlformats.org/officeDocument/2006/relationships/image" Target="../media/image111.png"/><Relationship Id="rId16" Type="http://schemas.openxmlformats.org/officeDocument/2006/relationships/image" Target="../media/image15.png"/><Relationship Id="rId107" Type="http://schemas.openxmlformats.org/officeDocument/2006/relationships/image" Target="../media/image106.png"/><Relationship Id="rId11" Type="http://schemas.openxmlformats.org/officeDocument/2006/relationships/image" Target="../media/image10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png"/><Relationship Id="rId102" Type="http://schemas.openxmlformats.org/officeDocument/2006/relationships/image" Target="../media/image101.png"/><Relationship Id="rId123" Type="http://schemas.openxmlformats.org/officeDocument/2006/relationships/image" Target="../media/image127.png"/><Relationship Id="rId128" Type="http://schemas.openxmlformats.org/officeDocument/2006/relationships/image" Target="../media/image132.png"/><Relationship Id="rId5" Type="http://schemas.openxmlformats.org/officeDocument/2006/relationships/image" Target="../media/image4.png"/><Relationship Id="rId90" Type="http://schemas.openxmlformats.org/officeDocument/2006/relationships/image" Target="../media/image89.png"/><Relationship Id="rId95" Type="http://schemas.openxmlformats.org/officeDocument/2006/relationships/image" Target="../media/image94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113" Type="http://schemas.openxmlformats.org/officeDocument/2006/relationships/image" Target="../media/image112.png"/><Relationship Id="rId118" Type="http://schemas.openxmlformats.org/officeDocument/2006/relationships/image" Target="../media/image117.png"/><Relationship Id="rId80" Type="http://schemas.openxmlformats.org/officeDocument/2006/relationships/image" Target="../media/image79.png"/><Relationship Id="rId85" Type="http://schemas.openxmlformats.org/officeDocument/2006/relationships/image" Target="../media/image84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59" Type="http://schemas.openxmlformats.org/officeDocument/2006/relationships/image" Target="../media/image58.png"/><Relationship Id="rId103" Type="http://schemas.openxmlformats.org/officeDocument/2006/relationships/image" Target="../media/image102.png"/><Relationship Id="rId108" Type="http://schemas.openxmlformats.org/officeDocument/2006/relationships/image" Target="../media/image107.png"/><Relationship Id="rId124" Type="http://schemas.openxmlformats.org/officeDocument/2006/relationships/image" Target="../media/image128.png"/><Relationship Id="rId54" Type="http://schemas.openxmlformats.org/officeDocument/2006/relationships/image" Target="../media/image53.png"/><Relationship Id="rId70" Type="http://schemas.openxmlformats.org/officeDocument/2006/relationships/image" Target="../media/image69.png"/><Relationship Id="rId75" Type="http://schemas.openxmlformats.org/officeDocument/2006/relationships/image" Target="../media/image74.png"/><Relationship Id="rId91" Type="http://schemas.openxmlformats.org/officeDocument/2006/relationships/image" Target="../media/image90.png"/><Relationship Id="rId96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49" Type="http://schemas.openxmlformats.org/officeDocument/2006/relationships/image" Target="../media/image48.png"/><Relationship Id="rId114" Type="http://schemas.openxmlformats.org/officeDocument/2006/relationships/image" Target="../media/image113.png"/><Relationship Id="rId119" Type="http://schemas.openxmlformats.org/officeDocument/2006/relationships/image" Target="../media/image118.png"/><Relationship Id="rId44" Type="http://schemas.openxmlformats.org/officeDocument/2006/relationships/image" Target="../media/image43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81" Type="http://schemas.openxmlformats.org/officeDocument/2006/relationships/image" Target="../media/image80.png"/><Relationship Id="rId86" Type="http://schemas.openxmlformats.org/officeDocument/2006/relationships/image" Target="../media/image85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109" Type="http://schemas.openxmlformats.org/officeDocument/2006/relationships/image" Target="../media/image10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6" Type="http://schemas.openxmlformats.org/officeDocument/2006/relationships/image" Target="../media/image75.png"/><Relationship Id="rId97" Type="http://schemas.openxmlformats.org/officeDocument/2006/relationships/image" Target="../media/image96.png"/><Relationship Id="rId104" Type="http://schemas.openxmlformats.org/officeDocument/2006/relationships/image" Target="../media/image103.png"/><Relationship Id="rId120" Type="http://schemas.openxmlformats.org/officeDocument/2006/relationships/image" Target="../media/image119.png"/><Relationship Id="rId125" Type="http://schemas.openxmlformats.org/officeDocument/2006/relationships/image" Target="../media/image129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Relationship Id="rId92" Type="http://schemas.openxmlformats.org/officeDocument/2006/relationships/image" Target="../media/image91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28.png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66" Type="http://schemas.openxmlformats.org/officeDocument/2006/relationships/image" Target="../media/image65.png"/><Relationship Id="rId87" Type="http://schemas.openxmlformats.org/officeDocument/2006/relationships/image" Target="../media/image86.png"/><Relationship Id="rId110" Type="http://schemas.openxmlformats.org/officeDocument/2006/relationships/image" Target="../media/image109.png"/><Relationship Id="rId115" Type="http://schemas.openxmlformats.org/officeDocument/2006/relationships/image" Target="../media/image114.png"/><Relationship Id="rId61" Type="http://schemas.openxmlformats.org/officeDocument/2006/relationships/image" Target="../media/image60.png"/><Relationship Id="rId82" Type="http://schemas.openxmlformats.org/officeDocument/2006/relationships/image" Target="../media/image81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56" Type="http://schemas.openxmlformats.org/officeDocument/2006/relationships/image" Target="../media/image55.png"/><Relationship Id="rId77" Type="http://schemas.openxmlformats.org/officeDocument/2006/relationships/image" Target="../media/image76.png"/><Relationship Id="rId100" Type="http://schemas.openxmlformats.org/officeDocument/2006/relationships/image" Target="../media/image99.png"/><Relationship Id="rId105" Type="http://schemas.openxmlformats.org/officeDocument/2006/relationships/image" Target="../media/image104.png"/><Relationship Id="rId126" Type="http://schemas.openxmlformats.org/officeDocument/2006/relationships/image" Target="../media/image130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93" Type="http://schemas.openxmlformats.org/officeDocument/2006/relationships/image" Target="../media/image92.png"/><Relationship Id="rId98" Type="http://schemas.openxmlformats.org/officeDocument/2006/relationships/image" Target="../media/image97.png"/><Relationship Id="rId121" Type="http://schemas.openxmlformats.org/officeDocument/2006/relationships/image" Target="../media/image125.png"/><Relationship Id="rId3" Type="http://schemas.openxmlformats.org/officeDocument/2006/relationships/image" Target="../media/image2.png"/><Relationship Id="rId25" Type="http://schemas.openxmlformats.org/officeDocument/2006/relationships/image" Target="../media/image24.png"/><Relationship Id="rId46" Type="http://schemas.openxmlformats.org/officeDocument/2006/relationships/image" Target="../media/image45.png"/><Relationship Id="rId67" Type="http://schemas.openxmlformats.org/officeDocument/2006/relationships/image" Target="../media/image66.png"/><Relationship Id="rId116" Type="http://schemas.openxmlformats.org/officeDocument/2006/relationships/image" Target="../media/image11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62" Type="http://schemas.openxmlformats.org/officeDocument/2006/relationships/image" Target="../media/image61.png"/><Relationship Id="rId83" Type="http://schemas.openxmlformats.org/officeDocument/2006/relationships/image" Target="../media/image82.png"/><Relationship Id="rId88" Type="http://schemas.openxmlformats.org/officeDocument/2006/relationships/image" Target="../media/image87.png"/><Relationship Id="rId111" Type="http://schemas.openxmlformats.org/officeDocument/2006/relationships/image" Target="../media/image110.png"/><Relationship Id="rId15" Type="http://schemas.openxmlformats.org/officeDocument/2006/relationships/image" Target="../media/image14.png"/><Relationship Id="rId36" Type="http://schemas.openxmlformats.org/officeDocument/2006/relationships/image" Target="../media/image35.png"/><Relationship Id="rId57" Type="http://schemas.openxmlformats.org/officeDocument/2006/relationships/image" Target="../media/image56.png"/><Relationship Id="rId106" Type="http://schemas.openxmlformats.org/officeDocument/2006/relationships/image" Target="../media/image105.png"/><Relationship Id="rId127" Type="http://schemas.openxmlformats.org/officeDocument/2006/relationships/image" Target="../media/image131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52" Type="http://schemas.openxmlformats.org/officeDocument/2006/relationships/image" Target="../media/image51.png"/><Relationship Id="rId73" Type="http://schemas.openxmlformats.org/officeDocument/2006/relationships/image" Target="../media/image72.png"/><Relationship Id="rId78" Type="http://schemas.openxmlformats.org/officeDocument/2006/relationships/image" Target="../media/image77.png"/><Relationship Id="rId94" Type="http://schemas.openxmlformats.org/officeDocument/2006/relationships/image" Target="../media/image93.png"/><Relationship Id="rId99" Type="http://schemas.openxmlformats.org/officeDocument/2006/relationships/image" Target="../media/image98.png"/><Relationship Id="rId101" Type="http://schemas.openxmlformats.org/officeDocument/2006/relationships/image" Target="../media/image100.png"/><Relationship Id="rId122" Type="http://schemas.openxmlformats.org/officeDocument/2006/relationships/image" Target="../media/image126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150.png"/><Relationship Id="rId26" Type="http://schemas.openxmlformats.org/officeDocument/2006/relationships/image" Target="../media/image157.png"/><Relationship Id="rId21" Type="http://schemas.openxmlformats.org/officeDocument/2006/relationships/image" Target="../media/image153.png"/><Relationship Id="rId34" Type="http://schemas.openxmlformats.org/officeDocument/2006/relationships/image" Target="../media/image165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49.png"/><Relationship Id="rId25" Type="http://schemas.openxmlformats.org/officeDocument/2006/relationships/image" Target="../media/image79.png"/><Relationship Id="rId33" Type="http://schemas.openxmlformats.org/officeDocument/2006/relationships/image" Target="../media/image164.png"/><Relationship Id="rId38" Type="http://schemas.openxmlformats.org/officeDocument/2006/relationships/image" Target="../media/image16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8.png"/><Relationship Id="rId20" Type="http://schemas.openxmlformats.org/officeDocument/2006/relationships/image" Target="../media/image152.png"/><Relationship Id="rId29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156.png"/><Relationship Id="rId32" Type="http://schemas.openxmlformats.org/officeDocument/2006/relationships/image" Target="../media/image163.png"/><Relationship Id="rId37" Type="http://schemas.openxmlformats.org/officeDocument/2006/relationships/image" Target="../media/image119.png"/><Relationship Id="rId5" Type="http://schemas.openxmlformats.org/officeDocument/2006/relationships/image" Target="../media/image138.png"/><Relationship Id="rId15" Type="http://schemas.openxmlformats.org/officeDocument/2006/relationships/image" Target="../media/image147.png"/><Relationship Id="rId23" Type="http://schemas.openxmlformats.org/officeDocument/2006/relationships/image" Target="../media/image155.png"/><Relationship Id="rId28" Type="http://schemas.openxmlformats.org/officeDocument/2006/relationships/image" Target="../media/image159.png"/><Relationship Id="rId36" Type="http://schemas.openxmlformats.org/officeDocument/2006/relationships/image" Target="../media/image118.png"/><Relationship Id="rId10" Type="http://schemas.openxmlformats.org/officeDocument/2006/relationships/image" Target="../media/image143.png"/><Relationship Id="rId19" Type="http://schemas.openxmlformats.org/officeDocument/2006/relationships/image" Target="../media/image151.png"/><Relationship Id="rId31" Type="http://schemas.openxmlformats.org/officeDocument/2006/relationships/image" Target="../media/image162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42.png"/><Relationship Id="rId22" Type="http://schemas.openxmlformats.org/officeDocument/2006/relationships/image" Target="../media/image154.png"/><Relationship Id="rId27" Type="http://schemas.openxmlformats.org/officeDocument/2006/relationships/image" Target="../media/image158.png"/><Relationship Id="rId30" Type="http://schemas.openxmlformats.org/officeDocument/2006/relationships/image" Target="../media/image161.png"/><Relationship Id="rId35" Type="http://schemas.openxmlformats.org/officeDocument/2006/relationships/image" Target="../media/image166.png"/><Relationship Id="rId8" Type="http://schemas.openxmlformats.org/officeDocument/2006/relationships/image" Target="../media/image141.png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150.png"/><Relationship Id="rId26" Type="http://schemas.openxmlformats.org/officeDocument/2006/relationships/image" Target="../media/image157.png"/><Relationship Id="rId21" Type="http://schemas.openxmlformats.org/officeDocument/2006/relationships/image" Target="../media/image153.png"/><Relationship Id="rId34" Type="http://schemas.openxmlformats.org/officeDocument/2006/relationships/image" Target="../media/image165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49.png"/><Relationship Id="rId25" Type="http://schemas.openxmlformats.org/officeDocument/2006/relationships/image" Target="../media/image79.png"/><Relationship Id="rId33" Type="http://schemas.openxmlformats.org/officeDocument/2006/relationships/image" Target="../media/image16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8.png"/><Relationship Id="rId20" Type="http://schemas.openxmlformats.org/officeDocument/2006/relationships/image" Target="../media/image152.png"/><Relationship Id="rId29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156.png"/><Relationship Id="rId32" Type="http://schemas.openxmlformats.org/officeDocument/2006/relationships/image" Target="../media/image163.png"/><Relationship Id="rId37" Type="http://schemas.openxmlformats.org/officeDocument/2006/relationships/image" Target="../media/image119.png"/><Relationship Id="rId5" Type="http://schemas.openxmlformats.org/officeDocument/2006/relationships/image" Target="../media/image138.png"/><Relationship Id="rId15" Type="http://schemas.openxmlformats.org/officeDocument/2006/relationships/image" Target="../media/image147.png"/><Relationship Id="rId23" Type="http://schemas.openxmlformats.org/officeDocument/2006/relationships/image" Target="../media/image155.png"/><Relationship Id="rId28" Type="http://schemas.openxmlformats.org/officeDocument/2006/relationships/image" Target="../media/image159.png"/><Relationship Id="rId36" Type="http://schemas.openxmlformats.org/officeDocument/2006/relationships/image" Target="../media/image118.png"/><Relationship Id="rId10" Type="http://schemas.openxmlformats.org/officeDocument/2006/relationships/image" Target="../media/image143.png"/><Relationship Id="rId19" Type="http://schemas.openxmlformats.org/officeDocument/2006/relationships/image" Target="../media/image151.png"/><Relationship Id="rId31" Type="http://schemas.openxmlformats.org/officeDocument/2006/relationships/image" Target="../media/image162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42.png"/><Relationship Id="rId22" Type="http://schemas.openxmlformats.org/officeDocument/2006/relationships/image" Target="../media/image154.png"/><Relationship Id="rId27" Type="http://schemas.openxmlformats.org/officeDocument/2006/relationships/image" Target="../media/image158.png"/><Relationship Id="rId30" Type="http://schemas.openxmlformats.org/officeDocument/2006/relationships/image" Target="../media/image161.png"/><Relationship Id="rId35" Type="http://schemas.openxmlformats.org/officeDocument/2006/relationships/image" Target="../media/image166.png"/><Relationship Id="rId8" Type="http://schemas.openxmlformats.org/officeDocument/2006/relationships/image" Target="../media/image141.png"/><Relationship Id="rId3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150.png"/><Relationship Id="rId26" Type="http://schemas.openxmlformats.org/officeDocument/2006/relationships/image" Target="../media/image157.png"/><Relationship Id="rId39" Type="http://schemas.openxmlformats.org/officeDocument/2006/relationships/image" Target="../media/image121.png"/><Relationship Id="rId21" Type="http://schemas.openxmlformats.org/officeDocument/2006/relationships/image" Target="../media/image153.png"/><Relationship Id="rId34" Type="http://schemas.openxmlformats.org/officeDocument/2006/relationships/image" Target="../media/image165.png"/><Relationship Id="rId42" Type="http://schemas.openxmlformats.org/officeDocument/2006/relationships/image" Target="../media/image124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8.png"/><Relationship Id="rId20" Type="http://schemas.openxmlformats.org/officeDocument/2006/relationships/image" Target="../media/image152.png"/><Relationship Id="rId29" Type="http://schemas.openxmlformats.org/officeDocument/2006/relationships/image" Target="../media/image160.png"/><Relationship Id="rId41" Type="http://schemas.openxmlformats.org/officeDocument/2006/relationships/image" Target="../media/image1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156.png"/><Relationship Id="rId32" Type="http://schemas.openxmlformats.org/officeDocument/2006/relationships/image" Target="../media/image163.png"/><Relationship Id="rId37" Type="http://schemas.openxmlformats.org/officeDocument/2006/relationships/image" Target="../media/image119.png"/><Relationship Id="rId40" Type="http://schemas.openxmlformats.org/officeDocument/2006/relationships/image" Target="../media/image122.png"/><Relationship Id="rId5" Type="http://schemas.openxmlformats.org/officeDocument/2006/relationships/image" Target="../media/image138.png"/><Relationship Id="rId15" Type="http://schemas.openxmlformats.org/officeDocument/2006/relationships/image" Target="../media/image147.png"/><Relationship Id="rId23" Type="http://schemas.openxmlformats.org/officeDocument/2006/relationships/image" Target="../media/image155.png"/><Relationship Id="rId28" Type="http://schemas.openxmlformats.org/officeDocument/2006/relationships/image" Target="../media/image159.png"/><Relationship Id="rId36" Type="http://schemas.openxmlformats.org/officeDocument/2006/relationships/image" Target="../media/image118.png"/><Relationship Id="rId10" Type="http://schemas.openxmlformats.org/officeDocument/2006/relationships/image" Target="../media/image143.png"/><Relationship Id="rId19" Type="http://schemas.openxmlformats.org/officeDocument/2006/relationships/image" Target="../media/image151.png"/><Relationship Id="rId31" Type="http://schemas.openxmlformats.org/officeDocument/2006/relationships/image" Target="../media/image162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42.png"/><Relationship Id="rId22" Type="http://schemas.openxmlformats.org/officeDocument/2006/relationships/image" Target="../media/image154.png"/><Relationship Id="rId27" Type="http://schemas.openxmlformats.org/officeDocument/2006/relationships/image" Target="../media/image158.png"/><Relationship Id="rId30" Type="http://schemas.openxmlformats.org/officeDocument/2006/relationships/image" Target="../media/image161.png"/><Relationship Id="rId35" Type="http://schemas.openxmlformats.org/officeDocument/2006/relationships/image" Target="../media/image166.png"/><Relationship Id="rId8" Type="http://schemas.openxmlformats.org/officeDocument/2006/relationships/image" Target="../media/image141.png"/><Relationship Id="rId3" Type="http://schemas.openxmlformats.org/officeDocument/2006/relationships/image" Target="../media/image2.png"/><Relationship Id="rId12" Type="http://schemas.openxmlformats.org/officeDocument/2006/relationships/image" Target="../media/image145.png"/><Relationship Id="rId17" Type="http://schemas.openxmlformats.org/officeDocument/2006/relationships/image" Target="../media/image149.png"/><Relationship Id="rId25" Type="http://schemas.openxmlformats.org/officeDocument/2006/relationships/image" Target="../media/image79.png"/><Relationship Id="rId33" Type="http://schemas.openxmlformats.org/officeDocument/2006/relationships/image" Target="../media/image164.png"/><Relationship Id="rId38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-raw" descr="W:\Projects\hacks\rwb-new\presentation\pptx\assets\st-raw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0" y="889000"/>
            <a:ext cx="5334000" cy="5334000"/>
          </a:xfrm>
          <a:prstGeom prst="rect">
            <a:avLst/>
          </a:prstGeom>
        </p:spPr>
      </p:pic>
      <p:pic>
        <p:nvPicPr>
          <p:cNvPr id="4" name="!!cell-raw-0-0" descr="W:\Projects\hacks\rwb-new\presentation\pptx\assets\cell-raw-0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9306" y="3716020"/>
            <a:ext cx="437388" cy="224028"/>
          </a:xfrm>
          <a:prstGeom prst="rect">
            <a:avLst/>
          </a:prstGeom>
        </p:spPr>
      </p:pic>
      <p:pic>
        <p:nvPicPr>
          <p:cNvPr id="5" name="!!cell-raw-0-1" descr="W:\Projects\hacks\rwb-new\presentation\pptx\assets\cell-raw-0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5278" y="3828034"/>
            <a:ext cx="437388" cy="224028"/>
          </a:xfrm>
          <a:prstGeom prst="rect">
            <a:avLst/>
          </a:prstGeom>
        </p:spPr>
      </p:pic>
      <p:pic>
        <p:nvPicPr>
          <p:cNvPr id="6" name="!!cell-raw-0-2" descr="W:\Projects\hacks\rwb-new\presentation\pptx\assets\cell-raw-0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1250" y="3940048"/>
            <a:ext cx="437388" cy="224028"/>
          </a:xfrm>
          <a:prstGeom prst="rect">
            <a:avLst/>
          </a:prstGeom>
        </p:spPr>
      </p:pic>
      <p:pic>
        <p:nvPicPr>
          <p:cNvPr id="7" name="!!cell-raw-0-3" descr="W:\Projects\hacks\rwb-new\presentation\pptx\assets\cell-raw-0-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7222" y="4052062"/>
            <a:ext cx="437388" cy="224028"/>
          </a:xfrm>
          <a:prstGeom prst="rect">
            <a:avLst/>
          </a:prstGeom>
        </p:spPr>
      </p:pic>
      <p:pic>
        <p:nvPicPr>
          <p:cNvPr id="8" name="!!cell-raw-0-4" descr="W:\Projects\hacks\rwb-new\presentation\pptx\assets\cell-raw-0-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194" y="4164076"/>
            <a:ext cx="437388" cy="224028"/>
          </a:xfrm>
          <a:prstGeom prst="rect">
            <a:avLst/>
          </a:prstGeom>
        </p:spPr>
      </p:pic>
      <p:pic>
        <p:nvPicPr>
          <p:cNvPr id="9" name="!!cell-raw-0-5" descr="W:\Projects\hacks\rwb-new\presentation\pptx\assets\cell-raw-0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166" y="4276090"/>
            <a:ext cx="437388" cy="224028"/>
          </a:xfrm>
          <a:prstGeom prst="rect">
            <a:avLst/>
          </a:prstGeom>
        </p:spPr>
      </p:pic>
      <p:pic>
        <p:nvPicPr>
          <p:cNvPr id="10" name="!!cell-raw-0-6" descr="W:\Projects\hacks\rwb-new\presentation\pptx\assets\cell-raw-0-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5138" y="4388104"/>
            <a:ext cx="437388" cy="224028"/>
          </a:xfrm>
          <a:prstGeom prst="rect">
            <a:avLst/>
          </a:prstGeom>
        </p:spPr>
      </p:pic>
      <p:pic>
        <p:nvPicPr>
          <p:cNvPr id="11" name="!!cell-raw-0-7" descr="W:\Projects\hacks\rwb-new\presentation\pptx\assets\cell-raw-0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1110" y="4500118"/>
            <a:ext cx="437388" cy="224028"/>
          </a:xfrm>
          <a:prstGeom prst="rect">
            <a:avLst/>
          </a:prstGeom>
        </p:spPr>
      </p:pic>
      <p:pic>
        <p:nvPicPr>
          <p:cNvPr id="12" name="!!cell-raw-0-8" descr="W:\Projects\hacks\rwb-new\presentation\pptx\assets\cell-raw-0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7082" y="4612132"/>
            <a:ext cx="437388" cy="224028"/>
          </a:xfrm>
          <a:prstGeom prst="rect">
            <a:avLst/>
          </a:prstGeom>
        </p:spPr>
      </p:pic>
      <p:pic>
        <p:nvPicPr>
          <p:cNvPr id="13" name="!!cell-raw-0-9" descr="W:\Projects\hacks\rwb-new\presentation\pptx\assets\cell-raw-0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3054" y="4724146"/>
            <a:ext cx="437388" cy="224028"/>
          </a:xfrm>
          <a:prstGeom prst="rect">
            <a:avLst/>
          </a:prstGeom>
        </p:spPr>
      </p:pic>
      <p:pic>
        <p:nvPicPr>
          <p:cNvPr id="14" name="!!cell-raw-1-0" descr="W:\Projects\hacks\rwb-new\presentation\pptx\assets\cell-raw-1-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03334" y="3828034"/>
            <a:ext cx="437388" cy="224028"/>
          </a:xfrm>
          <a:prstGeom prst="rect">
            <a:avLst/>
          </a:prstGeom>
        </p:spPr>
      </p:pic>
      <p:pic>
        <p:nvPicPr>
          <p:cNvPr id="15" name="!!cell-raw-1-1" descr="W:\Projects\hacks\rwb-new\presentation\pptx\assets\cell-raw-1-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79306" y="3940048"/>
            <a:ext cx="437388" cy="224028"/>
          </a:xfrm>
          <a:prstGeom prst="rect">
            <a:avLst/>
          </a:prstGeom>
        </p:spPr>
      </p:pic>
      <p:pic>
        <p:nvPicPr>
          <p:cNvPr id="16" name="!!cell-raw-1-2" descr="W:\Projects\hacks\rwb-new\presentation\pptx\assets\cell-raw-1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5278" y="4052062"/>
            <a:ext cx="437388" cy="224028"/>
          </a:xfrm>
          <a:prstGeom prst="rect">
            <a:avLst/>
          </a:prstGeom>
        </p:spPr>
      </p:pic>
      <p:pic>
        <p:nvPicPr>
          <p:cNvPr id="17" name="!!cell-raw-1-3" descr="W:\Projects\hacks\rwb-new\presentation\pptx\assets\cell-raw-1-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1250" y="4164076"/>
            <a:ext cx="437388" cy="224028"/>
          </a:xfrm>
          <a:prstGeom prst="rect">
            <a:avLst/>
          </a:prstGeom>
        </p:spPr>
      </p:pic>
      <p:pic>
        <p:nvPicPr>
          <p:cNvPr id="18" name="!!cell-raw-1-4" descr="W:\Projects\hacks\rwb-new\presentation\pptx\assets\cell-raw-1-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7222" y="4276090"/>
            <a:ext cx="437388" cy="224028"/>
          </a:xfrm>
          <a:prstGeom prst="rect">
            <a:avLst/>
          </a:prstGeom>
        </p:spPr>
      </p:pic>
      <p:pic>
        <p:nvPicPr>
          <p:cNvPr id="19" name="!!cell-raw-1-5" descr="W:\Projects\hacks\rwb-new\presentation\pptx\assets\cell-raw-1-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3194" y="4388104"/>
            <a:ext cx="437388" cy="224028"/>
          </a:xfrm>
          <a:prstGeom prst="rect">
            <a:avLst/>
          </a:prstGeom>
        </p:spPr>
      </p:pic>
      <p:pic>
        <p:nvPicPr>
          <p:cNvPr id="20" name="!!cell-raw-1-6" descr="W:\Projects\hacks\rwb-new\presentation\pptx\assets\cell-raw-1-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9166" y="4500118"/>
            <a:ext cx="437388" cy="224028"/>
          </a:xfrm>
          <a:prstGeom prst="rect">
            <a:avLst/>
          </a:prstGeom>
        </p:spPr>
      </p:pic>
      <p:pic>
        <p:nvPicPr>
          <p:cNvPr id="21" name="!!cell-raw-1-7" descr="W:\Projects\hacks\rwb-new\presentation\pptx\assets\cell-raw-1-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35138" y="4612132"/>
            <a:ext cx="437388" cy="224028"/>
          </a:xfrm>
          <a:prstGeom prst="rect">
            <a:avLst/>
          </a:prstGeom>
        </p:spPr>
      </p:pic>
      <p:pic>
        <p:nvPicPr>
          <p:cNvPr id="22" name="!!cell-raw-1-8" descr="W:\Projects\hacks\rwb-new\presentation\pptx\assets\cell-raw-1-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1110" y="4724146"/>
            <a:ext cx="437388" cy="224028"/>
          </a:xfrm>
          <a:prstGeom prst="rect">
            <a:avLst/>
          </a:prstGeom>
        </p:spPr>
      </p:pic>
      <p:pic>
        <p:nvPicPr>
          <p:cNvPr id="23" name="!!cell-raw-1-9" descr="W:\Projects\hacks\rwb-new\presentation\pptx\assets\cell-raw-1-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87082" y="4836160"/>
            <a:ext cx="437388" cy="224028"/>
          </a:xfrm>
          <a:prstGeom prst="rect">
            <a:avLst/>
          </a:prstGeom>
        </p:spPr>
      </p:pic>
      <p:pic>
        <p:nvPicPr>
          <p:cNvPr id="24" name="!!cell-raw-2-0" descr="W:\Projects\hacks\rwb-new\presentation\pptx\assets\cell-raw-2-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27362" y="3940048"/>
            <a:ext cx="437388" cy="224028"/>
          </a:xfrm>
          <a:prstGeom prst="rect">
            <a:avLst/>
          </a:prstGeom>
        </p:spPr>
      </p:pic>
      <p:pic>
        <p:nvPicPr>
          <p:cNvPr id="25" name="!!cell-raw-2-1" descr="W:\Projects\hacks\rwb-new\presentation\pptx\assets\cell-raw-2-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03334" y="4052062"/>
            <a:ext cx="437388" cy="224028"/>
          </a:xfrm>
          <a:prstGeom prst="rect">
            <a:avLst/>
          </a:prstGeom>
        </p:spPr>
      </p:pic>
      <p:pic>
        <p:nvPicPr>
          <p:cNvPr id="26" name="!!cell-raw-2-2" descr="W:\Projects\hacks\rwb-new\presentation\pptx\assets\cell-raw-2-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79306" y="4164076"/>
            <a:ext cx="437388" cy="224028"/>
          </a:xfrm>
          <a:prstGeom prst="rect">
            <a:avLst/>
          </a:prstGeom>
        </p:spPr>
      </p:pic>
      <p:pic>
        <p:nvPicPr>
          <p:cNvPr id="27" name="!!cell-raw-2-3" descr="W:\Projects\hacks\rwb-new\presentation\pptx\assets\cell-raw-2-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55278" y="4276090"/>
            <a:ext cx="437388" cy="224028"/>
          </a:xfrm>
          <a:prstGeom prst="rect">
            <a:avLst/>
          </a:prstGeom>
        </p:spPr>
      </p:pic>
      <p:pic>
        <p:nvPicPr>
          <p:cNvPr id="28" name="!!cell-raw-2-4" descr="W:\Projects\hacks\rwb-new\presentation\pptx\assets\cell-raw-2-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1250" y="4388104"/>
            <a:ext cx="437388" cy="224028"/>
          </a:xfrm>
          <a:prstGeom prst="rect">
            <a:avLst/>
          </a:prstGeom>
        </p:spPr>
      </p:pic>
      <p:pic>
        <p:nvPicPr>
          <p:cNvPr id="29" name="!!cell-raw-2-5" descr="W:\Projects\hacks\rwb-new\presentation\pptx\assets\cell-raw-2-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7222" y="4500118"/>
            <a:ext cx="437388" cy="224028"/>
          </a:xfrm>
          <a:prstGeom prst="rect">
            <a:avLst/>
          </a:prstGeom>
        </p:spPr>
      </p:pic>
      <p:pic>
        <p:nvPicPr>
          <p:cNvPr id="30" name="!!cell-raw-2-6" descr="W:\Projects\hacks\rwb-new\presentation\pptx\assets\cell-raw-2-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3194" y="4612132"/>
            <a:ext cx="437388" cy="224028"/>
          </a:xfrm>
          <a:prstGeom prst="rect">
            <a:avLst/>
          </a:prstGeom>
        </p:spPr>
      </p:pic>
      <p:pic>
        <p:nvPicPr>
          <p:cNvPr id="31" name="!!cell-raw-2-7" descr="W:\Projects\hacks\rwb-new\presentation\pptx\assets\cell-raw-2-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9166" y="4724146"/>
            <a:ext cx="437388" cy="224028"/>
          </a:xfrm>
          <a:prstGeom prst="rect">
            <a:avLst/>
          </a:prstGeom>
        </p:spPr>
      </p:pic>
      <p:pic>
        <p:nvPicPr>
          <p:cNvPr id="32" name="!!cell-raw-2-8" descr="W:\Projects\hacks\rwb-new\presentation\pptx\assets\cell-raw-2-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35138" y="4836160"/>
            <a:ext cx="437388" cy="224028"/>
          </a:xfrm>
          <a:prstGeom prst="rect">
            <a:avLst/>
          </a:prstGeom>
        </p:spPr>
      </p:pic>
      <p:pic>
        <p:nvPicPr>
          <p:cNvPr id="33" name="!!cell-raw-2-9" descr="W:\Projects\hacks\rwb-new\presentation\pptx\assets\cell-raw-2-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11110" y="4948174"/>
            <a:ext cx="437388" cy="224028"/>
          </a:xfrm>
          <a:prstGeom prst="rect">
            <a:avLst/>
          </a:prstGeom>
        </p:spPr>
      </p:pic>
      <p:pic>
        <p:nvPicPr>
          <p:cNvPr id="34" name="!!cell-raw-3-0" descr="W:\Projects\hacks\rwb-new\presentation\pptx\assets\cell-raw-3-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1390" y="4052062"/>
            <a:ext cx="437388" cy="224028"/>
          </a:xfrm>
          <a:prstGeom prst="rect">
            <a:avLst/>
          </a:prstGeom>
        </p:spPr>
      </p:pic>
      <p:pic>
        <p:nvPicPr>
          <p:cNvPr id="35" name="!!cell-raw-3-1" descr="W:\Projects\hacks\rwb-new\presentation\pptx\assets\cell-raw-3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7362" y="4164076"/>
            <a:ext cx="437388" cy="224028"/>
          </a:xfrm>
          <a:prstGeom prst="rect">
            <a:avLst/>
          </a:prstGeom>
        </p:spPr>
      </p:pic>
      <p:pic>
        <p:nvPicPr>
          <p:cNvPr id="36" name="!!cell-raw-3-2" descr="W:\Projects\hacks\rwb-new\presentation\pptx\assets\cell-raw-3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3334" y="4276090"/>
            <a:ext cx="437388" cy="224028"/>
          </a:xfrm>
          <a:prstGeom prst="rect">
            <a:avLst/>
          </a:prstGeom>
        </p:spPr>
      </p:pic>
      <p:pic>
        <p:nvPicPr>
          <p:cNvPr id="37" name="!!cell-raw-3-3" descr="W:\Projects\hacks\rwb-new\presentation\pptx\assets\cell-raw-3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9306" y="4388104"/>
            <a:ext cx="437388" cy="224028"/>
          </a:xfrm>
          <a:prstGeom prst="rect">
            <a:avLst/>
          </a:prstGeom>
        </p:spPr>
      </p:pic>
      <p:pic>
        <p:nvPicPr>
          <p:cNvPr id="38" name="!!cell-raw-3-4" descr="W:\Projects\hacks\rwb-new\presentation\pptx\assets\cell-raw-3-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55278" y="4500118"/>
            <a:ext cx="437388" cy="224028"/>
          </a:xfrm>
          <a:prstGeom prst="rect">
            <a:avLst/>
          </a:prstGeom>
        </p:spPr>
      </p:pic>
      <p:pic>
        <p:nvPicPr>
          <p:cNvPr id="39" name="!!cell-raw-3-5" descr="W:\Projects\hacks\rwb-new\presentation\pptx\assets\cell-raw-3-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1250" y="4612132"/>
            <a:ext cx="437388" cy="224028"/>
          </a:xfrm>
          <a:prstGeom prst="rect">
            <a:avLst/>
          </a:prstGeom>
        </p:spPr>
      </p:pic>
      <p:pic>
        <p:nvPicPr>
          <p:cNvPr id="40" name="!!cell-raw-3-6" descr="W:\Projects\hacks\rwb-new\presentation\pptx\assets\cell-raw-3-6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07222" y="4724146"/>
            <a:ext cx="437388" cy="224028"/>
          </a:xfrm>
          <a:prstGeom prst="rect">
            <a:avLst/>
          </a:prstGeom>
        </p:spPr>
      </p:pic>
      <p:pic>
        <p:nvPicPr>
          <p:cNvPr id="41" name="!!cell-raw-3-7" descr="W:\Projects\hacks\rwb-new\presentation\pptx\assets\cell-raw-3-7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3194" y="4836160"/>
            <a:ext cx="437388" cy="224028"/>
          </a:xfrm>
          <a:prstGeom prst="rect">
            <a:avLst/>
          </a:prstGeom>
        </p:spPr>
      </p:pic>
      <p:pic>
        <p:nvPicPr>
          <p:cNvPr id="42" name="!!cell-raw-3-8" descr="W:\Projects\hacks\rwb-new\presentation\pptx\assets\cell-raw-3-8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59166" y="4948174"/>
            <a:ext cx="437388" cy="224028"/>
          </a:xfrm>
          <a:prstGeom prst="rect">
            <a:avLst/>
          </a:prstGeom>
        </p:spPr>
      </p:pic>
      <p:pic>
        <p:nvPicPr>
          <p:cNvPr id="43" name="!!cell-raw-3-9" descr="W:\Projects\hacks\rwb-new\presentation\pptx\assets\cell-raw-3-9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35138" y="5060188"/>
            <a:ext cx="437388" cy="224028"/>
          </a:xfrm>
          <a:prstGeom prst="rect">
            <a:avLst/>
          </a:prstGeom>
        </p:spPr>
      </p:pic>
      <p:pic>
        <p:nvPicPr>
          <p:cNvPr id="44" name="!!cell-raw-4-0" descr="W:\Projects\hacks\rwb-new\presentation\pptx\assets\cell-raw-4-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75418" y="4164076"/>
            <a:ext cx="437388" cy="224028"/>
          </a:xfrm>
          <a:prstGeom prst="rect">
            <a:avLst/>
          </a:prstGeom>
        </p:spPr>
      </p:pic>
      <p:pic>
        <p:nvPicPr>
          <p:cNvPr id="45" name="!!cell-raw-4-1" descr="W:\Projects\hacks\rwb-new\presentation\pptx\assets\cell-raw-4-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51390" y="4276090"/>
            <a:ext cx="437388" cy="224028"/>
          </a:xfrm>
          <a:prstGeom prst="rect">
            <a:avLst/>
          </a:prstGeom>
        </p:spPr>
      </p:pic>
      <p:pic>
        <p:nvPicPr>
          <p:cNvPr id="46" name="!!cell-raw-4-2" descr="W:\Projects\hacks\rwb-new\presentation\pptx\assets\cell-raw-4-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7362" y="4388104"/>
            <a:ext cx="437388" cy="224028"/>
          </a:xfrm>
          <a:prstGeom prst="rect">
            <a:avLst/>
          </a:prstGeom>
        </p:spPr>
      </p:pic>
      <p:pic>
        <p:nvPicPr>
          <p:cNvPr id="47" name="!!cell-raw-4-3" descr="W:\Projects\hacks\rwb-new\presentation\pptx\assets\cell-raw-4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3334" y="4500118"/>
            <a:ext cx="437388" cy="224028"/>
          </a:xfrm>
          <a:prstGeom prst="rect">
            <a:avLst/>
          </a:prstGeom>
        </p:spPr>
      </p:pic>
      <p:pic>
        <p:nvPicPr>
          <p:cNvPr id="48" name="!!cell-raw-4-4" descr="W:\Projects\hacks\rwb-new\presentation\pptx\assets\cell-raw-4-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79306" y="4612132"/>
            <a:ext cx="437388" cy="224028"/>
          </a:xfrm>
          <a:prstGeom prst="rect">
            <a:avLst/>
          </a:prstGeom>
        </p:spPr>
      </p:pic>
      <p:pic>
        <p:nvPicPr>
          <p:cNvPr id="49" name="!!cell-raw-4-5" descr="W:\Projects\hacks\rwb-new\presentation\pptx\assets\cell-raw-4-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5278" y="4724146"/>
            <a:ext cx="437388" cy="224028"/>
          </a:xfrm>
          <a:prstGeom prst="rect">
            <a:avLst/>
          </a:prstGeom>
        </p:spPr>
      </p:pic>
      <p:pic>
        <p:nvPicPr>
          <p:cNvPr id="50" name="!!cell-raw-4-6" descr="W:\Projects\hacks\rwb-new\presentation\pptx\assets\cell-raw-4-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31250" y="4836160"/>
            <a:ext cx="437388" cy="224028"/>
          </a:xfrm>
          <a:prstGeom prst="rect">
            <a:avLst/>
          </a:prstGeom>
        </p:spPr>
      </p:pic>
      <p:pic>
        <p:nvPicPr>
          <p:cNvPr id="51" name="!!cell-raw-4-7" descr="W:\Projects\hacks\rwb-new\presentation\pptx\assets\cell-raw-4-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07222" y="4948174"/>
            <a:ext cx="437388" cy="224028"/>
          </a:xfrm>
          <a:prstGeom prst="rect">
            <a:avLst/>
          </a:prstGeom>
        </p:spPr>
      </p:pic>
      <p:pic>
        <p:nvPicPr>
          <p:cNvPr id="52" name="!!cell-raw-4-8" descr="W:\Projects\hacks\rwb-new\presentation\pptx\assets\cell-raw-4-8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3194" y="5060188"/>
            <a:ext cx="437388" cy="224028"/>
          </a:xfrm>
          <a:prstGeom prst="rect">
            <a:avLst/>
          </a:prstGeom>
        </p:spPr>
      </p:pic>
      <p:pic>
        <p:nvPicPr>
          <p:cNvPr id="53" name="!!cell-raw-4-9" descr="W:\Projects\hacks\rwb-new\presentation\pptx\assets\cell-raw-4-9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59166" y="5172202"/>
            <a:ext cx="437388" cy="224028"/>
          </a:xfrm>
          <a:prstGeom prst="rect">
            <a:avLst/>
          </a:prstGeom>
        </p:spPr>
      </p:pic>
      <p:pic>
        <p:nvPicPr>
          <p:cNvPr id="54" name="!!cell-raw-5-0" descr="W:\Projects\hacks\rwb-new\presentation\pptx\assets\cell-raw-5-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9446" y="4276090"/>
            <a:ext cx="437388" cy="224028"/>
          </a:xfrm>
          <a:prstGeom prst="rect">
            <a:avLst/>
          </a:prstGeom>
        </p:spPr>
      </p:pic>
      <p:pic>
        <p:nvPicPr>
          <p:cNvPr id="55" name="!!cell-raw-5-1" descr="W:\Projects\hacks\rwb-new\presentation\pptx\assets\cell-raw-5-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75418" y="4388104"/>
            <a:ext cx="437388" cy="224028"/>
          </a:xfrm>
          <a:prstGeom prst="rect">
            <a:avLst/>
          </a:prstGeom>
        </p:spPr>
      </p:pic>
      <p:pic>
        <p:nvPicPr>
          <p:cNvPr id="56" name="!!cell-raw-5-2" descr="W:\Projects\hacks\rwb-new\presentation\pptx\assets\cell-raw-5-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51390" y="4500118"/>
            <a:ext cx="437388" cy="224028"/>
          </a:xfrm>
          <a:prstGeom prst="rect">
            <a:avLst/>
          </a:prstGeom>
        </p:spPr>
      </p:pic>
      <p:pic>
        <p:nvPicPr>
          <p:cNvPr id="57" name="!!cell-raw-5-3" descr="W:\Projects\hacks\rwb-new\presentation\pptx\assets\cell-raw-5-3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27362" y="4612132"/>
            <a:ext cx="437388" cy="224028"/>
          </a:xfrm>
          <a:prstGeom prst="rect">
            <a:avLst/>
          </a:prstGeom>
        </p:spPr>
      </p:pic>
      <p:pic>
        <p:nvPicPr>
          <p:cNvPr id="58" name="!!cell-raw-5-4" descr="W:\Projects\hacks\rwb-new\presentation\pptx\assets\cell-raw-5-4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03334" y="4724146"/>
            <a:ext cx="437388" cy="224028"/>
          </a:xfrm>
          <a:prstGeom prst="rect">
            <a:avLst/>
          </a:prstGeom>
        </p:spPr>
      </p:pic>
      <p:pic>
        <p:nvPicPr>
          <p:cNvPr id="59" name="!!cell-raw-5-5" descr="W:\Projects\hacks\rwb-new\presentation\pptx\assets\cell-raw-5-5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79306" y="4836160"/>
            <a:ext cx="437388" cy="224028"/>
          </a:xfrm>
          <a:prstGeom prst="rect">
            <a:avLst/>
          </a:prstGeom>
        </p:spPr>
      </p:pic>
      <p:pic>
        <p:nvPicPr>
          <p:cNvPr id="60" name="!!cell-raw-5-6" descr="W:\Projects\hacks\rwb-new\presentation\pptx\assets\cell-raw-5-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55278" y="4948174"/>
            <a:ext cx="437388" cy="224028"/>
          </a:xfrm>
          <a:prstGeom prst="rect">
            <a:avLst/>
          </a:prstGeom>
        </p:spPr>
      </p:pic>
      <p:pic>
        <p:nvPicPr>
          <p:cNvPr id="61" name="!!cell-raw-5-7" descr="W:\Projects\hacks\rwb-new\presentation\pptx\assets\cell-raw-5-7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31250" y="5060188"/>
            <a:ext cx="437388" cy="224028"/>
          </a:xfrm>
          <a:prstGeom prst="rect">
            <a:avLst/>
          </a:prstGeom>
        </p:spPr>
      </p:pic>
      <p:pic>
        <p:nvPicPr>
          <p:cNvPr id="62" name="!!cell-raw-5-8" descr="W:\Projects\hacks\rwb-new\presentation\pptx\assets\cell-raw-5-8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507222" y="5172202"/>
            <a:ext cx="437388" cy="224028"/>
          </a:xfrm>
          <a:prstGeom prst="rect">
            <a:avLst/>
          </a:prstGeom>
        </p:spPr>
      </p:pic>
      <p:pic>
        <p:nvPicPr>
          <p:cNvPr id="63" name="!!cell-raw-5-9" descr="W:\Projects\hacks\rwb-new\presentation\pptx\assets\cell-raw-5-9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283194" y="5284216"/>
            <a:ext cx="437388" cy="224028"/>
          </a:xfrm>
          <a:prstGeom prst="rect">
            <a:avLst/>
          </a:prstGeom>
        </p:spPr>
      </p:pic>
      <p:pic>
        <p:nvPicPr>
          <p:cNvPr id="64" name="!!cell-raw-6-0" descr="W:\Projects\hacks\rwb-new\presentation\pptx\assets\cell-raw-6-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23474" y="4388104"/>
            <a:ext cx="437388" cy="224028"/>
          </a:xfrm>
          <a:prstGeom prst="rect">
            <a:avLst/>
          </a:prstGeom>
        </p:spPr>
      </p:pic>
      <p:pic>
        <p:nvPicPr>
          <p:cNvPr id="65" name="!!cell-raw-6-1" descr="W:\Projects\hacks\rwb-new\presentation\pptx\assets\cell-raw-6-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99446" y="4500118"/>
            <a:ext cx="437388" cy="224028"/>
          </a:xfrm>
          <a:prstGeom prst="rect">
            <a:avLst/>
          </a:prstGeom>
        </p:spPr>
      </p:pic>
      <p:pic>
        <p:nvPicPr>
          <p:cNvPr id="66" name="!!cell-raw-6-2" descr="W:\Projects\hacks\rwb-new\presentation\pptx\assets\cell-raw-6-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5418" y="4612132"/>
            <a:ext cx="437388" cy="224028"/>
          </a:xfrm>
          <a:prstGeom prst="rect">
            <a:avLst/>
          </a:prstGeom>
        </p:spPr>
      </p:pic>
      <p:pic>
        <p:nvPicPr>
          <p:cNvPr id="67" name="!!cell-raw-6-3" descr="W:\Projects\hacks\rwb-new\presentation\pptx\assets\cell-raw-6-3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1390" y="4724146"/>
            <a:ext cx="437388" cy="224028"/>
          </a:xfrm>
          <a:prstGeom prst="rect">
            <a:avLst/>
          </a:prstGeom>
        </p:spPr>
      </p:pic>
      <p:pic>
        <p:nvPicPr>
          <p:cNvPr id="68" name="!!cell-raw-6-4" descr="W:\Projects\hacks\rwb-new\presentation\pptx\assets\cell-raw-6-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27362" y="4836160"/>
            <a:ext cx="437388" cy="224028"/>
          </a:xfrm>
          <a:prstGeom prst="rect">
            <a:avLst/>
          </a:prstGeom>
        </p:spPr>
      </p:pic>
      <p:pic>
        <p:nvPicPr>
          <p:cNvPr id="69" name="!!cell-raw-6-5" descr="W:\Projects\hacks\rwb-new\presentation\pptx\assets\cell-raw-6-5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03334" y="4948174"/>
            <a:ext cx="437388" cy="224028"/>
          </a:xfrm>
          <a:prstGeom prst="rect">
            <a:avLst/>
          </a:prstGeom>
        </p:spPr>
      </p:pic>
      <p:pic>
        <p:nvPicPr>
          <p:cNvPr id="70" name="!!cell-raw-6-6" descr="W:\Projects\hacks\rwb-new\presentation\pptx\assets\cell-raw-6-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79306" y="5060188"/>
            <a:ext cx="437388" cy="224028"/>
          </a:xfrm>
          <a:prstGeom prst="rect">
            <a:avLst/>
          </a:prstGeom>
        </p:spPr>
      </p:pic>
      <p:pic>
        <p:nvPicPr>
          <p:cNvPr id="71" name="!!cell-raw-6-7" descr="W:\Projects\hacks\rwb-new\presentation\pptx\assets\cell-raw-6-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55278" y="5172202"/>
            <a:ext cx="437388" cy="224028"/>
          </a:xfrm>
          <a:prstGeom prst="rect">
            <a:avLst/>
          </a:prstGeom>
        </p:spPr>
      </p:pic>
      <p:pic>
        <p:nvPicPr>
          <p:cNvPr id="72" name="!!cell-raw-6-8" descr="W:\Projects\hacks\rwb-new\presentation\pptx\assets\cell-raw-6-8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731250" y="5284216"/>
            <a:ext cx="437388" cy="224028"/>
          </a:xfrm>
          <a:prstGeom prst="rect">
            <a:avLst/>
          </a:prstGeom>
        </p:spPr>
      </p:pic>
      <p:pic>
        <p:nvPicPr>
          <p:cNvPr id="73" name="!!cell-raw-6-9" descr="W:\Projects\hacks\rwb-new\presentation\pptx\assets\cell-raw-6-9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07222" y="5396230"/>
            <a:ext cx="437388" cy="224028"/>
          </a:xfrm>
          <a:prstGeom prst="rect">
            <a:avLst/>
          </a:prstGeom>
        </p:spPr>
      </p:pic>
      <p:pic>
        <p:nvPicPr>
          <p:cNvPr id="74" name="!!cell-raw-7-0" descr="W:\Projects\hacks\rwb-new\presentation\pptx\assets\cell-raw-7-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47502" y="4500118"/>
            <a:ext cx="437388" cy="224028"/>
          </a:xfrm>
          <a:prstGeom prst="rect">
            <a:avLst/>
          </a:prstGeom>
        </p:spPr>
      </p:pic>
      <p:pic>
        <p:nvPicPr>
          <p:cNvPr id="75" name="!!cell-raw-7-1" descr="W:\Projects\hacks\rwb-new\presentation\pptx\assets\cell-raw-7-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23474" y="4612132"/>
            <a:ext cx="437388" cy="224028"/>
          </a:xfrm>
          <a:prstGeom prst="rect">
            <a:avLst/>
          </a:prstGeom>
        </p:spPr>
      </p:pic>
      <p:pic>
        <p:nvPicPr>
          <p:cNvPr id="76" name="!!cell-raw-7-2" descr="W:\Projects\hacks\rwb-new\presentation\pptx\assets\cell-raw-7-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99446" y="4724146"/>
            <a:ext cx="437388" cy="224028"/>
          </a:xfrm>
          <a:prstGeom prst="rect">
            <a:avLst/>
          </a:prstGeom>
        </p:spPr>
      </p:pic>
      <p:pic>
        <p:nvPicPr>
          <p:cNvPr id="77" name="!!cell-raw-7-3" descr="W:\Projects\hacks\rwb-new\presentation\pptx\assets\cell-raw-7-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75418" y="4836160"/>
            <a:ext cx="437388" cy="224028"/>
          </a:xfrm>
          <a:prstGeom prst="rect">
            <a:avLst/>
          </a:prstGeom>
        </p:spPr>
      </p:pic>
      <p:pic>
        <p:nvPicPr>
          <p:cNvPr id="78" name="!!cell-raw-7-4" descr="W:\Projects\hacks\rwb-new\presentation\pptx\assets\cell-raw-7-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51390" y="4948174"/>
            <a:ext cx="437388" cy="224028"/>
          </a:xfrm>
          <a:prstGeom prst="rect">
            <a:avLst/>
          </a:prstGeom>
        </p:spPr>
      </p:pic>
      <p:pic>
        <p:nvPicPr>
          <p:cNvPr id="79" name="!!cell-raw-7-5" descr="W:\Projects\hacks\rwb-new\presentation\pptx\assets\cell-raw-7-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27362" y="5060188"/>
            <a:ext cx="437388" cy="224028"/>
          </a:xfrm>
          <a:prstGeom prst="rect">
            <a:avLst/>
          </a:prstGeom>
        </p:spPr>
      </p:pic>
      <p:pic>
        <p:nvPicPr>
          <p:cNvPr id="80" name="!!cell-raw-7-6" descr="W:\Projects\hacks\rwb-new\presentation\pptx\assets\cell-raw-7-6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403334" y="5172202"/>
            <a:ext cx="437388" cy="224028"/>
          </a:xfrm>
          <a:prstGeom prst="rect">
            <a:avLst/>
          </a:prstGeom>
        </p:spPr>
      </p:pic>
      <p:pic>
        <p:nvPicPr>
          <p:cNvPr id="81" name="!!cell-raw-7-7" descr="W:\Projects\hacks\rwb-new\presentation\pptx\assets\cell-raw-7-7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79306" y="5284216"/>
            <a:ext cx="437388" cy="224028"/>
          </a:xfrm>
          <a:prstGeom prst="rect">
            <a:avLst/>
          </a:prstGeom>
        </p:spPr>
      </p:pic>
      <p:pic>
        <p:nvPicPr>
          <p:cNvPr id="82" name="!!cell-raw-7-8" descr="W:\Projects\hacks\rwb-new\presentation\pptx\assets\cell-raw-7-8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955278" y="5396230"/>
            <a:ext cx="437388" cy="224028"/>
          </a:xfrm>
          <a:prstGeom prst="rect">
            <a:avLst/>
          </a:prstGeom>
        </p:spPr>
      </p:pic>
      <p:pic>
        <p:nvPicPr>
          <p:cNvPr id="83" name="!!cell-raw-7-9" descr="W:\Projects\hacks\rwb-new\presentation\pptx\assets\cell-raw-7-9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731250" y="5508244"/>
            <a:ext cx="437388" cy="224028"/>
          </a:xfrm>
          <a:prstGeom prst="rect">
            <a:avLst/>
          </a:prstGeom>
        </p:spPr>
      </p:pic>
      <p:pic>
        <p:nvPicPr>
          <p:cNvPr id="84" name="!!cell-raw-8-0" descr="W:\Projects\hacks\rwb-new\presentation\pptx\assets\cell-raw-8-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71530" y="4612132"/>
            <a:ext cx="437388" cy="224028"/>
          </a:xfrm>
          <a:prstGeom prst="rect">
            <a:avLst/>
          </a:prstGeom>
        </p:spPr>
      </p:pic>
      <p:pic>
        <p:nvPicPr>
          <p:cNvPr id="85" name="!!cell-raw-8-1" descr="W:\Projects\hacks\rwb-new\presentation\pptx\assets\cell-raw-8-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47502" y="4724146"/>
            <a:ext cx="437388" cy="224028"/>
          </a:xfrm>
          <a:prstGeom prst="rect">
            <a:avLst/>
          </a:prstGeom>
        </p:spPr>
      </p:pic>
      <p:pic>
        <p:nvPicPr>
          <p:cNvPr id="86" name="!!cell-raw-8-2" descr="W:\Projects\hacks\rwb-new\presentation\pptx\assets\cell-raw-8-2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523474" y="4836160"/>
            <a:ext cx="437388" cy="224028"/>
          </a:xfrm>
          <a:prstGeom prst="rect">
            <a:avLst/>
          </a:prstGeom>
        </p:spPr>
      </p:pic>
      <p:pic>
        <p:nvPicPr>
          <p:cNvPr id="87" name="!!cell-raw-8-3" descr="W:\Projects\hacks\rwb-new\presentation\pptx\assets\cell-raw-8-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99446" y="4948174"/>
            <a:ext cx="437388" cy="224028"/>
          </a:xfrm>
          <a:prstGeom prst="rect">
            <a:avLst/>
          </a:prstGeom>
        </p:spPr>
      </p:pic>
      <p:pic>
        <p:nvPicPr>
          <p:cNvPr id="88" name="!!cell-raw-8-4" descr="W:\Projects\hacks\rwb-new\presentation\pptx\assets\cell-raw-8-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75418" y="5060188"/>
            <a:ext cx="437388" cy="224028"/>
          </a:xfrm>
          <a:prstGeom prst="rect">
            <a:avLst/>
          </a:prstGeom>
        </p:spPr>
      </p:pic>
      <p:pic>
        <p:nvPicPr>
          <p:cNvPr id="89" name="!!cell-raw-8-5" descr="W:\Projects\hacks\rwb-new\presentation\pptx\assets\cell-raw-8-5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851390" y="5172202"/>
            <a:ext cx="437388" cy="224028"/>
          </a:xfrm>
          <a:prstGeom prst="rect">
            <a:avLst/>
          </a:prstGeom>
        </p:spPr>
      </p:pic>
      <p:pic>
        <p:nvPicPr>
          <p:cNvPr id="90" name="!!cell-raw-8-6" descr="W:\Projects\hacks\rwb-new\presentation\pptx\assets\cell-raw-8-6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627362" y="5284216"/>
            <a:ext cx="437388" cy="224028"/>
          </a:xfrm>
          <a:prstGeom prst="rect">
            <a:avLst/>
          </a:prstGeom>
        </p:spPr>
      </p:pic>
      <p:pic>
        <p:nvPicPr>
          <p:cNvPr id="91" name="!!cell-raw-8-7" descr="W:\Projects\hacks\rwb-new\presentation\pptx\assets\cell-raw-8-7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403334" y="5396230"/>
            <a:ext cx="437388" cy="224028"/>
          </a:xfrm>
          <a:prstGeom prst="rect">
            <a:avLst/>
          </a:prstGeom>
        </p:spPr>
      </p:pic>
      <p:pic>
        <p:nvPicPr>
          <p:cNvPr id="92" name="!!cell-raw-8-8" descr="W:\Projects\hacks\rwb-new\presentation\pptx\assets\cell-raw-8-8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79306" y="5508244"/>
            <a:ext cx="437388" cy="224028"/>
          </a:xfrm>
          <a:prstGeom prst="rect">
            <a:avLst/>
          </a:prstGeom>
        </p:spPr>
      </p:pic>
      <p:pic>
        <p:nvPicPr>
          <p:cNvPr id="93" name="!!cell-raw-8-9" descr="W:\Projects\hacks\rwb-new\presentation\pptx\assets\cell-raw-8-9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955278" y="5620258"/>
            <a:ext cx="437388" cy="224028"/>
          </a:xfrm>
          <a:prstGeom prst="rect">
            <a:avLst/>
          </a:prstGeom>
        </p:spPr>
      </p:pic>
      <p:pic>
        <p:nvPicPr>
          <p:cNvPr id="94" name="!!cell-raw-9-0" descr="W:\Projects\hacks\rwb-new\presentation\pptx\assets\cell-raw-9-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95558" y="4724146"/>
            <a:ext cx="437388" cy="224028"/>
          </a:xfrm>
          <a:prstGeom prst="rect">
            <a:avLst/>
          </a:prstGeom>
        </p:spPr>
      </p:pic>
      <p:pic>
        <p:nvPicPr>
          <p:cNvPr id="95" name="!!cell-raw-9-1" descr="W:\Projects\hacks\rwb-new\presentation\pptx\assets\cell-raw-9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1530" y="4836160"/>
            <a:ext cx="437388" cy="224028"/>
          </a:xfrm>
          <a:prstGeom prst="rect">
            <a:avLst/>
          </a:prstGeom>
        </p:spPr>
      </p:pic>
      <p:pic>
        <p:nvPicPr>
          <p:cNvPr id="96" name="!!cell-raw-9-2" descr="W:\Projects\hacks\rwb-new\presentation\pptx\assets\cell-raw-9-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7502" y="4948174"/>
            <a:ext cx="437388" cy="224028"/>
          </a:xfrm>
          <a:prstGeom prst="rect">
            <a:avLst/>
          </a:prstGeom>
        </p:spPr>
      </p:pic>
      <p:pic>
        <p:nvPicPr>
          <p:cNvPr id="97" name="!!cell-raw-9-3" descr="W:\Projects\hacks\rwb-new\presentation\pptx\assets\cell-raw-9-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23474" y="5060188"/>
            <a:ext cx="437388" cy="224028"/>
          </a:xfrm>
          <a:prstGeom prst="rect">
            <a:avLst/>
          </a:prstGeom>
        </p:spPr>
      </p:pic>
      <p:pic>
        <p:nvPicPr>
          <p:cNvPr id="98" name="!!cell-raw-9-4" descr="W:\Projects\hacks\rwb-new\presentation\pptx\assets\cell-raw-9-4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299446" y="5172202"/>
            <a:ext cx="437388" cy="224028"/>
          </a:xfrm>
          <a:prstGeom prst="rect">
            <a:avLst/>
          </a:prstGeom>
        </p:spPr>
      </p:pic>
      <p:pic>
        <p:nvPicPr>
          <p:cNvPr id="99" name="!!cell-raw-9-5" descr="W:\Projects\hacks\rwb-new\presentation\pptx\assets\cell-raw-9-5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075418" y="5284216"/>
            <a:ext cx="437388" cy="224028"/>
          </a:xfrm>
          <a:prstGeom prst="rect">
            <a:avLst/>
          </a:prstGeom>
        </p:spPr>
      </p:pic>
      <p:pic>
        <p:nvPicPr>
          <p:cNvPr id="100" name="!!cell-raw-9-6" descr="W:\Projects\hacks\rwb-new\presentation\pptx\assets\cell-raw-9-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851390" y="5396230"/>
            <a:ext cx="437388" cy="224028"/>
          </a:xfrm>
          <a:prstGeom prst="rect">
            <a:avLst/>
          </a:prstGeom>
        </p:spPr>
      </p:pic>
      <p:pic>
        <p:nvPicPr>
          <p:cNvPr id="101" name="!!cell-raw-9-7" descr="W:\Projects\hacks\rwb-new\presentation\pptx\assets\cell-raw-9-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27362" y="5508244"/>
            <a:ext cx="437388" cy="224028"/>
          </a:xfrm>
          <a:prstGeom prst="rect">
            <a:avLst/>
          </a:prstGeom>
        </p:spPr>
      </p:pic>
      <p:pic>
        <p:nvPicPr>
          <p:cNvPr id="102" name="!!cell-raw-9-8" descr="W:\Projects\hacks\rwb-new\presentation\pptx\assets\cell-raw-9-8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403334" y="5620258"/>
            <a:ext cx="437388" cy="224028"/>
          </a:xfrm>
          <a:prstGeom prst="rect">
            <a:avLst/>
          </a:prstGeom>
        </p:spPr>
      </p:pic>
      <p:pic>
        <p:nvPicPr>
          <p:cNvPr id="103" name="!!cell-raw-9-9" descr="W:\Projects\hacks\rwb-new\presentation\pptx\assets\cell-raw-9-9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179306" y="5732272"/>
            <a:ext cx="437388" cy="224028"/>
          </a:xfrm>
          <a:prstGeom prst="rect">
            <a:avLst/>
          </a:prstGeom>
        </p:spPr>
      </p:pic>
      <p:pic>
        <p:nvPicPr>
          <p:cNvPr id="104" name="!!base-core" descr="W:\Projects\hacks\rwb-new\presentation\pptx\assets\st-core-bas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731000" y="889000"/>
            <a:ext cx="5334000" cy="5334000"/>
          </a:xfrm>
          <a:prstGeom prst="rect">
            <a:avLst/>
          </a:prstGeom>
        </p:spPr>
      </p:pic>
      <p:pic>
        <p:nvPicPr>
          <p:cNvPr id="105" name="!!cell-core-0-0" descr="W:\Projects\hacks\rwb-new\presentation\pptx\assets\cell-core-0-0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179306" y="2969260"/>
            <a:ext cx="437388" cy="224028"/>
          </a:xfrm>
          <a:prstGeom prst="rect">
            <a:avLst/>
          </a:prstGeom>
        </p:spPr>
      </p:pic>
      <p:pic>
        <p:nvPicPr>
          <p:cNvPr id="106" name="!!cell-core-0-1" descr="W:\Projects\hacks\rwb-new\presentation\pptx\assets\cell-core-0-1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955278" y="3081274"/>
            <a:ext cx="437388" cy="224028"/>
          </a:xfrm>
          <a:prstGeom prst="rect">
            <a:avLst/>
          </a:prstGeom>
        </p:spPr>
      </p:pic>
      <p:pic>
        <p:nvPicPr>
          <p:cNvPr id="107" name="!!cell-core-0-2" descr="W:\Projects\hacks\rwb-new\presentation\pptx\assets\cell-core-0-2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731250" y="3193288"/>
            <a:ext cx="437388" cy="224028"/>
          </a:xfrm>
          <a:prstGeom prst="rect">
            <a:avLst/>
          </a:prstGeom>
        </p:spPr>
      </p:pic>
      <p:pic>
        <p:nvPicPr>
          <p:cNvPr id="108" name="!!cell-core-0-3" descr="W:\Projects\hacks\rwb-new\presentation\pptx\assets\cell-core-0-3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507222" y="3305302"/>
            <a:ext cx="437388" cy="224028"/>
          </a:xfrm>
          <a:prstGeom prst="rect">
            <a:avLst/>
          </a:prstGeom>
        </p:spPr>
      </p:pic>
      <p:pic>
        <p:nvPicPr>
          <p:cNvPr id="109" name="!!cell-core-0-4" descr="W:\Projects\hacks\rwb-new\presentation\pptx\assets\cell-core-0-4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83194" y="3417316"/>
            <a:ext cx="437388" cy="224028"/>
          </a:xfrm>
          <a:prstGeom prst="rect">
            <a:avLst/>
          </a:prstGeom>
        </p:spPr>
      </p:pic>
      <p:pic>
        <p:nvPicPr>
          <p:cNvPr id="110" name="!!cell-core-0-5" descr="W:\Projects\hacks\rwb-new\presentation\pptx\assets\cell-core-0-5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059166" y="3529330"/>
            <a:ext cx="437388" cy="224028"/>
          </a:xfrm>
          <a:prstGeom prst="rect">
            <a:avLst/>
          </a:prstGeom>
        </p:spPr>
      </p:pic>
      <p:pic>
        <p:nvPicPr>
          <p:cNvPr id="111" name="!!cell-core-0-6" descr="W:\Projects\hacks\rwb-new\presentation\pptx\assets\cell-core-0-6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835138" y="3641344"/>
            <a:ext cx="437388" cy="224028"/>
          </a:xfrm>
          <a:prstGeom prst="rect">
            <a:avLst/>
          </a:prstGeom>
        </p:spPr>
      </p:pic>
      <p:pic>
        <p:nvPicPr>
          <p:cNvPr id="112" name="!!cell-core-0-7" descr="W:\Projects\hacks\rwb-new\presentation\pptx\assets\cell-core-0-7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611110" y="3753358"/>
            <a:ext cx="437388" cy="224028"/>
          </a:xfrm>
          <a:prstGeom prst="rect">
            <a:avLst/>
          </a:prstGeom>
        </p:spPr>
      </p:pic>
      <p:pic>
        <p:nvPicPr>
          <p:cNvPr id="113" name="!!cell-core-0-8" descr="W:\Projects\hacks\rwb-new\presentation\pptx\assets\cell-core-0-8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387082" y="3865372"/>
            <a:ext cx="437388" cy="224028"/>
          </a:xfrm>
          <a:prstGeom prst="rect">
            <a:avLst/>
          </a:prstGeom>
        </p:spPr>
      </p:pic>
      <p:pic>
        <p:nvPicPr>
          <p:cNvPr id="114" name="!!cell-core-0-9" descr="W:\Projects\hacks\rwb-new\presentation\pptx\assets\cell-core-0-9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163054" y="3977386"/>
            <a:ext cx="437388" cy="224028"/>
          </a:xfrm>
          <a:prstGeom prst="rect">
            <a:avLst/>
          </a:prstGeom>
        </p:spPr>
      </p:pic>
      <p:pic>
        <p:nvPicPr>
          <p:cNvPr id="115" name="!!cell-core-1-0" descr="W:\Projects\hacks\rwb-new\presentation\pptx\assets\cell-core-1-0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403334" y="3081274"/>
            <a:ext cx="437388" cy="224028"/>
          </a:xfrm>
          <a:prstGeom prst="rect">
            <a:avLst/>
          </a:prstGeom>
        </p:spPr>
      </p:pic>
      <p:pic>
        <p:nvPicPr>
          <p:cNvPr id="116" name="!!cell-core-1-1" descr="W:\Projects\hacks\rwb-new\presentation\pptx\assets\cell-core-1-1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179306" y="3193288"/>
            <a:ext cx="437388" cy="224028"/>
          </a:xfrm>
          <a:prstGeom prst="rect">
            <a:avLst/>
          </a:prstGeom>
        </p:spPr>
      </p:pic>
      <p:pic>
        <p:nvPicPr>
          <p:cNvPr id="117" name="!!cell-core-1-2" descr="W:\Projects\hacks\rwb-new\presentation\pptx\assets\cell-core-1-2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955278" y="3305302"/>
            <a:ext cx="437388" cy="224028"/>
          </a:xfrm>
          <a:prstGeom prst="rect">
            <a:avLst/>
          </a:prstGeom>
        </p:spPr>
      </p:pic>
      <p:pic>
        <p:nvPicPr>
          <p:cNvPr id="118" name="!!cell-core-1-3" descr="W:\Projects\hacks\rwb-new\presentation\pptx\assets\cell-core-1-3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731250" y="3417316"/>
            <a:ext cx="437388" cy="224028"/>
          </a:xfrm>
          <a:prstGeom prst="rect">
            <a:avLst/>
          </a:prstGeom>
        </p:spPr>
      </p:pic>
      <p:pic>
        <p:nvPicPr>
          <p:cNvPr id="119" name="!!cell-core-1-4" descr="W:\Projects\hacks\rwb-new\presentation\pptx\assets\cell-core-1-4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507222" y="3529330"/>
            <a:ext cx="437388" cy="224028"/>
          </a:xfrm>
          <a:prstGeom prst="rect">
            <a:avLst/>
          </a:prstGeom>
        </p:spPr>
      </p:pic>
      <p:pic>
        <p:nvPicPr>
          <p:cNvPr id="120" name="!!cell-core-1-5" descr="W:\Projects\hacks\rwb-new\presentation\pptx\assets\cell-core-1-5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283194" y="3641344"/>
            <a:ext cx="437388" cy="224028"/>
          </a:xfrm>
          <a:prstGeom prst="rect">
            <a:avLst/>
          </a:prstGeom>
        </p:spPr>
      </p:pic>
      <p:pic>
        <p:nvPicPr>
          <p:cNvPr id="121" name="!!cell-core-1-6" descr="W:\Projects\hacks\rwb-new\presentation\pptx\assets\cell-core-1-6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059166" y="3753358"/>
            <a:ext cx="437388" cy="224028"/>
          </a:xfrm>
          <a:prstGeom prst="rect">
            <a:avLst/>
          </a:prstGeom>
        </p:spPr>
      </p:pic>
      <p:pic>
        <p:nvPicPr>
          <p:cNvPr id="122" name="!!cell-core-1-7" descr="W:\Projects\hacks\rwb-new\presentation\pptx\assets\cell-core-1-7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835138" y="3865372"/>
            <a:ext cx="437388" cy="224028"/>
          </a:xfrm>
          <a:prstGeom prst="rect">
            <a:avLst/>
          </a:prstGeom>
        </p:spPr>
      </p:pic>
      <p:pic>
        <p:nvPicPr>
          <p:cNvPr id="123" name="!!cell-core-1-8" descr="W:\Projects\hacks\rwb-new\presentation\pptx\assets\cell-core-1-8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611110" y="3977386"/>
            <a:ext cx="437388" cy="224028"/>
          </a:xfrm>
          <a:prstGeom prst="rect">
            <a:avLst/>
          </a:prstGeom>
        </p:spPr>
      </p:pic>
      <p:pic>
        <p:nvPicPr>
          <p:cNvPr id="124" name="!!cell-core-1-9" descr="W:\Projects\hacks\rwb-new\presentation\pptx\assets\cell-core-1-9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387082" y="4089400"/>
            <a:ext cx="437388" cy="224028"/>
          </a:xfrm>
          <a:prstGeom prst="rect">
            <a:avLst/>
          </a:prstGeom>
        </p:spPr>
      </p:pic>
      <p:pic>
        <p:nvPicPr>
          <p:cNvPr id="125" name="!!cell-core-2-0" descr="W:\Projects\hacks\rwb-new\presentation\pptx\assets\cell-core-2-0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627362" y="3193288"/>
            <a:ext cx="437388" cy="224028"/>
          </a:xfrm>
          <a:prstGeom prst="rect">
            <a:avLst/>
          </a:prstGeom>
        </p:spPr>
      </p:pic>
      <p:pic>
        <p:nvPicPr>
          <p:cNvPr id="126" name="!!cell-core-2-1" descr="W:\Projects\hacks\rwb-new\presentation\pptx\assets\cell-core-2-1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403334" y="3305302"/>
            <a:ext cx="437388" cy="224028"/>
          </a:xfrm>
          <a:prstGeom prst="rect">
            <a:avLst/>
          </a:prstGeom>
        </p:spPr>
      </p:pic>
      <p:pic>
        <p:nvPicPr>
          <p:cNvPr id="127" name="!!cell-core-2-2" descr="W:\Projects\hacks\rwb-new\presentation\pptx\assets\cell-core-2-2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179306" y="3417316"/>
            <a:ext cx="437388" cy="224028"/>
          </a:xfrm>
          <a:prstGeom prst="rect">
            <a:avLst/>
          </a:prstGeom>
        </p:spPr>
      </p:pic>
      <p:pic>
        <p:nvPicPr>
          <p:cNvPr id="128" name="!!cell-core-2-3" descr="W:\Projects\hacks\rwb-new\presentation\pptx\assets\cell-core-2-3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955278" y="3529330"/>
            <a:ext cx="437388" cy="224028"/>
          </a:xfrm>
          <a:prstGeom prst="rect">
            <a:avLst/>
          </a:prstGeom>
        </p:spPr>
      </p:pic>
      <p:pic>
        <p:nvPicPr>
          <p:cNvPr id="129" name="!!cell-core-2-4" descr="W:\Projects\hacks\rwb-new\presentation\pptx\assets\cell-core-2-4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731250" y="3641344"/>
            <a:ext cx="437388" cy="224028"/>
          </a:xfrm>
          <a:prstGeom prst="rect">
            <a:avLst/>
          </a:prstGeom>
        </p:spPr>
      </p:pic>
      <p:pic>
        <p:nvPicPr>
          <p:cNvPr id="130" name="!!cell-core-2-5" descr="W:\Projects\hacks\rwb-new\presentation\pptx\assets\cell-core-2-5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507222" y="3753358"/>
            <a:ext cx="437388" cy="224028"/>
          </a:xfrm>
          <a:prstGeom prst="rect">
            <a:avLst/>
          </a:prstGeom>
        </p:spPr>
      </p:pic>
      <p:pic>
        <p:nvPicPr>
          <p:cNvPr id="131" name="!!cell-core-2-6" descr="W:\Projects\hacks\rwb-new\presentation\pptx\assets\cell-core-2-6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283194" y="3865372"/>
            <a:ext cx="437388" cy="224028"/>
          </a:xfrm>
          <a:prstGeom prst="rect">
            <a:avLst/>
          </a:prstGeom>
        </p:spPr>
      </p:pic>
      <p:pic>
        <p:nvPicPr>
          <p:cNvPr id="132" name="!!cell-core-2-7" descr="W:\Projects\hacks\rwb-new\presentation\pptx\assets\cell-core-2-7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059166" y="3977386"/>
            <a:ext cx="437388" cy="224028"/>
          </a:xfrm>
          <a:prstGeom prst="rect">
            <a:avLst/>
          </a:prstGeom>
        </p:spPr>
      </p:pic>
      <p:pic>
        <p:nvPicPr>
          <p:cNvPr id="133" name="!!cell-core-2-8" descr="W:\Projects\hacks\rwb-new\presentation\pptx\assets\cell-core-2-8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835138" y="4089400"/>
            <a:ext cx="437388" cy="224028"/>
          </a:xfrm>
          <a:prstGeom prst="rect">
            <a:avLst/>
          </a:prstGeom>
        </p:spPr>
      </p:pic>
      <p:pic>
        <p:nvPicPr>
          <p:cNvPr id="134" name="!!cell-core-2-9" descr="W:\Projects\hacks\rwb-new\presentation\pptx\assets\cell-core-2-9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611110" y="4201414"/>
            <a:ext cx="437388" cy="224028"/>
          </a:xfrm>
          <a:prstGeom prst="rect">
            <a:avLst/>
          </a:prstGeom>
        </p:spPr>
      </p:pic>
      <p:pic>
        <p:nvPicPr>
          <p:cNvPr id="135" name="!!cell-core-3-0" descr="W:\Projects\hacks\rwb-new\presentation\pptx\assets\cell-core-3-0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851390" y="3305302"/>
            <a:ext cx="437388" cy="224028"/>
          </a:xfrm>
          <a:prstGeom prst="rect">
            <a:avLst/>
          </a:prstGeom>
        </p:spPr>
      </p:pic>
      <p:pic>
        <p:nvPicPr>
          <p:cNvPr id="136" name="!!cell-core-3-1" descr="W:\Projects\hacks\rwb-new\presentation\pptx\assets\cell-core-3-1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627362" y="3417316"/>
            <a:ext cx="437388" cy="224028"/>
          </a:xfrm>
          <a:prstGeom prst="rect">
            <a:avLst/>
          </a:prstGeom>
        </p:spPr>
      </p:pic>
      <p:pic>
        <p:nvPicPr>
          <p:cNvPr id="137" name="!!cell-core-3-2" descr="W:\Projects\hacks\rwb-new\presentation\pptx\assets\cell-core-3-2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9403334" y="3529330"/>
            <a:ext cx="437388" cy="224028"/>
          </a:xfrm>
          <a:prstGeom prst="rect">
            <a:avLst/>
          </a:prstGeom>
        </p:spPr>
      </p:pic>
      <p:pic>
        <p:nvPicPr>
          <p:cNvPr id="138" name="!!cell-core-3-3" descr="W:\Projects\hacks\rwb-new\presentation\pptx\assets\cell-core-3-3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179306" y="3641344"/>
            <a:ext cx="437388" cy="224028"/>
          </a:xfrm>
          <a:prstGeom prst="rect">
            <a:avLst/>
          </a:prstGeom>
        </p:spPr>
      </p:pic>
      <p:pic>
        <p:nvPicPr>
          <p:cNvPr id="139" name="!!cell-core-3-4" descr="W:\Projects\hacks\rwb-new\presentation\pptx\assets\cell-core-3-4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955278" y="3753358"/>
            <a:ext cx="437388" cy="224028"/>
          </a:xfrm>
          <a:prstGeom prst="rect">
            <a:avLst/>
          </a:prstGeom>
        </p:spPr>
      </p:pic>
      <p:pic>
        <p:nvPicPr>
          <p:cNvPr id="140" name="!!cell-core-3-5" descr="W:\Projects\hacks\rwb-new\presentation\pptx\assets\cell-core-3-5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731250" y="3865372"/>
            <a:ext cx="437388" cy="224028"/>
          </a:xfrm>
          <a:prstGeom prst="rect">
            <a:avLst/>
          </a:prstGeom>
        </p:spPr>
      </p:pic>
      <p:pic>
        <p:nvPicPr>
          <p:cNvPr id="141" name="!!cell-core-3-6" descr="W:\Projects\hacks\rwb-new\presentation\pptx\assets\cell-core-3-6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507222" y="3977386"/>
            <a:ext cx="437388" cy="224028"/>
          </a:xfrm>
          <a:prstGeom prst="rect">
            <a:avLst/>
          </a:prstGeom>
        </p:spPr>
      </p:pic>
      <p:pic>
        <p:nvPicPr>
          <p:cNvPr id="142" name="!!cell-core-3-7" descr="W:\Projects\hacks\rwb-new\presentation\pptx\assets\cell-core-3-7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283194" y="4089400"/>
            <a:ext cx="437388" cy="224028"/>
          </a:xfrm>
          <a:prstGeom prst="rect">
            <a:avLst/>
          </a:prstGeom>
        </p:spPr>
      </p:pic>
      <p:pic>
        <p:nvPicPr>
          <p:cNvPr id="143" name="!!cell-core-3-8" descr="W:\Projects\hacks\rwb-new\presentation\pptx\assets\cell-core-3-8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059166" y="4201414"/>
            <a:ext cx="437388" cy="224028"/>
          </a:xfrm>
          <a:prstGeom prst="rect">
            <a:avLst/>
          </a:prstGeom>
        </p:spPr>
      </p:pic>
      <p:pic>
        <p:nvPicPr>
          <p:cNvPr id="144" name="!!cell-core-3-9" descr="W:\Projects\hacks\rwb-new\presentation\pptx\assets\cell-core-3-9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835138" y="4313428"/>
            <a:ext cx="437388" cy="224028"/>
          </a:xfrm>
          <a:prstGeom prst="rect">
            <a:avLst/>
          </a:prstGeom>
        </p:spPr>
      </p:pic>
      <p:pic>
        <p:nvPicPr>
          <p:cNvPr id="145" name="!!cell-core-4-0" descr="W:\Projects\hacks\rwb-new\presentation\pptx\assets\cell-core-4-0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0075418" y="3417316"/>
            <a:ext cx="437388" cy="224028"/>
          </a:xfrm>
          <a:prstGeom prst="rect">
            <a:avLst/>
          </a:prstGeom>
        </p:spPr>
      </p:pic>
      <p:pic>
        <p:nvPicPr>
          <p:cNvPr id="146" name="!!cell-core-4-1" descr="W:\Projects\hacks\rwb-new\presentation\pptx\assets\cell-core-4-1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851390" y="3529330"/>
            <a:ext cx="437388" cy="224028"/>
          </a:xfrm>
          <a:prstGeom prst="rect">
            <a:avLst/>
          </a:prstGeom>
        </p:spPr>
      </p:pic>
      <p:pic>
        <p:nvPicPr>
          <p:cNvPr id="147" name="!!cell-core-4-2" descr="W:\Projects\hacks\rwb-new\presentation\pptx\assets\cell-core-4-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627362" y="3641344"/>
            <a:ext cx="437388" cy="224028"/>
          </a:xfrm>
          <a:prstGeom prst="rect">
            <a:avLst/>
          </a:prstGeom>
        </p:spPr>
      </p:pic>
      <p:pic>
        <p:nvPicPr>
          <p:cNvPr id="148" name="!!cell-core-4-3" descr="W:\Projects\hacks\rwb-new\presentation\pptx\assets\cell-core-4-3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403334" y="3753358"/>
            <a:ext cx="437388" cy="224028"/>
          </a:xfrm>
          <a:prstGeom prst="rect">
            <a:avLst/>
          </a:prstGeom>
        </p:spPr>
      </p:pic>
      <p:pic>
        <p:nvPicPr>
          <p:cNvPr id="149" name="!!cell-core-4-4" descr="W:\Projects\hacks\rwb-new\presentation\pptx\assets\cell-core-4-4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179306" y="3865372"/>
            <a:ext cx="437388" cy="224028"/>
          </a:xfrm>
          <a:prstGeom prst="rect">
            <a:avLst/>
          </a:prstGeom>
        </p:spPr>
      </p:pic>
      <p:pic>
        <p:nvPicPr>
          <p:cNvPr id="150" name="!!cell-core-4-5" descr="W:\Projects\hacks\rwb-new\presentation\pptx\assets\cell-core-4-5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955278" y="3977386"/>
            <a:ext cx="437388" cy="224028"/>
          </a:xfrm>
          <a:prstGeom prst="rect">
            <a:avLst/>
          </a:prstGeom>
        </p:spPr>
      </p:pic>
      <p:pic>
        <p:nvPicPr>
          <p:cNvPr id="151" name="!!cell-core-4-6" descr="W:\Projects\hacks\rwb-new\presentation\pptx\assets\cell-core-4-6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731250" y="4089400"/>
            <a:ext cx="437388" cy="224028"/>
          </a:xfrm>
          <a:prstGeom prst="rect">
            <a:avLst/>
          </a:prstGeom>
        </p:spPr>
      </p:pic>
      <p:pic>
        <p:nvPicPr>
          <p:cNvPr id="152" name="!!cell-core-4-7" descr="W:\Projects\hacks\rwb-new\presentation\pptx\assets\cell-core-4-7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507222" y="4201414"/>
            <a:ext cx="437388" cy="224028"/>
          </a:xfrm>
          <a:prstGeom prst="rect">
            <a:avLst/>
          </a:prstGeom>
        </p:spPr>
      </p:pic>
      <p:pic>
        <p:nvPicPr>
          <p:cNvPr id="153" name="!!cell-core-4-8" descr="W:\Projects\hacks\rwb-new\presentation\pptx\assets\cell-core-4-8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283194" y="4313428"/>
            <a:ext cx="437388" cy="224028"/>
          </a:xfrm>
          <a:prstGeom prst="rect">
            <a:avLst/>
          </a:prstGeom>
        </p:spPr>
      </p:pic>
      <p:pic>
        <p:nvPicPr>
          <p:cNvPr id="154" name="!!cell-core-4-9" descr="W:\Projects\hacks\rwb-new\presentation\pptx\assets\cell-core-4-9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059166" y="4425442"/>
            <a:ext cx="437388" cy="224028"/>
          </a:xfrm>
          <a:prstGeom prst="rect">
            <a:avLst/>
          </a:prstGeom>
        </p:spPr>
      </p:pic>
      <p:pic>
        <p:nvPicPr>
          <p:cNvPr id="155" name="!!cell-core-5-0" descr="W:\Projects\hacks\rwb-new\presentation\pptx\assets\cell-core-5-0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299446" y="3529330"/>
            <a:ext cx="437388" cy="224028"/>
          </a:xfrm>
          <a:prstGeom prst="rect">
            <a:avLst/>
          </a:prstGeom>
        </p:spPr>
      </p:pic>
      <p:pic>
        <p:nvPicPr>
          <p:cNvPr id="156" name="!!cell-core-5-1" descr="W:\Projects\hacks\rwb-new\presentation\pptx\assets\cell-core-5-1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0075418" y="3641344"/>
            <a:ext cx="437388" cy="224028"/>
          </a:xfrm>
          <a:prstGeom prst="rect">
            <a:avLst/>
          </a:prstGeom>
        </p:spPr>
      </p:pic>
      <p:pic>
        <p:nvPicPr>
          <p:cNvPr id="157" name="!!cell-core-5-2" descr="W:\Projects\hacks\rwb-new\presentation\pptx\assets\cell-core-5-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851390" y="3753358"/>
            <a:ext cx="437388" cy="224028"/>
          </a:xfrm>
          <a:prstGeom prst="rect">
            <a:avLst/>
          </a:prstGeom>
        </p:spPr>
      </p:pic>
      <p:pic>
        <p:nvPicPr>
          <p:cNvPr id="158" name="!!cell-core-5-3" descr="W:\Projects\hacks\rwb-new\presentation\pptx\assets\cell-core-5-3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9627362" y="3865372"/>
            <a:ext cx="437388" cy="224028"/>
          </a:xfrm>
          <a:prstGeom prst="rect">
            <a:avLst/>
          </a:prstGeom>
        </p:spPr>
      </p:pic>
      <p:pic>
        <p:nvPicPr>
          <p:cNvPr id="159" name="!!cell-core-5-4" descr="W:\Projects\hacks\rwb-new\presentation\pptx\assets\cell-core-5-4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403334" y="3977386"/>
            <a:ext cx="437388" cy="224028"/>
          </a:xfrm>
          <a:prstGeom prst="rect">
            <a:avLst/>
          </a:prstGeom>
        </p:spPr>
      </p:pic>
      <p:pic>
        <p:nvPicPr>
          <p:cNvPr id="160" name="!!cell-core-5-5" descr="W:\Projects\hacks\rwb-new\presentation\pptx\assets\cell-core-5-5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179306" y="4089400"/>
            <a:ext cx="437388" cy="224028"/>
          </a:xfrm>
          <a:prstGeom prst="rect">
            <a:avLst/>
          </a:prstGeom>
        </p:spPr>
      </p:pic>
      <p:pic>
        <p:nvPicPr>
          <p:cNvPr id="161" name="!!cell-core-5-6" descr="W:\Projects\hacks\rwb-new\presentation\pptx\assets\cell-core-5-6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955278" y="4201414"/>
            <a:ext cx="437388" cy="224028"/>
          </a:xfrm>
          <a:prstGeom prst="rect">
            <a:avLst/>
          </a:prstGeom>
        </p:spPr>
      </p:pic>
      <p:pic>
        <p:nvPicPr>
          <p:cNvPr id="162" name="!!cell-core-5-7" descr="W:\Projects\hacks\rwb-new\presentation\pptx\assets\cell-core-5-7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731250" y="4313428"/>
            <a:ext cx="437388" cy="224028"/>
          </a:xfrm>
          <a:prstGeom prst="rect">
            <a:avLst/>
          </a:prstGeom>
        </p:spPr>
      </p:pic>
      <p:pic>
        <p:nvPicPr>
          <p:cNvPr id="163" name="!!cell-core-5-8" descr="W:\Projects\hacks\rwb-new\presentation\pptx\assets\cell-core-5-8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507222" y="4425442"/>
            <a:ext cx="437388" cy="224028"/>
          </a:xfrm>
          <a:prstGeom prst="rect">
            <a:avLst/>
          </a:prstGeom>
        </p:spPr>
      </p:pic>
      <p:pic>
        <p:nvPicPr>
          <p:cNvPr id="164" name="!!cell-core-5-9" descr="W:\Projects\hacks\rwb-new\presentation\pptx\assets\cell-core-5-9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8283194" y="4537456"/>
            <a:ext cx="437388" cy="224028"/>
          </a:xfrm>
          <a:prstGeom prst="rect">
            <a:avLst/>
          </a:prstGeom>
        </p:spPr>
      </p:pic>
      <p:pic>
        <p:nvPicPr>
          <p:cNvPr id="165" name="!!cell-core-6-0" descr="W:\Projects\hacks\rwb-new\presentation\pptx\assets\cell-core-6-0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523474" y="3641344"/>
            <a:ext cx="437388" cy="224028"/>
          </a:xfrm>
          <a:prstGeom prst="rect">
            <a:avLst/>
          </a:prstGeom>
        </p:spPr>
      </p:pic>
      <p:pic>
        <p:nvPicPr>
          <p:cNvPr id="166" name="!!cell-core-6-1" descr="W:\Projects\hacks\rwb-new\presentation\pptx\assets\cell-core-6-1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299446" y="3753358"/>
            <a:ext cx="437388" cy="224028"/>
          </a:xfrm>
          <a:prstGeom prst="rect">
            <a:avLst/>
          </a:prstGeom>
        </p:spPr>
      </p:pic>
      <p:pic>
        <p:nvPicPr>
          <p:cNvPr id="167" name="!!cell-core-6-2" descr="W:\Projects\hacks\rwb-new\presentation\pptx\assets\cell-core-6-2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075418" y="3865372"/>
            <a:ext cx="437388" cy="224028"/>
          </a:xfrm>
          <a:prstGeom prst="rect">
            <a:avLst/>
          </a:prstGeom>
        </p:spPr>
      </p:pic>
      <p:pic>
        <p:nvPicPr>
          <p:cNvPr id="168" name="!!cell-core-6-3" descr="W:\Projects\hacks\rwb-new\presentation\pptx\assets\cell-core-6-3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851390" y="3977386"/>
            <a:ext cx="437388" cy="224028"/>
          </a:xfrm>
          <a:prstGeom prst="rect">
            <a:avLst/>
          </a:prstGeom>
        </p:spPr>
      </p:pic>
      <p:pic>
        <p:nvPicPr>
          <p:cNvPr id="169" name="!!cell-core-6-4" descr="W:\Projects\hacks\rwb-new\presentation\pptx\assets\cell-core-6-4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627362" y="4089400"/>
            <a:ext cx="437388" cy="224028"/>
          </a:xfrm>
          <a:prstGeom prst="rect">
            <a:avLst/>
          </a:prstGeom>
        </p:spPr>
      </p:pic>
      <p:pic>
        <p:nvPicPr>
          <p:cNvPr id="170" name="!!cell-core-6-5" descr="W:\Projects\hacks\rwb-new\presentation\pptx\assets\cell-core-6-5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403334" y="4201414"/>
            <a:ext cx="437388" cy="224028"/>
          </a:xfrm>
          <a:prstGeom prst="rect">
            <a:avLst/>
          </a:prstGeom>
        </p:spPr>
      </p:pic>
      <p:pic>
        <p:nvPicPr>
          <p:cNvPr id="171" name="!!cell-core-6-6" descr="W:\Projects\hacks\rwb-new\presentation\pptx\assets\cell-core-6-6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179306" y="4313428"/>
            <a:ext cx="437388" cy="224028"/>
          </a:xfrm>
          <a:prstGeom prst="rect">
            <a:avLst/>
          </a:prstGeom>
        </p:spPr>
      </p:pic>
      <p:pic>
        <p:nvPicPr>
          <p:cNvPr id="172" name="!!cell-core-6-7" descr="W:\Projects\hacks\rwb-new\presentation\pptx\assets\cell-core-6-7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955278" y="4425442"/>
            <a:ext cx="437388" cy="224028"/>
          </a:xfrm>
          <a:prstGeom prst="rect">
            <a:avLst/>
          </a:prstGeom>
        </p:spPr>
      </p:pic>
      <p:pic>
        <p:nvPicPr>
          <p:cNvPr id="173" name="!!cell-core-6-8" descr="W:\Projects\hacks\rwb-new\presentation\pptx\assets\cell-core-6-8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8731250" y="4537456"/>
            <a:ext cx="437388" cy="224028"/>
          </a:xfrm>
          <a:prstGeom prst="rect">
            <a:avLst/>
          </a:prstGeom>
        </p:spPr>
      </p:pic>
      <p:pic>
        <p:nvPicPr>
          <p:cNvPr id="174" name="!!cell-core-6-9" descr="W:\Projects\hacks\rwb-new\presentation\pptx\assets\cell-core-6-9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507222" y="4649470"/>
            <a:ext cx="437388" cy="224028"/>
          </a:xfrm>
          <a:prstGeom prst="rect">
            <a:avLst/>
          </a:prstGeom>
        </p:spPr>
      </p:pic>
      <p:pic>
        <p:nvPicPr>
          <p:cNvPr id="175" name="!!cell-core-7-0" descr="W:\Projects\hacks\rwb-new\presentation\pptx\assets\cell-core-7-0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747502" y="3753358"/>
            <a:ext cx="437388" cy="224028"/>
          </a:xfrm>
          <a:prstGeom prst="rect">
            <a:avLst/>
          </a:prstGeom>
        </p:spPr>
      </p:pic>
      <p:pic>
        <p:nvPicPr>
          <p:cNvPr id="176" name="!!cell-core-7-1" descr="W:\Projects\hacks\rwb-new\presentation\pptx\assets\cell-core-7-1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523474" y="3865372"/>
            <a:ext cx="437388" cy="224028"/>
          </a:xfrm>
          <a:prstGeom prst="rect">
            <a:avLst/>
          </a:prstGeom>
        </p:spPr>
      </p:pic>
      <p:pic>
        <p:nvPicPr>
          <p:cNvPr id="177" name="!!cell-core-7-2" descr="W:\Projects\hacks\rwb-new\presentation\pptx\assets\cell-core-7-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0299446" y="3977386"/>
            <a:ext cx="437388" cy="224028"/>
          </a:xfrm>
          <a:prstGeom prst="rect">
            <a:avLst/>
          </a:prstGeom>
        </p:spPr>
      </p:pic>
      <p:pic>
        <p:nvPicPr>
          <p:cNvPr id="178" name="!!cell-core-7-3" descr="W:\Projects\hacks\rwb-new\presentation\pptx\assets\cell-core-7-3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0075418" y="4089400"/>
            <a:ext cx="437388" cy="224028"/>
          </a:xfrm>
          <a:prstGeom prst="rect">
            <a:avLst/>
          </a:prstGeom>
        </p:spPr>
      </p:pic>
      <p:pic>
        <p:nvPicPr>
          <p:cNvPr id="179" name="!!cell-core-7-4" descr="W:\Projects\hacks\rwb-new\presentation\pptx\assets\cell-core-7-4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851390" y="4201414"/>
            <a:ext cx="437388" cy="224028"/>
          </a:xfrm>
          <a:prstGeom prst="rect">
            <a:avLst/>
          </a:prstGeom>
        </p:spPr>
      </p:pic>
      <p:pic>
        <p:nvPicPr>
          <p:cNvPr id="180" name="!!cell-core-7-5" descr="W:\Projects\hacks\rwb-new\presentation\pptx\assets\cell-core-7-5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627362" y="4313428"/>
            <a:ext cx="437388" cy="224028"/>
          </a:xfrm>
          <a:prstGeom prst="rect">
            <a:avLst/>
          </a:prstGeom>
        </p:spPr>
      </p:pic>
      <p:pic>
        <p:nvPicPr>
          <p:cNvPr id="181" name="!!cell-core-7-6" descr="W:\Projects\hacks\rwb-new\presentation\pptx\assets\cell-core-7-6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9403334" y="4425442"/>
            <a:ext cx="437388" cy="224028"/>
          </a:xfrm>
          <a:prstGeom prst="rect">
            <a:avLst/>
          </a:prstGeom>
        </p:spPr>
      </p:pic>
      <p:pic>
        <p:nvPicPr>
          <p:cNvPr id="182" name="!!cell-core-7-7" descr="W:\Projects\hacks\rwb-new\presentation\pptx\assets\cell-core-7-7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9179306" y="4537456"/>
            <a:ext cx="437388" cy="224028"/>
          </a:xfrm>
          <a:prstGeom prst="rect">
            <a:avLst/>
          </a:prstGeom>
        </p:spPr>
      </p:pic>
      <p:pic>
        <p:nvPicPr>
          <p:cNvPr id="183" name="!!cell-core-7-8" descr="W:\Projects\hacks\rwb-new\presentation\pptx\assets\cell-core-7-8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8955278" y="4649470"/>
            <a:ext cx="437388" cy="224028"/>
          </a:xfrm>
          <a:prstGeom prst="rect">
            <a:avLst/>
          </a:prstGeom>
        </p:spPr>
      </p:pic>
      <p:pic>
        <p:nvPicPr>
          <p:cNvPr id="184" name="!!cell-core-7-9" descr="W:\Projects\hacks\rwb-new\presentation\pptx\assets\cell-core-7-9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8731250" y="4761484"/>
            <a:ext cx="437388" cy="224028"/>
          </a:xfrm>
          <a:prstGeom prst="rect">
            <a:avLst/>
          </a:prstGeom>
        </p:spPr>
      </p:pic>
      <p:pic>
        <p:nvPicPr>
          <p:cNvPr id="185" name="!!cell-core-8-0" descr="W:\Projects\hacks\rwb-new\presentation\pptx\assets\cell-core-8-0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0971530" y="3865372"/>
            <a:ext cx="437388" cy="224028"/>
          </a:xfrm>
          <a:prstGeom prst="rect">
            <a:avLst/>
          </a:prstGeom>
        </p:spPr>
      </p:pic>
      <p:pic>
        <p:nvPicPr>
          <p:cNvPr id="186" name="!!cell-core-8-1" descr="W:\Projects\hacks\rwb-new\presentation\pptx\assets\cell-core-8-1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747502" y="3977386"/>
            <a:ext cx="437388" cy="224028"/>
          </a:xfrm>
          <a:prstGeom prst="rect">
            <a:avLst/>
          </a:prstGeom>
        </p:spPr>
      </p:pic>
      <p:pic>
        <p:nvPicPr>
          <p:cNvPr id="187" name="!!cell-core-8-2" descr="W:\Projects\hacks\rwb-new\presentation\pptx\assets\cell-core-8-2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0523474" y="4089400"/>
            <a:ext cx="437388" cy="224028"/>
          </a:xfrm>
          <a:prstGeom prst="rect">
            <a:avLst/>
          </a:prstGeom>
        </p:spPr>
      </p:pic>
      <p:pic>
        <p:nvPicPr>
          <p:cNvPr id="188" name="!!cell-core-8-3" descr="W:\Projects\hacks\rwb-new\presentation\pptx\assets\cell-core-8-3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0299446" y="4201414"/>
            <a:ext cx="437388" cy="224028"/>
          </a:xfrm>
          <a:prstGeom prst="rect">
            <a:avLst/>
          </a:prstGeom>
        </p:spPr>
      </p:pic>
      <p:pic>
        <p:nvPicPr>
          <p:cNvPr id="189" name="!!cell-core-8-4" descr="W:\Projects\hacks\rwb-new\presentation\pptx\assets\cell-core-8-4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075418" y="4313428"/>
            <a:ext cx="437388" cy="224028"/>
          </a:xfrm>
          <a:prstGeom prst="rect">
            <a:avLst/>
          </a:prstGeom>
        </p:spPr>
      </p:pic>
      <p:pic>
        <p:nvPicPr>
          <p:cNvPr id="190" name="!!cell-core-8-5" descr="W:\Projects\hacks\rwb-new\presentation\pptx\assets\cell-core-8-5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9851390" y="4425442"/>
            <a:ext cx="437388" cy="224028"/>
          </a:xfrm>
          <a:prstGeom prst="rect">
            <a:avLst/>
          </a:prstGeom>
        </p:spPr>
      </p:pic>
      <p:pic>
        <p:nvPicPr>
          <p:cNvPr id="191" name="!!cell-core-8-6" descr="W:\Projects\hacks\rwb-new\presentation\pptx\assets\cell-core-8-6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9627362" y="4537456"/>
            <a:ext cx="437388" cy="224028"/>
          </a:xfrm>
          <a:prstGeom prst="rect">
            <a:avLst/>
          </a:prstGeom>
        </p:spPr>
      </p:pic>
      <p:pic>
        <p:nvPicPr>
          <p:cNvPr id="192" name="!!cell-core-8-7" descr="W:\Projects\hacks\rwb-new\presentation\pptx\assets\cell-core-8-7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403334" y="4649470"/>
            <a:ext cx="437388" cy="224028"/>
          </a:xfrm>
          <a:prstGeom prst="rect">
            <a:avLst/>
          </a:prstGeom>
        </p:spPr>
      </p:pic>
      <p:pic>
        <p:nvPicPr>
          <p:cNvPr id="193" name="!!cell-core-8-8" descr="W:\Projects\hacks\rwb-new\presentation\pptx\assets\cell-core-8-8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9179306" y="4761484"/>
            <a:ext cx="437388" cy="224028"/>
          </a:xfrm>
          <a:prstGeom prst="rect">
            <a:avLst/>
          </a:prstGeom>
        </p:spPr>
      </p:pic>
      <p:pic>
        <p:nvPicPr>
          <p:cNvPr id="194" name="!!cell-core-8-9" descr="W:\Projects\hacks\rwb-new\presentation\pptx\assets\cell-core-8-9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955278" y="4873498"/>
            <a:ext cx="437388" cy="224028"/>
          </a:xfrm>
          <a:prstGeom prst="rect">
            <a:avLst/>
          </a:prstGeom>
        </p:spPr>
      </p:pic>
      <p:pic>
        <p:nvPicPr>
          <p:cNvPr id="195" name="!!cell-core-9-0" descr="W:\Projects\hacks\rwb-new\presentation\pptx\assets\cell-core-9-0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11195558" y="3977386"/>
            <a:ext cx="437388" cy="224028"/>
          </a:xfrm>
          <a:prstGeom prst="rect">
            <a:avLst/>
          </a:prstGeom>
        </p:spPr>
      </p:pic>
      <p:pic>
        <p:nvPicPr>
          <p:cNvPr id="196" name="!!cell-core-9-1" descr="W:\Projects\hacks\rwb-new\presentation\pptx\assets\cell-core-9-1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0971530" y="4089400"/>
            <a:ext cx="437388" cy="224028"/>
          </a:xfrm>
          <a:prstGeom prst="rect">
            <a:avLst/>
          </a:prstGeom>
        </p:spPr>
      </p:pic>
      <p:pic>
        <p:nvPicPr>
          <p:cNvPr id="197" name="!!cell-core-9-2" descr="W:\Projects\hacks\rwb-new\presentation\pptx\assets\cell-core-9-2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747502" y="4201414"/>
            <a:ext cx="437388" cy="224028"/>
          </a:xfrm>
          <a:prstGeom prst="rect">
            <a:avLst/>
          </a:prstGeom>
        </p:spPr>
      </p:pic>
      <p:pic>
        <p:nvPicPr>
          <p:cNvPr id="198" name="!!cell-core-9-3" descr="W:\Projects\hacks\rwb-new\presentation\pptx\assets\cell-core-9-3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10523474" y="4313428"/>
            <a:ext cx="437388" cy="224028"/>
          </a:xfrm>
          <a:prstGeom prst="rect">
            <a:avLst/>
          </a:prstGeom>
        </p:spPr>
      </p:pic>
      <p:pic>
        <p:nvPicPr>
          <p:cNvPr id="199" name="!!cell-core-9-4" descr="W:\Projects\hacks\rwb-new\presentation\pptx\assets\cell-core-9-4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0299446" y="4425442"/>
            <a:ext cx="437388" cy="224028"/>
          </a:xfrm>
          <a:prstGeom prst="rect">
            <a:avLst/>
          </a:prstGeom>
        </p:spPr>
      </p:pic>
      <p:pic>
        <p:nvPicPr>
          <p:cNvPr id="200" name="!!cell-core-9-5" descr="W:\Projects\hacks\rwb-new\presentation\pptx\assets\cell-core-9-5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0075418" y="4537456"/>
            <a:ext cx="437388" cy="224028"/>
          </a:xfrm>
          <a:prstGeom prst="rect">
            <a:avLst/>
          </a:prstGeom>
        </p:spPr>
      </p:pic>
      <p:pic>
        <p:nvPicPr>
          <p:cNvPr id="201" name="!!cell-core-9-6" descr="W:\Projects\hacks\rwb-new\presentation\pptx\assets\cell-core-9-6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9851390" y="4649470"/>
            <a:ext cx="437388" cy="224028"/>
          </a:xfrm>
          <a:prstGeom prst="rect">
            <a:avLst/>
          </a:prstGeom>
        </p:spPr>
      </p:pic>
      <p:pic>
        <p:nvPicPr>
          <p:cNvPr id="202" name="!!cell-core-9-7" descr="W:\Projects\hacks\rwb-new\presentation\pptx\assets\cell-core-9-7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9627362" y="4761484"/>
            <a:ext cx="437388" cy="224028"/>
          </a:xfrm>
          <a:prstGeom prst="rect">
            <a:avLst/>
          </a:prstGeom>
        </p:spPr>
      </p:pic>
      <p:pic>
        <p:nvPicPr>
          <p:cNvPr id="203" name="!!cell-core-9-8" descr="W:\Projects\hacks\rwb-new\presentation\pptx\assets\cell-core-9-8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9403334" y="4873498"/>
            <a:ext cx="437388" cy="224028"/>
          </a:xfrm>
          <a:prstGeom prst="rect">
            <a:avLst/>
          </a:prstGeom>
        </p:spPr>
      </p:pic>
      <p:pic>
        <p:nvPicPr>
          <p:cNvPr id="204" name="!!cell-core-9-9" descr="W:\Projects\hacks\rwb-new\presentation\pptx\assets\cell-core-9-9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9179306" y="4985512"/>
            <a:ext cx="437388" cy="224028"/>
          </a:xfrm>
          <a:prstGeom prst="rect">
            <a:avLst/>
          </a:prstGeom>
        </p:spPr>
      </p:pic>
      <p:pic>
        <p:nvPicPr>
          <p:cNvPr id="205" name="!!base-mart" descr="W:\Projects\hacks\rwb-new\presentation\pptx\assets\st-mart-base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6731000" y="889000"/>
            <a:ext cx="5334000" cy="5334000"/>
          </a:xfrm>
          <a:prstGeom prst="rect">
            <a:avLst/>
          </a:prstGeom>
        </p:spPr>
      </p:pic>
      <p:pic>
        <p:nvPicPr>
          <p:cNvPr id="206" name="!!cell-mart-0-0" descr="W:\Projects\hacks\rwb-new\presentation\pptx\assets\cell-mart-0-0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9179306" y="2222500"/>
            <a:ext cx="437388" cy="224028"/>
          </a:xfrm>
          <a:prstGeom prst="rect">
            <a:avLst/>
          </a:prstGeom>
        </p:spPr>
      </p:pic>
      <p:pic>
        <p:nvPicPr>
          <p:cNvPr id="207" name="!!cell-mart-0-1" descr="W:\Projects\hacks\rwb-new\presentation\pptx\assets\cell-mart-0-1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8955278" y="2334514"/>
            <a:ext cx="437388" cy="224028"/>
          </a:xfrm>
          <a:prstGeom prst="rect">
            <a:avLst/>
          </a:prstGeom>
        </p:spPr>
      </p:pic>
      <p:pic>
        <p:nvPicPr>
          <p:cNvPr id="208" name="!!cell-mart-0-2" descr="W:\Projects\hacks\rwb-new\presentation\pptx\assets\cell-mart-0-2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8731250" y="2446528"/>
            <a:ext cx="437388" cy="224028"/>
          </a:xfrm>
          <a:prstGeom prst="rect">
            <a:avLst/>
          </a:prstGeom>
        </p:spPr>
      </p:pic>
      <p:pic>
        <p:nvPicPr>
          <p:cNvPr id="209" name="!!cell-mart-0-3" descr="W:\Projects\hacks\rwb-new\presentation\pptx\assets\cell-mart-0-3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507222" y="2558542"/>
            <a:ext cx="437388" cy="224028"/>
          </a:xfrm>
          <a:prstGeom prst="rect">
            <a:avLst/>
          </a:prstGeom>
        </p:spPr>
      </p:pic>
      <p:pic>
        <p:nvPicPr>
          <p:cNvPr id="210" name="!!cell-mart-0-4" descr="W:\Projects\hacks\rwb-new\presentation\pptx\assets\cell-mart-0-4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8283194" y="2670556"/>
            <a:ext cx="437388" cy="224028"/>
          </a:xfrm>
          <a:prstGeom prst="rect">
            <a:avLst/>
          </a:prstGeom>
        </p:spPr>
      </p:pic>
      <p:pic>
        <p:nvPicPr>
          <p:cNvPr id="211" name="!!cell-mart-0-5" descr="W:\Projects\hacks\rwb-new\presentation\pptx\assets\cell-mart-0-5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8059166" y="2782570"/>
            <a:ext cx="437388" cy="224028"/>
          </a:xfrm>
          <a:prstGeom prst="rect">
            <a:avLst/>
          </a:prstGeom>
        </p:spPr>
      </p:pic>
      <p:pic>
        <p:nvPicPr>
          <p:cNvPr id="212" name="!!cell-mart-0-6" descr="W:\Projects\hacks\rwb-new\presentation\pptx\assets\cell-mart-0-6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7835138" y="2894584"/>
            <a:ext cx="437388" cy="224028"/>
          </a:xfrm>
          <a:prstGeom prst="rect">
            <a:avLst/>
          </a:prstGeom>
        </p:spPr>
      </p:pic>
      <p:pic>
        <p:nvPicPr>
          <p:cNvPr id="213" name="!!cell-mart-0-7" descr="W:\Projects\hacks\rwb-new\presentation\pptx\assets\cell-mart-0-7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611110" y="3006598"/>
            <a:ext cx="437388" cy="224028"/>
          </a:xfrm>
          <a:prstGeom prst="rect">
            <a:avLst/>
          </a:prstGeom>
        </p:spPr>
      </p:pic>
      <p:pic>
        <p:nvPicPr>
          <p:cNvPr id="214" name="!!cell-mart-0-8" descr="W:\Projects\hacks\rwb-new\presentation\pptx\assets\cell-mart-0-8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7387082" y="3118612"/>
            <a:ext cx="437388" cy="224028"/>
          </a:xfrm>
          <a:prstGeom prst="rect">
            <a:avLst/>
          </a:prstGeom>
        </p:spPr>
      </p:pic>
      <p:pic>
        <p:nvPicPr>
          <p:cNvPr id="215" name="!!cell-mart-0-9" descr="W:\Projects\hacks\rwb-new\presentation\pptx\assets\cell-mart-0-9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7163054" y="3230626"/>
            <a:ext cx="437388" cy="224028"/>
          </a:xfrm>
          <a:prstGeom prst="rect">
            <a:avLst/>
          </a:prstGeom>
        </p:spPr>
      </p:pic>
      <p:pic>
        <p:nvPicPr>
          <p:cNvPr id="216" name="!!cell-mart-1-0" descr="W:\Projects\hacks\rwb-new\presentation\pptx\assets\cell-mart-1-0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9403334" y="2334514"/>
            <a:ext cx="437388" cy="224028"/>
          </a:xfrm>
          <a:prstGeom prst="rect">
            <a:avLst/>
          </a:prstGeom>
        </p:spPr>
      </p:pic>
      <p:pic>
        <p:nvPicPr>
          <p:cNvPr id="217" name="!!cell-mart-1-1" descr="W:\Projects\hacks\rwb-new\presentation\pptx\assets\cell-mart-1-1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9179306" y="2446528"/>
            <a:ext cx="437388" cy="224028"/>
          </a:xfrm>
          <a:prstGeom prst="rect">
            <a:avLst/>
          </a:prstGeom>
        </p:spPr>
      </p:pic>
      <p:pic>
        <p:nvPicPr>
          <p:cNvPr id="218" name="!!cell-mart-1-2" descr="W:\Projects\hacks\rwb-new\presentation\pptx\assets\cell-mart-1-2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955278" y="2558542"/>
            <a:ext cx="437388" cy="224028"/>
          </a:xfrm>
          <a:prstGeom prst="rect">
            <a:avLst/>
          </a:prstGeom>
        </p:spPr>
      </p:pic>
      <p:pic>
        <p:nvPicPr>
          <p:cNvPr id="219" name="!!cell-mart-1-3" descr="W:\Projects\hacks\rwb-new\presentation\pptx\assets\cell-mart-1-3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731250" y="2670556"/>
            <a:ext cx="437388" cy="224028"/>
          </a:xfrm>
          <a:prstGeom prst="rect">
            <a:avLst/>
          </a:prstGeom>
        </p:spPr>
      </p:pic>
      <p:pic>
        <p:nvPicPr>
          <p:cNvPr id="220" name="!!cell-mart-1-4" descr="W:\Projects\hacks\rwb-new\presentation\pptx\assets\cell-mart-1-4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8507222" y="2782570"/>
            <a:ext cx="437388" cy="224028"/>
          </a:xfrm>
          <a:prstGeom prst="rect">
            <a:avLst/>
          </a:prstGeom>
        </p:spPr>
      </p:pic>
      <p:pic>
        <p:nvPicPr>
          <p:cNvPr id="221" name="!!cell-mart-1-5" descr="W:\Projects\hacks\rwb-new\presentation\pptx\assets\cell-mart-1-5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8283194" y="2894584"/>
            <a:ext cx="437388" cy="224028"/>
          </a:xfrm>
          <a:prstGeom prst="rect">
            <a:avLst/>
          </a:prstGeom>
        </p:spPr>
      </p:pic>
      <p:pic>
        <p:nvPicPr>
          <p:cNvPr id="222" name="!!cell-mart-1-6" descr="W:\Projects\hacks\rwb-new\presentation\pptx\assets\cell-mart-1-6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059166" y="3006598"/>
            <a:ext cx="437388" cy="224028"/>
          </a:xfrm>
          <a:prstGeom prst="rect">
            <a:avLst/>
          </a:prstGeom>
        </p:spPr>
      </p:pic>
      <p:pic>
        <p:nvPicPr>
          <p:cNvPr id="223" name="!!cell-mart-1-7" descr="W:\Projects\hacks\rwb-new\presentation\pptx\assets\cell-mart-1-7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7835138" y="3118612"/>
            <a:ext cx="437388" cy="224028"/>
          </a:xfrm>
          <a:prstGeom prst="rect">
            <a:avLst/>
          </a:prstGeom>
        </p:spPr>
      </p:pic>
      <p:pic>
        <p:nvPicPr>
          <p:cNvPr id="224" name="!!cell-mart-1-8" descr="W:\Projects\hacks\rwb-new\presentation\pptx\assets\cell-mart-1-8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611110" y="3230626"/>
            <a:ext cx="437388" cy="224028"/>
          </a:xfrm>
          <a:prstGeom prst="rect">
            <a:avLst/>
          </a:prstGeom>
        </p:spPr>
      </p:pic>
      <p:pic>
        <p:nvPicPr>
          <p:cNvPr id="225" name="!!cell-mart-1-9" descr="W:\Projects\hacks\rwb-new\presentation\pptx\assets\cell-mart-1-9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7387082" y="3342640"/>
            <a:ext cx="437388" cy="224028"/>
          </a:xfrm>
          <a:prstGeom prst="rect">
            <a:avLst/>
          </a:prstGeom>
        </p:spPr>
      </p:pic>
      <p:pic>
        <p:nvPicPr>
          <p:cNvPr id="226" name="!!cell-mart-2-0" descr="W:\Projects\hacks\rwb-new\presentation\pptx\assets\cell-mart-2-0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9627362" y="2446528"/>
            <a:ext cx="437388" cy="224028"/>
          </a:xfrm>
          <a:prstGeom prst="rect">
            <a:avLst/>
          </a:prstGeom>
        </p:spPr>
      </p:pic>
      <p:pic>
        <p:nvPicPr>
          <p:cNvPr id="227" name="!!cell-mart-2-1" descr="W:\Projects\hacks\rwb-new\presentation\pptx\assets\cell-mart-2-1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9403334" y="2558542"/>
            <a:ext cx="437388" cy="224028"/>
          </a:xfrm>
          <a:prstGeom prst="rect">
            <a:avLst/>
          </a:prstGeom>
        </p:spPr>
      </p:pic>
      <p:pic>
        <p:nvPicPr>
          <p:cNvPr id="228" name="!!cell-mart-2-2" descr="W:\Projects\hacks\rwb-new\presentation\pptx\assets\cell-mart-2-2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9179306" y="2670556"/>
            <a:ext cx="437388" cy="224028"/>
          </a:xfrm>
          <a:prstGeom prst="rect">
            <a:avLst/>
          </a:prstGeom>
        </p:spPr>
      </p:pic>
      <p:pic>
        <p:nvPicPr>
          <p:cNvPr id="229" name="!!cell-mart-2-3" descr="W:\Projects\hacks\rwb-new\presentation\pptx\assets\cell-mart-2-3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8955278" y="2782570"/>
            <a:ext cx="437388" cy="224028"/>
          </a:xfrm>
          <a:prstGeom prst="rect">
            <a:avLst/>
          </a:prstGeom>
        </p:spPr>
      </p:pic>
      <p:pic>
        <p:nvPicPr>
          <p:cNvPr id="230" name="!!cell-mart-2-4" descr="W:\Projects\hacks\rwb-new\presentation\pptx\assets\cell-mart-2-4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8731250" y="2894584"/>
            <a:ext cx="437388" cy="224028"/>
          </a:xfrm>
          <a:prstGeom prst="rect">
            <a:avLst/>
          </a:prstGeom>
        </p:spPr>
      </p:pic>
      <p:pic>
        <p:nvPicPr>
          <p:cNvPr id="231" name="!!cell-mart-2-5" descr="W:\Projects\hacks\rwb-new\presentation\pptx\assets\cell-mart-2-5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8507222" y="3006598"/>
            <a:ext cx="437388" cy="224028"/>
          </a:xfrm>
          <a:prstGeom prst="rect">
            <a:avLst/>
          </a:prstGeom>
        </p:spPr>
      </p:pic>
      <p:pic>
        <p:nvPicPr>
          <p:cNvPr id="232" name="!!cell-mart-2-6" descr="W:\Projects\hacks\rwb-new\presentation\pptx\assets\cell-mart-2-6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8283194" y="3118612"/>
            <a:ext cx="437388" cy="224028"/>
          </a:xfrm>
          <a:prstGeom prst="rect">
            <a:avLst/>
          </a:prstGeom>
        </p:spPr>
      </p:pic>
      <p:pic>
        <p:nvPicPr>
          <p:cNvPr id="233" name="!!cell-mart-2-7" descr="W:\Projects\hacks\rwb-new\presentation\pptx\assets\cell-mart-2-7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8059166" y="3230626"/>
            <a:ext cx="437388" cy="224028"/>
          </a:xfrm>
          <a:prstGeom prst="rect">
            <a:avLst/>
          </a:prstGeom>
        </p:spPr>
      </p:pic>
      <p:pic>
        <p:nvPicPr>
          <p:cNvPr id="234" name="!!cell-mart-2-8" descr="W:\Projects\hacks\rwb-new\presentation\pptx\assets\cell-mart-2-8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835138" y="3342640"/>
            <a:ext cx="437388" cy="224028"/>
          </a:xfrm>
          <a:prstGeom prst="rect">
            <a:avLst/>
          </a:prstGeom>
        </p:spPr>
      </p:pic>
      <p:pic>
        <p:nvPicPr>
          <p:cNvPr id="235" name="!!cell-mart-2-9" descr="W:\Projects\hacks\rwb-new\presentation\pptx\assets\cell-mart-2-9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611110" y="3454654"/>
            <a:ext cx="437388" cy="224028"/>
          </a:xfrm>
          <a:prstGeom prst="rect">
            <a:avLst/>
          </a:prstGeom>
        </p:spPr>
      </p:pic>
      <p:pic>
        <p:nvPicPr>
          <p:cNvPr id="236" name="!!cell-mart-3-0" descr="W:\Projects\hacks\rwb-new\presentation\pptx\assets\cell-mart-3-0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9851390" y="2558542"/>
            <a:ext cx="437388" cy="224028"/>
          </a:xfrm>
          <a:prstGeom prst="rect">
            <a:avLst/>
          </a:prstGeom>
        </p:spPr>
      </p:pic>
      <p:pic>
        <p:nvPicPr>
          <p:cNvPr id="237" name="!!cell-mart-3-1" descr="W:\Projects\hacks\rwb-new\presentation\pptx\assets\cell-mart-3-1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9627362" y="2670556"/>
            <a:ext cx="437388" cy="224028"/>
          </a:xfrm>
          <a:prstGeom prst="rect">
            <a:avLst/>
          </a:prstGeom>
        </p:spPr>
      </p:pic>
      <p:pic>
        <p:nvPicPr>
          <p:cNvPr id="238" name="!!cell-mart-3-2" descr="W:\Projects\hacks\rwb-new\presentation\pptx\assets\cell-mart-3-2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9403334" y="2782570"/>
            <a:ext cx="437388" cy="224028"/>
          </a:xfrm>
          <a:prstGeom prst="rect">
            <a:avLst/>
          </a:prstGeom>
        </p:spPr>
      </p:pic>
      <p:pic>
        <p:nvPicPr>
          <p:cNvPr id="239" name="!!cell-mart-3-3" descr="W:\Projects\hacks\rwb-new\presentation\pptx\assets\cell-mart-3-3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9179306" y="2894584"/>
            <a:ext cx="437388" cy="224028"/>
          </a:xfrm>
          <a:prstGeom prst="rect">
            <a:avLst/>
          </a:prstGeom>
        </p:spPr>
      </p:pic>
      <p:pic>
        <p:nvPicPr>
          <p:cNvPr id="240" name="!!cell-mart-3-4" descr="W:\Projects\hacks\rwb-new\presentation\pptx\assets\cell-mart-3-4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955278" y="3006598"/>
            <a:ext cx="437388" cy="224028"/>
          </a:xfrm>
          <a:prstGeom prst="rect">
            <a:avLst/>
          </a:prstGeom>
        </p:spPr>
      </p:pic>
      <p:pic>
        <p:nvPicPr>
          <p:cNvPr id="241" name="!!cell-mart-3-5" descr="W:\Projects\hacks\rwb-new\presentation\pptx\assets\cell-mart-3-5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8731250" y="3118612"/>
            <a:ext cx="437388" cy="224028"/>
          </a:xfrm>
          <a:prstGeom prst="rect">
            <a:avLst/>
          </a:prstGeom>
        </p:spPr>
      </p:pic>
      <p:pic>
        <p:nvPicPr>
          <p:cNvPr id="242" name="!!cell-mart-3-6" descr="W:\Projects\hacks\rwb-new\presentation\pptx\assets\cell-mart-3-6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507222" y="3230626"/>
            <a:ext cx="437388" cy="224028"/>
          </a:xfrm>
          <a:prstGeom prst="rect">
            <a:avLst/>
          </a:prstGeom>
        </p:spPr>
      </p:pic>
      <p:pic>
        <p:nvPicPr>
          <p:cNvPr id="243" name="!!cell-mart-3-7" descr="W:\Projects\hacks\rwb-new\presentation\pptx\assets\cell-mart-3-7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283194" y="3342640"/>
            <a:ext cx="437388" cy="224028"/>
          </a:xfrm>
          <a:prstGeom prst="rect">
            <a:avLst/>
          </a:prstGeom>
        </p:spPr>
      </p:pic>
      <p:pic>
        <p:nvPicPr>
          <p:cNvPr id="244" name="!!cell-mart-3-8" descr="W:\Projects\hacks\rwb-new\presentation\pptx\assets\cell-mart-3-8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8059166" y="3454654"/>
            <a:ext cx="437388" cy="224028"/>
          </a:xfrm>
          <a:prstGeom prst="rect">
            <a:avLst/>
          </a:prstGeom>
        </p:spPr>
      </p:pic>
      <p:pic>
        <p:nvPicPr>
          <p:cNvPr id="245" name="!!cell-mart-3-9" descr="W:\Projects\hacks\rwb-new\presentation\pptx\assets\cell-mart-3-9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7835138" y="3566668"/>
            <a:ext cx="437388" cy="224028"/>
          </a:xfrm>
          <a:prstGeom prst="rect">
            <a:avLst/>
          </a:prstGeom>
        </p:spPr>
      </p:pic>
      <p:pic>
        <p:nvPicPr>
          <p:cNvPr id="246" name="!!cell-mart-4-0" descr="W:\Projects\hacks\rwb-new\presentation\pptx\assets\cell-mart-4-0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10075418" y="2670556"/>
            <a:ext cx="437388" cy="224028"/>
          </a:xfrm>
          <a:prstGeom prst="rect">
            <a:avLst/>
          </a:prstGeom>
        </p:spPr>
      </p:pic>
      <p:pic>
        <p:nvPicPr>
          <p:cNvPr id="247" name="!!cell-mart-4-1" descr="W:\Projects\hacks\rwb-new\presentation\pptx\assets\cell-mart-4-1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9851390" y="2782570"/>
            <a:ext cx="437388" cy="224028"/>
          </a:xfrm>
          <a:prstGeom prst="rect">
            <a:avLst/>
          </a:prstGeom>
        </p:spPr>
      </p:pic>
      <p:pic>
        <p:nvPicPr>
          <p:cNvPr id="248" name="!!cell-mart-4-2" descr="W:\Projects\hacks\rwb-new\presentation\pptx\assets\cell-mart-4-2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9627362" y="2894584"/>
            <a:ext cx="437388" cy="224028"/>
          </a:xfrm>
          <a:prstGeom prst="rect">
            <a:avLst/>
          </a:prstGeom>
        </p:spPr>
      </p:pic>
      <p:pic>
        <p:nvPicPr>
          <p:cNvPr id="249" name="!!cell-mart-4-3" descr="W:\Projects\hacks\rwb-new\presentation\pptx\assets\cell-mart-4-3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403334" y="3006598"/>
            <a:ext cx="437388" cy="224028"/>
          </a:xfrm>
          <a:prstGeom prst="rect">
            <a:avLst/>
          </a:prstGeom>
        </p:spPr>
      </p:pic>
      <p:pic>
        <p:nvPicPr>
          <p:cNvPr id="250" name="!!cell-mart-4-4" descr="W:\Projects\hacks\rwb-new\presentation\pptx\assets\cell-mart-4-4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9179306" y="3118612"/>
            <a:ext cx="437388" cy="224028"/>
          </a:xfrm>
          <a:prstGeom prst="rect">
            <a:avLst/>
          </a:prstGeom>
        </p:spPr>
      </p:pic>
      <p:pic>
        <p:nvPicPr>
          <p:cNvPr id="251" name="!!cell-mart-4-5" descr="W:\Projects\hacks\rwb-new\presentation\pptx\assets\cell-mart-4-5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8955278" y="3230626"/>
            <a:ext cx="437388" cy="224028"/>
          </a:xfrm>
          <a:prstGeom prst="rect">
            <a:avLst/>
          </a:prstGeom>
        </p:spPr>
      </p:pic>
      <p:pic>
        <p:nvPicPr>
          <p:cNvPr id="252" name="!!cell-mart-4-6" descr="W:\Projects\hacks\rwb-new\presentation\pptx\assets\cell-mart-4-6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731250" y="3342640"/>
            <a:ext cx="437388" cy="224028"/>
          </a:xfrm>
          <a:prstGeom prst="rect">
            <a:avLst/>
          </a:prstGeom>
        </p:spPr>
      </p:pic>
      <p:pic>
        <p:nvPicPr>
          <p:cNvPr id="253" name="!!cell-mart-4-7" descr="W:\Projects\hacks\rwb-new\presentation\pptx\assets\cell-mart-4-7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8507222" y="3454654"/>
            <a:ext cx="437388" cy="224028"/>
          </a:xfrm>
          <a:prstGeom prst="rect">
            <a:avLst/>
          </a:prstGeom>
        </p:spPr>
      </p:pic>
      <p:pic>
        <p:nvPicPr>
          <p:cNvPr id="254" name="!!cell-mart-4-8" descr="W:\Projects\hacks\rwb-new\presentation\pptx\assets\cell-mart-4-8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8283194" y="3566668"/>
            <a:ext cx="437388" cy="224028"/>
          </a:xfrm>
          <a:prstGeom prst="rect">
            <a:avLst/>
          </a:prstGeom>
        </p:spPr>
      </p:pic>
      <p:pic>
        <p:nvPicPr>
          <p:cNvPr id="255" name="!!cell-mart-4-9" descr="W:\Projects\hacks\rwb-new\presentation\pptx\assets\cell-mart-4-9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8059166" y="3678682"/>
            <a:ext cx="437388" cy="224028"/>
          </a:xfrm>
          <a:prstGeom prst="rect">
            <a:avLst/>
          </a:prstGeom>
        </p:spPr>
      </p:pic>
      <p:pic>
        <p:nvPicPr>
          <p:cNvPr id="256" name="!!cell-mart-5-0" descr="W:\Projects\hacks\rwb-new\presentation\pptx\assets\cell-mart-5-0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0299446" y="2782570"/>
            <a:ext cx="437388" cy="224028"/>
          </a:xfrm>
          <a:prstGeom prst="rect">
            <a:avLst/>
          </a:prstGeom>
        </p:spPr>
      </p:pic>
      <p:pic>
        <p:nvPicPr>
          <p:cNvPr id="257" name="!!cell-mart-5-1" descr="W:\Projects\hacks\rwb-new\presentation\pptx\assets\cell-mart-5-1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10075418" y="2894584"/>
            <a:ext cx="437388" cy="224028"/>
          </a:xfrm>
          <a:prstGeom prst="rect">
            <a:avLst/>
          </a:prstGeom>
        </p:spPr>
      </p:pic>
      <p:pic>
        <p:nvPicPr>
          <p:cNvPr id="258" name="!!cell-mart-5-2" descr="W:\Projects\hacks\rwb-new\presentation\pptx\assets\cell-mart-5-2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9851390" y="3006598"/>
            <a:ext cx="437388" cy="224028"/>
          </a:xfrm>
          <a:prstGeom prst="rect">
            <a:avLst/>
          </a:prstGeom>
        </p:spPr>
      </p:pic>
      <p:pic>
        <p:nvPicPr>
          <p:cNvPr id="259" name="!!cell-mart-5-3" descr="W:\Projects\hacks\rwb-new\presentation\pptx\assets\cell-mart-5-3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9627362" y="3118612"/>
            <a:ext cx="437388" cy="224028"/>
          </a:xfrm>
          <a:prstGeom prst="rect">
            <a:avLst/>
          </a:prstGeom>
        </p:spPr>
      </p:pic>
      <p:pic>
        <p:nvPicPr>
          <p:cNvPr id="260" name="!!cell-mart-5-4" descr="W:\Projects\hacks\rwb-new\presentation\pptx\assets\cell-mart-5-4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9403334" y="3230626"/>
            <a:ext cx="437388" cy="224028"/>
          </a:xfrm>
          <a:prstGeom prst="rect">
            <a:avLst/>
          </a:prstGeom>
        </p:spPr>
      </p:pic>
      <p:pic>
        <p:nvPicPr>
          <p:cNvPr id="261" name="!!cell-mart-5-5" descr="W:\Projects\hacks\rwb-new\presentation\pptx\assets\cell-mart-5-5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9179306" y="3342640"/>
            <a:ext cx="437388" cy="224028"/>
          </a:xfrm>
          <a:prstGeom prst="rect">
            <a:avLst/>
          </a:prstGeom>
        </p:spPr>
      </p:pic>
      <p:pic>
        <p:nvPicPr>
          <p:cNvPr id="262" name="!!cell-mart-5-6" descr="W:\Projects\hacks\rwb-new\presentation\pptx\assets\cell-mart-5-6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955278" y="3454654"/>
            <a:ext cx="437388" cy="224028"/>
          </a:xfrm>
          <a:prstGeom prst="rect">
            <a:avLst/>
          </a:prstGeom>
        </p:spPr>
      </p:pic>
      <p:pic>
        <p:nvPicPr>
          <p:cNvPr id="263" name="!!cell-mart-5-7" descr="W:\Projects\hacks\rwb-new\presentation\pptx\assets\cell-mart-5-7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8731250" y="3566668"/>
            <a:ext cx="437388" cy="224028"/>
          </a:xfrm>
          <a:prstGeom prst="rect">
            <a:avLst/>
          </a:prstGeom>
        </p:spPr>
      </p:pic>
      <p:pic>
        <p:nvPicPr>
          <p:cNvPr id="264" name="!!cell-mart-5-8" descr="W:\Projects\hacks\rwb-new\presentation\pptx\assets\cell-mart-5-8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8507222" y="3678682"/>
            <a:ext cx="437388" cy="224028"/>
          </a:xfrm>
          <a:prstGeom prst="rect">
            <a:avLst/>
          </a:prstGeom>
        </p:spPr>
      </p:pic>
      <p:pic>
        <p:nvPicPr>
          <p:cNvPr id="265" name="!!cell-mart-5-9" descr="W:\Projects\hacks\rwb-new\presentation\pptx\assets\cell-mart-5-9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8283194" y="3790696"/>
            <a:ext cx="437388" cy="224028"/>
          </a:xfrm>
          <a:prstGeom prst="rect">
            <a:avLst/>
          </a:prstGeom>
        </p:spPr>
      </p:pic>
      <p:pic>
        <p:nvPicPr>
          <p:cNvPr id="266" name="!!cell-mart-6-0" descr="W:\Projects\hacks\rwb-new\presentation\pptx\assets\cell-mart-6-0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10523474" y="2894584"/>
            <a:ext cx="437388" cy="224028"/>
          </a:xfrm>
          <a:prstGeom prst="rect">
            <a:avLst/>
          </a:prstGeom>
        </p:spPr>
      </p:pic>
      <p:pic>
        <p:nvPicPr>
          <p:cNvPr id="267" name="!!cell-mart-6-1" descr="W:\Projects\hacks\rwb-new\presentation\pptx\assets\cell-mart-6-1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10299446" y="3006598"/>
            <a:ext cx="437388" cy="224028"/>
          </a:xfrm>
          <a:prstGeom prst="rect">
            <a:avLst/>
          </a:prstGeom>
        </p:spPr>
      </p:pic>
      <p:pic>
        <p:nvPicPr>
          <p:cNvPr id="268" name="!!cell-mart-6-2" descr="W:\Projects\hacks\rwb-new\presentation\pptx\assets\cell-mart-6-2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10075418" y="3118612"/>
            <a:ext cx="437388" cy="224028"/>
          </a:xfrm>
          <a:prstGeom prst="rect">
            <a:avLst/>
          </a:prstGeom>
        </p:spPr>
      </p:pic>
      <p:pic>
        <p:nvPicPr>
          <p:cNvPr id="269" name="!!cell-mart-6-3" descr="W:\Projects\hacks\rwb-new\presentation\pptx\assets\cell-mart-6-3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851390" y="3230626"/>
            <a:ext cx="437388" cy="224028"/>
          </a:xfrm>
          <a:prstGeom prst="rect">
            <a:avLst/>
          </a:prstGeom>
        </p:spPr>
      </p:pic>
      <p:pic>
        <p:nvPicPr>
          <p:cNvPr id="270" name="!!cell-mart-6-4" descr="W:\Projects\hacks\rwb-new\presentation\pptx\assets\cell-mart-6-4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627362" y="3342640"/>
            <a:ext cx="437388" cy="224028"/>
          </a:xfrm>
          <a:prstGeom prst="rect">
            <a:avLst/>
          </a:prstGeom>
        </p:spPr>
      </p:pic>
      <p:pic>
        <p:nvPicPr>
          <p:cNvPr id="271" name="!!cell-mart-6-5" descr="W:\Projects\hacks\rwb-new\presentation\pptx\assets\cell-mart-6-5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9403334" y="3454654"/>
            <a:ext cx="437388" cy="224028"/>
          </a:xfrm>
          <a:prstGeom prst="rect">
            <a:avLst/>
          </a:prstGeom>
        </p:spPr>
      </p:pic>
      <p:pic>
        <p:nvPicPr>
          <p:cNvPr id="272" name="!!cell-mart-6-6" descr="W:\Projects\hacks\rwb-new\presentation\pptx\assets\cell-mart-6-6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9179306" y="3566668"/>
            <a:ext cx="437388" cy="224028"/>
          </a:xfrm>
          <a:prstGeom prst="rect">
            <a:avLst/>
          </a:prstGeom>
        </p:spPr>
      </p:pic>
      <p:pic>
        <p:nvPicPr>
          <p:cNvPr id="273" name="!!cell-mart-6-7" descr="W:\Projects\hacks\rwb-new\presentation\pptx\assets\cell-mart-6-7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8955278" y="3678682"/>
            <a:ext cx="437388" cy="224028"/>
          </a:xfrm>
          <a:prstGeom prst="rect">
            <a:avLst/>
          </a:prstGeom>
        </p:spPr>
      </p:pic>
      <p:pic>
        <p:nvPicPr>
          <p:cNvPr id="274" name="!!cell-mart-6-8" descr="W:\Projects\hacks\rwb-new\presentation\pptx\assets\cell-mart-6-8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731250" y="3790696"/>
            <a:ext cx="437388" cy="224028"/>
          </a:xfrm>
          <a:prstGeom prst="rect">
            <a:avLst/>
          </a:prstGeom>
        </p:spPr>
      </p:pic>
      <p:pic>
        <p:nvPicPr>
          <p:cNvPr id="275" name="!!cell-mart-6-9" descr="W:\Projects\hacks\rwb-new\presentation\pptx\assets\cell-mart-6-9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8507222" y="3902710"/>
            <a:ext cx="437388" cy="224028"/>
          </a:xfrm>
          <a:prstGeom prst="rect">
            <a:avLst/>
          </a:prstGeom>
        </p:spPr>
      </p:pic>
      <p:pic>
        <p:nvPicPr>
          <p:cNvPr id="276" name="!!cell-mart-7-0" descr="W:\Projects\hacks\rwb-new\presentation\pptx\assets\cell-mart-7-0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10747502" y="3006598"/>
            <a:ext cx="437388" cy="224028"/>
          </a:xfrm>
          <a:prstGeom prst="rect">
            <a:avLst/>
          </a:prstGeom>
        </p:spPr>
      </p:pic>
      <p:pic>
        <p:nvPicPr>
          <p:cNvPr id="277" name="!!cell-mart-7-1" descr="W:\Projects\hacks\rwb-new\presentation\pptx\assets\cell-mart-7-1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10523474" y="3118612"/>
            <a:ext cx="437388" cy="224028"/>
          </a:xfrm>
          <a:prstGeom prst="rect">
            <a:avLst/>
          </a:prstGeom>
        </p:spPr>
      </p:pic>
      <p:pic>
        <p:nvPicPr>
          <p:cNvPr id="278" name="!!cell-mart-7-2" descr="W:\Projects\hacks\rwb-new\presentation\pptx\assets\cell-mart-7-2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10299446" y="3230626"/>
            <a:ext cx="437388" cy="224028"/>
          </a:xfrm>
          <a:prstGeom prst="rect">
            <a:avLst/>
          </a:prstGeom>
        </p:spPr>
      </p:pic>
      <p:pic>
        <p:nvPicPr>
          <p:cNvPr id="279" name="!!cell-mart-7-3" descr="W:\Projects\hacks\rwb-new\presentation\pptx\assets\cell-mart-7-3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10075418" y="3342640"/>
            <a:ext cx="437388" cy="224028"/>
          </a:xfrm>
          <a:prstGeom prst="rect">
            <a:avLst/>
          </a:prstGeom>
        </p:spPr>
      </p:pic>
      <p:pic>
        <p:nvPicPr>
          <p:cNvPr id="280" name="!!cell-mart-7-4" descr="W:\Projects\hacks\rwb-new\presentation\pptx\assets\cell-mart-7-4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9851390" y="3454654"/>
            <a:ext cx="437388" cy="224028"/>
          </a:xfrm>
          <a:prstGeom prst="rect">
            <a:avLst/>
          </a:prstGeom>
        </p:spPr>
      </p:pic>
      <p:pic>
        <p:nvPicPr>
          <p:cNvPr id="281" name="!!cell-mart-7-5" descr="W:\Projects\hacks\rwb-new\presentation\pptx\assets\cell-mart-7-5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9627362" y="3566668"/>
            <a:ext cx="437388" cy="224028"/>
          </a:xfrm>
          <a:prstGeom prst="rect">
            <a:avLst/>
          </a:prstGeom>
        </p:spPr>
      </p:pic>
      <p:pic>
        <p:nvPicPr>
          <p:cNvPr id="282" name="!!cell-mart-7-6" descr="W:\Projects\hacks\rwb-new\presentation\pptx\assets\cell-mart-7-6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9403334" y="3678682"/>
            <a:ext cx="437388" cy="224028"/>
          </a:xfrm>
          <a:prstGeom prst="rect">
            <a:avLst/>
          </a:prstGeom>
        </p:spPr>
      </p:pic>
      <p:pic>
        <p:nvPicPr>
          <p:cNvPr id="283" name="!!cell-mart-7-7" descr="W:\Projects\hacks\rwb-new\presentation\pptx\assets\cell-mart-7-7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179306" y="3790696"/>
            <a:ext cx="437388" cy="224028"/>
          </a:xfrm>
          <a:prstGeom prst="rect">
            <a:avLst/>
          </a:prstGeom>
        </p:spPr>
      </p:pic>
      <p:pic>
        <p:nvPicPr>
          <p:cNvPr id="284" name="!!cell-mart-7-8" descr="W:\Projects\hacks\rwb-new\presentation\pptx\assets\cell-mart-7-8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8955278" y="3902710"/>
            <a:ext cx="437388" cy="224028"/>
          </a:xfrm>
          <a:prstGeom prst="rect">
            <a:avLst/>
          </a:prstGeom>
        </p:spPr>
      </p:pic>
      <p:pic>
        <p:nvPicPr>
          <p:cNvPr id="285" name="!!cell-mart-7-9" descr="W:\Projects\hacks\rwb-new\presentation\pptx\assets\cell-mart-7-9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8731250" y="4014724"/>
            <a:ext cx="437388" cy="224028"/>
          </a:xfrm>
          <a:prstGeom prst="rect">
            <a:avLst/>
          </a:prstGeom>
        </p:spPr>
      </p:pic>
      <p:pic>
        <p:nvPicPr>
          <p:cNvPr id="286" name="!!cell-mart-8-0" descr="W:\Projects\hacks\rwb-new\presentation\pptx\assets\cell-mart-8-0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10971530" y="3118612"/>
            <a:ext cx="437388" cy="224028"/>
          </a:xfrm>
          <a:prstGeom prst="rect">
            <a:avLst/>
          </a:prstGeom>
        </p:spPr>
      </p:pic>
      <p:pic>
        <p:nvPicPr>
          <p:cNvPr id="287" name="!!cell-mart-8-1" descr="W:\Projects\hacks\rwb-new\presentation\pptx\assets\cell-mart-8-1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10747502" y="3230626"/>
            <a:ext cx="437388" cy="224028"/>
          </a:xfrm>
          <a:prstGeom prst="rect">
            <a:avLst/>
          </a:prstGeom>
        </p:spPr>
      </p:pic>
      <p:pic>
        <p:nvPicPr>
          <p:cNvPr id="288" name="!!cell-mart-8-2" descr="W:\Projects\hacks\rwb-new\presentation\pptx\assets\cell-mart-8-2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10523474" y="3342640"/>
            <a:ext cx="437388" cy="224028"/>
          </a:xfrm>
          <a:prstGeom prst="rect">
            <a:avLst/>
          </a:prstGeom>
        </p:spPr>
      </p:pic>
      <p:pic>
        <p:nvPicPr>
          <p:cNvPr id="289" name="!!cell-mart-8-3" descr="W:\Projects\hacks\rwb-new\presentation\pptx\assets\cell-mart-8-3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10299446" y="3454654"/>
            <a:ext cx="437388" cy="224028"/>
          </a:xfrm>
          <a:prstGeom prst="rect">
            <a:avLst/>
          </a:prstGeom>
        </p:spPr>
      </p:pic>
      <p:pic>
        <p:nvPicPr>
          <p:cNvPr id="290" name="!!cell-mart-8-4" descr="W:\Projects\hacks\rwb-new\presentation\pptx\assets\cell-mart-8-4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10075418" y="3566668"/>
            <a:ext cx="437388" cy="224028"/>
          </a:xfrm>
          <a:prstGeom prst="rect">
            <a:avLst/>
          </a:prstGeom>
        </p:spPr>
      </p:pic>
      <p:pic>
        <p:nvPicPr>
          <p:cNvPr id="291" name="!!cell-mart-8-5" descr="W:\Projects\hacks\rwb-new\presentation\pptx\assets\cell-mart-8-5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9851390" y="3678682"/>
            <a:ext cx="437388" cy="224028"/>
          </a:xfrm>
          <a:prstGeom prst="rect">
            <a:avLst/>
          </a:prstGeom>
        </p:spPr>
      </p:pic>
      <p:pic>
        <p:nvPicPr>
          <p:cNvPr id="292" name="!!cell-mart-8-6" descr="W:\Projects\hacks\rwb-new\presentation\pptx\assets\cell-mart-8-6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9627362" y="3790696"/>
            <a:ext cx="437388" cy="224028"/>
          </a:xfrm>
          <a:prstGeom prst="rect">
            <a:avLst/>
          </a:prstGeom>
        </p:spPr>
      </p:pic>
      <p:pic>
        <p:nvPicPr>
          <p:cNvPr id="293" name="!!cell-mart-8-7" descr="W:\Projects\hacks\rwb-new\presentation\pptx\assets\cell-mart-8-7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9403334" y="3902710"/>
            <a:ext cx="437388" cy="224028"/>
          </a:xfrm>
          <a:prstGeom prst="rect">
            <a:avLst/>
          </a:prstGeom>
        </p:spPr>
      </p:pic>
      <p:pic>
        <p:nvPicPr>
          <p:cNvPr id="294" name="!!cell-mart-8-8" descr="W:\Projects\hacks\rwb-new\presentation\pptx\assets\cell-mart-8-8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9179306" y="4014724"/>
            <a:ext cx="437388" cy="224028"/>
          </a:xfrm>
          <a:prstGeom prst="rect">
            <a:avLst/>
          </a:prstGeom>
        </p:spPr>
      </p:pic>
      <p:pic>
        <p:nvPicPr>
          <p:cNvPr id="295" name="!!cell-mart-8-9" descr="W:\Projects\hacks\rwb-new\presentation\pptx\assets\cell-mart-8-9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8955278" y="4126738"/>
            <a:ext cx="437388" cy="224028"/>
          </a:xfrm>
          <a:prstGeom prst="rect">
            <a:avLst/>
          </a:prstGeom>
        </p:spPr>
      </p:pic>
      <p:pic>
        <p:nvPicPr>
          <p:cNvPr id="296" name="!!cell-mart-9-0" descr="W:\Projects\hacks\rwb-new\presentation\pptx\assets\cell-mart-9-0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11195558" y="3230626"/>
            <a:ext cx="437388" cy="224028"/>
          </a:xfrm>
          <a:prstGeom prst="rect">
            <a:avLst/>
          </a:prstGeom>
        </p:spPr>
      </p:pic>
      <p:pic>
        <p:nvPicPr>
          <p:cNvPr id="297" name="!!cell-mart-9-1" descr="W:\Projects\hacks\rwb-new\presentation\pptx\assets\cell-mart-9-1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10971530" y="3342640"/>
            <a:ext cx="437388" cy="224028"/>
          </a:xfrm>
          <a:prstGeom prst="rect">
            <a:avLst/>
          </a:prstGeom>
        </p:spPr>
      </p:pic>
      <p:pic>
        <p:nvPicPr>
          <p:cNvPr id="298" name="!!cell-mart-9-2" descr="W:\Projects\hacks\rwb-new\presentation\pptx\assets\cell-mart-9-2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10747502" y="3454654"/>
            <a:ext cx="437388" cy="224028"/>
          </a:xfrm>
          <a:prstGeom prst="rect">
            <a:avLst/>
          </a:prstGeom>
        </p:spPr>
      </p:pic>
      <p:pic>
        <p:nvPicPr>
          <p:cNvPr id="299" name="!!cell-mart-9-3" descr="W:\Projects\hacks\rwb-new\presentation\pptx\assets\cell-mart-9-3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10523474" y="3566668"/>
            <a:ext cx="437388" cy="224028"/>
          </a:xfrm>
          <a:prstGeom prst="rect">
            <a:avLst/>
          </a:prstGeom>
        </p:spPr>
      </p:pic>
      <p:pic>
        <p:nvPicPr>
          <p:cNvPr id="300" name="!!cell-mart-9-4" descr="W:\Projects\hacks\rwb-new\presentation\pptx\assets\cell-mart-9-4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10299446" y="3678682"/>
            <a:ext cx="437388" cy="224028"/>
          </a:xfrm>
          <a:prstGeom prst="rect">
            <a:avLst/>
          </a:prstGeom>
        </p:spPr>
      </p:pic>
      <p:pic>
        <p:nvPicPr>
          <p:cNvPr id="301" name="!!cell-mart-9-5" descr="W:\Projects\hacks\rwb-new\presentation\pptx\assets\cell-mart-9-5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10075418" y="3790696"/>
            <a:ext cx="437388" cy="224028"/>
          </a:xfrm>
          <a:prstGeom prst="rect">
            <a:avLst/>
          </a:prstGeom>
        </p:spPr>
      </p:pic>
      <p:pic>
        <p:nvPicPr>
          <p:cNvPr id="302" name="!!cell-mart-9-6" descr="W:\Projects\hacks\rwb-new\presentation\pptx\assets\cell-mart-9-6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9851390" y="3902710"/>
            <a:ext cx="437388" cy="224028"/>
          </a:xfrm>
          <a:prstGeom prst="rect">
            <a:avLst/>
          </a:prstGeom>
        </p:spPr>
      </p:pic>
      <p:pic>
        <p:nvPicPr>
          <p:cNvPr id="303" name="!!cell-mart-9-7" descr="W:\Projects\hacks\rwb-new\presentation\pptx\assets\cell-mart-9-7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9627362" y="4014724"/>
            <a:ext cx="437388" cy="224028"/>
          </a:xfrm>
          <a:prstGeom prst="rect">
            <a:avLst/>
          </a:prstGeom>
        </p:spPr>
      </p:pic>
      <p:pic>
        <p:nvPicPr>
          <p:cNvPr id="304" name="!!cell-mart-9-8" descr="W:\Projects\hacks\rwb-new\presentation\pptx\assets\cell-mart-9-8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9403334" y="4126738"/>
            <a:ext cx="437388" cy="224028"/>
          </a:xfrm>
          <a:prstGeom prst="rect">
            <a:avLst/>
          </a:prstGeom>
        </p:spPr>
      </p:pic>
      <p:pic>
        <p:nvPicPr>
          <p:cNvPr id="305" name="!!cell-mart-9-9" descr="W:\Projects\hacks\rwb-new\presentation\pptx\assets\cell-mart-9-9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9179306" y="4238752"/>
            <a:ext cx="437388" cy="224028"/>
          </a:xfrm>
          <a:prstGeom prst="rect">
            <a:avLst/>
          </a:prstGeom>
        </p:spPr>
      </p:pic>
      <p:pic>
        <p:nvPicPr>
          <p:cNvPr id="306" name="!!shadow" descr="W:\Projects\hacks\rwb-new\presentation\pptx\assets\st-shadow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6731000" y="889000"/>
            <a:ext cx="5334000" cy="5334000"/>
          </a:xfrm>
          <a:prstGeom prst="rect">
            <a:avLst/>
          </a:prstGeom>
        </p:spPr>
      </p:pic>
      <p:pic>
        <p:nvPicPr>
          <p:cNvPr id="307" name="!!cube" descr="W:\Projects\hacks\rwb-new\presentation\pptx\assets\st-cube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6731000" y="889000"/>
            <a:ext cx="5334000" cy="5334000"/>
          </a:xfrm>
          <a:prstGeom prst="rect">
            <a:avLst/>
          </a:prstGeom>
        </p:spPr>
      </p:pic>
      <p:pic>
        <p:nvPicPr>
          <p:cNvPr id="308" name="pic-306" descr="W:\Projects\hacks\rwb-new\presentation\pptx\assets\wm-0-ink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762000" y="1816100"/>
            <a:ext cx="5736253" cy="1117600"/>
          </a:xfrm>
          <a:prstGeom prst="rect">
            <a:avLst/>
          </a:prstGeom>
        </p:spPr>
      </p:pic>
      <p:pic>
        <p:nvPicPr>
          <p:cNvPr id="309" name="pic-307" descr="W:\Projects\hacks\rwb-new\presentation\pptx\assets\wm-1-ink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762000" y="1816100"/>
            <a:ext cx="5736253" cy="1117600"/>
          </a:xfrm>
          <a:prstGeom prst="rect">
            <a:avLst/>
          </a:prstGeom>
        </p:spPr>
      </p:pic>
      <p:pic>
        <p:nvPicPr>
          <p:cNvPr id="310" name="pic-308" descr="W:\Projects\hacks\rwb-new\presentation\pptx\assets\wm-2-ink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762000" y="1816100"/>
            <a:ext cx="5736253" cy="1117600"/>
          </a:xfrm>
          <a:prstGeom prst="rect">
            <a:avLst/>
          </a:prstGeom>
        </p:spPr>
      </p:pic>
      <p:pic>
        <p:nvPicPr>
          <p:cNvPr id="311" name="pic-309" descr="W:\Projects\hacks\rwb-new\presentation\pptx\assets\wm-3-ink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762000" y="1816100"/>
            <a:ext cx="5736253" cy="1117600"/>
          </a:xfrm>
          <a:prstGeom prst="rect">
            <a:avLst/>
          </a:prstGeom>
        </p:spPr>
      </p:pic>
      <p:pic>
        <p:nvPicPr>
          <p:cNvPr id="312" name="pic-310" descr="W:\Projects\hacks\rwb-new\presentation\pptx\assets\wm-4-ink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762000" y="1816100"/>
            <a:ext cx="5736253" cy="1117600"/>
          </a:xfrm>
          <a:prstGeom prst="rect">
            <a:avLst/>
          </a:prstGeom>
        </p:spPr>
      </p:pic>
      <p:sp>
        <p:nvSpPr>
          <p:cNvPr id="313" name="text-311"/>
          <p:cNvSpPr txBox="1"/>
          <p:nvPr/>
        </p:nvSpPr>
        <p:spPr>
          <a:xfrm>
            <a:off x="762000" y="3810000"/>
            <a:ext cx="571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данных Capibara:</a:t>
            </a:r>
            <a:endParaRPr lang="en-US" sz="32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3600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от корзины до выкупа</a:t>
            </a:r>
            <a:endParaRPr lang="en-US" sz="3200" dirty="0"/>
          </a:p>
        </p:txBody>
      </p:sp>
      <p:sp>
        <p:nvSpPr>
          <p:cNvPr id="314" name="shape-312"/>
          <p:cNvSpPr/>
          <p:nvPr/>
        </p:nvSpPr>
        <p:spPr>
          <a:xfrm>
            <a:off x="762000" y="6191250"/>
            <a:ext cx="101600" cy="1016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315" name="text-313"/>
          <p:cNvSpPr txBox="1"/>
          <p:nvPr/>
        </p:nvSpPr>
        <p:spPr>
          <a:xfrm>
            <a:off x="952500" y="6108700"/>
            <a:ext cx="444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</a:t>
            </a:r>
            <a:r>
              <a:rPr lang="en-US" sz="1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GoatWhistle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7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.4370 -0.4120 C 0.0874 -0.4532 0.0219 -0.1236 0 0 E" pathEditMode="relative" ptsTypes="">
                                      <p:cBhvr>
                                        <p:cTn id="8" dur="9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" dur="9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187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7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-0.4440 0.1580 C -0.0888 0.1738 -0.0222 0.0474 0 0 E" pathEditMode="relative" ptsTypes="">
                                      <p:cBhvr>
                                        <p:cTn id="13" dur="9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4" dur="9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7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.2450 -0.0020 C 0.0490 -0.0022 0.0123 -0.0006 0 0 E" pathEditMode="relative" ptsTypes="">
                                      <p:cBhvr>
                                        <p:cTn id="18" dur="9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9" dur="9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2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7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-0.0500 0.1470 C -0.0100 0.1617 -0.0025 0.0441 0 0 E" pathEditMode="relative" ptsTypes="">
                                      <p:cBhvr>
                                        <p:cTn id="23" dur="9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4" dur="9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231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7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.5800 -0.0000 C 0.1160 -0.0000 0.0290 -0.0000 0 0 E" pathEditMode="relative" ptsTypes="">
                                      <p:cBhvr>
                                        <p:cTn id="28" dur="9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29" dur="9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231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7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.4370 0.2030 C 0.0874 0.2233 0.0219 0.0609 0 0 E" pathEditMode="relative" ptsTypes="">
                                      <p:cBhvr>
                                        <p:cTn id="33" dur="9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34" dur="9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25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7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-0.2790 0.1200 C -0.0558 0.1320 -0.0140 0.0360 0 0 E" pathEditMode="relative" ptsTypes="">
                                      <p:cBhvr>
                                        <p:cTn id="38" dur="9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9" dur="9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28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7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-0.2560 0.1870 C -0.0512 0.2057 -0.0128 0.0561 0 0 E" pathEditMode="relative" ptsTypes="">
                                      <p:cBhvr>
                                        <p:cTn id="43" dur="9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4" dur="9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7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-0.0570 0.1700 C -0.0114 0.1870 -0.0029 0.0510 0 0 E" pathEditMode="relative" ptsTypes="">
                                      <p:cBhvr>
                                        <p:cTn id="48" dur="9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9" dur="9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294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7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-0.2290 0.0210 C -0.0458 0.0231 -0.0115 0.0063 0 0 E" pathEditMode="relative" ptsTypes="">
                                      <p:cBhvr>
                                        <p:cTn id="53" dur="9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4" dur="9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7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-0.3040 -0.3820 C -0.0608 -0.4202 -0.0152 -0.1146 0 0 E" pathEditMode="relative" ptsTypes="">
                                      <p:cBhvr>
                                        <p:cTn id="58" dur="9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9" dur="9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8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8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32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303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7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0320 0.0910 C 0.0064 0.1001 0.0016 0.0273 0 0 E" pathEditMode="relative" ptsTypes="">
                                      <p:cBhvr>
                                        <p:cTn id="68" dur="9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69" dur="9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30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7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Motion origin="layout" path="M -0.2570 -0.2490 C -0.0514 -0.2739 -0.0129 -0.0747 0 0 E" pathEditMode="relative" ptsTypes="">
                                      <p:cBhvr>
                                        <p:cTn id="73" dur="95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4" dur="95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30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7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Motion origin="layout" path="M -0.1300 0.3110 C -0.0260 0.3421 -0.0065 0.0933 0 0 E" pathEditMode="relative" ptsTypes="">
                                      <p:cBhvr>
                                        <p:cTn id="78" dur="9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9" dur="9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7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-0.1070 0.1330 C -0.0214 0.1463 -0.0054 0.0399 0 0 E" pathEditMode="relative" ptsTypes="">
                                      <p:cBhvr>
                                        <p:cTn id="83" dur="9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4" dur="9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309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7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Motion origin="layout" path="M 0.5280 -0.0470 C 0.1056 -0.0517 0.0264 -0.0141 0 0 E" pathEditMode="relative" ptsTypes="">
                                      <p:cBhvr>
                                        <p:cTn id="88" dur="95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89" dur="95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7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-0.1550 0.1950 C -0.0310 0.2145 -0.0077 0.0585 0 0 E" pathEditMode="relative" ptsTypes="">
                                      <p:cBhvr>
                                        <p:cTn id="93" dur="9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4" dur="9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7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-0.3980 0.1470 C -0.0796 0.1617 -0.0199 0.0441 0 0 E" pathEditMode="relative" ptsTypes="">
                                      <p:cBhvr>
                                        <p:cTn id="98" dur="9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9" dur="9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nodeType="withEffect">
                                  <p:stCondLst>
                                    <p:cond delay="316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27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Motion origin="layout" path="M 0.3980 -0.1790 C 0.0796 -0.1969 0.0199 -0.0537 0 0 E" pathEditMode="relative" ptsTypes="">
                                      <p:cBhvr>
                                        <p:cTn id="103" dur="9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04" dur="9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316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7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.0690 -0.3180 C 0.0138 -0.3498 0.0035 -0.0954 0 0 E" pathEditMode="relative" ptsTypes="">
                                      <p:cBhvr>
                                        <p:cTn id="108" dur="9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09" dur="9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321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7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-0.2310 0.0340 C -0.0462 0.0374 -0.0116 0.0102 0 0 E" pathEditMode="relative" ptsTypes="">
                                      <p:cBhvr>
                                        <p:cTn id="113" dur="9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14" dur="9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7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.1170 0.3220 C 0.0234 0.3542 0.0059 0.0966 0 0 E" pathEditMode="relative" ptsTypes="">
                                      <p:cBhvr>
                                        <p:cTn id="118" dur="9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9" dur="9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33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27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-0.0490 0.0840 C -0.0098 0.0924 -0.0025 0.0252 0 0 E" pathEditMode="relative" ptsTypes="">
                                      <p:cBhvr>
                                        <p:cTn id="123" dur="9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24" dur="9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339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7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.5600 -0.0070 C 0.1120 -0.0077 0.0280 -0.0021 0 0 E" pathEditMode="relative" ptsTypes="">
                                      <p:cBhvr>
                                        <p:cTn id="128" dur="9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9" dur="9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nodeType="withEffect">
                                  <p:stCondLst>
                                    <p:cond delay="339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27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Motion origin="layout" path="M -0.4430 0.0010 C -0.0886 0.0011 -0.0222 0.0003 0 0 E" pathEditMode="relative" ptsTypes="">
                                      <p:cBhvr>
                                        <p:cTn id="133" dur="95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34" dur="95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341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7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Motion origin="layout" path="M 0.3070 -0.1170 C 0.0614 -0.1287 0.0154 -0.0351 0 0 E" pathEditMode="relative" ptsTypes="">
                                      <p:cBhvr>
                                        <p:cTn id="138" dur="9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9" dur="9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nodeType="withEffect">
                                  <p:stCondLst>
                                    <p:cond delay="346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7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Motion origin="layout" path="M 0.3350 -0.0960 C 0.0670 -0.1056 0.0168 -0.0288 0 0 E" pathEditMode="relative" ptsTypes="">
                                      <p:cBhvr>
                                        <p:cTn id="143" dur="9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4" dur="9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27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-0.0880 -0.3080 C -0.0176 -0.3388 -0.0044 -0.0924 0 0 E" pathEditMode="relative" ptsTypes="">
                                      <p:cBhvr>
                                        <p:cTn id="148" dur="9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49" dur="9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nodeType="withEffect">
                                  <p:stCondLst>
                                    <p:cond delay="352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27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Motion origin="layout" path="M 0.2700 -0.0950 C 0.0540 -0.1045 0.0135 -0.0285 0 0 E" pathEditMode="relative" ptsTypes="">
                                      <p:cBhvr>
                                        <p:cTn id="153" dur="95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54" dur="95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359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7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Motion origin="layout" path="M -0.5800 -0.0150 C -0.1160 -0.0165 -0.0290 -0.0045 0 0 E" pathEditMode="relative" ptsTypes="">
                                      <p:cBhvr>
                                        <p:cTn id="158" dur="95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59" dur="95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nodeType="withEffect">
                                  <p:stCondLst>
                                    <p:cond delay="363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27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Motion origin="layout" path="M -0.4440 -0.3310 C -0.0888 -0.3641 -0.0222 -0.0993 0 0 E" pathEditMode="relative" ptsTypes="">
                                      <p:cBhvr>
                                        <p:cTn id="163" dur="95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64" dur="95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nodeType="withEffect">
                                  <p:stCondLst>
                                    <p:cond delay="365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27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Motion origin="layout" path="M 0.0120 0.2810 C 0.0024 0.3091 0.0006 0.0843 0 0 E" pathEditMode="relative" ptsTypes="">
                                      <p:cBhvr>
                                        <p:cTn id="168" dur="9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69" dur="9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nodeType="withEffect">
                                  <p:stCondLst>
                                    <p:cond delay="366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7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.1860 -0.4250 C 0.0372 -0.4675 0.0093 -0.1275 0 0 E" pathEditMode="relative" ptsTypes="">
                                      <p:cBhvr>
                                        <p:cTn id="173" dur="9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74" dur="9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nodeType="withEffect">
                                  <p:stCondLst>
                                    <p:cond delay="372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27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Motion origin="layout" path="M 0.3340 -0.0240 C 0.0668 -0.0264 0.0167 -0.0072 0 0 E" pathEditMode="relative" ptsTypes="">
                                      <p:cBhvr>
                                        <p:cTn id="178" dur="95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79" dur="95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nodeType="withEffect">
                                  <p:stCondLst>
                                    <p:cond delay="373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27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Motion origin="layout" path="M 0.3010 0.1490 C 0.0602 0.1639 0.0151 0.0447 0 0 E" pathEditMode="relative" ptsTypes="">
                                      <p:cBhvr>
                                        <p:cTn id="183" dur="95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84" dur="95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nodeType="withEffect">
                                  <p:stCondLst>
                                    <p:cond delay="376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7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Motion origin="layout" path="M -0.5510 -0.2280 C -0.1102 -0.2508 -0.0276 -0.0684 0 0 E" pathEditMode="relative" ptsTypes="">
                                      <p:cBhvr>
                                        <p:cTn id="188" dur="95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89" dur="95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nodeType="withEffect">
                                  <p:stCondLst>
                                    <p:cond delay="379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27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Motion origin="layout" path="M -0.0550 0.3490 C -0.0110 0.3839 -0.0028 0.1047 0 0 E" pathEditMode="relative" ptsTypes="">
                                      <p:cBhvr>
                                        <p:cTn id="193" dur="95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94" dur="95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nodeType="withEffect">
                                  <p:stCondLst>
                                    <p:cond delay="381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27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Motion origin="layout" path="M 0.2690 -0.3650 C 0.0538 -0.4015 0.0135 -0.1095 0 0 E" pathEditMode="relative" ptsTypes="">
                                      <p:cBhvr>
                                        <p:cTn id="198" dur="95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99" dur="95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8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8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32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427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Motion origin="layout" path="M 0.4260 -0.1640 C 0.0852 -0.1804 0.0213 -0.0492 0 0 E" pathEditMode="relative" ptsTypes="">
                                      <p:cBhvr>
                                        <p:cTn id="208" dur="9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209" dur="9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0" presetID="2" presetClass="entr" presetSubtype="4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427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Motion origin="layout" path="M -0.3180 0.2810 C -0.0636 0.3091 -0.0159 0.0843 0 0 E" pathEditMode="relative" ptsTypes="">
                                      <p:cBhvr>
                                        <p:cTn id="213" dur="95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14" dur="95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nodeType="withEffect">
                                  <p:stCondLst>
                                    <p:cond delay="392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27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Motion origin="layout" path="M 0.1310 0.3400 C 0.0262 0.3740 0.0066 0.1020 0 0 E" pathEditMode="relative" ptsTypes="">
                                      <p:cBhvr>
                                        <p:cTn id="218" dur="9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219" dur="9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0" presetID="2" presetClass="entr" presetSubtype="4" fill="hold" nodeType="withEffect">
                                  <p:stCondLst>
                                    <p:cond delay="393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427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Motion origin="layout" path="M -0.1050 0.1240 C -0.0210 0.1364 -0.0053 0.0372 0 0 E" pathEditMode="relative" ptsTypes="">
                                      <p:cBhvr>
                                        <p:cTn id="223" dur="950" decel="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24" dur="950" decel="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nodeType="withEffect">
                                  <p:stCondLst>
                                    <p:cond delay="398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427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Motion origin="layout" path="M 0.5630 -0.0470 C 0.1126 -0.0517 0.0281 -0.0141 0 0 E" pathEditMode="relative" ptsTypes="">
                                      <p:cBhvr>
                                        <p:cTn id="228" dur="95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229" dur="95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0" presetID="2" presetClass="entr" presetSubtype="4" fill="hold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27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.2080 -0.2840 C 0.0416 -0.3124 0.0104 -0.0852 0 0 E" pathEditMode="relative" ptsTypes="">
                                      <p:cBhvr>
                                        <p:cTn id="233" dur="9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234" dur="9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427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Motion origin="layout" path="M -0.3420 0.0630 C -0.0684 0.0693 -0.0171 0.0189 0 0 E" pathEditMode="relative" ptsTypes="">
                                      <p:cBhvr>
                                        <p:cTn id="238" dur="95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39" dur="95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" presetID="2" presetClass="entr" presetSubtype="4" fill="hold" nodeType="withEffect">
                                  <p:stCondLst>
                                    <p:cond delay="402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427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-0.2550 -0.0090 C -0.0510 -0.0099 -0.0128 -0.0027 0 0 E" pathEditMode="relative" ptsTypes="">
                                      <p:cBhvr>
                                        <p:cTn id="243" dur="9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44" dur="9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nodeType="withEffect">
                                  <p:stCondLst>
                                    <p:cond delay="415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427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Motion origin="layout" path="M 0.3450 -0.0560 C 0.0690 -0.0616 0.0172 -0.0168 0 0 E" pathEditMode="relative" ptsTypes="">
                                      <p:cBhvr>
                                        <p:cTn id="248" dur="9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249" dur="9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0" presetID="2" presetClass="entr" presetSubtype="4" fill="hold" nodeType="withEffect">
                                  <p:stCondLst>
                                    <p:cond delay="416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427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Motion origin="layout" path="M -0.3580 -0.0800 C -0.0716 -0.0880 -0.0179 -0.0240 0 0 E" pathEditMode="relative" ptsTypes="">
                                      <p:cBhvr>
                                        <p:cTn id="253" dur="95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54" dur="95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nodeType="withEffect">
                                  <p:stCondLst>
                                    <p:cond delay="426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427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.4480 0.0630 C 0.0896 0.0693 0.0224 0.0189 0 0 E" pathEditMode="relative" ptsTypes="">
                                      <p:cBhvr>
                                        <p:cTn id="258" dur="9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259" dur="9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0" presetID="2" presetClass="entr" presetSubtype="4" fill="hold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427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Motion origin="layout" path="M 0.4370 0.1870 C 0.0874 0.2057 0.0219 0.0561 0 0 E" pathEditMode="relative" ptsTypes="">
                                      <p:cBhvr>
                                        <p:cTn id="263" dur="9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264" dur="9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nodeType="withEffect">
                                  <p:stCondLst>
                                    <p:cond delay="431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427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-0.1100 -0.5330 C -0.0220 -0.5863 -0.0055 -0.1599 0 0 E" pathEditMode="relative" ptsTypes="">
                                      <p:cBhvr>
                                        <p:cTn id="268" dur="9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69" dur="9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0" presetID="2" presetClass="entr" presetSubtype="4" fill="hold" nodeType="withEffect">
                                  <p:stCondLst>
                                    <p:cond delay="432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427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-0.2920 0.1940 C -0.0584 0.2134 -0.0146 0.0582 0 0 E" pathEditMode="relative" ptsTypes="">
                                      <p:cBhvr>
                                        <p:cTn id="273" dur="9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74" dur="9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nodeType="withEffect">
                                  <p:stCondLst>
                                    <p:cond delay="436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427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Motion origin="layout" path="M 0.2350 -0.4500 C 0.0470 -0.4950 0.0118 -0.1350 0 0 E" pathEditMode="relative" ptsTypes="">
                                      <p:cBhvr>
                                        <p:cTn id="278" dur="95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279" dur="95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0" presetID="2" presetClass="entr" presetSubtype="4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427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.3780 -0.4150 C 0.0756 -0.4565 0.0189 -0.1245 0 0 E" pathEditMode="relative" ptsTypes="">
                                      <p:cBhvr>
                                        <p:cTn id="283" dur="9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284" dur="9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5" presetID="2" presetClass="entr" presetSubtype="4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427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Motion origin="layout" path="M -0.2800 -0.2880 C -0.0560 -0.3168 -0.0140 -0.0864 0 0 E" pathEditMode="relative" ptsTypes="">
                                      <p:cBhvr>
                                        <p:cTn id="288" dur="95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89" dur="95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0" presetID="2" presetClass="entr" presetSubtype="4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427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Motion origin="layout" path="M -0.2590 0.2700 C -0.0518 0.2970 -0.0130 0.0810 0 0 E" pathEditMode="relative" ptsTypes="">
                                      <p:cBhvr>
                                        <p:cTn id="293" dur="950" decel="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94" dur="950" decel="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nodeType="withEffect">
                                  <p:stCondLst>
                                    <p:cond delay="442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427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Motion origin="layout" path="M -0.0430 -0.4320 C -0.0086 -0.4752 -0.0022 -0.1296 0 0 E" pathEditMode="relative" ptsTypes="">
                                      <p:cBhvr>
                                        <p:cTn id="298" dur="95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299" dur="95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0" presetID="2" presetClass="entr" presetSubtype="4" fill="hold" nodeType="withEffect">
                                  <p:stCondLst>
                                    <p:cond delay="452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427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Motion origin="layout" path="M -0.1890 0.1670 C -0.0378 0.1837 -0.0095 0.0501 0 0 E" pathEditMode="relative" ptsTypes="">
                                      <p:cBhvr>
                                        <p:cTn id="303" dur="9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04" dur="9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5" presetID="2" presetClass="entr" presetSubtype="4" fill="hold" nodeType="withEffect">
                                  <p:stCondLst>
                                    <p:cond delay="453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427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Motion origin="layout" path="M -0.1170 -0.3560 C -0.0234 -0.3916 -0.0059 -0.1068 0 0 E" pathEditMode="relative" ptsTypes="">
                                      <p:cBhvr>
                                        <p:cTn id="308" dur="950" decel="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09" dur="950" decel="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0" presetID="2" presetClass="entr" presetSubtype="4" fill="hold" nodeType="withEffect">
                                  <p:stCondLst>
                                    <p:cond delay="459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427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-0.2570 -0.4310 C -0.0514 -0.4741 -0.0129 -0.1293 0 0 E" pathEditMode="relative" ptsTypes="">
                                      <p:cBhvr>
                                        <p:cTn id="313" dur="9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14" dur="9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" presetID="2" presetClass="entr" presetSubtype="4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427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Motion origin="layout" path="M -0.3060 -0.1000 C -0.0612 -0.1100 -0.0153 -0.0300 0 0 E" pathEditMode="relative" ptsTypes="">
                                      <p:cBhvr>
                                        <p:cTn id="318" dur="950" decel="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19" dur="950" decel="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0" presetID="2" presetClass="entr" presetSubtype="4" fill="hold" nodeType="withEffect">
                                  <p:stCondLst>
                                    <p:cond delay="465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427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Motion origin="layout" path="M 0.2300 0.0720 C 0.0460 0.0792 0.0115 0.0216 0 0 E" pathEditMode="relative" ptsTypes="">
                                      <p:cBhvr>
                                        <p:cTn id="323" dur="95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324" dur="95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5" presetID="2" presetClass="entr" presetSubtype="4" fill="hold" nodeType="withEffect">
                                  <p:stCondLst>
                                    <p:cond delay="465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427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Motion origin="layout" path="M 0.2330 -0.3970 C 0.0466 -0.4367 0.0117 -0.1191 0 0 E" pathEditMode="relative" ptsTypes="">
                                      <p:cBhvr>
                                        <p:cTn id="328" dur="950" decel="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329" dur="950" decel="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0" presetID="2" presetClass="entr" presetSubtype="4" fill="hold" nodeType="withEffect">
                                  <p:stCondLst>
                                    <p:cond delay="469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427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Motion origin="layout" path="M 0.2990 -0.3740 C 0.0598 -0.4114 0.0149 -0.1122 0 0 E" pathEditMode="relative" ptsTypes="">
                                      <p:cBhvr>
                                        <p:cTn id="333" dur="95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334" dur="95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" presetID="53" presetClass="entr" presetSubtype="16" fill="hold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8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8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9" dur="32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2" presetClass="entr" presetSubtype="4" fill="hold" nodeType="withEffect">
                                  <p:stCondLst>
                                    <p:cond delay="472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427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Motion origin="layout" path="M 0.2640 -0.4140 C 0.0528 -0.4554 0.0132 -0.1242 0 0 E" pathEditMode="relative" ptsTypes="">
                                      <p:cBhvr>
                                        <p:cTn id="343" dur="95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344" dur="95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5" presetID="2" presetClass="entr" presetSubtype="4" fill="hold" nodeType="withEffect">
                                  <p:stCondLst>
                                    <p:cond delay="472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427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Motion origin="layout" path="M -0.3350 -0.2050 C -0.0670 -0.2255 -0.0168 -0.0615 0 0 E" pathEditMode="relative" ptsTypes="">
                                      <p:cBhvr>
                                        <p:cTn id="348" dur="950" decel="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49" dur="950" decel="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" presetID="2" presetClass="entr" presetSubtype="4" fill="hold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427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Motion origin="layout" path="M 0.2620 -0.3310 C 0.0524 -0.3641 0.0131 -0.0993 0 0 E" pathEditMode="relative" ptsTypes="">
                                      <p:cBhvr>
                                        <p:cTn id="353" dur="950" decel="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354" dur="950" decel="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5" presetID="2" presetClass="entr" presetSubtype="4" fill="hold" nodeType="withEffect">
                                  <p:stCondLst>
                                    <p:cond delay="47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427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Motion origin="layout" path="M -0.0810 0.1070 C -0.0162 0.1177 -0.0041 0.0321 0 0 E" pathEditMode="relative" ptsTypes="">
                                      <p:cBhvr>
                                        <p:cTn id="358" dur="950" decel="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59" dur="950" decel="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0" presetID="2" presetClass="entr" presetSubtype="4" fill="hold" nodeType="withEffect">
                                  <p:stCondLst>
                                    <p:cond delay="479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427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Motion origin="layout" path="M -0.1680 -0.3250 C -0.0336 -0.3575 -0.0084 -0.0975 0 0 E" pathEditMode="relative" ptsTypes="">
                                      <p:cBhvr>
                                        <p:cTn id="363" dur="95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64" dur="95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5" presetID="2" presetClass="entr" presetSubtype="4" fill="hold" nodeType="withEffect">
                                  <p:stCondLst>
                                    <p:cond delay="488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427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-0.3470 -0.2970 C -0.0694 -0.3267 -0.0174 -0.0891 0 0 E" pathEditMode="relative" ptsTypes="">
                                      <p:cBhvr>
                                        <p:cTn id="368" dur="9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69" dur="9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0" presetID="2" presetClass="entr" presetSubtype="4" fill="hold" nodeType="withEffect">
                                  <p:stCondLst>
                                    <p:cond delay="488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427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Motion origin="layout" path="M -0.2280 -0.4980 C -0.0456 -0.5478 -0.0114 -0.1494 0 0 E" pathEditMode="relative" ptsTypes="">
                                      <p:cBhvr>
                                        <p:cTn id="373" dur="950" decel="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74" dur="950" decel="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5" presetID="2" presetClass="entr" presetSubtype="4" fill="hold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427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Motion origin="layout" path="M 0.2840 -0.4080 C 0.0568 -0.4488 0.0142 -0.1224 0 0 E" pathEditMode="relative" ptsTypes="">
                                      <p:cBhvr>
                                        <p:cTn id="378" dur="95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379" dur="95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0" presetID="2" presetClass="entr" presetSubtype="4" fill="hold" nodeType="withEffect">
                                  <p:stCondLst>
                                    <p:cond delay="497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427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Motion origin="layout" path="M 0.1990 0.2290 C 0.0398 0.2519 0.0100 0.0687 0 0 E" pathEditMode="relative" ptsTypes="">
                                      <p:cBhvr>
                                        <p:cTn id="383" dur="950" decel="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384" dur="950" decel="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5" presetID="2" presetClass="entr" presetSubtype="4" fill="hold" nodeType="withEffect">
                                  <p:stCondLst>
                                    <p:cond delay="498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427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Motion origin="layout" path="M 0.1220 -0.3290 C 0.0244 -0.3619 0.0061 -0.0987 0 0 E" pathEditMode="relative" ptsTypes="">
                                      <p:cBhvr>
                                        <p:cTn id="388" dur="9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389" dur="9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2" presetClass="entr" presetSubtype="4" fill="hold" nodeType="withEffect">
                                  <p:stCondLst>
                                    <p:cond delay="503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427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Motion origin="layout" path="M -0.1810 -0.0020 C -0.0362 -0.0022 -0.0091 -0.0006 0 0 E" pathEditMode="relative" ptsTypes="">
                                      <p:cBhvr>
                                        <p:cTn id="393" dur="950" decel="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394" dur="950" decel="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5" presetID="2" presetClass="entr" presetSubtype="4" fill="hold" nodeType="withEffect">
                                  <p:stCondLst>
                                    <p:cond delay="504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427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Motion origin="layout" path="M 0.2920 0.0810 C 0.0584 0.0891 0.0146 0.0243 0 0 E" pathEditMode="relative" ptsTypes="">
                                      <p:cBhvr>
                                        <p:cTn id="398" dur="95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399" dur="95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0" presetID="2" presetClass="entr" presetSubtype="4" fill="hold" nodeType="withEffect">
                                  <p:stCondLst>
                                    <p:cond delay="511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427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Motion origin="layout" path="M -0.3050 -0.2150 C -0.0610 -0.2365 -0.0152 -0.0645 0 0 E" pathEditMode="relative" ptsTypes="">
                                      <p:cBhvr>
                                        <p:cTn id="403" dur="95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04" dur="95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5" presetID="2" presetClass="entr" presetSubtype="4" fill="hold" nodeType="withEffect">
                                  <p:stCondLst>
                                    <p:cond delay="512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427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Motion origin="layout" path="M 0.3350 -0.1180 C 0.0670 -0.1298 0.0168 -0.0354 0 0 E" pathEditMode="relative" ptsTypes="">
                                      <p:cBhvr>
                                        <p:cTn id="408" dur="950" decel="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409" dur="950" decel="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0" presetID="2" presetClass="entr" presetSubtype="4" fill="hold" nodeType="withEffect">
                                  <p:stCondLst>
                                    <p:cond delay="513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427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Motion origin="layout" path="M -0.3230 0.0050 C -0.0646 0.0055 -0.0162 0.0015 0 0 E" pathEditMode="relative" ptsTypes="">
                                      <p:cBhvr>
                                        <p:cTn id="413" dur="95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14" dur="95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5" presetID="2" presetClass="entr" presetSubtype="4" fill="hold" nodeType="withEffect">
                                  <p:stCondLst>
                                    <p:cond delay="517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427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Motion origin="layout" path="M -0.1010 -0.4070 C -0.0202 -0.4477 -0.0051 -0.1221 0 0 E" pathEditMode="relative" ptsTypes="">
                                      <p:cBhvr>
                                        <p:cTn id="418" dur="95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19" dur="95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0" presetID="2" presetClass="entr" presetSubtype="4" fill="hold" nodeType="withEffect">
                                  <p:stCondLst>
                                    <p:cond delay="517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427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Motion origin="layout" path="M 0.4660 -0.3340 C 0.0932 -0.3674 0.0233 -0.1002 0 0 E" pathEditMode="relative" ptsTypes="">
                                      <p:cBhvr>
                                        <p:cTn id="423" dur="95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424" dur="95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5" presetID="2" presetClass="entr" presetSubtype="4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427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Motion origin="layout" path="M -0.4160 -0.1330 C -0.0832 -0.1463 -0.0208 -0.0399 0 0 E" pathEditMode="relative" ptsTypes="">
                                      <p:cBhvr>
                                        <p:cTn id="428" dur="95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29" dur="95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0" presetID="2" presetClass="entr" presetSubtype="4" fill="hold" nodeType="withEffect">
                                  <p:stCondLst>
                                    <p:cond delay="535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427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Motion origin="layout" path="M 0.4100 0.0650 C 0.0820 0.0715 0.0205 0.0195 0 0 E" pathEditMode="relative" ptsTypes="">
                                      <p:cBhvr>
                                        <p:cTn id="433" dur="95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434" dur="95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5" presetID="2" presetClass="entr" presetSubtype="4" fill="hold" nodeType="withEffect">
                                  <p:stCondLst>
                                    <p:cond delay="536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427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Motion origin="layout" path="M -0.2360 0.1330 C -0.0472 0.1463 -0.0118 0.0399 0 0 E" pathEditMode="relative" ptsTypes="">
                                      <p:cBhvr>
                                        <p:cTn id="438" dur="95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39" dur="95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0" presetID="2" presetClass="entr" presetSubtype="4" fill="hold" nodeType="withEffect">
                                  <p:stCondLst>
                                    <p:cond delay="537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427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Motion origin="layout" path="M -0.1590 0.1550 C -0.0318 0.1705 -0.0080 0.0465 0 0 E" pathEditMode="relative" ptsTypes="">
                                      <p:cBhvr>
                                        <p:cTn id="443" dur="95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44" dur="95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5" presetID="2" presetClass="entr" presetSubtype="4" fill="hold" nodeType="withEffect">
                                  <p:stCondLst>
                                    <p:cond delay="538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427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Motion origin="layout" path="M -0.2010 -0.2510 C -0.0402 -0.2761 -0.0101 -0.0753 0 0 E" pathEditMode="relative" ptsTypes="">
                                      <p:cBhvr>
                                        <p:cTn id="448" dur="95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49" dur="95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0" presetID="2" presetClass="entr" presetSubtype="4" fill="hold" nodeType="withEffect">
                                  <p:stCondLst>
                                    <p:cond delay="543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427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Motion origin="layout" path="M 0.0060 -0.4060 C 0.0012 -0.4466 0.0003 -0.1218 0 0 E" pathEditMode="relative" ptsTypes="">
                                      <p:cBhvr>
                                        <p:cTn id="453" dur="950" decel="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454" dur="950" decel="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5" presetID="2" presetClass="entr" presetSubtype="4" fill="hold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427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Motion origin="layout" path="M 0.2040 0.0300 C 0.0408 0.0330 0.0102 0.0090 0 0 E" pathEditMode="relative" ptsTypes="">
                                      <p:cBhvr>
                                        <p:cTn id="458" dur="95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459" dur="95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0" presetID="2" presetClass="entr" presetSubtype="4" fill="hold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427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Motion origin="layout" path="M 0.1870 0.1980 C 0.0374 0.2178 0.0094 0.0594 0 0 E" pathEditMode="relative" ptsTypes="">
                                      <p:cBhvr>
                                        <p:cTn id="463" dur="950" decel="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464" dur="950" decel="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5" presetID="53" presetClass="entr" presetSubtype="16" fill="hold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7" dur="8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8" dur="8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9" dur="32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2" presetClass="entr" presetSubtype="4" fill="hold" nodeType="withEffect">
                                  <p:stCondLst>
                                    <p:cond delay="559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427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Motion origin="layout" path="M 0.4580 -0.3000 C 0.0916 -0.3300 0.0229 -0.0900 0 0 E" pathEditMode="relative" ptsTypes="">
                                      <p:cBhvr>
                                        <p:cTn id="473" dur="95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474" dur="95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5" presetID="2" presetClass="entr" presetSubtype="4" fill="hold" nodeType="withEffect">
                                  <p:stCondLst>
                                    <p:cond delay="573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427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Motion origin="layout" path="M -0.2210 -0.1090 C -0.0442 -0.1199 -0.0111 -0.0327 0 0 E" pathEditMode="relative" ptsTypes="">
                                      <p:cBhvr>
                                        <p:cTn id="478" dur="950" decel="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79" dur="950" decel="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0" presetID="2" presetClass="entr" presetSubtype="4" fill="hold" nodeType="withEffect">
                                  <p:stCondLst>
                                    <p:cond delay="586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2" dur="427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Motion origin="layout" path="M 0.2780 -0.2860 C 0.0556 -0.3146 0.0139 -0.0858 0 0 E" pathEditMode="relative" ptsTypes="">
                                      <p:cBhvr>
                                        <p:cTn id="483" dur="950" decel="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484" dur="950" decel="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5" presetID="2" presetClass="entr" presetSubtype="4" fill="hold" nodeType="withEffect">
                                  <p:stCondLst>
                                    <p:cond delay="587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27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Motion origin="layout" path="M 0.3010 0.0710 C 0.0602 0.0781 0.0151 0.0213 0 0 E" pathEditMode="relative" ptsTypes="">
                                      <p:cBhvr>
                                        <p:cTn id="488" dur="950" decel="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489" dur="950" decel="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0" presetID="2" presetClass="entr" presetSubtype="4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427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Motion origin="layout" path="M 0.2220 -0.1450 C 0.0444 -0.1595 0.0111 -0.0435 0 0 E" pathEditMode="relative" ptsTypes="">
                                      <p:cBhvr>
                                        <p:cTn id="493" dur="95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494" dur="95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5" presetID="2" presetClass="entr" presetSubtype="4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427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Motion origin="layout" path="M -0.2770 0.2270 C -0.0554 0.2497 -0.0139 0.0681 0 0 E" pathEditMode="relative" ptsTypes="">
                                      <p:cBhvr>
                                        <p:cTn id="498" dur="95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499" dur="95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0" presetID="2" presetClass="entr" presetSubtype="4" fill="hold" nodeType="withEffect">
                                  <p:stCondLst>
                                    <p:cond delay="599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427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Motion origin="layout" path="M -0.1180 0.0420 C -0.0236 0.0462 -0.0059 0.0126 0 0 E" pathEditMode="relative" ptsTypes="">
                                      <p:cBhvr>
                                        <p:cTn id="503" dur="950" decel="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04" dur="950" decel="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5" presetID="2" presetClass="entr" presetSubtype="4" fill="hold" nodeType="withEffect">
                                  <p:stCondLst>
                                    <p:cond delay="611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427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Motion origin="layout" path="M -0.3970 -0.0740 C -0.0794 -0.0814 -0.0199 -0.0222 0 0 E" pathEditMode="relative" ptsTypes="">
                                      <p:cBhvr>
                                        <p:cTn id="508" dur="950" decel="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09" dur="950" decel="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0" presetID="2" presetClass="entr" presetSubtype="4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2" dur="427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Motion origin="layout" path="M 0.1340 0.0510 C 0.0268 0.0561 0.0067 0.0153 0 0 E" pathEditMode="relative" ptsTypes="">
                                      <p:cBhvr>
                                        <p:cTn id="513" dur="950" decel="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514" dur="950" decel="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5" presetID="2" presetClass="entr" presetSubtype="4" fill="hold" nodeType="withEffect">
                                  <p:stCondLst>
                                    <p:cond delay="634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427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Motion origin="layout" path="M 0.1410 0.1790 C 0.0282 0.1969 0.0070 0.0537 0 0 E" pathEditMode="relative" ptsTypes="">
                                      <p:cBhvr>
                                        <p:cTn id="518" dur="95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519" dur="95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0" presetID="53" presetClass="entr" presetSubtype="16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2" dur="8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3" dur="8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4" dur="32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2" presetClass="entr" presetSubtype="4" fill="hold" nodeType="withEffect">
                                  <p:stCondLst>
                                    <p:cond delay="667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427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Motion origin="layout" path="M 0.2150 0.1720 C 0.0430 0.1892 0.0108 0.0516 0 0 E" pathEditMode="relative" ptsTypes="">
                                      <p:cBhvr>
                                        <p:cTn id="528" dur="950" decel="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529" dur="950" decel="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0" presetID="2" presetClass="entr" presetSubtype="4" fill="hold" nodeType="withEffect">
                                  <p:stCondLst>
                                    <p:cond delay="725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427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Motion origin="layout" path="M -0.2160 -0.2010 C -0.0432 -0.2211 -0.0108 -0.0603 0 0 E" pathEditMode="relative" ptsTypes="">
                                      <p:cBhvr>
                                        <p:cTn id="533" dur="95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34" dur="95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5" presetID="2" presetClass="entr" presetSubtype="4" fill="hold" nodeType="withEffect">
                                  <p:stCondLst>
                                    <p:cond delay="738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427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Motion origin="layout" path="M -0.3230 -0.5110 C -0.0646 -0.5621 -0.0162 -0.1533 0 0 E" pathEditMode="relative" ptsTypes="">
                                      <p:cBhvr>
                                        <p:cTn id="538" dur="950" decel="100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39" dur="950" decel="100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0" presetID="2" presetClass="entr" presetSubtype="4" fill="hold" nodeType="withEffect">
                                  <p:stCondLst>
                                    <p:cond delay="746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2" dur="427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Motion origin="layout" path="M -0.2200 -0.0520 C -0.0440 -0.0572 -0.0110 -0.0156 0 0 E" pathEditMode="relative" ptsTypes="">
                                      <p:cBhvr>
                                        <p:cTn id="543" dur="950" decel="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44" dur="950" decel="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5" presetID="2" presetClass="entr" presetSubtype="4" fill="hold" nodeType="withEffect">
                                  <p:stCondLst>
                                    <p:cond delay="747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427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Motion origin="layout" path="M -0.2450 -0.1780 C -0.0490 -0.1958 -0.0123 -0.0534 0 0 E" pathEditMode="relative" ptsTypes="">
                                      <p:cBhvr>
                                        <p:cTn id="548" dur="950" decel="100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49" dur="950" decel="100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0" presetID="2" presetClass="entr" presetSubtype="4" fill="hold" nodeType="withEffect">
                                  <p:stCondLst>
                                    <p:cond delay="749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2" dur="427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Motion origin="layout" path="M 0.2920 -0.0060 C 0.0584 -0.0066 0.0146 -0.0018 0 0 E" pathEditMode="relative" ptsTypes="">
                                      <p:cBhvr>
                                        <p:cTn id="553" dur="950" decel="100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554" dur="950" decel="100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5" presetID="2" presetClass="entr" presetSubtype="4" fill="hold" nodeType="withEffect">
                                  <p:stCondLst>
                                    <p:cond delay="755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427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Motion origin="layout" path="M -0.1700 0.2410 C -0.0340 0.2651 -0.0085 0.0723 0 0 E" pathEditMode="relative" ptsTypes="">
                                      <p:cBhvr>
                                        <p:cTn id="558" dur="950" decel="100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59" dur="950" decel="100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0" presetID="2" presetClass="entr" presetSubtype="4" fill="hold" nodeType="withEffect">
                                  <p:stCondLst>
                                    <p:cond delay="764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427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Motion origin="layout" path="M 0.1500 0.2600 C 0.0300 0.2860 0.0075 0.0780 0 0 E" pathEditMode="relative" ptsTypes="">
                                      <p:cBhvr>
                                        <p:cTn id="563" dur="950" decel="100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564" dur="950" decel="100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5" presetID="2" presetClass="entr" presetSubtype="4" fill="hold" nodeType="withEffect">
                                  <p:stCondLst>
                                    <p:cond delay="772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427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Motion origin="layout" path="M -0.3460 -0.0050 C -0.0692 -0.0055 -0.0173 -0.0015 0 0 E" pathEditMode="relative" ptsTypes="">
                                      <p:cBhvr>
                                        <p:cTn id="568" dur="950" decel="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69" dur="950" decel="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0" presetID="2" presetClass="entr" presetSubtype="4" fill="hold" nodeType="withEffect">
                                  <p:stCondLst>
                                    <p:cond delay="783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2" dur="427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Motion origin="layout" path="M 0.4520 -0.3470 C 0.0904 -0.3817 0.0226 -0.1041 0 0 E" pathEditMode="relative" ptsTypes="">
                                      <p:cBhvr>
                                        <p:cTn id="573" dur="950" decel="100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574" dur="950" decel="100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5" presetID="2" presetClass="entr" presetSubtype="4" fill="hold" nodeType="withEffect">
                                  <p:stCondLst>
                                    <p:cond delay="798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427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Motion origin="layout" path="M -0.0120 0.1720 C -0.0024 0.1892 -0.0006 0.0516 0 0 E" pathEditMode="relative" ptsTypes="">
                                      <p:cBhvr>
                                        <p:cTn id="578" dur="950" decel="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79" dur="950" decel="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0" presetID="2" presetClass="entr" presetSubtype="4" fill="hold" nodeType="withEffect">
                                  <p:stCondLst>
                                    <p:cond delay="803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2" dur="427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Motion origin="layout" path="M -0.5540 -0.0590 C -0.1108 -0.0649 -0.0277 -0.0177 0 0 E" pathEditMode="relative" ptsTypes="">
                                      <p:cBhvr>
                                        <p:cTn id="583" dur="950" decel="100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84" dur="950" decel="100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5" presetID="2" presetClass="entr" presetSubtype="4" fill="hold" nodeType="withEffect">
                                  <p:stCondLst>
                                    <p:cond delay="803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427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Motion origin="layout" path="M 0.1100 0.1720 C 0.0220 0.1892 0.0055 0.0516 0 0 E" pathEditMode="relative" ptsTypes="">
                                      <p:cBhvr>
                                        <p:cTn id="588" dur="950" decel="100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589" dur="950" decel="100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0" presetID="2" presetClass="entr" presetSubtype="4" fill="hold" nodeType="withEffect">
                                  <p:stCondLst>
                                    <p:cond delay="807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427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Motion origin="layout" path="M -0.3350 -0.2360 C -0.0670 -0.2596 -0.0168 -0.0708 0 0 E" pathEditMode="relative" ptsTypes="">
                                      <p:cBhvr>
                                        <p:cTn id="593" dur="950" decel="100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594" dur="950" decel="100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5" presetID="2" presetClass="entr" presetSubtype="4" fill="hold" nodeType="withEffect">
                                  <p:stCondLst>
                                    <p:cond delay="813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427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Motion origin="layout" path="M 0.1050 0.1800 C 0.0210 0.1980 0.0053 0.0540 0 0 E" pathEditMode="relative" ptsTypes="">
                                      <p:cBhvr>
                                        <p:cTn id="598" dur="95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599" dur="95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0" presetID="2" presetClass="entr" presetSubtype="4" fill="hold" nodeType="withEffect">
                                  <p:stCondLst>
                                    <p:cond delay="816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2" dur="427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Motion origin="layout" path="M 0.3940 -0.2720 C 0.0788 -0.2992 0.0197 -0.0816 0 0 E" pathEditMode="relative" ptsTypes="">
                                      <p:cBhvr>
                                        <p:cTn id="603" dur="950" decel="100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604" dur="950" decel="100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5" presetID="2" presetClass="entr" presetSubtype="4" fill="hold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427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Motion origin="layout" path="M -0.3210 0.0840 C -0.0642 0.0924 -0.0161 0.0252 0 0 E" pathEditMode="relative" ptsTypes="">
                                      <p:cBhvr>
                                        <p:cTn id="608" dur="950" decel="100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609" dur="950" decel="100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0" presetID="2" presetClass="entr" presetSubtype="4" fill="hold" nodeType="withEffect">
                                  <p:stCondLst>
                                    <p:cond delay="826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2" dur="42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Motion origin="layout" path="M -0.0320 -0.4100 C -0.0064 -0.4510 -0.0016 -0.1230 0 0 E" pathEditMode="relative" ptsTypes="">
                                      <p:cBhvr>
                                        <p:cTn id="613" dur="950" decel="100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614" dur="950" decel="100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5" presetID="2" presetClass="entr" presetSubtype="4" fill="hold" nodeType="withEffect">
                                  <p:stCondLst>
                                    <p:cond delay="834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7" dur="427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Motion origin="layout" path="M -0.0750 0.0560 C -0.0150 0.0616 -0.0037 0.0168 0 0 E" pathEditMode="relative" ptsTypes="">
                                      <p:cBhvr>
                                        <p:cTn id="618" dur="950" decel="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619" dur="950" decel="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0" presetID="2" presetClass="entr" presetSubtype="4" fill="hold" nodeType="withEffect">
                                  <p:stCondLst>
                                    <p:cond delay="836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427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Motion origin="layout" path="M 0.0970 -0.2970 C 0.0194 -0.3267 0.0049 -0.0891 0 0 E" pathEditMode="relative" ptsTypes="">
                                      <p:cBhvr>
                                        <p:cTn id="623" dur="950" decel="100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624" dur="950" decel="100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5" presetID="2" presetClass="entr" presetSubtype="4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427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Motion origin="layout" path="M -0.0050 -0.5640 C -0.0010 -0.6204 -0.0003 -0.1692 0 0 E" pathEditMode="relative" ptsTypes="">
                                      <p:cBhvr>
                                        <p:cTn id="628" dur="95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629" dur="95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0" presetID="2" presetClass="entr" presetSubtype="4" fill="hold" nodeType="withEffect">
                                  <p:stCondLst>
                                    <p:cond delay="841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2" dur="427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Motion origin="layout" path="M 0.2050 0.2980 C 0.0410 0.3278 0.0103 0.0894 0 0 E" pathEditMode="relative" ptsTypes="">
                                      <p:cBhvr>
                                        <p:cTn id="633" dur="950" decel="100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634" dur="950" decel="100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5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2" presetClass="entr" presetSubtype="4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0" dur="427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Motion origin="layout" path="M -0.2860 -0.0760 C -0.0572 -0.0836 -0.0143 -0.0228 0 0 E" pathEditMode="relative" ptsTypes="">
                                      <p:cBhvr>
                                        <p:cTn id="641" dur="950" decel="100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642" dur="950" decel="100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3" presetID="2" presetClass="entr" presetSubtype="4" fill="hold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427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Motion origin="layout" path="M 0.2670 0.0290 C 0.0534 0.0319 0.0134 0.0087 0 0 E" pathEditMode="relative" ptsTypes="">
                                      <p:cBhvr>
                                        <p:cTn id="646" dur="950" decel="100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647" dur="950" decel="100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8" presetID="2" presetClass="entr" presetSubtype="4" fill="hold" nodeType="withEffect">
                                  <p:stCondLst>
                                    <p:cond delay="867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0" dur="427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Motion origin="layout" path="M -0.5570 0.0410 C -0.1114 0.0451 -0.0279 0.0123 0 0 E" pathEditMode="relative" ptsTypes="">
                                      <p:cBhvr>
                                        <p:cTn id="651" dur="950" decel="100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652" dur="950" decel="100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3" presetID="2" presetClass="entr" presetSubtype="4" fill="hold" nodeType="withEffect">
                                  <p:stCondLst>
                                    <p:cond delay="867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427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Motion origin="layout" path="M -0.1100 0.1000 C -0.0220 0.1100 -0.0055 0.0300 0 0 E" pathEditMode="relative" ptsTypes="">
                                      <p:cBhvr>
                                        <p:cTn id="656" dur="950" decel="100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657" dur="950" decel="100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8" presetID="2" presetClass="entr" presetSubtype="4" fill="hold" nodeType="withEffect">
                                  <p:stCondLst>
                                    <p:cond delay="868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0" dur="427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Motion origin="layout" path="M 0.1460 -0.4910 C 0.0292 -0.5401 0.0073 -0.1473 0 0 E" pathEditMode="relative" ptsTypes="">
                                      <p:cBhvr>
                                        <p:cTn id="661" dur="950" decel="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662" dur="950" decel="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3" presetID="2" presetClass="entr" presetSubtype="4" fill="hold" nodeType="withEffect">
                                  <p:stCondLst>
                                    <p:cond delay="873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5" dur="427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Motion origin="layout" path="M 0.3850 -0.4760 C 0.0770 -0.5236 0.0193 -0.1428 0 0 E" pathEditMode="relative" ptsTypes="">
                                      <p:cBhvr>
                                        <p:cTn id="666" dur="950" decel="100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667" dur="950" decel="100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8" presetID="2" presetClass="entr" presetSubtype="4" fill="hold" nodeType="withEffect">
                                  <p:stCondLst>
                                    <p:cond delay="873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0" dur="427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Motion origin="layout" path="M -0.0500 -0.3020 C -0.0100 -0.3322 -0.0025 -0.0906 0 0 E" pathEditMode="relative" ptsTypes="">
                                      <p:cBhvr>
                                        <p:cTn id="671" dur="950" decel="100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672" dur="950" decel="100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3" presetID="2" presetClass="entr" presetSubtype="4" fill="hold" nodeType="withEffect">
                                  <p:stCondLst>
                                    <p:cond delay="873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427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Motion origin="layout" path="M 0.3060 -0.1970 C 0.0612 -0.2167 0.0153 -0.0591 0 0 E" pathEditMode="relative" ptsTypes="">
                                      <p:cBhvr>
                                        <p:cTn id="676" dur="950" decel="100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677" dur="950" decel="100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8" presetID="2" presetClass="entr" presetSubtype="4" fill="hold" nodeType="withEffect">
                                  <p:stCondLst>
                                    <p:cond delay="876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0" dur="427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Motion origin="layout" path="M 0.4980 -0.2410 C 0.0996 -0.2651 0.0249 -0.0723 0 0 E" pathEditMode="relative" ptsTypes="">
                                      <p:cBhvr>
                                        <p:cTn id="681" dur="950" decel="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682" dur="950" decel="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3" presetID="2" presetClass="entr" presetSubtype="4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427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Motion origin="layout" path="M -0.2070 -0.4320 C -0.0414 -0.4752 -0.0103 -0.1296 0 0 E" pathEditMode="relative" ptsTypes="">
                                      <p:cBhvr>
                                        <p:cTn id="686" dur="950" decel="100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687" dur="950" decel="100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8" presetID="2" presetClass="entr" presetSubtype="4" fill="hold" nodeType="withEffect">
                                  <p:stCondLst>
                                    <p:cond delay="884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0" dur="427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Motion origin="layout" path="M -0.1950 0.0480 C -0.0390 0.0528 -0.0098 0.0144 0 0 E" pathEditMode="relative" ptsTypes="">
                                      <p:cBhvr>
                                        <p:cTn id="691" dur="950" decel="100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692" dur="950" decel="100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3" presetID="2" presetClass="entr" presetSubtype="4" fill="hold" nodeType="withEffect">
                                  <p:stCondLst>
                                    <p:cond delay="885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5" dur="427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Motion origin="layout" path="M 0.0600 -0.3030 C 0.0120 -0.3333 0.0030 -0.0909 0 0 E" pathEditMode="relative" ptsTypes="">
                                      <p:cBhvr>
                                        <p:cTn id="696" dur="950" decel="100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697" dur="950" decel="100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8" presetID="2" presetClass="entr" presetSubtype="4" fill="hold" nodeType="withEffect">
                                  <p:stCondLst>
                                    <p:cond delay="887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0" dur="427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Motion origin="layout" path="M 0.1920 0.0170 C 0.0384 0.0187 0.0096 0.0051 0 0 E" pathEditMode="relative" ptsTypes="">
                                      <p:cBhvr>
                                        <p:cTn id="701" dur="950" decel="100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702" dur="950" decel="100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3" presetID="2" presetClass="entr" presetSubtype="4" fill="hold" nodeType="withEffect">
                                  <p:stCondLst>
                                    <p:cond delay="898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427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Motion origin="layout" path="M -0.0400 0.3200 C -0.0080 0.3520 -0.0020 0.0960 0 0 E" pathEditMode="relative" ptsTypes="">
                                      <p:cBhvr>
                                        <p:cTn id="706" dur="950" decel="100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07" dur="950" decel="100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8" presetID="2" presetClass="entr" presetSubtype="4" fill="hold" nodeType="withEffect">
                                  <p:stCondLst>
                                    <p:cond delay="906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0" dur="427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Motion origin="layout" path="M -0.1730 -0.2940 C -0.0346 -0.3234 -0.0086 -0.0882 0 0 E" pathEditMode="relative" ptsTypes="">
                                      <p:cBhvr>
                                        <p:cTn id="711" dur="950" decel="100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12" dur="950" decel="100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3" presetID="2" presetClass="entr" presetSubtype="4" fill="hold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427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Motion origin="layout" path="M -0.0420 0.0690 C -0.0084 0.0759 -0.0021 0.0207 0 0 E" pathEditMode="relative" ptsTypes="">
                                      <p:cBhvr>
                                        <p:cTn id="716" dur="950" decel="100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17" dur="950" decel="100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8" presetID="2" presetClass="entr" presetSubtype="4" fill="hold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0" dur="427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Motion origin="layout" path="M -0.3360 -0.4490 C -0.0672 -0.4939 -0.0168 -0.1347 0 0 E" pathEditMode="relative" ptsTypes="">
                                      <p:cBhvr>
                                        <p:cTn id="721" dur="950" decel="100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22" dur="950" decel="100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3" presetID="2" presetClass="entr" presetSubtype="4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5" dur="427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Motion origin="layout" path="M -0.3310 -0.5070 C -0.0662 -0.5577 -0.0166 -0.1521 0 0 E" pathEditMode="relative" ptsTypes="">
                                      <p:cBhvr>
                                        <p:cTn id="726" dur="950" decel="100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27" dur="950" decel="100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8" presetID="2" presetClass="entr" presetSubtype="4" fill="hold" nodeType="withEffect">
                                  <p:stCondLst>
                                    <p:cond delay="914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0" dur="427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Motion origin="layout" path="M -0.2510 0.2270 C -0.0502 0.2497 -0.0126 0.0681 0 0 E" pathEditMode="relative" ptsTypes="">
                                      <p:cBhvr>
                                        <p:cTn id="731" dur="950" decel="100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32" dur="950" decel="100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3" presetID="2" presetClass="entr" presetSubtype="4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427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Motion origin="layout" path="M -0.0030 0.1580 C -0.0006 0.1738 -0.0002 0.0474 0 0 E" pathEditMode="relative" ptsTypes="">
                                      <p:cBhvr>
                                        <p:cTn id="736" dur="950" decel="100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37" dur="950" decel="100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8" presetID="2" presetClass="entr" presetSubtype="4" fill="hold" nodeType="withEffect">
                                  <p:stCondLst>
                                    <p:cond delay="923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0" dur="427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Motion origin="layout" path="M 0.3500 -0.0910 C 0.0700 -0.1001 0.0175 -0.0273 0 0 E" pathEditMode="relative" ptsTypes="">
                                      <p:cBhvr>
                                        <p:cTn id="741" dur="950" decel="100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742" dur="950" decel="100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3" presetID="2" presetClass="entr" presetSubtype="4" fill="hold" nodeType="withEffect">
                                  <p:stCondLst>
                                    <p:cond delay="924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427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Motion origin="layout" path="M -0.2060 -0.1920 C -0.0412 -0.2112 -0.0103 -0.0576 0 0 E" pathEditMode="relative" ptsTypes="">
                                      <p:cBhvr>
                                        <p:cTn id="746" dur="950" decel="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47" dur="950" decel="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8" presetID="2" presetClass="entr" presetSubtype="4" fill="hold" nodeType="withEffect">
                                  <p:stCondLst>
                                    <p:cond delay="924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0" dur="427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Motion origin="layout" path="M -0.2590 -0.4290 C -0.0518 -0.4719 -0.0130 -0.1287 0 0 E" pathEditMode="relative" ptsTypes="">
                                      <p:cBhvr>
                                        <p:cTn id="751" dur="950" decel="100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52" dur="950" decel="100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3" presetID="2" presetClass="entr" presetSubtype="4" fill="hold" nodeType="withEffect">
                                  <p:stCondLst>
                                    <p:cond delay="925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5" dur="427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Motion origin="layout" path="M 0.2470 -0.1000 C 0.0494 -0.1100 0.0123 -0.0300 0 0 E" pathEditMode="relative" ptsTypes="">
                                      <p:cBhvr>
                                        <p:cTn id="756" dur="950" decel="100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757" dur="950" decel="100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8" presetID="2" presetClass="entr" presetSubtype="4" fill="hold" nodeType="withEffect">
                                  <p:stCondLst>
                                    <p:cond delay="927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427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Motion origin="layout" path="M -0.0120 0.3090 C -0.0024 0.3399 -0.0006 0.0927 0 0 E" pathEditMode="relative" ptsTypes="">
                                      <p:cBhvr>
                                        <p:cTn id="761" dur="950" decel="100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62" dur="950" decel="100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3" presetID="2" presetClass="entr" presetSubtype="4" fill="hold" nodeType="withEffect">
                                  <p:stCondLst>
                                    <p:cond delay="927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427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Motion origin="layout" path="M 0.0590 0.1860 C 0.0118 0.2046 0.0029 0.0558 0 0 E" pathEditMode="relative" ptsTypes="">
                                      <p:cBhvr>
                                        <p:cTn id="766" dur="950" decel="100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767" dur="950" decel="100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8" presetID="2" presetClass="entr" presetSubtype="4" fill="hold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0" dur="427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Motion origin="layout" path="M 0.3530 -0.0220 C 0.0706 -0.0242 0.0176 -0.0066 0 0 E" pathEditMode="relative" ptsTypes="">
                                      <p:cBhvr>
                                        <p:cTn id="771" dur="950" decel="100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772" dur="950" decel="100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3" presetID="2" presetClass="entr" presetSubtype="4" fill="hold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427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Motion origin="layout" path="M 0.1030 -0.5730 C 0.0206 -0.6303 0.0052 -0.1719 0 0 E" pathEditMode="relative" ptsTypes="">
                                      <p:cBhvr>
                                        <p:cTn id="776" dur="950" decel="100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777" dur="950" decel="100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8" presetID="2" presetClass="entr" presetSubtype="4" fill="hold" nodeType="withEffect">
                                  <p:stCondLst>
                                    <p:cond delay="937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0" dur="427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Motion origin="layout" path="M -0.0400 0.2880 C -0.0080 0.3168 -0.0020 0.0864 0 0 E" pathEditMode="relative" ptsTypes="">
                                      <p:cBhvr>
                                        <p:cTn id="781" dur="95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82" dur="95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3" presetID="2" presetClass="entr" presetSubtype="4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5" dur="427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Motion origin="layout" path="M 0.4350 0.0050 C 0.0870 0.0055 0.0218 0.0015 0 0 E" pathEditMode="relative" ptsTypes="">
                                      <p:cBhvr>
                                        <p:cTn id="786" dur="950" decel="100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787" dur="950" decel="100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8" presetID="2" presetClass="entr" presetSubtype="4" fill="hold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427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Motion origin="layout" path="M -0.2760 -0.4840 C -0.0552 -0.5324 -0.0138 -0.1452 0 0 E" pathEditMode="relative" ptsTypes="">
                                      <p:cBhvr>
                                        <p:cTn id="791" dur="950" decel="100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792" dur="950" decel="100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3" presetID="2" presetClass="entr" presetSubtype="4" fill="hold" nodeType="withEffect">
                                  <p:stCondLst>
                                    <p:cond delay="956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427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Motion origin="layout" path="M 0.1800 0.1030 C 0.0360 0.1133 0.0090 0.0309 0 0 E" pathEditMode="relative" ptsTypes="">
                                      <p:cBhvr>
                                        <p:cTn id="796" dur="950" decel="100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797" dur="950" decel="100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8" presetID="2" presetClass="entr" presetSubtype="4" fill="hold" nodeType="withEffect">
                                  <p:stCondLst>
                                    <p:cond delay="959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0" dur="427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Motion origin="layout" path="M -0.1230 0.2180 C -0.0246 0.2398 -0.0062 0.0654 0 0 E" pathEditMode="relative" ptsTypes="">
                                      <p:cBhvr>
                                        <p:cTn id="801" dur="950" decel="100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02" dur="950" decel="100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3" presetID="2" presetClass="entr" presetSubtype="4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5" dur="427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Motion origin="layout" path="M 0.2600 -0.0930 C 0.0520 -0.1023 0.0130 -0.0279 0 0 E" pathEditMode="relative" ptsTypes="">
                                      <p:cBhvr>
                                        <p:cTn id="806" dur="950" decel="100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807" dur="950" decel="100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8" presetID="2" presetClass="entr" presetSubtype="4" fill="hold" nodeType="withEffect">
                                  <p:stCondLst>
                                    <p:cond delay="963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0" dur="427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Motion origin="layout" path="M -0.2170 -0.2550 C -0.0434 -0.2805 -0.0109 -0.0765 0 0 E" pathEditMode="relative" ptsTypes="">
                                      <p:cBhvr>
                                        <p:cTn id="811" dur="950" decel="100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12" dur="950" decel="100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3" presetID="2" presetClass="entr" presetSubtype="4" fill="hold" nodeType="withEffect">
                                  <p:stCondLst>
                                    <p:cond delay="964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5" dur="427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Motion origin="layout" path="M 0.2700 -0.0550 C 0.0540 -0.0605 0.0135 -0.0165 0 0 E" pathEditMode="relative" ptsTypes="">
                                      <p:cBhvr>
                                        <p:cTn id="816" dur="950" decel="100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817" dur="950" decel="100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8" presetID="2" presetClass="entr" presetSubtype="4" fill="hold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427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Motion origin="layout" path="M 0.4710 -0.2100 C 0.0942 -0.2310 0.0236 -0.0630 0 0 E" pathEditMode="relative" ptsTypes="">
                                      <p:cBhvr>
                                        <p:cTn id="821" dur="950" decel="100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822" dur="950" decel="100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3" presetID="2" presetClass="entr" presetSubtype="4" fill="hold" nodeType="withEffect">
                                  <p:stCondLst>
                                    <p:cond delay="971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427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Motion origin="layout" path="M -0.5100 -0.1430 C -0.1020 -0.1573 -0.0255 -0.0429 0 0 E" pathEditMode="relative" ptsTypes="">
                                      <p:cBhvr>
                                        <p:cTn id="826" dur="950" decel="100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27" dur="950" decel="100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8" presetID="2" presetClass="entr" presetSubtype="4" fill="hold" nodeType="withEffect">
                                  <p:stCondLst>
                                    <p:cond delay="973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0" dur="42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Motion origin="layout" path="M -0.0110 -0.4550 C -0.0022 -0.5005 -0.0006 -0.1365 0 0 E" pathEditMode="relative" ptsTypes="">
                                      <p:cBhvr>
                                        <p:cTn id="831" dur="950" decel="100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32" dur="950" decel="100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3" presetID="2" presetClass="entr" presetSubtype="4" fill="hold" nodeType="withEffect">
                                  <p:stCondLst>
                                    <p:cond delay="976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427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Motion origin="layout" path="M -0.1350 0.1070 C -0.0270 0.1177 -0.0068 0.0321 0 0 E" pathEditMode="relative" ptsTypes="">
                                      <p:cBhvr>
                                        <p:cTn id="836" dur="950" decel="100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37" dur="950" decel="100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8" presetID="2" presetClass="entr" presetSubtype="4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0" dur="427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Motion origin="layout" path="M -0.5280 -0.0300 C -0.1056 -0.0330 -0.0264 -0.0090 0 0 E" pathEditMode="relative" ptsTypes="">
                                      <p:cBhvr>
                                        <p:cTn id="841" dur="950" decel="100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42" dur="950" decel="100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3" presetID="2" presetClass="entr" presetSubtype="4" fill="hold" nodeType="withEffect">
                                  <p:stCondLst>
                                    <p:cond delay="984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5" dur="427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Motion origin="layout" path="M 0.3540 -0.2120 C 0.0708 -0.2332 0.0177 -0.0636 0 0 E" pathEditMode="relative" ptsTypes="">
                                      <p:cBhvr>
                                        <p:cTn id="846" dur="950" decel="100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847" dur="950" decel="100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8" presetID="2" presetClass="entr" presetSubtype="4" fill="hold" nodeType="withEffect">
                                  <p:stCondLst>
                                    <p:cond delay="985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427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Motion origin="layout" path="M -0.2760 0.0460 C -0.0552 0.0506 -0.0138 0.0138 0 0 E" pathEditMode="relative" ptsTypes="">
                                      <p:cBhvr>
                                        <p:cTn id="851" dur="950" decel="100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52" dur="950" decel="100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3" presetID="2" presetClass="entr" presetSubtype="4" fill="hold" nodeType="withEffect">
                                  <p:stCondLst>
                                    <p:cond delay="986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427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Motion origin="layout" path="M -0.4560 -0.0870 C -0.0912 -0.0957 -0.0228 -0.0261 0 0 E" pathEditMode="relative" ptsTypes="">
                                      <p:cBhvr>
                                        <p:cTn id="856" dur="950" decel="100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57" dur="950" decel="100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8" presetID="2" presetClass="entr" presetSubtype="4" fill="hold" nodeType="withEffect">
                                  <p:stCondLst>
                                    <p:cond delay="987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0" dur="427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Motion origin="layout" path="M -0.0620 0.1900 C -0.0124 0.2090 -0.0031 0.0570 0 0 E" pathEditMode="relative" ptsTypes="">
                                      <p:cBhvr>
                                        <p:cTn id="861" dur="950" decel="100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62" dur="950" decel="100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3" presetID="2" presetClass="entr" presetSubtype="4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5" dur="427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Motion origin="layout" path="M 0.0260 -0.5240 C 0.0052 -0.5764 0.0013 -0.1572 0 0 E" pathEditMode="relative" ptsTypes="">
                                      <p:cBhvr>
                                        <p:cTn id="866" dur="950" decel="100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867" dur="950" decel="100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8" presetID="2" presetClass="entr" presetSubtype="4" fill="hold" nodeType="withEffect">
                                  <p:stCondLst>
                                    <p:cond delay="992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0" dur="427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Motion origin="layout" path="M -0.0740 0.3500 C -0.0148 0.3850 -0.0037 0.1050 0 0 E" pathEditMode="relative" ptsTypes="">
                                      <p:cBhvr>
                                        <p:cTn id="871" dur="950" decel="100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72" dur="950" decel="100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3" presetID="2" presetClass="entr" presetSubtype="4" fill="hold" nodeType="withEffect">
                                  <p:stCondLst>
                                    <p:cond delay="992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5" dur="427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Motion origin="layout" path="M 0.1600 -0.3120 C 0.0320 -0.3432 0.0080 -0.0936 0 0 E" pathEditMode="relative" ptsTypes="">
                                      <p:cBhvr>
                                        <p:cTn id="876" dur="950" decel="100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877" dur="950" decel="100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8" presetID="2" presetClass="entr" presetSubtype="4" fill="hold" nodeType="withEffect">
                                  <p:stCondLst>
                                    <p:cond delay="994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0" dur="427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Motion origin="layout" path="M 0.2130 -0.0210 C 0.0426 -0.0231 0.0106 -0.0063 0 0 E" pathEditMode="relative" ptsTypes="">
                                      <p:cBhvr>
                                        <p:cTn id="881" dur="950" decel="100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882" dur="950" decel="100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3" presetID="2" presetClass="entr" presetSubtype="4" fill="hold" nodeType="withEffect">
                                  <p:stCondLst>
                                    <p:cond delay="996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427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Motion origin="layout" path="M 0.5750 -0.2250 C 0.1150 -0.2475 0.0287 -0.0675 0 0 E" pathEditMode="relative" ptsTypes="">
                                      <p:cBhvr>
                                        <p:cTn id="886" dur="950" decel="100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887" dur="950" decel="100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0" dur="45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1" dur="450" decel="100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2" presetID="2" presetClass="entr" presetSubtype="4" fill="hold" nodeType="withEffect">
                                  <p:stCondLst>
                                    <p:cond delay="1007"/>
                                  </p:stCondLst>
                                  <p:childTnLs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4" dur="427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Motion origin="layout" path="M -0.4630 -0.4050 C -0.0926 -0.4455 -0.0232 -0.1215 0 0 E" pathEditMode="relative" ptsTypes="">
                                      <p:cBhvr>
                                        <p:cTn id="895" dur="950" decel="100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896" dur="950" decel="100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7" presetID="2" presetClass="entr" presetSubtype="4" fill="hold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9" dur="427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Motion origin="layout" path="M 0.2940 -0.4180 C 0.0588 -0.4598 0.0147 -0.1254 0 0 E" pathEditMode="relative" ptsTypes="">
                                      <p:cBhvr>
                                        <p:cTn id="900" dur="950" decel="100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01" dur="950" decel="100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2" presetID="2" presetClass="entr" presetSubtype="4" fill="hold" nodeType="withEffect">
                                  <p:stCondLst>
                                    <p:cond delay="1012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4" dur="427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Motion origin="layout" path="M 0.0150 0.2870 C 0.0030 0.3157 0.0008 0.0861 0 0 E" pathEditMode="relative" ptsTypes="">
                                      <p:cBhvr>
                                        <p:cTn id="905" dur="950" decel="100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06" dur="950" decel="100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7" presetID="2" presetClass="entr" presetSubtype="4" fill="hold" nodeType="withEffect">
                                  <p:stCondLst>
                                    <p:cond delay="1012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427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Motion origin="layout" path="M -0.3260 -0.3310 C -0.0652 -0.3641 -0.0163 -0.0993 0 0 E" pathEditMode="relative" ptsTypes="">
                                      <p:cBhvr>
                                        <p:cTn id="910" dur="950" decel="100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11" dur="950" decel="100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2" presetID="2" presetClass="entr" presetSubtype="4" fill="hold" nodeType="withEffect">
                                  <p:stCondLst>
                                    <p:cond delay="1014"/>
                                  </p:stCondLst>
                                  <p:childTnLst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4" dur="427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Motion origin="layout" path="M -0.4310 -0.1540 C -0.0862 -0.1694 -0.0215 -0.0462 0 0 E" pathEditMode="relative" ptsTypes="">
                                      <p:cBhvr>
                                        <p:cTn id="915" dur="950" decel="100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16" dur="950" decel="100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7" presetID="2" presetClass="entr" presetSubtype="4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427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Motion origin="layout" path="M -0.1070 -0.3110 C -0.0214 -0.3421 -0.0054 -0.0933 0 0 E" pathEditMode="relative" ptsTypes="">
                                      <p:cBhvr>
                                        <p:cTn id="920" dur="950" decel="100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21" dur="950" decel="100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2" presetID="2" presetClass="entr" presetSubtype="4" fill="hold" nodeType="withEffect">
                                  <p:stCondLst>
                                    <p:cond delay="1019"/>
                                  </p:stCondLst>
                                  <p:childTnLs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4" dur="427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Motion origin="layout" path="M -0.3160 -0.1840 C -0.0632 -0.2024 -0.0158 -0.0552 0 0 E" pathEditMode="relative" ptsTypes="">
                                      <p:cBhvr>
                                        <p:cTn id="925" dur="950" decel="100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26" dur="950" decel="100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7" presetID="2" presetClass="entr" presetSubtype="4" fill="hold" nodeType="withEffect">
                                  <p:stCondLst>
                                    <p:cond delay="1029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9" dur="427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Motion origin="layout" path="M -0.4840 -0.2010 C -0.0968 -0.2211 -0.0242 -0.0603 0 0 E" pathEditMode="relative" ptsTypes="">
                                      <p:cBhvr>
                                        <p:cTn id="930" dur="950" decel="100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31" dur="950" decel="100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2" presetID="2" presetClass="entr" presetSubtype="4" fill="hold" nodeType="withEffect">
                                  <p:stCondLst>
                                    <p:cond delay="1032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4" dur="427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Motion origin="layout" path="M 0.2100 0.0650 C 0.0420 0.0715 0.0105 0.0195 0 0 E" pathEditMode="relative" ptsTypes="">
                                      <p:cBhvr>
                                        <p:cTn id="935" dur="950" decel="100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36" dur="950" decel="100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7" presetID="2" presetClass="entr" presetSubtype="4" fill="hold" nodeType="withEffect">
                                  <p:stCondLst>
                                    <p:cond delay="1033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427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Motion origin="layout" path="M 0.1060 -0.4980 C 0.0212 -0.5478 0.0053 -0.1494 0 0 E" pathEditMode="relative" ptsTypes="">
                                      <p:cBhvr>
                                        <p:cTn id="940" dur="950" decel="100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41" dur="950" decel="100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2" presetID="2" presetClass="entr" presetSubtype="4" fill="hold" nodeType="withEffect">
                                  <p:stCondLst>
                                    <p:cond delay="1038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4" dur="427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Motion origin="layout" path="M 0.5260 -0.3210 C 0.1052 -0.3531 0.0263 -0.0963 0 0 E" pathEditMode="relative" ptsTypes="">
                                      <p:cBhvr>
                                        <p:cTn id="945" dur="950" decel="100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46" dur="950" decel="100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7" presetID="2" presetClass="entr" presetSubtype="4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9" dur="427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Motion origin="layout" path="M -0.0890 0.1500 C -0.0178 0.1650 -0.0044 0.0450 0 0 E" pathEditMode="relative" ptsTypes="">
                                      <p:cBhvr>
                                        <p:cTn id="950" dur="950" decel="100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51" dur="950" decel="100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2" presetID="2" presetClass="entr" presetSubtype="4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427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Motion origin="layout" path="M 0.2150 -0.4600 C 0.0430 -0.5060 0.0108 -0.1380 0 0 E" pathEditMode="relative" ptsTypes="">
                                      <p:cBhvr>
                                        <p:cTn id="955" dur="950" decel="100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56" dur="950" decel="100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7" presetID="2" presetClass="entr" presetSubtype="4" fill="hold" nodeType="withEffect">
                                  <p:stCondLst>
                                    <p:cond delay="1066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9" dur="427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Motion origin="layout" path="M 0.2480 0.1670 C 0.0496 0.1837 0.0124 0.0501 0 0 E" pathEditMode="relative" ptsTypes="">
                                      <p:cBhvr>
                                        <p:cTn id="960" dur="950" decel="100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61" dur="950" decel="100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2" presetID="2" presetClass="entr" presetSubtype="4" fill="hold" nodeType="withEffect">
                                  <p:stCondLst>
                                    <p:cond delay="1067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4" dur="427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Motion origin="layout" path="M -0.5740 -0.2530 C -0.1148 -0.2783 -0.0287 -0.0759 0 0 E" pathEditMode="relative" ptsTypes="">
                                      <p:cBhvr>
                                        <p:cTn id="965" dur="950" decel="100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66" dur="950" decel="100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7" presetID="2" presetClass="entr" presetSubtype="4" fill="hold" nodeType="withEffect">
                                  <p:stCondLst>
                                    <p:cond delay="1068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9" dur="427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Motion origin="layout" path="M -0.2230 -0.2960 C -0.0446 -0.3256 -0.0112 -0.0888 0 0 E" pathEditMode="relative" ptsTypes="">
                                      <p:cBhvr>
                                        <p:cTn id="970" dur="950" decel="100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71" dur="950" decel="100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2" presetID="2" presetClass="entr" presetSubtype="4" fill="hold" nodeType="withEffect">
                                  <p:stCondLst>
                                    <p:cond delay="1068"/>
                                  </p:stCondLst>
                                  <p:childTnLst>
                                    <p:set>
                                      <p:cBhvr>
                                        <p:cTn id="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4" dur="427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Motion origin="layout" path="M 0.2280 -0.1910 C 0.0456 -0.2101 0.0114 -0.0573 0 0 E" pathEditMode="relative" ptsTypes="">
                                      <p:cBhvr>
                                        <p:cTn id="975" dur="950" decel="100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76" dur="950" decel="100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7" presetID="2" presetClass="entr" presetSubtype="4" fill="hold" nodeType="withEffect">
                                  <p:stCondLst>
                                    <p:cond delay="1068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9" dur="427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Motion origin="layout" path="M -0.2670 0.0550 C -0.0534 0.0605 -0.0134 0.0165 0 0 E" pathEditMode="relative" ptsTypes="">
                                      <p:cBhvr>
                                        <p:cTn id="980" dur="950" decel="100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981" dur="950" decel="100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2" presetID="2" presetClass="entr" presetSubtype="4" fill="hold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4" dur="427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Motion origin="layout" path="M 0.2920 -0.2810 C 0.0584 -0.3091 0.0146 -0.0843 0 0 E" pathEditMode="relative" ptsTypes="">
                                      <p:cBhvr>
                                        <p:cTn id="985" dur="950" decel="100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86" dur="950" decel="100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7" presetID="2" presetClass="entr" presetSubtype="4" fill="hold" nodeType="withEffect">
                                  <p:stCondLst>
                                    <p:cond delay="1071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9" dur="427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Motion origin="layout" path="M 0.4230 -0.0590 C 0.0846 -0.0649 0.0212 -0.0177 0 0 E" pathEditMode="relative" ptsTypes="">
                                      <p:cBhvr>
                                        <p:cTn id="990" dur="950" decel="100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91" dur="950" decel="100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2" presetID="2" presetClass="entr" presetSubtype="4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427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Motion origin="layout" path="M 0.0470 -0.4820 C 0.0094 -0.5302 0.0024 -0.1446 0 0 E" pathEditMode="relative" ptsTypes="">
                                      <p:cBhvr>
                                        <p:cTn id="995" dur="950" decel="100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996" dur="950" decel="100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7" presetID="2" presetClass="entr" presetSubtype="4" fill="hold" nodeType="withEffect">
                                  <p:stCondLst>
                                    <p:cond delay="1121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9" dur="427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Motion origin="layout" path="M -0.2930 -0.0920 C -0.0586 -0.1012 -0.0146 -0.0276 0 0 E" pathEditMode="relative" ptsTypes="">
                                      <p:cBhvr>
                                        <p:cTn id="1000" dur="950" decel="100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01" dur="950" decel="100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2" presetID="2" presetClass="entr" presetSubtype="4" fill="hold" nodeType="withEffect">
                                  <p:stCondLst>
                                    <p:cond delay="1129"/>
                                  </p:stCondLst>
                                  <p:childTnLs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4" dur="427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Motion origin="layout" path="M -0.2230 -0.2220 C -0.0446 -0.2442 -0.0112 -0.0666 0 0 E" pathEditMode="relative" ptsTypes="">
                                      <p:cBhvr>
                                        <p:cTn id="1005" dur="950" decel="100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06" dur="950" decel="100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7" presetID="2" presetClass="entr" presetSubtype="4" fill="hold" nodeType="withEffect">
                                  <p:stCondLst>
                                    <p:cond delay="1135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9" dur="427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Motion origin="layout" path="M -0.4890 -0.3580 C -0.0978 -0.3938 -0.0244 -0.1074 0 0 E" pathEditMode="relative" ptsTypes="">
                                      <p:cBhvr>
                                        <p:cTn id="1010" dur="950" decel="100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11" dur="950" decel="100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2" presetID="2" presetClass="entr" presetSubtype="4" fill="hold" nodeType="withEffect">
                                  <p:stCondLst>
                                    <p:cond delay="1144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4" dur="427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Motion origin="layout" path="M -0.0980 0.1170 C -0.0196 0.1287 -0.0049 0.0351 0 0 E" pathEditMode="relative" ptsTypes="">
                                      <p:cBhvr>
                                        <p:cTn id="1015" dur="950" decel="100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16" dur="950" decel="100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7" presetID="2" presetClass="entr" presetSubtype="4" fill="hold" nodeType="withEffect">
                                  <p:stCondLst>
                                    <p:cond delay="1145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9" dur="427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animMotion origin="layout" path="M 0.0490 0.0540 C 0.0098 0.0594 0.0025 0.0162 0 0 E" pathEditMode="relative" ptsTypes="">
                                      <p:cBhvr>
                                        <p:cTn id="1020" dur="950" decel="100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021" dur="950" decel="100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2" presetID="2" presetClass="entr" presetSubtype="4" fill="hold" nodeType="withEffect">
                                  <p:stCondLst>
                                    <p:cond delay="1154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4" dur="427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Motion origin="layout" path="M -0.0240 0.1710 C -0.0048 0.1881 -0.0012 0.0513 0 0 E" pathEditMode="relative" ptsTypes="">
                                      <p:cBhvr>
                                        <p:cTn id="1025" dur="950" decel="100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26" dur="950" decel="100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7" presetID="2" presetClass="entr" presetSubtype="4" fill="hold" nodeType="withEffect">
                                  <p:stCondLst>
                                    <p:cond delay="1169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9" dur="427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Motion origin="layout" path="M -0.3970 -0.1280 C -0.0794 -0.1408 -0.0199 -0.0384 0 0 E" pathEditMode="relative" ptsTypes="">
                                      <p:cBhvr>
                                        <p:cTn id="1030" dur="950" decel="100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31" dur="950" decel="100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2" presetID="2" presetClass="entr" presetSubtype="4" fill="hold" nodeType="withEffect">
                                  <p:stCondLst>
                                    <p:cond delay="1182"/>
                                  </p:stCondLst>
                                  <p:childTnLst>
                                    <p:set>
                                      <p:cBhvr>
                                        <p:cTn id="1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4" dur="427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Motion origin="layout" path="M 0.0590 0.2400 C 0.0118 0.2640 0.0029 0.0720 0 0 E" pathEditMode="relative" ptsTypes="">
                                      <p:cBhvr>
                                        <p:cTn id="1035" dur="950" decel="100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036" dur="950" decel="100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7" presetID="2" presetClass="entr" presetSubtype="4" fill="hold" nodeType="withEffect">
                                  <p:stCondLst>
                                    <p:cond delay="1218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9" dur="427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Motion origin="layout" path="M 0.2450 -0.0310 C 0.0490 -0.0341 0.0123 -0.0093 0 0 E" pathEditMode="relative" ptsTypes="">
                                      <p:cBhvr>
                                        <p:cTn id="1040" dur="950" decel="100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041" dur="950" decel="100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2" presetID="2" presetClass="entr" presetSubtype="4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4" dur="427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Motion origin="layout" path="M -0.0120 -0.4910 C -0.0024 -0.5401 -0.0006 -0.1473 0 0 E" pathEditMode="relative" ptsTypes="">
                                      <p:cBhvr>
                                        <p:cTn id="1045" dur="950" decel="100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46" dur="950" decel="100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7" presetID="2" presetClass="entr" presetSubtype="4" fill="hold" nodeType="withEffect">
                                  <p:stCondLst>
                                    <p:cond delay="1267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9" dur="427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Motion origin="layout" path="M 0.2470 0.2820 C 0.0494 0.3102 0.0123 0.0846 0 0 E" pathEditMode="relative" ptsTypes="">
                                      <p:cBhvr>
                                        <p:cTn id="1050" dur="950" decel="100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051" dur="950" decel="100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2" presetID="2" presetClass="entr" presetSubtype="4" fill="hold" nodeType="withEffect">
                                  <p:stCondLst>
                                    <p:cond delay="1283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4" dur="427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Motion origin="layout" path="M -0.0040 -0.4080 C -0.0008 -0.4488 -0.0002 -0.1224 0 0 E" pathEditMode="relative" ptsTypes="">
                                      <p:cBhvr>
                                        <p:cTn id="1055" dur="950" decel="100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56" dur="950" decel="100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7" presetID="2" presetClass="entr" presetSubtype="4" fill="hold" nodeType="withEffect">
                                  <p:stCondLst>
                                    <p:cond delay="1287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9" dur="427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animMotion origin="layout" path="M 0.3480 0.1890 C 0.0696 0.2079 0.0174 0.0567 0 0 E" pathEditMode="relative" ptsTypes="">
                                      <p:cBhvr>
                                        <p:cTn id="1060" dur="950" decel="100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061" dur="950" decel="100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2" presetID="2" presetClass="entr" presetSubtype="4" fill="hold" nodeType="withEffect">
                                  <p:stCondLst>
                                    <p:cond delay="1292"/>
                                  </p:stCondLst>
                                  <p:childTnLst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4" dur="427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animMotion origin="layout" path="M 0.0770 0.2150 C 0.0154 0.2365 0.0039 0.0645 0 0 E" pathEditMode="relative" ptsTypes="">
                                      <p:cBhvr>
                                        <p:cTn id="1065" dur="950" decel="100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066" dur="950" decel="100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7" presetID="2" presetClass="entr" presetSubtype="4" fill="hold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9" dur="427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Motion origin="layout" path="M -0.2290 -0.3870 C -0.0458 -0.4257 -0.0115 -0.1161 0 0 E" pathEditMode="relative" ptsTypes="">
                                      <p:cBhvr>
                                        <p:cTn id="1070" dur="950" decel="100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71" dur="950" decel="100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2" presetID="2" presetClass="entr" presetSubtype="4" fill="hold" nodeType="withEffect">
                                  <p:stCondLst>
                                    <p:cond delay="1302"/>
                                  </p:stCondLst>
                                  <p:childTnLst>
                                    <p:set>
                                      <p:cBhvr>
                                        <p:cTn id="1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4" dur="427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animMotion origin="layout" path="M -0.0310 -0.5920 C -0.0062 -0.6512 -0.0016 -0.1776 0 0 E" pathEditMode="relative" ptsTypes="">
                                      <p:cBhvr>
                                        <p:cTn id="1075" dur="950" decel="100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76" dur="950" decel="100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7" presetID="2" presetClass="entr" presetSubtype="4" fill="hold" nodeType="withEffect">
                                  <p:stCondLst>
                                    <p:cond delay="1312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9" dur="427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Motion origin="layout" path="M -0.1270 -0.3420 C -0.0254 -0.3762 -0.0064 -0.1026 0 0 E" pathEditMode="relative" ptsTypes="">
                                      <p:cBhvr>
                                        <p:cTn id="1080" dur="950" decel="100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81" dur="950" decel="100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2" presetID="2" presetClass="entr" presetSubtype="4" fill="hold" nodeType="withEffect">
                                  <p:stCondLst>
                                    <p:cond delay="1318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4" dur="427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Motion origin="layout" path="M -0.4850 -0.3570 C -0.0970 -0.3927 -0.0243 -0.1071 0 0 E" pathEditMode="relative" ptsTypes="">
                                      <p:cBhvr>
                                        <p:cTn id="1085" dur="950" decel="100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86" dur="950" decel="100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7" presetID="2" presetClass="entr" presetSubtype="4" fill="hold" nodeType="withEffect">
                                  <p:stCondLst>
                                    <p:cond delay="1321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9" dur="427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Motion origin="layout" path="M 0.5040 -0.0350 C 0.1008 -0.0385 0.0252 -0.0105 0 0 E" pathEditMode="relative" ptsTypes="">
                                      <p:cBhvr>
                                        <p:cTn id="1090" dur="950" decel="100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091" dur="950" decel="100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2" presetID="2" presetClass="entr" presetSubtype="4" fill="hold" nodeType="withEffect">
                                  <p:stCondLst>
                                    <p:cond delay="1328"/>
                                  </p:stCondLst>
                                  <p:childTnLst>
                                    <p:set>
                                      <p:cBhvr>
                                        <p:cTn id="10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4" dur="427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Motion origin="layout" path="M -0.2090 0.0140 C -0.0418 0.0154 -0.0105 0.0042 0 0 E" pathEditMode="relative" ptsTypes="">
                                      <p:cBhvr>
                                        <p:cTn id="1095" dur="950" decel="1000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096" dur="950" decel="1000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7" presetID="2" presetClass="entr" presetSubtype="4" fill="hold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9" dur="427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animMotion origin="layout" path="M -0.2740 0.1670 C -0.0548 0.1837 -0.0137 0.0501 0 0 E" pathEditMode="relative" ptsTypes="">
                                      <p:cBhvr>
                                        <p:cTn id="1100" dur="950" decel="100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101" dur="950" decel="100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2" presetID="2" presetClass="entr" presetSubtype="4" fill="hold" nodeType="withEffect">
                                  <p:stCondLst>
                                    <p:cond delay="1336"/>
                                  </p:stCondLst>
                                  <p:childTnLst>
                                    <p:set>
                                      <p:cBhvr>
                                        <p:cTn id="1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4" dur="427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Motion origin="layout" path="M -0.2730 0.1220 C -0.0546 0.1342 -0.0137 0.0366 0 0 E" pathEditMode="relative" ptsTypes="">
                                      <p:cBhvr>
                                        <p:cTn id="1105" dur="950" decel="100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106" dur="950" decel="100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7" presetID="2" presetClass="entr" presetSubtype="4" fill="hold" nodeType="withEffect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1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9" dur="427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Motion origin="layout" path="M 0.3090 -0.0470 C 0.0618 -0.0517 0.0155 -0.0141 0 0 E" pathEditMode="relative" ptsTypes="">
                                      <p:cBhvr>
                                        <p:cTn id="1110" dur="950" decel="100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11" dur="950" decel="100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2" presetID="2" presetClass="entr" presetSubtype="4" fill="hold" nodeType="withEffect">
                                  <p:stCondLst>
                                    <p:cond delay="1348"/>
                                  </p:stCondLst>
                                  <p:childTnLst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4" dur="427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Motion origin="layout" path="M -0.0730 -0.5580 C -0.0146 -0.6138 -0.0037 -0.1674 0 0 E" pathEditMode="relative" ptsTypes="">
                                      <p:cBhvr>
                                        <p:cTn id="1115" dur="950" decel="100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116" dur="950" decel="100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7" presetID="2" presetClass="entr" presetSubtype="4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9" dur="427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Motion origin="layout" path="M 0.1970 -0.2690 C 0.0394 -0.2959 0.0099 -0.0807 0 0 E" pathEditMode="relative" ptsTypes="">
                                      <p:cBhvr>
                                        <p:cTn id="1120" dur="950" decel="100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21" dur="950" decel="100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2" presetID="2" presetClass="entr" presetSubtype="4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4" dur="42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Motion origin="layout" path="M 0.0280 0.3290 C 0.0056 0.3619 0.0014 0.0987 0 0 E" pathEditMode="relative" ptsTypes="">
                                      <p:cBhvr>
                                        <p:cTn id="1125" dur="950" decel="100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26" dur="950" decel="100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7" presetID="2" presetClass="entr" presetSubtype="4" fill="hold" nodeType="withEffect">
                                  <p:stCondLst>
                                    <p:cond delay="1362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9" dur="427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Motion origin="layout" path="M 0.3280 -0.1620 C 0.0656 -0.1782 0.0164 -0.0486 0 0 E" pathEditMode="relative" ptsTypes="">
                                      <p:cBhvr>
                                        <p:cTn id="1130" dur="950" decel="100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31" dur="950" decel="100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2" presetID="2" presetClass="entr" presetSubtype="4" fill="hold" nodeType="withEffect">
                                  <p:stCondLst>
                                    <p:cond delay="1368"/>
                                  </p:stCondLst>
                                  <p:childTnLst>
                                    <p:set>
                                      <p:cBhvr>
                                        <p:cTn id="1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4" dur="427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Motion origin="layout" path="M 0.1280 0.0580 C 0.0256 0.0638 0.0064 0.0174 0 0 E" pathEditMode="relative" ptsTypes="">
                                      <p:cBhvr>
                                        <p:cTn id="1135" dur="950" decel="100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36" dur="950" decel="100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7" presetID="10" presetClass="entr" presetSubtype="0" fill="hold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9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0" presetID="2" presetClass="entr" presetSubtype="4" fill="hold" nodeType="withEffect">
                                  <p:stCondLst>
                                    <p:cond delay="1379"/>
                                  </p:stCondLst>
                                  <p:childTnLs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2" dur="427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animMotion origin="layout" path="M 0.0130 0.0880 C 0.0026 0.0968 0.0006 0.0264 0 0 E" pathEditMode="relative" ptsTypes="">
                                      <p:cBhvr>
                                        <p:cTn id="1143" dur="950" decel="100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44" dur="950" decel="100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5" presetID="2" presetClass="entr" presetSubtype="4" fill="hold" nodeType="withEffect">
                                  <p:stCondLst>
                                    <p:cond delay="1379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7" dur="427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Motion origin="layout" path="M -0.2470 0.2280 C -0.0494 0.2508 -0.0123 0.0684 0 0 E" pathEditMode="relative" ptsTypes="">
                                      <p:cBhvr>
                                        <p:cTn id="1148" dur="950" decel="100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149" dur="950" decel="100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0" presetID="2" presetClass="entr" presetSubtype="4" fill="hold" nodeType="withEffect">
                                  <p:stCondLst>
                                    <p:cond delay="1381"/>
                                  </p:stCondLst>
                                  <p:childTnLst>
                                    <p:set>
                                      <p:cBhvr>
                                        <p:cTn id="1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2" dur="42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Motion origin="layout" path="M -0.3700 -0.2580 C -0.0740 -0.2838 -0.0185 -0.0774 0 0 E" pathEditMode="relative" ptsTypes="">
                                      <p:cBhvr>
                                        <p:cTn id="1153" dur="950" decel="100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154" dur="950" decel="100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5" presetID="2" presetClass="entr" presetSubtype="4" fill="hold" nodeType="withEffect">
                                  <p:stCondLst>
                                    <p:cond delay="1382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7" dur="427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Motion origin="layout" path="M 0.1040 0.1640 C 0.0208 0.1804 0.0052 0.0492 0 0 E" pathEditMode="relative" ptsTypes="">
                                      <p:cBhvr>
                                        <p:cTn id="1158" dur="950" decel="100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59" dur="950" decel="100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0" presetID="2" presetClass="entr" presetSubtype="4" fill="hold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2" dur="427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Motion origin="layout" path="M -0.1660 0.0230 C -0.0332 0.0253 -0.0083 0.0069 0 0 E" pathEditMode="relative" ptsTypes="">
                                      <p:cBhvr>
                                        <p:cTn id="1163" dur="950" decel="100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164" dur="950" decel="100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5" presetID="2" presetClass="entr" presetSubtype="4" fill="hold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7" dur="427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animMotion origin="layout" path="M -0.1320 0.2900 C -0.0264 0.3190 -0.0066 0.0870 0 0 E" pathEditMode="relative" ptsTypes="">
                                      <p:cBhvr>
                                        <p:cTn id="1168" dur="950" decel="100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169" dur="950" decel="100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0" presetID="2" presetClass="entr" presetSubtype="4" fill="hold" nodeType="withEffect">
                                  <p:stCondLst>
                                    <p:cond delay="1392"/>
                                  </p:stCondLst>
                                  <p:childTnLst>
                                    <p:set>
                                      <p:cBhvr>
                                        <p:cTn id="1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2" dur="427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Motion origin="layout" path="M 0.0530 -0.4060 C 0.0106 -0.4466 0.0027 -0.1218 0 0 E" pathEditMode="relative" ptsTypes="">
                                      <p:cBhvr>
                                        <p:cTn id="1173" dur="950" decel="100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74" dur="950" decel="100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5" presetID="2" presetClass="entr" presetSubtype="4" fill="hold" nodeType="withEffect">
                                  <p:stCondLst>
                                    <p:cond delay="1394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7" dur="427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Motion origin="layout" path="M 0.3110 0.0580 C 0.0622 0.0638 0.0156 0.0174 0 0 E" pathEditMode="relative" ptsTypes="">
                                      <p:cBhvr>
                                        <p:cTn id="1178" dur="950" decel="100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79" dur="950" decel="100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0" presetID="2" presetClass="entr" presetSubtype="4" fill="hold" nodeType="withEffect">
                                  <p:stCondLst>
                                    <p:cond delay="1395"/>
                                  </p:stCondLst>
                                  <p:childTnLst>
                                    <p:set>
                                      <p:cBhvr>
                                        <p:cTn id="1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2" dur="427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Motion origin="layout" path="M -0.1380 -0.3370 C -0.0276 -0.3707 -0.0069 -0.1011 0 0 E" pathEditMode="relative" ptsTypes="">
                                      <p:cBhvr>
                                        <p:cTn id="1183" dur="950" decel="100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184" dur="950" decel="100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5" presetID="2" presetClass="entr" presetSubtype="4" fill="hold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7" dur="427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Motion origin="layout" path="M 0.1220 0.0880 C 0.0244 0.0968 0.0061 0.0264 0 0 E" pathEditMode="relative" ptsTypes="">
                                      <p:cBhvr>
                                        <p:cTn id="1188" dur="950" decel="100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89" dur="950" decel="100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0" presetID="2" presetClass="entr" presetSubtype="4" fill="hold" nodeType="withEffect">
                                  <p:stCondLst>
                                    <p:cond delay="1405"/>
                                  </p:stCondLst>
                                  <p:childTnLst>
                                    <p:set>
                                      <p:cBhvr>
                                        <p:cTn id="1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2" dur="427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Motion origin="layout" path="M 0.2100 -0.4220 C 0.0420 -0.4642 0.0105 -0.1266 0 0 E" pathEditMode="relative" ptsTypes="">
                                      <p:cBhvr>
                                        <p:cTn id="1193" dur="950" decel="100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194" dur="950" decel="100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5" presetID="2" presetClass="entr" presetSubtype="4" fill="hold" nodeType="withEffect">
                                  <p:stCondLst>
                                    <p:cond delay="1415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7" dur="427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Motion origin="layout" path="M -0.5150 0.0810 C -0.1030 0.0891 -0.0258 0.0243 0 0 E" pathEditMode="relative" ptsTypes="">
                                      <p:cBhvr>
                                        <p:cTn id="1198" dur="950" decel="100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199" dur="950" decel="100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0" presetID="2" presetClass="entr" presetSubtype="4" fill="hold" nodeType="withEffect">
                                  <p:stCondLst>
                                    <p:cond delay="1419"/>
                                  </p:stCondLst>
                                  <p:childTnLst>
                                    <p:set>
                                      <p:cBhvr>
                                        <p:cTn id="1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2" dur="427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animMotion origin="layout" path="M -0.2660 -0.0760 C -0.0532 -0.0836 -0.0133 -0.0228 0 0 E" pathEditMode="relative" ptsTypes="">
                                      <p:cBhvr>
                                        <p:cTn id="1203" dur="950" decel="100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204" dur="950" decel="100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5" presetID="2" presetClass="entr" presetSubtype="4" fill="hold" nodeType="withEffect">
                                  <p:stCondLst>
                                    <p:cond delay="1422"/>
                                  </p:stCondLst>
                                  <p:childTnLst>
                                    <p:set>
                                      <p:cBhvr>
                                        <p:cTn id="1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7" dur="427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Motion origin="layout" path="M 0.4300 0.0350 C 0.0860 0.0385 0.0215 0.0105 0 0 E" pathEditMode="relative" ptsTypes="">
                                      <p:cBhvr>
                                        <p:cTn id="1208" dur="950" decel="100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09" dur="950" decel="100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0" presetID="2" presetClass="entr" presetSubtype="4" fill="hold" nodeType="withEffect">
                                  <p:stCondLst>
                                    <p:cond delay="1426"/>
                                  </p:stCondLst>
                                  <p:childTnLst>
                                    <p:set>
                                      <p:cBhvr>
                                        <p:cTn id="1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2" dur="427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animMotion origin="layout" path="M 0.2160 0.2810 C 0.0432 0.3091 0.0108 0.0843 0 0 E" pathEditMode="relative" ptsTypes="">
                                      <p:cBhvr>
                                        <p:cTn id="1213" dur="950" decel="100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14" dur="950" decel="100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5" presetID="2" presetClass="entr" presetSubtype="4" fill="hold" nodeType="withEffect">
                                  <p:stCondLst>
                                    <p:cond delay="1429"/>
                                  </p:stCondLst>
                                  <p:childTnLst>
                                    <p:set>
                                      <p:cBhvr>
                                        <p:cTn id="1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7" dur="427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Motion origin="layout" path="M 0.0760 0.3550 C 0.0152 0.3905 0.0038 0.1065 0 0 E" pathEditMode="relative" ptsTypes="">
                                      <p:cBhvr>
                                        <p:cTn id="1218" dur="950" decel="100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19" dur="950" decel="100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0" presetID="2" presetClass="entr" presetSubtype="4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2" dur="427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animMotion origin="layout" path="M 0.4040 -0.2140 C 0.0808 -0.2354 0.0202 -0.0642 0 0 E" pathEditMode="relative" ptsTypes="">
                                      <p:cBhvr>
                                        <p:cTn id="1223" dur="950" decel="100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24" dur="950" decel="100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5" presetID="2" presetClass="entr" presetSubtype="4" fill="hold" nodeType="withEffect">
                                  <p:stCondLst>
                                    <p:cond delay="1432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7" dur="427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Motion origin="layout" path="M -0.3310 -0.0130 C -0.0662 -0.0143 -0.0166 -0.0039 0 0 E" pathEditMode="relative" ptsTypes="">
                                      <p:cBhvr>
                                        <p:cTn id="1228" dur="950" decel="100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229" dur="950" decel="100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0" presetID="2" presetClass="entr" presetSubtype="4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2" dur="427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Motion origin="layout" path="M 0.2010 0.0270 C 0.0402 0.0297 0.0101 0.0081 0 0 E" pathEditMode="relative" ptsTypes="">
                                      <p:cBhvr>
                                        <p:cTn id="1233" dur="950" decel="100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34" dur="950" decel="100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5" presetID="2" presetClass="entr" presetSubtype="4" fill="hold" nodeType="withEffect">
                                  <p:stCondLst>
                                    <p:cond delay="1437"/>
                                  </p:stCondLst>
                                  <p:childTnLst>
                                    <p:set>
                                      <p:cBhvr>
                                        <p:cTn id="1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7" dur="427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Motion origin="layout" path="M -0.2740 -0.0380 C -0.0548 -0.0418 -0.0137 -0.0114 0 0 E" pathEditMode="relative" ptsTypes="">
                                      <p:cBhvr>
                                        <p:cTn id="1238" dur="950" decel="100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239" dur="950" decel="100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0" presetID="2" presetClass="entr" presetSubtype="4" fill="hold" nodeType="withEffect">
                                  <p:stCondLst>
                                    <p:cond delay="1439"/>
                                  </p:stCondLst>
                                  <p:childTnLst>
                                    <p:set>
                                      <p:cBhvr>
                                        <p:cTn id="1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2" dur="427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Motion origin="layout" path="M -0.2860 -0.3530 C -0.0572 -0.3883 -0.0143 -0.1059 0 0 E" pathEditMode="relative" ptsTypes="">
                                      <p:cBhvr>
                                        <p:cTn id="1243" dur="950" decel="100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244" dur="950" decel="100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5" presetID="2" presetClass="entr" presetSubtype="4" fill="hold" nodeType="withEffect">
                                  <p:stCondLst>
                                    <p:cond delay="1442"/>
                                  </p:stCondLst>
                                  <p:childTnLst>
                                    <p:set>
                                      <p:cBhvr>
                                        <p:cTn id="1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7" dur="427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Motion origin="layout" path="M -0.3050 -0.2790 C -0.0610 -0.3069 -0.0152 -0.0837 0 0 E" pathEditMode="relative" ptsTypes="">
                                      <p:cBhvr>
                                        <p:cTn id="1248" dur="950" decel="100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249" dur="950" decel="100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0" presetID="2" presetClass="entr" presetSubtype="4" fill="hold" nodeType="withEffect">
                                  <p:stCondLst>
                                    <p:cond delay="1444"/>
                                  </p:stCondLst>
                                  <p:childTnLst>
                                    <p:set>
                                      <p:cBhvr>
                                        <p:cTn id="1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2" dur="427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Motion origin="layout" path="M 0.1800 -0.2410 C 0.0360 -0.2651 0.0090 -0.0723 0 0 E" pathEditMode="relative" ptsTypes="">
                                      <p:cBhvr>
                                        <p:cTn id="1253" dur="950" decel="100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54" dur="950" decel="100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5" presetID="2" presetClass="entr" presetSubtype="4" fill="hold" nodeType="withEffect">
                                  <p:stCondLst>
                                    <p:cond delay="1448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7" dur="427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Motion origin="layout" path="M 0.5360 -0.0930 C 0.1072 -0.1023 0.0268 -0.0279 0 0 E" pathEditMode="relative" ptsTypes="">
                                      <p:cBhvr>
                                        <p:cTn id="1258" dur="950" decel="100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59" dur="950" decel="100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0" presetID="2" presetClass="entr" presetSubtype="4" fill="hold" nodeType="withEffect">
                                  <p:stCondLst>
                                    <p:cond delay="1448"/>
                                  </p:stCondLst>
                                  <p:childTnLst>
                                    <p:set>
                                      <p:cBhvr>
                                        <p:cTn id="1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2" dur="427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animMotion origin="layout" path="M -0.2570 -0.5080 C -0.0514 -0.5588 -0.0129 -0.1524 0 0 E" pathEditMode="relative" ptsTypes="">
                                      <p:cBhvr>
                                        <p:cTn id="1263" dur="950" decel="100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264" dur="950" decel="100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5" presetID="2" presetClass="entr" presetSubtype="4" fill="hold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7" dur="427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animMotion origin="layout" path="M 0.2020 -0.3760 C 0.0404 -0.4136 0.0101 -0.1128 0 0 E" pathEditMode="relative" ptsTypes="">
                                      <p:cBhvr>
                                        <p:cTn id="1268" dur="950" decel="100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69" dur="950" decel="100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0" presetID="2" presetClass="entr" presetSubtype="4" fill="hold" nodeType="withEffect">
                                  <p:stCondLst>
                                    <p:cond delay="1451"/>
                                  </p:stCondLst>
                                  <p:childTnLst>
                                    <p:set>
                                      <p:cBhvr>
                                        <p:cTn id="1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2" dur="427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animMotion origin="layout" path="M 0.0080 0.2360 C 0.0016 0.2596 0.0004 0.0708 0 0 E" pathEditMode="relative" ptsTypes="">
                                      <p:cBhvr>
                                        <p:cTn id="1273" dur="950" decel="100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74" dur="950" decel="100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5" presetID="2" presetClass="entr" presetSubtype="4" fill="hold" nodeType="withEffect">
                                  <p:stCondLst>
                                    <p:cond delay="1454"/>
                                  </p:stCondLst>
                                  <p:childTnLst>
                                    <p:set>
                                      <p:cBhvr>
                                        <p:cTn id="1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7" dur="427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Motion origin="layout" path="M -0.2810 -0.0790 C -0.0562 -0.0869 -0.0141 -0.0237 0 0 E" pathEditMode="relative" ptsTypes="">
                                      <p:cBhvr>
                                        <p:cTn id="1278" dur="950" decel="100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279" dur="950" decel="100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0" presetID="2" presetClass="entr" presetSubtype="4" fill="hold" nodeType="withEffect">
                                  <p:stCondLst>
                                    <p:cond delay="1454"/>
                                  </p:stCondLst>
                                  <p:childTnLst>
                                    <p:set>
                                      <p:cBhvr>
                                        <p:cTn id="1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2" dur="427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Motion origin="layout" path="M 0.1600 0.2490 C 0.0320 0.2739 0.0080 0.0747 0 0 E" pathEditMode="relative" ptsTypes="">
                                      <p:cBhvr>
                                        <p:cTn id="1283" dur="950" decel="100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84" dur="950" decel="100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5" presetID="2" presetClass="entr" presetSubtype="4" fill="hold" nodeType="withEffect">
                                  <p:stCondLst>
                                    <p:cond delay="1462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7" dur="427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Motion origin="layout" path="M 0.3440 -0.3150 C 0.0688 -0.3465 0.0172 -0.0945 0 0 E" pathEditMode="relative" ptsTypes="">
                                      <p:cBhvr>
                                        <p:cTn id="1288" dur="950" decel="100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89" dur="950" decel="100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0" presetID="2" presetClass="entr" presetSubtype="4" fill="hold" nodeType="withEffect">
                                  <p:stCondLst>
                                    <p:cond delay="1467"/>
                                  </p:stCondLst>
                                  <p:childTnLst>
                                    <p:set>
                                      <p:cBhvr>
                                        <p:cTn id="1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2" dur="427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Motion origin="layout" path="M 0.1130 0.1380 C 0.0226 0.1518 0.0057 0.0414 0 0 E" pathEditMode="relative" ptsTypes="">
                                      <p:cBhvr>
                                        <p:cTn id="1293" dur="950" decel="100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294" dur="950" decel="100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5" presetID="2" presetClass="entr" presetSubtype="4" fill="hold" nodeType="withEffect">
                                  <p:stCondLst>
                                    <p:cond delay="1467"/>
                                  </p:stCondLst>
                                  <p:childTnLs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7" dur="427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animMotion origin="layout" path="M -0.2360 -0.1930 C -0.0472 -0.2123 -0.0118 -0.0579 0 0 E" pathEditMode="relative" ptsTypes="">
                                      <p:cBhvr>
                                        <p:cTn id="1298" dur="950" decel="100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299" dur="950" decel="100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0" presetID="2" presetClass="entr" presetSubtype="4" fill="hold" nodeType="withEffect">
                                  <p:stCondLst>
                                    <p:cond delay="1471"/>
                                  </p:stCondLst>
                                  <p:childTnLst>
                                    <p:set>
                                      <p:cBhvr>
                                        <p:cTn id="1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2" dur="427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Motion origin="layout" path="M -0.2340 -0.2310 C -0.0468 -0.2541 -0.0117 -0.0693 0 0 E" pathEditMode="relative" ptsTypes="">
                                      <p:cBhvr>
                                        <p:cTn id="1303" dur="950" decel="100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304" dur="950" decel="100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5" presetID="2" presetClass="entr" presetSubtype="4" fill="hold" nodeType="withEffect">
                                  <p:stCondLst>
                                    <p:cond delay="1475"/>
                                  </p:stCondLst>
                                  <p:childTnLst>
                                    <p:set>
                                      <p:cBhvr>
                                        <p:cTn id="1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7" dur="427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Motion origin="layout" path="M -0.0840 -0.4990 C -0.0168 -0.5489 -0.0042 -0.1497 0 0 E" pathEditMode="relative" ptsTypes="">
                                      <p:cBhvr>
                                        <p:cTn id="1308" dur="950" decel="100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309" dur="950" decel="100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0" presetID="2" presetClass="entr" presetSubtype="4" fill="hold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2" dur="427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Motion origin="layout" path="M -0.3310 0.1860 C -0.0662 0.2046 -0.0166 0.0558 0 0 E" pathEditMode="relative" ptsTypes="">
                                      <p:cBhvr>
                                        <p:cTn id="1313" dur="950" decel="100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314" dur="950" decel="100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5" presetID="2" presetClass="entr" presetSubtype="4" fill="hold" nodeType="withEffect">
                                  <p:stCondLst>
                                    <p:cond delay="1484"/>
                                  </p:stCondLst>
                                  <p:childTnLst>
                                    <p:set>
                                      <p:cBhvr>
                                        <p:cTn id="1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7" dur="427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animMotion origin="layout" path="M 0.1340 0.2900 C 0.0268 0.3190 0.0067 0.0870 0 0 E" pathEditMode="relative" ptsTypes="">
                                      <p:cBhvr>
                                        <p:cTn id="1318" dur="950" decel="1000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19" dur="950" decel="1000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0" presetID="2" presetClass="entr" presetSubtype="4" fill="hold" nodeType="withEffect">
                                  <p:stCondLst>
                                    <p:cond delay="1486"/>
                                  </p:stCondLst>
                                  <p:childTnLst>
                                    <p:set>
                                      <p:cBhvr>
                                        <p:cTn id="1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2" dur="427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Motion origin="layout" path="M 0.4550 0.0910 C 0.0910 0.1001 0.0228 0.0273 0 0 E" pathEditMode="relative" ptsTypes="">
                                      <p:cBhvr>
                                        <p:cTn id="1323" dur="950" decel="100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24" dur="950" decel="100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5" presetID="2" presetClass="entr" presetSubtype="4" fill="hold" nodeType="withEffect">
                                  <p:stCondLst>
                                    <p:cond delay="1487"/>
                                  </p:stCondLst>
                                  <p:childTnLst>
                                    <p:set>
                                      <p:cBhvr>
                                        <p:cTn id="1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7" dur="427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  <p:animMotion origin="layout" path="M 0.1220 0.0630 C 0.0244 0.0693 0.0061 0.0189 0 0 E" pathEditMode="relative" ptsTypes="">
                                      <p:cBhvr>
                                        <p:cTn id="1328" dur="950" decel="100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29" dur="950" decel="100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0" presetID="2" presetClass="entr" presetSubtype="4" fill="hold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2" dur="427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Motion origin="layout" path="M 0.3750 -0.3590 C 0.0750 -0.3949 0.0188 -0.1077 0 0 E" pathEditMode="relative" ptsTypes="">
                                      <p:cBhvr>
                                        <p:cTn id="1333" dur="950" decel="100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34" dur="950" decel="100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5" presetID="2" presetClass="entr" presetSubtype="4" fill="hold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7" dur="427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animMotion origin="layout" path="M 0.5880 -0.1760 C 0.1176 -0.1936 0.0294 -0.0528 0 0 E" pathEditMode="relative" ptsTypes="">
                                      <p:cBhvr>
                                        <p:cTn id="1338" dur="950" decel="100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39" dur="950" decel="100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0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2" dur="427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Motion origin="layout" path="M 0.1280 -0.3250 C 0.0256 -0.3575 0.0064 -0.0975 0 0 E" pathEditMode="relative" ptsTypes="">
                                      <p:cBhvr>
                                        <p:cTn id="1343" dur="950" decel="100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44" dur="950" decel="100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5" presetID="2" presetClass="entr" presetSubtype="4" fill="hold" nodeType="withEffect">
                                  <p:stCondLst>
                                    <p:cond delay="1501"/>
                                  </p:stCondLst>
                                  <p:childTnLst>
                                    <p:set>
                                      <p:cBhvr>
                                        <p:cTn id="1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7" dur="427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Motion origin="layout" path="M -0.0990 -0.3740 C -0.0198 -0.4114 -0.0050 -0.1122 0 0 E" pathEditMode="relative" ptsTypes="">
                                      <p:cBhvr>
                                        <p:cTn id="1348" dur="950" decel="100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349" dur="950" decel="100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0" presetID="2" presetClass="entr" presetSubtype="4" fill="hold" nodeType="withEffect">
                                  <p:stCondLst>
                                    <p:cond delay="1502"/>
                                  </p:stCondLst>
                                  <p:childTnLst>
                                    <p:set>
                                      <p:cBhvr>
                                        <p:cTn id="1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2" dur="427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animMotion origin="layout" path="M 0.0830 -0.4570 C 0.0166 -0.5027 0.0042 -0.1371 0 0 E" pathEditMode="relative" ptsTypes="">
                                      <p:cBhvr>
                                        <p:cTn id="1353" dur="950" decel="1000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54" dur="950" decel="1000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5" presetID="2" presetClass="entr" presetSubtype="4" fill="hold" nodeType="withEffect">
                                  <p:stCondLst>
                                    <p:cond delay="1524"/>
                                  </p:stCondLst>
                                  <p:childTnLst>
                                    <p:set>
                                      <p:cBhvr>
                                        <p:cTn id="1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7" dur="427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Motion origin="layout" path="M 0.5150 -0.1620 C 0.1030 -0.1782 0.0258 -0.0486 0 0 E" pathEditMode="relative" ptsTypes="">
                                      <p:cBhvr>
                                        <p:cTn id="1358" dur="950" decel="100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59" dur="950" decel="100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0" presetID="2" presetClass="entr" presetSubtype="4" fill="hold" nodeType="withEffect">
                                  <p:stCondLst>
                                    <p:cond delay="1526"/>
                                  </p:stCondLst>
                                  <p:childTnLst>
                                    <p:set>
                                      <p:cBhvr>
                                        <p:cTn id="1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2" dur="427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Motion origin="layout" path="M -0.1300 -0.4770 C -0.0260 -0.5247 -0.0065 -0.1431 0 0 E" pathEditMode="relative" ptsTypes="">
                                      <p:cBhvr>
                                        <p:cTn id="1363" dur="950" decel="100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364" dur="950" decel="100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5" presetID="2" presetClass="entr" presetSubtype="4" fill="hold" nodeType="withEffect">
                                  <p:stCondLst>
                                    <p:cond delay="1527"/>
                                  </p:stCondLst>
                                  <p:childTnLst>
                                    <p:set>
                                      <p:cBhvr>
                                        <p:cTn id="1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7" dur="427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animMotion origin="layout" path="M 0.3520 -0.0580 C 0.0704 -0.0638 0.0176 -0.0174 0 0 E" pathEditMode="relative" ptsTypes="">
                                      <p:cBhvr>
                                        <p:cTn id="1368" dur="950" decel="100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69" dur="950" decel="100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0" presetID="2" presetClass="entr" presetSubtype="4" fill="hold" nodeType="withEffect">
                                  <p:stCondLst>
                                    <p:cond delay="1528"/>
                                  </p:stCondLst>
                                  <p:childTnLst>
                                    <p:set>
                                      <p:cBhvr>
                                        <p:cTn id="1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2" dur="427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animMotion origin="layout" path="M 0.3210 -0.1830 C 0.0642 -0.2013 0.0161 -0.0549 0 0 E" pathEditMode="relative" ptsTypes="">
                                      <p:cBhvr>
                                        <p:cTn id="1373" dur="950" decel="100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74" dur="950" decel="100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5" presetID="2" presetClass="entr" presetSubtype="4" fill="hold" nodeType="withEffect">
                                  <p:stCondLst>
                                    <p:cond delay="1531"/>
                                  </p:stCondLst>
                                  <p:childTnLst>
                                    <p:set>
                                      <p:cBhvr>
                                        <p:cTn id="1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7" dur="427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Motion origin="layout" path="M -0.1560 -0.2720 C -0.0312 -0.2992 -0.0078 -0.0816 0 0 E" pathEditMode="relative" ptsTypes="">
                                      <p:cBhvr>
                                        <p:cTn id="1378" dur="950" decel="100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379" dur="950" decel="100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0" presetID="2" presetClass="entr" presetSubtype="4" fill="hold" nodeType="withEffect">
                                  <p:stCondLst>
                                    <p:cond delay="1532"/>
                                  </p:stCondLst>
                                  <p:childTnLst>
                                    <p:set>
                                      <p:cBhvr>
                                        <p:cTn id="1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2" dur="427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animMotion origin="layout" path="M -0.1650 0.0040 C -0.0330 0.0044 -0.0083 0.0012 0 0 E" pathEditMode="relative" ptsTypes="">
                                      <p:cBhvr>
                                        <p:cTn id="1383" dur="950" decel="100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384" dur="950" decel="100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5" presetID="2" presetClass="entr" presetSubtype="4" fill="hold" nodeType="withEffect">
                                  <p:stCondLst>
                                    <p:cond delay="1532"/>
                                  </p:stCondLst>
                                  <p:childTnLs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7" dur="427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Motion origin="layout" path="M 0.3380 0.0910 C 0.0676 0.1001 0.0169 0.0273 0 0 E" pathEditMode="relative" ptsTypes="">
                                      <p:cBhvr>
                                        <p:cTn id="1388" dur="950" decel="100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89" dur="950" decel="100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0" presetID="2" presetClass="entr" presetSubtype="4" fill="hold" nodeType="withEffect">
                                  <p:stCondLst>
                                    <p:cond delay="1534"/>
                                  </p:stCondLst>
                                  <p:childTnLst>
                                    <p:set>
                                      <p:cBhvr>
                                        <p:cTn id="1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2" dur="427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Motion origin="layout" path="M 0.2600 -0.1650 C 0.0520 -0.1815 0.0130 -0.0495 0 0 E" pathEditMode="relative" ptsTypes="">
                                      <p:cBhvr>
                                        <p:cTn id="1393" dur="950" decel="100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94" dur="950" decel="100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5" presetID="2" presetClass="entr" presetSubtype="4" fill="hold" nodeType="withEffect">
                                  <p:stCondLst>
                                    <p:cond delay="1535"/>
                                  </p:stCondLst>
                                  <p:childTnLst>
                                    <p:set>
                                      <p:cBhvr>
                                        <p:cTn id="1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7" dur="427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Motion origin="layout" path="M 0.0010 -0.3020 C 0.0002 -0.3322 0.0001 -0.0906 0 0 E" pathEditMode="relative" ptsTypes="">
                                      <p:cBhvr>
                                        <p:cTn id="1398" dur="950" decel="100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399" dur="950" decel="100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0" presetID="2" presetClass="entr" presetSubtype="4" fill="hold" nodeType="withEffect">
                                  <p:stCondLst>
                                    <p:cond delay="1539"/>
                                  </p:stCondLst>
                                  <p:childTnLst>
                                    <p:set>
                                      <p:cBhvr>
                                        <p:cTn id="1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2" dur="427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Motion origin="layout" path="M 0.1990 0.0880 C 0.0398 0.0968 0.0100 0.0264 0 0 E" pathEditMode="relative" ptsTypes="">
                                      <p:cBhvr>
                                        <p:cTn id="1403" dur="950" decel="100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04" dur="950" decel="100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5" presetID="2" presetClass="entr" presetSubtype="4" fill="hold" nodeType="withEffect">
                                  <p:stCondLst>
                                    <p:cond delay="1545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7" dur="427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Motion origin="layout" path="M 0.2340 -0.4590 C 0.0468 -0.5049 0.0117 -0.1377 0 0 E" pathEditMode="relative" ptsTypes="">
                                      <p:cBhvr>
                                        <p:cTn id="1408" dur="950" decel="100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09" dur="950" decel="100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0" presetID="2" presetClass="entr" presetSubtype="4" fill="hold" nodeType="withEffect">
                                  <p:stCondLst>
                                    <p:cond delay="1545"/>
                                  </p:stCondLst>
                                  <p:childTnLst>
                                    <p:set>
                                      <p:cBhvr>
                                        <p:cTn id="1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2" dur="427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Motion origin="layout" path="M -0.5000 -0.2030 C -0.1000 -0.2233 -0.0250 -0.0609 0 0 E" pathEditMode="relative" ptsTypes="">
                                      <p:cBhvr>
                                        <p:cTn id="1413" dur="950" decel="100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414" dur="950" decel="100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5" presetID="2" presetClass="entr" presetSubtype="4" fill="hold" nodeType="withEffect">
                                  <p:stCondLst>
                                    <p:cond delay="1547"/>
                                  </p:stCondLst>
                                  <p:childTnLst>
                                    <p:set>
                                      <p:cBhvr>
                                        <p:cTn id="1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7" dur="427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animMotion origin="layout" path="M 0.0520 -0.4520 C 0.0104 -0.4972 0.0026 -0.1356 0 0 E" pathEditMode="relative" ptsTypes="">
                                      <p:cBhvr>
                                        <p:cTn id="1418" dur="950" decel="100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19" dur="950" decel="100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0" presetID="2" presetClass="entr" presetSubtype="4" fill="hold" nodeType="withEffect">
                                  <p:stCondLst>
                                    <p:cond delay="1553"/>
                                  </p:stCondLst>
                                  <p:childTnLst>
                                    <p:set>
                                      <p:cBhvr>
                                        <p:cTn id="1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2" dur="427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Motion origin="layout" path="M 0.1730 0.0230 C 0.0346 0.0253 0.0086 0.0069 0 0 E" pathEditMode="relative" ptsTypes="">
                                      <p:cBhvr>
                                        <p:cTn id="1423" dur="950" decel="100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24" dur="950" decel="100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5" presetID="2" presetClass="entr" presetSubtype="4" fill="hold" nodeType="withEffect">
                                  <p:stCondLst>
                                    <p:cond delay="1554"/>
                                  </p:stCondLst>
                                  <p:childTnLst>
                                    <p:set>
                                      <p:cBhvr>
                                        <p:cTn id="1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7" dur="427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Motion origin="layout" path="M -0.2310 -0.2060 C -0.0462 -0.2266 -0.0116 -0.0618 0 0 E" pathEditMode="relative" ptsTypes="">
                                      <p:cBhvr>
                                        <p:cTn id="1428" dur="950" decel="100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429" dur="950" decel="100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0" presetID="2" presetClass="entr" presetSubtype="4" fill="hold" nodeType="withEffect">
                                  <p:stCondLst>
                                    <p:cond delay="1563"/>
                                  </p:stCondLst>
                                  <p:childTnLst>
                                    <p:set>
                                      <p:cBhvr>
                                        <p:cTn id="1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2" dur="427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Motion origin="layout" path="M 0.1680 -0.5300 C 0.0336 -0.5830 0.0084 -0.1590 0 0 E" pathEditMode="relative" ptsTypes="">
                                      <p:cBhvr>
                                        <p:cTn id="1433" dur="950" decel="100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34" dur="950" decel="100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5" presetID="2" presetClass="entr" presetSubtype="4" fill="hold" nodeType="withEffect">
                                  <p:stCondLst>
                                    <p:cond delay="1565"/>
                                  </p:stCondLst>
                                  <p:childTnLs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7" dur="427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animMotion origin="layout" path="M -0.0580 -0.3460 C -0.0116 -0.3806 -0.0029 -0.1038 0 0 E" pathEditMode="relative" ptsTypes="">
                                      <p:cBhvr>
                                        <p:cTn id="1438" dur="950" decel="100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439" dur="950" decel="100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0" presetID="2" presetClass="entr" presetSubtype="4" fill="hold" nodeType="withEffect">
                                  <p:stCondLst>
                                    <p:cond delay="1568"/>
                                  </p:stCondLst>
                                  <p:childTnLst>
                                    <p:set>
                                      <p:cBhvr>
                                        <p:cTn id="1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2" dur="427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animMotion origin="layout" path="M -0.5260 0.0410 C -0.1052 0.0451 -0.0263 0.0123 0 0 E" pathEditMode="relative" ptsTypes="">
                                      <p:cBhvr>
                                        <p:cTn id="1443" dur="950" decel="100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444" dur="950" decel="100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5" presetID="2" presetClass="entr" presetSubtype="4" fill="hold" nodeType="withEffect">
                                  <p:stCondLst>
                                    <p:cond delay="1569"/>
                                  </p:stCondLst>
                                  <p:childTnLst>
                                    <p:set>
                                      <p:cBhvr>
                                        <p:cTn id="1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7" dur="427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Motion origin="layout" path="M 0.5110 -0.0860 C 0.1022 -0.0946 0.0256 -0.0258 0 0 E" pathEditMode="relative" ptsTypes="">
                                      <p:cBhvr>
                                        <p:cTn id="1448" dur="950" decel="100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49" dur="950" decel="100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0" presetID="2" presetClass="entr" presetSubtype="4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2" dur="427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Motion origin="layout" path="M 0.1590 0.0880 C 0.0318 0.0968 0.0080 0.0264 0 0 E" pathEditMode="relative" ptsTypes="">
                                      <p:cBhvr>
                                        <p:cTn id="1453" dur="950" decel="1000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54" dur="950" decel="1000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5" presetID="2" presetClass="entr" presetSubtype="4" fill="hold" nodeType="withEffect">
                                  <p:stCondLst>
                                    <p:cond delay="1582"/>
                                  </p:stCondLst>
                                  <p:childTnLst>
                                    <p:set>
                                      <p:cBhvr>
                                        <p:cTn id="1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7" dur="427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animMotion origin="layout" path="M 0.3260 -0.3700 C 0.0652 -0.4070 0.0163 -0.1110 0 0 E" pathEditMode="relative" ptsTypes="">
                                      <p:cBhvr>
                                        <p:cTn id="1458" dur="950" decel="100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59" dur="950" decel="100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0" presetID="2" presetClass="entr" presetSubtype="4" fill="hold" nodeType="withEffect">
                                  <p:stCondLst>
                                    <p:cond delay="1582"/>
                                  </p:stCondLst>
                                  <p:childTnLst>
                                    <p:set>
                                      <p:cBhvr>
                                        <p:cTn id="1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2" dur="427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Motion origin="layout" path="M 0.5290 -0.1970 C 0.1058 -0.2167 0.0265 -0.0591 0 0 E" pathEditMode="relative" ptsTypes="">
                                      <p:cBhvr>
                                        <p:cTn id="1463" dur="950" decel="100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64" dur="950" decel="100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5" presetID="2" presetClass="entr" presetSubtype="4" fill="hold" nodeType="withEffect">
                                  <p:stCondLst>
                                    <p:cond delay="1587"/>
                                  </p:stCondLst>
                                  <p:childTnLst>
                                    <p:set>
                                      <p:cBhvr>
                                        <p:cTn id="1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7" dur="427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animMotion origin="layout" path="M 0.5430 -0.2980 C 0.1086 -0.3278 0.0272 -0.0894 0 0 E" pathEditMode="relative" ptsTypes="">
                                      <p:cBhvr>
                                        <p:cTn id="1468" dur="950" decel="100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69" dur="950" decel="100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0" presetID="2" presetClass="entr" presetSubtype="4" fill="hold" nodeType="withEffect">
                                  <p:stCondLst>
                                    <p:cond delay="1596"/>
                                  </p:stCondLst>
                                  <p:childTnLst>
                                    <p:set>
                                      <p:cBhvr>
                                        <p:cTn id="1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2" dur="427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Motion origin="layout" path="M -0.5200 -0.0850 C -0.1040 -0.0935 -0.0260 -0.0255 0 0 E" pathEditMode="relative" ptsTypes="">
                                      <p:cBhvr>
                                        <p:cTn id="1473" dur="950" decel="100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474" dur="950" decel="100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5" presetID="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7" dur="427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animMotion origin="layout" path="M 0.2000 -0.2510 C 0.0400 -0.2761 0.0100 -0.0753 0 0 E" pathEditMode="relative" ptsTypes="">
                                      <p:cBhvr>
                                        <p:cTn id="1478" dur="950" decel="100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79" dur="950" decel="100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0" presetID="2" presetClass="entr" presetSubtype="4" fill="hold" nodeType="withEffect">
                                  <p:stCondLst>
                                    <p:cond delay="1602"/>
                                  </p:stCondLst>
                                  <p:childTnLst>
                                    <p:set>
                                      <p:cBhvr>
                                        <p:cTn id="1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2" dur="427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animMotion origin="layout" path="M -0.2070 -0.2710 C -0.0414 -0.2981 -0.0103 -0.0813 0 0 E" pathEditMode="relative" ptsTypes="">
                                      <p:cBhvr>
                                        <p:cTn id="1483" dur="950" decel="100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484" dur="950" decel="100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5" presetID="2" presetClass="entr" presetSubtype="4" fill="hold" nodeType="withEffect">
                                  <p:stCondLst>
                                    <p:cond delay="1605"/>
                                  </p:stCondLst>
                                  <p:childTnLst>
                                    <p:set>
                                      <p:cBhvr>
                                        <p:cTn id="1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7" dur="427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Motion origin="layout" path="M 0.3480 -0.4790 C 0.0696 -0.5269 0.0174 -0.1437 0 0 E" pathEditMode="relative" ptsTypes="">
                                      <p:cBhvr>
                                        <p:cTn id="1488" dur="950" decel="100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89" dur="950" decel="100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0" presetID="2" presetClass="entr" presetSubtype="4" fill="hold" nodeType="withEffect">
                                  <p:stCondLst>
                                    <p:cond delay="1614"/>
                                  </p:stCondLst>
                                  <p:childTnLst>
                                    <p:set>
                                      <p:cBhvr>
                                        <p:cTn id="1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2" dur="427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animMotion origin="layout" path="M -0.1000 -0.3330 C -0.0200 -0.3663 -0.0050 -0.0999 0 0 E" pathEditMode="relative" ptsTypes="">
                                      <p:cBhvr>
                                        <p:cTn id="1493" dur="950" decel="100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494" dur="950" decel="100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5" presetID="2" presetClass="entr" presetSubtype="4" fill="hold" nodeType="withEffect">
                                  <p:stCondLst>
                                    <p:cond delay="1616"/>
                                  </p:stCondLst>
                                  <p:childTnLst>
                                    <p:set>
                                      <p:cBhvr>
                                        <p:cTn id="1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7" dur="427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Motion origin="layout" path="M 0.3670 -0.4280 C 0.0734 -0.4708 0.0184 -0.1284 0 0 E" pathEditMode="relative" ptsTypes="">
                                      <p:cBhvr>
                                        <p:cTn id="1498" dur="950" decel="100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499" dur="950" decel="100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0" presetID="2" presetClass="entr" presetSubtype="4" fill="hold" nodeType="withEffect">
                                  <p:stCondLst>
                                    <p:cond delay="1623"/>
                                  </p:stCondLst>
                                  <p:childTnLst>
                                    <p:set>
                                      <p:cBhvr>
                                        <p:cTn id="1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2" dur="427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Motion origin="layout" path="M -0.1950 0.2270 C -0.0390 0.2497 -0.0098 0.0681 0 0 E" pathEditMode="relative" ptsTypes="">
                                      <p:cBhvr>
                                        <p:cTn id="1503" dur="950" decel="100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504" dur="950" decel="100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5" presetID="2" presetClass="entr" presetSubtype="4" fill="hold" nodeType="withEffect">
                                  <p:stCondLst>
                                    <p:cond delay="1624"/>
                                  </p:stCondLst>
                                  <p:childTnLst>
                                    <p:set>
                                      <p:cBhvr>
                                        <p:cTn id="1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7" dur="427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animMotion origin="layout" path="M 0.0270 -0.5050 C 0.0054 -0.5555 0.0014 -0.1515 0 0 E" pathEditMode="relative" ptsTypes="">
                                      <p:cBhvr>
                                        <p:cTn id="1508" dur="950" decel="1000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509" dur="950" decel="1000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0" presetID="2" presetClass="entr" presetSubtype="4" fill="hold" nodeType="withEffect">
                                  <p:stCondLst>
                                    <p:cond delay="1635"/>
                                  </p:stCondLst>
                                  <p:childTnLst>
                                    <p:set>
                                      <p:cBhvr>
                                        <p:cTn id="1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2" dur="427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animMotion origin="layout" path="M 0.1970 -0.2230 C 0.0394 -0.2453 0.0099 -0.0669 0 0 E" pathEditMode="relative" ptsTypes="">
                                      <p:cBhvr>
                                        <p:cTn id="1513" dur="950" decel="1000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514" dur="950" decel="1000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5" presetID="2" presetClass="entr" presetSubtype="4" fill="hold" nodeType="withEffect">
                                  <p:stCondLst>
                                    <p:cond delay="1636"/>
                                  </p:stCondLst>
                                  <p:childTnLst>
                                    <p:set>
                                      <p:cBhvr>
                                        <p:cTn id="1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7" dur="427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animMotion origin="layout" path="M -0.5570 -0.2430 C -0.1114 -0.2673 -0.0279 -0.0729 0 0 E" pathEditMode="relative" ptsTypes="">
                                      <p:cBhvr>
                                        <p:cTn id="1518" dur="950" decel="100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519" dur="950" decel="100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0" presetID="2" presetClass="entr" presetSubtype="4" fill="hold" nodeType="withEffect">
                                  <p:stCondLst>
                                    <p:cond delay="1656"/>
                                  </p:stCondLst>
                                  <p:childTnLst>
                                    <p:set>
                                      <p:cBhvr>
                                        <p:cTn id="1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2" dur="427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animMotion origin="layout" path="M 0.3270 0.2670 C 0.0654 0.2937 0.0163 0.0801 0 0 E" pathEditMode="relative" ptsTypes="">
                                      <p:cBhvr>
                                        <p:cTn id="1523" dur="950" decel="100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524" dur="950" decel="100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5" presetID="2" presetClass="entr" presetSubtype="4" fill="hold" nodeType="withEffect">
                                  <p:stCondLst>
                                    <p:cond delay="1662"/>
                                  </p:stCondLst>
                                  <p:childTnLst>
                                    <p:set>
                                      <p:cBhvr>
                                        <p:cTn id="1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7" dur="427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animMotion origin="layout" path="M -0.5650 -0.1500 C -0.1130 -0.1650 -0.0282 -0.0450 0 0 E" pathEditMode="relative" ptsTypes="">
                                      <p:cBhvr>
                                        <p:cTn id="1528" dur="950" decel="100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529" dur="950" decel="100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0" presetID="2" presetClass="entr" presetSubtype="4" fill="hold" nodeType="withEffect">
                                  <p:stCondLst>
                                    <p:cond delay="1672"/>
                                  </p:stCondLst>
                                  <p:childTnLst>
                                    <p:set>
                                      <p:cBhvr>
                                        <p:cTn id="1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2" dur="427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animMotion origin="layout" path="M -0.3970 -0.1830 C -0.0794 -0.2013 -0.0199 -0.0549 0 0 E" pathEditMode="relative" ptsTypes="">
                                      <p:cBhvr>
                                        <p:cTn id="1533" dur="950" decel="100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-5400000" to="0">
                                      <p:cBhvr>
                                        <p:cTn id="1534" dur="950" decel="100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5" presetID="2" presetClass="entr" presetSubtype="4" fill="hold" nodeType="withEffect">
                                  <p:stCondLst>
                                    <p:cond delay="1693"/>
                                  </p:stCondLst>
                                  <p:childTnLst>
                                    <p:set>
                                      <p:cBhvr>
                                        <p:cTn id="1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7" dur="427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animMotion origin="layout" path="M 0.0850 0.2800 C 0.0170 0.3080 0.0043 0.0840 0 0 E" pathEditMode="relative" ptsTypes="">
                                      <p:cBhvr>
                                        <p:cTn id="1538" dur="950" decel="100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from="5400000" to="0">
                                      <p:cBhvr>
                                        <p:cTn id="1539" dur="950" decel="100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0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1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2" dur="6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3" presetID="2" presetClass="entr" presetSubtype="1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5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6" dur="1000" decel="100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7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9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0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1" dur="2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2" presetID="2" presetClass="entr" presetSubtype="8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4" dur="7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5" dur="700" decel="100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8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9" presetID="6" presetClass="emph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1560" dur="900" repeatCount="indefinite" accel="50000" decel="50000" autoRev="1" fill="hold"/>
                                        <p:tgtEl>
                                          <p:spTgt spid="314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1561" presetID="0" presetClass="path" presetSubtype="0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animMotion origin="layout" path="M 0 0 L 0 -0.012 L 0 0 E" pathEditMode="relative" ptsTypes="">
                                      <p:cBhvr>
                                        <p:cTn id="1562" dur="2600" repeatCount="indefinite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0" animBg="1"/>
      <p:bldP spid="314" grpId="0" animBg="1"/>
      <p:bldP spid="314" grpId="1" animBg="1"/>
      <p:bldP spid="3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base-raw" descr="W:\Projects\hacks\rwb-new\presentation\pptx\assets\st-raw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4" name="!!cell-raw-0-0" descr="W:\Projects\hacks\rwb-new\presentation\pptx\assets\cell-raw-0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4" y="414693"/>
            <a:ext cx="20932" cy="10721"/>
          </a:xfrm>
          <a:prstGeom prst="rect">
            <a:avLst/>
          </a:prstGeom>
        </p:spPr>
      </p:pic>
      <p:pic>
        <p:nvPicPr>
          <p:cNvPr id="5" name="!!cell-raw-0-1" descr="W:\Projects\hacks\rwb-new\presentation\pptx\assets\cell-raw-0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813" y="420054"/>
            <a:ext cx="20932" cy="10721"/>
          </a:xfrm>
          <a:prstGeom prst="rect">
            <a:avLst/>
          </a:prstGeom>
        </p:spPr>
      </p:pic>
      <p:pic>
        <p:nvPicPr>
          <p:cNvPr id="6" name="!!cell-raw-0-2" descr="W:\Projects\hacks\rwb-new\presentation\pptx\assets\cell-raw-0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91" y="425414"/>
            <a:ext cx="20932" cy="10721"/>
          </a:xfrm>
          <a:prstGeom prst="rect">
            <a:avLst/>
          </a:prstGeom>
        </p:spPr>
      </p:pic>
      <p:pic>
        <p:nvPicPr>
          <p:cNvPr id="7" name="!!cell-raw-0-3" descr="W:\Projects\hacks\rwb-new\presentation\pptx\assets\cell-raw-0-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370" y="430775"/>
            <a:ext cx="20932" cy="10721"/>
          </a:xfrm>
          <a:prstGeom prst="rect">
            <a:avLst/>
          </a:prstGeom>
        </p:spPr>
      </p:pic>
      <p:pic>
        <p:nvPicPr>
          <p:cNvPr id="8" name="!!cell-raw-0-4" descr="W:\Projects\hacks\rwb-new\presentation\pptx\assets\cell-raw-0-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49" y="436136"/>
            <a:ext cx="20932" cy="10721"/>
          </a:xfrm>
          <a:prstGeom prst="rect">
            <a:avLst/>
          </a:prstGeom>
        </p:spPr>
      </p:pic>
      <p:pic>
        <p:nvPicPr>
          <p:cNvPr id="9" name="!!cell-raw-0-5" descr="W:\Projects\hacks\rwb-new\presentation\pptx\assets\cell-raw-0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927" y="441496"/>
            <a:ext cx="20932" cy="10721"/>
          </a:xfrm>
          <a:prstGeom prst="rect">
            <a:avLst/>
          </a:prstGeom>
        </p:spPr>
      </p:pic>
      <p:pic>
        <p:nvPicPr>
          <p:cNvPr id="10" name="!!cell-raw-0-6" descr="W:\Projects\hacks\rwb-new\presentation\pptx\assets\cell-raw-0-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206" y="446857"/>
            <a:ext cx="20932" cy="10721"/>
          </a:xfrm>
          <a:prstGeom prst="rect">
            <a:avLst/>
          </a:prstGeom>
        </p:spPr>
      </p:pic>
      <p:pic>
        <p:nvPicPr>
          <p:cNvPr id="11" name="!!cell-raw-0-7" descr="W:\Projects\hacks\rwb-new\presentation\pptx\assets\cell-raw-0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485" y="452218"/>
            <a:ext cx="20932" cy="10721"/>
          </a:xfrm>
          <a:prstGeom prst="rect">
            <a:avLst/>
          </a:prstGeom>
        </p:spPr>
      </p:pic>
      <p:pic>
        <p:nvPicPr>
          <p:cNvPr id="12" name="!!cell-raw-0-8" descr="W:\Projects\hacks\rwb-new\presentation\pptx\assets\cell-raw-0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763" y="457578"/>
            <a:ext cx="20932" cy="10721"/>
          </a:xfrm>
          <a:prstGeom prst="rect">
            <a:avLst/>
          </a:prstGeom>
        </p:spPr>
      </p:pic>
      <p:pic>
        <p:nvPicPr>
          <p:cNvPr id="13" name="!!cell-raw-0-9" descr="W:\Projects\hacks\rwb-new\presentation\pptx\assets\cell-raw-0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042" y="462939"/>
            <a:ext cx="20932" cy="10721"/>
          </a:xfrm>
          <a:prstGeom prst="rect">
            <a:avLst/>
          </a:prstGeom>
        </p:spPr>
      </p:pic>
      <p:pic>
        <p:nvPicPr>
          <p:cNvPr id="14" name="!!cell-raw-1-0" descr="W:\Projects\hacks\rwb-new\presentation\pptx\assets\cell-raw-1-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255" y="420054"/>
            <a:ext cx="20932" cy="10721"/>
          </a:xfrm>
          <a:prstGeom prst="rect">
            <a:avLst/>
          </a:prstGeom>
        </p:spPr>
      </p:pic>
      <p:pic>
        <p:nvPicPr>
          <p:cNvPr id="15" name="!!cell-raw-1-1" descr="W:\Projects\hacks\rwb-new\presentation\pptx\assets\cell-raw-1-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8534" y="425414"/>
            <a:ext cx="20932" cy="10721"/>
          </a:xfrm>
          <a:prstGeom prst="rect">
            <a:avLst/>
          </a:prstGeom>
        </p:spPr>
      </p:pic>
      <p:pic>
        <p:nvPicPr>
          <p:cNvPr id="16" name="!!cell-raw-1-2" descr="W:\Projects\hacks\rwb-new\presentation\pptx\assets\cell-raw-1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813" y="430775"/>
            <a:ext cx="20932" cy="10721"/>
          </a:xfrm>
          <a:prstGeom prst="rect">
            <a:avLst/>
          </a:prstGeom>
        </p:spPr>
      </p:pic>
      <p:pic>
        <p:nvPicPr>
          <p:cNvPr id="17" name="!!cell-raw-1-3" descr="W:\Projects\hacks\rwb-new\presentation\pptx\assets\cell-raw-1-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091" y="436136"/>
            <a:ext cx="20932" cy="10721"/>
          </a:xfrm>
          <a:prstGeom prst="rect">
            <a:avLst/>
          </a:prstGeom>
        </p:spPr>
      </p:pic>
      <p:pic>
        <p:nvPicPr>
          <p:cNvPr id="18" name="!!cell-raw-1-4" descr="W:\Projects\hacks\rwb-new\presentation\pptx\assets\cell-raw-1-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370" y="441496"/>
            <a:ext cx="20932" cy="10721"/>
          </a:xfrm>
          <a:prstGeom prst="rect">
            <a:avLst/>
          </a:prstGeom>
        </p:spPr>
      </p:pic>
      <p:pic>
        <p:nvPicPr>
          <p:cNvPr id="19" name="!!cell-raw-1-5" descr="W:\Projects\hacks\rwb-new\presentation\pptx\assets\cell-raw-1-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649" y="446857"/>
            <a:ext cx="20932" cy="10721"/>
          </a:xfrm>
          <a:prstGeom prst="rect">
            <a:avLst/>
          </a:prstGeom>
        </p:spPr>
      </p:pic>
      <p:pic>
        <p:nvPicPr>
          <p:cNvPr id="20" name="!!cell-raw-1-6" descr="W:\Projects\hacks\rwb-new\presentation\pptx\assets\cell-raw-1-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927" y="452218"/>
            <a:ext cx="20932" cy="10721"/>
          </a:xfrm>
          <a:prstGeom prst="rect">
            <a:avLst/>
          </a:prstGeom>
        </p:spPr>
      </p:pic>
      <p:pic>
        <p:nvPicPr>
          <p:cNvPr id="21" name="!!cell-raw-1-7" descr="W:\Projects\hacks\rwb-new\presentation\pptx\assets\cell-raw-1-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206" y="457578"/>
            <a:ext cx="20932" cy="10721"/>
          </a:xfrm>
          <a:prstGeom prst="rect">
            <a:avLst/>
          </a:prstGeom>
        </p:spPr>
      </p:pic>
      <p:pic>
        <p:nvPicPr>
          <p:cNvPr id="22" name="!!cell-raw-1-8" descr="W:\Projects\hacks\rwb-new\presentation\pptx\assets\cell-raw-1-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3485" y="462939"/>
            <a:ext cx="20932" cy="10721"/>
          </a:xfrm>
          <a:prstGeom prst="rect">
            <a:avLst/>
          </a:prstGeom>
        </p:spPr>
      </p:pic>
      <p:pic>
        <p:nvPicPr>
          <p:cNvPr id="23" name="!!cell-raw-1-9" descr="W:\Projects\hacks\rwb-new\presentation\pptx\assets\cell-raw-1-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2763" y="468300"/>
            <a:ext cx="20932" cy="10721"/>
          </a:xfrm>
          <a:prstGeom prst="rect">
            <a:avLst/>
          </a:prstGeom>
        </p:spPr>
      </p:pic>
      <p:pic>
        <p:nvPicPr>
          <p:cNvPr id="24" name="!!cell-raw-2-0" descr="W:\Projects\hacks\rwb-new\presentation\pptx\assets\cell-raw-2-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9977" y="425414"/>
            <a:ext cx="20932" cy="10721"/>
          </a:xfrm>
          <a:prstGeom prst="rect">
            <a:avLst/>
          </a:prstGeom>
        </p:spPr>
      </p:pic>
      <p:pic>
        <p:nvPicPr>
          <p:cNvPr id="25" name="!!cell-raw-2-1" descr="W:\Projects\hacks\rwb-new\presentation\pptx\assets\cell-raw-2-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9255" y="430775"/>
            <a:ext cx="20932" cy="10721"/>
          </a:xfrm>
          <a:prstGeom prst="rect">
            <a:avLst/>
          </a:prstGeom>
        </p:spPr>
      </p:pic>
      <p:pic>
        <p:nvPicPr>
          <p:cNvPr id="26" name="!!cell-raw-2-2" descr="W:\Projects\hacks\rwb-new\presentation\pptx\assets\cell-raw-2-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8534" y="436136"/>
            <a:ext cx="20932" cy="10721"/>
          </a:xfrm>
          <a:prstGeom prst="rect">
            <a:avLst/>
          </a:prstGeom>
        </p:spPr>
      </p:pic>
      <p:pic>
        <p:nvPicPr>
          <p:cNvPr id="27" name="!!cell-raw-2-3" descr="W:\Projects\hacks\rwb-new\presentation\pptx\assets\cell-raw-2-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7813" y="441496"/>
            <a:ext cx="20932" cy="10721"/>
          </a:xfrm>
          <a:prstGeom prst="rect">
            <a:avLst/>
          </a:prstGeom>
        </p:spPr>
      </p:pic>
      <p:pic>
        <p:nvPicPr>
          <p:cNvPr id="28" name="!!cell-raw-2-4" descr="W:\Projects\hacks\rwb-new\presentation\pptx\assets\cell-raw-2-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091" y="446857"/>
            <a:ext cx="20932" cy="10721"/>
          </a:xfrm>
          <a:prstGeom prst="rect">
            <a:avLst/>
          </a:prstGeom>
        </p:spPr>
      </p:pic>
      <p:pic>
        <p:nvPicPr>
          <p:cNvPr id="29" name="!!cell-raw-2-5" descr="W:\Projects\hacks\rwb-new\presentation\pptx\assets\cell-raw-2-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370" y="452218"/>
            <a:ext cx="20932" cy="10721"/>
          </a:xfrm>
          <a:prstGeom prst="rect">
            <a:avLst/>
          </a:prstGeom>
        </p:spPr>
      </p:pic>
      <p:pic>
        <p:nvPicPr>
          <p:cNvPr id="30" name="!!cell-raw-2-6" descr="W:\Projects\hacks\rwb-new\presentation\pptx\assets\cell-raw-2-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49" y="457578"/>
            <a:ext cx="20932" cy="10721"/>
          </a:xfrm>
          <a:prstGeom prst="rect">
            <a:avLst/>
          </a:prstGeom>
        </p:spPr>
      </p:pic>
      <p:pic>
        <p:nvPicPr>
          <p:cNvPr id="31" name="!!cell-raw-2-7" descr="W:\Projects\hacks\rwb-new\presentation\pptx\assets\cell-raw-2-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927" y="462939"/>
            <a:ext cx="20932" cy="10721"/>
          </a:xfrm>
          <a:prstGeom prst="rect">
            <a:avLst/>
          </a:prstGeom>
        </p:spPr>
      </p:pic>
      <p:pic>
        <p:nvPicPr>
          <p:cNvPr id="32" name="!!cell-raw-2-8" descr="W:\Projects\hacks\rwb-new\presentation\pptx\assets\cell-raw-2-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4206" y="468300"/>
            <a:ext cx="20932" cy="10721"/>
          </a:xfrm>
          <a:prstGeom prst="rect">
            <a:avLst/>
          </a:prstGeom>
        </p:spPr>
      </p:pic>
      <p:pic>
        <p:nvPicPr>
          <p:cNvPr id="33" name="!!cell-raw-2-9" descr="W:\Projects\hacks\rwb-new\presentation\pptx\assets\cell-raw-2-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3485" y="473660"/>
            <a:ext cx="20932" cy="10721"/>
          </a:xfrm>
          <a:prstGeom prst="rect">
            <a:avLst/>
          </a:prstGeom>
        </p:spPr>
      </p:pic>
      <p:pic>
        <p:nvPicPr>
          <p:cNvPr id="34" name="!!cell-raw-3-0" descr="W:\Projects\hacks\rwb-new\presentation\pptx\assets\cell-raw-3-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0698" y="430775"/>
            <a:ext cx="20932" cy="10721"/>
          </a:xfrm>
          <a:prstGeom prst="rect">
            <a:avLst/>
          </a:prstGeom>
        </p:spPr>
      </p:pic>
      <p:pic>
        <p:nvPicPr>
          <p:cNvPr id="35" name="!!cell-raw-3-1" descr="W:\Projects\hacks\rwb-new\presentation\pptx\assets\cell-raw-3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977" y="436136"/>
            <a:ext cx="20932" cy="10721"/>
          </a:xfrm>
          <a:prstGeom prst="rect">
            <a:avLst/>
          </a:prstGeom>
        </p:spPr>
      </p:pic>
      <p:pic>
        <p:nvPicPr>
          <p:cNvPr id="36" name="!!cell-raw-3-2" descr="W:\Projects\hacks\rwb-new\presentation\pptx\assets\cell-raw-3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255" y="441496"/>
            <a:ext cx="20932" cy="10721"/>
          </a:xfrm>
          <a:prstGeom prst="rect">
            <a:avLst/>
          </a:prstGeom>
        </p:spPr>
      </p:pic>
      <p:pic>
        <p:nvPicPr>
          <p:cNvPr id="37" name="!!cell-raw-3-3" descr="W:\Projects\hacks\rwb-new\presentation\pptx\assets\cell-raw-3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534" y="446857"/>
            <a:ext cx="20932" cy="10721"/>
          </a:xfrm>
          <a:prstGeom prst="rect">
            <a:avLst/>
          </a:prstGeom>
        </p:spPr>
      </p:pic>
      <p:pic>
        <p:nvPicPr>
          <p:cNvPr id="38" name="!!cell-raw-3-4" descr="W:\Projects\hacks\rwb-new\presentation\pptx\assets\cell-raw-3-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7813" y="452218"/>
            <a:ext cx="20932" cy="10721"/>
          </a:xfrm>
          <a:prstGeom prst="rect">
            <a:avLst/>
          </a:prstGeom>
        </p:spPr>
      </p:pic>
      <p:pic>
        <p:nvPicPr>
          <p:cNvPr id="39" name="!!cell-raw-3-5" descr="W:\Projects\hacks\rwb-new\presentation\pptx\assets\cell-raw-3-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091" y="457578"/>
            <a:ext cx="20932" cy="10721"/>
          </a:xfrm>
          <a:prstGeom prst="rect">
            <a:avLst/>
          </a:prstGeom>
        </p:spPr>
      </p:pic>
      <p:pic>
        <p:nvPicPr>
          <p:cNvPr id="40" name="!!cell-raw-3-6" descr="W:\Projects\hacks\rwb-new\presentation\pptx\assets\cell-raw-3-6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6370" y="462939"/>
            <a:ext cx="20932" cy="10721"/>
          </a:xfrm>
          <a:prstGeom prst="rect">
            <a:avLst/>
          </a:prstGeom>
        </p:spPr>
      </p:pic>
      <p:pic>
        <p:nvPicPr>
          <p:cNvPr id="41" name="!!cell-raw-3-7" descr="W:\Projects\hacks\rwb-new\presentation\pptx\assets\cell-raw-3-7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5649" y="468300"/>
            <a:ext cx="20932" cy="10721"/>
          </a:xfrm>
          <a:prstGeom prst="rect">
            <a:avLst/>
          </a:prstGeom>
        </p:spPr>
      </p:pic>
      <p:pic>
        <p:nvPicPr>
          <p:cNvPr id="42" name="!!cell-raw-3-8" descr="W:\Projects\hacks\rwb-new\presentation\pptx\assets\cell-raw-3-8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4927" y="473660"/>
            <a:ext cx="20932" cy="10721"/>
          </a:xfrm>
          <a:prstGeom prst="rect">
            <a:avLst/>
          </a:prstGeom>
        </p:spPr>
      </p:pic>
      <p:pic>
        <p:nvPicPr>
          <p:cNvPr id="43" name="!!cell-raw-3-9" descr="W:\Projects\hacks\rwb-new\presentation\pptx\assets\cell-raw-3-9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4206" y="479021"/>
            <a:ext cx="20932" cy="10721"/>
          </a:xfrm>
          <a:prstGeom prst="rect">
            <a:avLst/>
          </a:prstGeom>
        </p:spPr>
      </p:pic>
      <p:pic>
        <p:nvPicPr>
          <p:cNvPr id="44" name="!!cell-raw-4-0" descr="W:\Projects\hacks\rwb-new\presentation\pptx\assets\cell-raw-4-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1419" y="436136"/>
            <a:ext cx="20932" cy="10721"/>
          </a:xfrm>
          <a:prstGeom prst="rect">
            <a:avLst/>
          </a:prstGeom>
        </p:spPr>
      </p:pic>
      <p:pic>
        <p:nvPicPr>
          <p:cNvPr id="45" name="!!cell-raw-4-1" descr="W:\Projects\hacks\rwb-new\presentation\pptx\assets\cell-raw-4-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0698" y="441496"/>
            <a:ext cx="20932" cy="10721"/>
          </a:xfrm>
          <a:prstGeom prst="rect">
            <a:avLst/>
          </a:prstGeom>
        </p:spPr>
      </p:pic>
      <p:pic>
        <p:nvPicPr>
          <p:cNvPr id="46" name="!!cell-raw-4-2" descr="W:\Projects\hacks\rwb-new\presentation\pptx\assets\cell-raw-4-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977" y="446857"/>
            <a:ext cx="20932" cy="10721"/>
          </a:xfrm>
          <a:prstGeom prst="rect">
            <a:avLst/>
          </a:prstGeom>
        </p:spPr>
      </p:pic>
      <p:pic>
        <p:nvPicPr>
          <p:cNvPr id="47" name="!!cell-raw-4-3" descr="W:\Projects\hacks\rwb-new\presentation\pptx\assets\cell-raw-4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255" y="452218"/>
            <a:ext cx="20932" cy="10721"/>
          </a:xfrm>
          <a:prstGeom prst="rect">
            <a:avLst/>
          </a:prstGeom>
        </p:spPr>
      </p:pic>
      <p:pic>
        <p:nvPicPr>
          <p:cNvPr id="48" name="!!cell-raw-4-4" descr="W:\Projects\hacks\rwb-new\presentation\pptx\assets\cell-raw-4-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8534" y="457578"/>
            <a:ext cx="20932" cy="10721"/>
          </a:xfrm>
          <a:prstGeom prst="rect">
            <a:avLst/>
          </a:prstGeom>
        </p:spPr>
      </p:pic>
      <p:pic>
        <p:nvPicPr>
          <p:cNvPr id="49" name="!!cell-raw-4-5" descr="W:\Projects\hacks\rwb-new\presentation\pptx\assets\cell-raw-4-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13" y="462939"/>
            <a:ext cx="20932" cy="10721"/>
          </a:xfrm>
          <a:prstGeom prst="rect">
            <a:avLst/>
          </a:prstGeom>
        </p:spPr>
      </p:pic>
      <p:pic>
        <p:nvPicPr>
          <p:cNvPr id="50" name="!!cell-raw-4-6" descr="W:\Projects\hacks\rwb-new\presentation\pptx\assets\cell-raw-4-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7091" y="468300"/>
            <a:ext cx="20932" cy="10721"/>
          </a:xfrm>
          <a:prstGeom prst="rect">
            <a:avLst/>
          </a:prstGeom>
        </p:spPr>
      </p:pic>
      <p:pic>
        <p:nvPicPr>
          <p:cNvPr id="51" name="!!cell-raw-4-7" descr="W:\Projects\hacks\rwb-new\presentation\pptx\assets\cell-raw-4-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6370" y="473660"/>
            <a:ext cx="20932" cy="10721"/>
          </a:xfrm>
          <a:prstGeom prst="rect">
            <a:avLst/>
          </a:prstGeom>
        </p:spPr>
      </p:pic>
      <p:pic>
        <p:nvPicPr>
          <p:cNvPr id="52" name="!!cell-raw-4-8" descr="W:\Projects\hacks\rwb-new\presentation\pptx\assets\cell-raw-4-8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5649" y="479021"/>
            <a:ext cx="20932" cy="10721"/>
          </a:xfrm>
          <a:prstGeom prst="rect">
            <a:avLst/>
          </a:prstGeom>
        </p:spPr>
      </p:pic>
      <p:pic>
        <p:nvPicPr>
          <p:cNvPr id="53" name="!!cell-raw-4-9" descr="W:\Projects\hacks\rwb-new\presentation\pptx\assets\cell-raw-4-9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4927" y="484382"/>
            <a:ext cx="20932" cy="10721"/>
          </a:xfrm>
          <a:prstGeom prst="rect">
            <a:avLst/>
          </a:prstGeom>
        </p:spPr>
      </p:pic>
      <p:pic>
        <p:nvPicPr>
          <p:cNvPr id="54" name="!!cell-raw-5-0" descr="W:\Projects\hacks\rwb-new\presentation\pptx\assets\cell-raw-5-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141" y="441496"/>
            <a:ext cx="20932" cy="10721"/>
          </a:xfrm>
          <a:prstGeom prst="rect">
            <a:avLst/>
          </a:prstGeom>
        </p:spPr>
      </p:pic>
      <p:pic>
        <p:nvPicPr>
          <p:cNvPr id="55" name="!!cell-raw-5-1" descr="W:\Projects\hacks\rwb-new\presentation\pptx\assets\cell-raw-5-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1419" y="446857"/>
            <a:ext cx="20932" cy="10721"/>
          </a:xfrm>
          <a:prstGeom prst="rect">
            <a:avLst/>
          </a:prstGeom>
        </p:spPr>
      </p:pic>
      <p:pic>
        <p:nvPicPr>
          <p:cNvPr id="56" name="!!cell-raw-5-2" descr="W:\Projects\hacks\rwb-new\presentation\pptx\assets\cell-raw-5-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698" y="452218"/>
            <a:ext cx="20932" cy="10721"/>
          </a:xfrm>
          <a:prstGeom prst="rect">
            <a:avLst/>
          </a:prstGeom>
        </p:spPr>
      </p:pic>
      <p:pic>
        <p:nvPicPr>
          <p:cNvPr id="57" name="!!cell-raw-5-3" descr="W:\Projects\hacks\rwb-new\presentation\pptx\assets\cell-raw-5-3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99977" y="457578"/>
            <a:ext cx="20932" cy="10721"/>
          </a:xfrm>
          <a:prstGeom prst="rect">
            <a:avLst/>
          </a:prstGeom>
        </p:spPr>
      </p:pic>
      <p:pic>
        <p:nvPicPr>
          <p:cNvPr id="58" name="!!cell-raw-5-4" descr="W:\Projects\hacks\rwb-new\presentation\pptx\assets\cell-raw-5-4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9255" y="462939"/>
            <a:ext cx="20932" cy="10721"/>
          </a:xfrm>
          <a:prstGeom prst="rect">
            <a:avLst/>
          </a:prstGeom>
        </p:spPr>
      </p:pic>
      <p:pic>
        <p:nvPicPr>
          <p:cNvPr id="59" name="!!cell-raw-5-5" descr="W:\Projects\hacks\rwb-new\presentation\pptx\assets\cell-raw-5-5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8534" y="468300"/>
            <a:ext cx="20932" cy="10721"/>
          </a:xfrm>
          <a:prstGeom prst="rect">
            <a:avLst/>
          </a:prstGeom>
        </p:spPr>
      </p:pic>
      <p:pic>
        <p:nvPicPr>
          <p:cNvPr id="60" name="!!cell-raw-5-6" descr="W:\Projects\hacks\rwb-new\presentation\pptx\assets\cell-raw-5-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7813" y="473660"/>
            <a:ext cx="20932" cy="10721"/>
          </a:xfrm>
          <a:prstGeom prst="rect">
            <a:avLst/>
          </a:prstGeom>
        </p:spPr>
      </p:pic>
      <p:pic>
        <p:nvPicPr>
          <p:cNvPr id="61" name="!!cell-raw-5-7" descr="W:\Projects\hacks\rwb-new\presentation\pptx\assets\cell-raw-5-7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7091" y="479021"/>
            <a:ext cx="20932" cy="10721"/>
          </a:xfrm>
          <a:prstGeom prst="rect">
            <a:avLst/>
          </a:prstGeom>
        </p:spPr>
      </p:pic>
      <p:pic>
        <p:nvPicPr>
          <p:cNvPr id="62" name="!!cell-raw-5-8" descr="W:\Projects\hacks\rwb-new\presentation\pptx\assets\cell-raw-5-8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46370" y="484382"/>
            <a:ext cx="20932" cy="10721"/>
          </a:xfrm>
          <a:prstGeom prst="rect">
            <a:avLst/>
          </a:prstGeom>
        </p:spPr>
      </p:pic>
      <p:pic>
        <p:nvPicPr>
          <p:cNvPr id="63" name="!!cell-raw-5-9" descr="W:\Projects\hacks\rwb-new\presentation\pptx\assets\cell-raw-5-9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5649" y="489742"/>
            <a:ext cx="20932" cy="10721"/>
          </a:xfrm>
          <a:prstGeom prst="rect">
            <a:avLst/>
          </a:prstGeom>
        </p:spPr>
      </p:pic>
      <p:pic>
        <p:nvPicPr>
          <p:cNvPr id="64" name="!!cell-raw-6-0" descr="W:\Projects\hacks\rwb-new\presentation\pptx\assets\cell-raw-6-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2862" y="446857"/>
            <a:ext cx="20932" cy="10721"/>
          </a:xfrm>
          <a:prstGeom prst="rect">
            <a:avLst/>
          </a:prstGeom>
        </p:spPr>
      </p:pic>
      <p:pic>
        <p:nvPicPr>
          <p:cNvPr id="65" name="!!cell-raw-6-1" descr="W:\Projects\hacks\rwb-new\presentation\pptx\assets\cell-raw-6-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2141" y="452218"/>
            <a:ext cx="20932" cy="10721"/>
          </a:xfrm>
          <a:prstGeom prst="rect">
            <a:avLst/>
          </a:prstGeom>
        </p:spPr>
      </p:pic>
      <p:pic>
        <p:nvPicPr>
          <p:cNvPr id="66" name="!!cell-raw-6-2" descr="W:\Projects\hacks\rwb-new\presentation\pptx\assets\cell-raw-6-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419" y="457578"/>
            <a:ext cx="20932" cy="10721"/>
          </a:xfrm>
          <a:prstGeom prst="rect">
            <a:avLst/>
          </a:prstGeom>
        </p:spPr>
      </p:pic>
      <p:pic>
        <p:nvPicPr>
          <p:cNvPr id="67" name="!!cell-raw-6-3" descr="W:\Projects\hacks\rwb-new\presentation\pptx\assets\cell-raw-6-3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0698" y="462939"/>
            <a:ext cx="20932" cy="10721"/>
          </a:xfrm>
          <a:prstGeom prst="rect">
            <a:avLst/>
          </a:prstGeom>
        </p:spPr>
      </p:pic>
      <p:pic>
        <p:nvPicPr>
          <p:cNvPr id="68" name="!!cell-raw-6-4" descr="W:\Projects\hacks\rwb-new\presentation\pptx\assets\cell-raw-6-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9977" y="468300"/>
            <a:ext cx="20932" cy="10721"/>
          </a:xfrm>
          <a:prstGeom prst="rect">
            <a:avLst/>
          </a:prstGeom>
        </p:spPr>
      </p:pic>
      <p:pic>
        <p:nvPicPr>
          <p:cNvPr id="69" name="!!cell-raw-6-5" descr="W:\Projects\hacks\rwb-new\presentation\pptx\assets\cell-raw-6-5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9255" y="473660"/>
            <a:ext cx="20932" cy="10721"/>
          </a:xfrm>
          <a:prstGeom prst="rect">
            <a:avLst/>
          </a:prstGeom>
        </p:spPr>
      </p:pic>
      <p:pic>
        <p:nvPicPr>
          <p:cNvPr id="70" name="!!cell-raw-6-6" descr="W:\Projects\hacks\rwb-new\presentation\pptx\assets\cell-raw-6-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8534" y="479021"/>
            <a:ext cx="20932" cy="10721"/>
          </a:xfrm>
          <a:prstGeom prst="rect">
            <a:avLst/>
          </a:prstGeom>
        </p:spPr>
      </p:pic>
      <p:pic>
        <p:nvPicPr>
          <p:cNvPr id="71" name="!!cell-raw-6-7" descr="W:\Projects\hacks\rwb-new\presentation\pptx\assets\cell-raw-6-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7813" y="484382"/>
            <a:ext cx="20932" cy="10721"/>
          </a:xfrm>
          <a:prstGeom prst="rect">
            <a:avLst/>
          </a:prstGeom>
        </p:spPr>
      </p:pic>
      <p:pic>
        <p:nvPicPr>
          <p:cNvPr id="72" name="!!cell-raw-6-8" descr="W:\Projects\hacks\rwb-new\presentation\pptx\assets\cell-raw-6-8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57091" y="489742"/>
            <a:ext cx="20932" cy="10721"/>
          </a:xfrm>
          <a:prstGeom prst="rect">
            <a:avLst/>
          </a:prstGeom>
        </p:spPr>
      </p:pic>
      <p:pic>
        <p:nvPicPr>
          <p:cNvPr id="73" name="!!cell-raw-6-9" descr="W:\Projects\hacks\rwb-new\presentation\pptx\assets\cell-raw-6-9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46370" y="495103"/>
            <a:ext cx="20932" cy="10721"/>
          </a:xfrm>
          <a:prstGeom prst="rect">
            <a:avLst/>
          </a:prstGeom>
        </p:spPr>
      </p:pic>
      <p:pic>
        <p:nvPicPr>
          <p:cNvPr id="74" name="!!cell-raw-7-0" descr="W:\Projects\hacks\rwb-new\presentation\pptx\assets\cell-raw-7-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3583" y="452218"/>
            <a:ext cx="20932" cy="10721"/>
          </a:xfrm>
          <a:prstGeom prst="rect">
            <a:avLst/>
          </a:prstGeom>
        </p:spPr>
      </p:pic>
      <p:pic>
        <p:nvPicPr>
          <p:cNvPr id="75" name="!!cell-raw-7-1" descr="W:\Projects\hacks\rwb-new\presentation\pptx\assets\cell-raw-7-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2862" y="457578"/>
            <a:ext cx="20932" cy="10721"/>
          </a:xfrm>
          <a:prstGeom prst="rect">
            <a:avLst/>
          </a:prstGeom>
        </p:spPr>
      </p:pic>
      <p:pic>
        <p:nvPicPr>
          <p:cNvPr id="76" name="!!cell-raw-7-2" descr="W:\Projects\hacks\rwb-new\presentation\pptx\assets\cell-raw-7-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2141" y="462939"/>
            <a:ext cx="20932" cy="10721"/>
          </a:xfrm>
          <a:prstGeom prst="rect">
            <a:avLst/>
          </a:prstGeom>
        </p:spPr>
      </p:pic>
      <p:pic>
        <p:nvPicPr>
          <p:cNvPr id="77" name="!!cell-raw-7-3" descr="W:\Projects\hacks\rwb-new\presentation\pptx\assets\cell-raw-7-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1419" y="468300"/>
            <a:ext cx="20932" cy="10721"/>
          </a:xfrm>
          <a:prstGeom prst="rect">
            <a:avLst/>
          </a:prstGeom>
        </p:spPr>
      </p:pic>
      <p:pic>
        <p:nvPicPr>
          <p:cNvPr id="78" name="!!cell-raw-7-4" descr="W:\Projects\hacks\rwb-new\presentation\pptx\assets\cell-raw-7-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0698" y="473660"/>
            <a:ext cx="20932" cy="10721"/>
          </a:xfrm>
          <a:prstGeom prst="rect">
            <a:avLst/>
          </a:prstGeom>
        </p:spPr>
      </p:pic>
      <p:pic>
        <p:nvPicPr>
          <p:cNvPr id="79" name="!!cell-raw-7-5" descr="W:\Projects\hacks\rwb-new\presentation\pptx\assets\cell-raw-7-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9977" y="479021"/>
            <a:ext cx="20932" cy="10721"/>
          </a:xfrm>
          <a:prstGeom prst="rect">
            <a:avLst/>
          </a:prstGeom>
        </p:spPr>
      </p:pic>
      <p:pic>
        <p:nvPicPr>
          <p:cNvPr id="80" name="!!cell-raw-7-6" descr="W:\Projects\hacks\rwb-new\presentation\pptx\assets\cell-raw-7-6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89255" y="484382"/>
            <a:ext cx="20932" cy="10721"/>
          </a:xfrm>
          <a:prstGeom prst="rect">
            <a:avLst/>
          </a:prstGeom>
        </p:spPr>
      </p:pic>
      <p:pic>
        <p:nvPicPr>
          <p:cNvPr id="81" name="!!cell-raw-7-7" descr="W:\Projects\hacks\rwb-new\presentation\pptx\assets\cell-raw-7-7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78534" y="489742"/>
            <a:ext cx="20932" cy="10721"/>
          </a:xfrm>
          <a:prstGeom prst="rect">
            <a:avLst/>
          </a:prstGeom>
        </p:spPr>
      </p:pic>
      <p:pic>
        <p:nvPicPr>
          <p:cNvPr id="82" name="!!cell-raw-7-8" descr="W:\Projects\hacks\rwb-new\presentation\pptx\assets\cell-raw-7-8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67813" y="495103"/>
            <a:ext cx="20932" cy="10721"/>
          </a:xfrm>
          <a:prstGeom prst="rect">
            <a:avLst/>
          </a:prstGeom>
        </p:spPr>
      </p:pic>
      <p:pic>
        <p:nvPicPr>
          <p:cNvPr id="83" name="!!cell-raw-7-9" descr="W:\Projects\hacks\rwb-new\presentation\pptx\assets\cell-raw-7-9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57091" y="500464"/>
            <a:ext cx="20932" cy="10721"/>
          </a:xfrm>
          <a:prstGeom prst="rect">
            <a:avLst/>
          </a:prstGeom>
        </p:spPr>
      </p:pic>
      <p:pic>
        <p:nvPicPr>
          <p:cNvPr id="84" name="!!cell-raw-8-0" descr="W:\Projects\hacks\rwb-new\presentation\pptx\assets\cell-raw-8-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4305" y="457578"/>
            <a:ext cx="20932" cy="10721"/>
          </a:xfrm>
          <a:prstGeom prst="rect">
            <a:avLst/>
          </a:prstGeom>
        </p:spPr>
      </p:pic>
      <p:pic>
        <p:nvPicPr>
          <p:cNvPr id="85" name="!!cell-raw-8-1" descr="W:\Projects\hacks\rwb-new\presentation\pptx\assets\cell-raw-8-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3583" y="462939"/>
            <a:ext cx="20932" cy="10721"/>
          </a:xfrm>
          <a:prstGeom prst="rect">
            <a:avLst/>
          </a:prstGeom>
        </p:spPr>
      </p:pic>
      <p:pic>
        <p:nvPicPr>
          <p:cNvPr id="86" name="!!cell-raw-8-2" descr="W:\Projects\hacks\rwb-new\presentation\pptx\assets\cell-raw-8-2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42862" y="468300"/>
            <a:ext cx="20932" cy="10721"/>
          </a:xfrm>
          <a:prstGeom prst="rect">
            <a:avLst/>
          </a:prstGeom>
        </p:spPr>
      </p:pic>
      <p:pic>
        <p:nvPicPr>
          <p:cNvPr id="87" name="!!cell-raw-8-3" descr="W:\Projects\hacks\rwb-new\presentation\pptx\assets\cell-raw-8-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2141" y="473660"/>
            <a:ext cx="20932" cy="10721"/>
          </a:xfrm>
          <a:prstGeom prst="rect">
            <a:avLst/>
          </a:prstGeom>
        </p:spPr>
      </p:pic>
      <p:pic>
        <p:nvPicPr>
          <p:cNvPr id="88" name="!!cell-raw-8-4" descr="W:\Projects\hacks\rwb-new\presentation\pptx\assets\cell-raw-8-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1419" y="479021"/>
            <a:ext cx="20932" cy="10721"/>
          </a:xfrm>
          <a:prstGeom prst="rect">
            <a:avLst/>
          </a:prstGeom>
        </p:spPr>
      </p:pic>
      <p:pic>
        <p:nvPicPr>
          <p:cNvPr id="89" name="!!cell-raw-8-5" descr="W:\Projects\hacks\rwb-new\presentation\pptx\assets\cell-raw-8-5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10698" y="484382"/>
            <a:ext cx="20932" cy="10721"/>
          </a:xfrm>
          <a:prstGeom prst="rect">
            <a:avLst/>
          </a:prstGeom>
        </p:spPr>
      </p:pic>
      <p:pic>
        <p:nvPicPr>
          <p:cNvPr id="90" name="!!cell-raw-8-6" descr="W:\Projects\hacks\rwb-new\presentation\pptx\assets\cell-raw-8-6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99977" y="489742"/>
            <a:ext cx="20932" cy="10721"/>
          </a:xfrm>
          <a:prstGeom prst="rect">
            <a:avLst/>
          </a:prstGeom>
        </p:spPr>
      </p:pic>
      <p:pic>
        <p:nvPicPr>
          <p:cNvPr id="91" name="!!cell-raw-8-7" descr="W:\Projects\hacks\rwb-new\presentation\pptx\assets\cell-raw-8-7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89255" y="495103"/>
            <a:ext cx="20932" cy="10721"/>
          </a:xfrm>
          <a:prstGeom prst="rect">
            <a:avLst/>
          </a:prstGeom>
        </p:spPr>
      </p:pic>
      <p:pic>
        <p:nvPicPr>
          <p:cNvPr id="92" name="!!cell-raw-8-8" descr="W:\Projects\hacks\rwb-new\presentation\pptx\assets\cell-raw-8-8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78534" y="500464"/>
            <a:ext cx="20932" cy="10721"/>
          </a:xfrm>
          <a:prstGeom prst="rect">
            <a:avLst/>
          </a:prstGeom>
        </p:spPr>
      </p:pic>
      <p:pic>
        <p:nvPicPr>
          <p:cNvPr id="93" name="!!cell-raw-8-9" descr="W:\Projects\hacks\rwb-new\presentation\pptx\assets\cell-raw-8-9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67813" y="505824"/>
            <a:ext cx="20932" cy="10721"/>
          </a:xfrm>
          <a:prstGeom prst="rect">
            <a:avLst/>
          </a:prstGeom>
        </p:spPr>
      </p:pic>
      <p:pic>
        <p:nvPicPr>
          <p:cNvPr id="94" name="!!cell-raw-9-0" descr="W:\Projects\hacks\rwb-new\presentation\pptx\assets\cell-raw-9-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026" y="462939"/>
            <a:ext cx="20932" cy="10721"/>
          </a:xfrm>
          <a:prstGeom prst="rect">
            <a:avLst/>
          </a:prstGeom>
        </p:spPr>
      </p:pic>
      <p:pic>
        <p:nvPicPr>
          <p:cNvPr id="95" name="!!cell-raw-9-1" descr="W:\Projects\hacks\rwb-new\presentation\pptx\assets\cell-raw-9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305" y="468300"/>
            <a:ext cx="20932" cy="10721"/>
          </a:xfrm>
          <a:prstGeom prst="rect">
            <a:avLst/>
          </a:prstGeom>
        </p:spPr>
      </p:pic>
      <p:pic>
        <p:nvPicPr>
          <p:cNvPr id="96" name="!!cell-raw-9-2" descr="W:\Projects\hacks\rwb-new\presentation\pptx\assets\cell-raw-9-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583" y="473660"/>
            <a:ext cx="20932" cy="10721"/>
          </a:xfrm>
          <a:prstGeom prst="rect">
            <a:avLst/>
          </a:prstGeom>
        </p:spPr>
      </p:pic>
      <p:pic>
        <p:nvPicPr>
          <p:cNvPr id="97" name="!!cell-raw-9-3" descr="W:\Projects\hacks\rwb-new\presentation\pptx\assets\cell-raw-9-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2862" y="479021"/>
            <a:ext cx="20932" cy="10721"/>
          </a:xfrm>
          <a:prstGeom prst="rect">
            <a:avLst/>
          </a:prstGeom>
        </p:spPr>
      </p:pic>
      <p:pic>
        <p:nvPicPr>
          <p:cNvPr id="98" name="!!cell-raw-9-4" descr="W:\Projects\hacks\rwb-new\presentation\pptx\assets\cell-raw-9-4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32141" y="484382"/>
            <a:ext cx="20932" cy="10721"/>
          </a:xfrm>
          <a:prstGeom prst="rect">
            <a:avLst/>
          </a:prstGeom>
        </p:spPr>
      </p:pic>
      <p:pic>
        <p:nvPicPr>
          <p:cNvPr id="99" name="!!cell-raw-9-5" descr="W:\Projects\hacks\rwb-new\presentation\pptx\assets\cell-raw-9-5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1419" y="489742"/>
            <a:ext cx="20932" cy="10721"/>
          </a:xfrm>
          <a:prstGeom prst="rect">
            <a:avLst/>
          </a:prstGeom>
        </p:spPr>
      </p:pic>
      <p:pic>
        <p:nvPicPr>
          <p:cNvPr id="100" name="!!cell-raw-9-6" descr="W:\Projects\hacks\rwb-new\presentation\pptx\assets\cell-raw-9-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0698" y="495103"/>
            <a:ext cx="20932" cy="10721"/>
          </a:xfrm>
          <a:prstGeom prst="rect">
            <a:avLst/>
          </a:prstGeom>
        </p:spPr>
      </p:pic>
      <p:pic>
        <p:nvPicPr>
          <p:cNvPr id="101" name="!!cell-raw-9-7" descr="W:\Projects\hacks\rwb-new\presentation\pptx\assets\cell-raw-9-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9977" y="500464"/>
            <a:ext cx="20932" cy="10721"/>
          </a:xfrm>
          <a:prstGeom prst="rect">
            <a:avLst/>
          </a:prstGeom>
        </p:spPr>
      </p:pic>
      <p:pic>
        <p:nvPicPr>
          <p:cNvPr id="102" name="!!cell-raw-9-8" descr="W:\Projects\hacks\rwb-new\presentation\pptx\assets\cell-raw-9-8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89255" y="505824"/>
            <a:ext cx="20932" cy="10721"/>
          </a:xfrm>
          <a:prstGeom prst="rect">
            <a:avLst/>
          </a:prstGeom>
        </p:spPr>
      </p:pic>
      <p:pic>
        <p:nvPicPr>
          <p:cNvPr id="103" name="!!cell-raw-9-9" descr="W:\Projects\hacks\rwb-new\presentation\pptx\assets\cell-raw-9-9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78534" y="511185"/>
            <a:ext cx="20932" cy="10721"/>
          </a:xfrm>
          <a:prstGeom prst="rect">
            <a:avLst/>
          </a:prstGeom>
        </p:spPr>
      </p:pic>
      <p:pic>
        <p:nvPicPr>
          <p:cNvPr id="104" name="!!base-core" descr="W:\Projects\hacks\rwb-new\presentation\pptx\assets\st-core-bas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05" name="!!cell-core-0-0" descr="W:\Projects\hacks\rwb-new\presentation\pptx\assets\cell-core-0-0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78534" y="378955"/>
            <a:ext cx="20932" cy="10721"/>
          </a:xfrm>
          <a:prstGeom prst="rect">
            <a:avLst/>
          </a:prstGeom>
        </p:spPr>
      </p:pic>
      <p:pic>
        <p:nvPicPr>
          <p:cNvPr id="106" name="!!cell-core-0-1" descr="W:\Projects\hacks\rwb-new\presentation\pptx\assets\cell-core-0-1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67813" y="384316"/>
            <a:ext cx="20932" cy="10721"/>
          </a:xfrm>
          <a:prstGeom prst="rect">
            <a:avLst/>
          </a:prstGeom>
        </p:spPr>
      </p:pic>
      <p:pic>
        <p:nvPicPr>
          <p:cNvPr id="107" name="!!cell-core-0-2" descr="W:\Projects\hacks\rwb-new\presentation\pptx\assets\cell-core-0-2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57091" y="389677"/>
            <a:ext cx="20932" cy="10721"/>
          </a:xfrm>
          <a:prstGeom prst="rect">
            <a:avLst/>
          </a:prstGeom>
        </p:spPr>
      </p:pic>
      <p:pic>
        <p:nvPicPr>
          <p:cNvPr id="108" name="!!cell-core-0-3" descr="W:\Projects\hacks\rwb-new\presentation\pptx\assets\cell-core-0-3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46370" y="395037"/>
            <a:ext cx="20932" cy="10721"/>
          </a:xfrm>
          <a:prstGeom prst="rect">
            <a:avLst/>
          </a:prstGeom>
        </p:spPr>
      </p:pic>
      <p:pic>
        <p:nvPicPr>
          <p:cNvPr id="109" name="!!cell-core-0-4" descr="W:\Projects\hacks\rwb-new\presentation\pptx\assets\cell-core-0-4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35649" y="400398"/>
            <a:ext cx="20932" cy="10721"/>
          </a:xfrm>
          <a:prstGeom prst="rect">
            <a:avLst/>
          </a:prstGeom>
        </p:spPr>
      </p:pic>
      <p:pic>
        <p:nvPicPr>
          <p:cNvPr id="110" name="!!cell-core-0-5" descr="W:\Projects\hacks\rwb-new\presentation\pptx\assets\cell-core-0-5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24927" y="405759"/>
            <a:ext cx="20932" cy="10721"/>
          </a:xfrm>
          <a:prstGeom prst="rect">
            <a:avLst/>
          </a:prstGeom>
        </p:spPr>
      </p:pic>
      <p:pic>
        <p:nvPicPr>
          <p:cNvPr id="111" name="!!cell-core-0-6" descr="W:\Projects\hacks\rwb-new\presentation\pptx\assets\cell-core-0-6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14206" y="411119"/>
            <a:ext cx="20932" cy="10721"/>
          </a:xfrm>
          <a:prstGeom prst="rect">
            <a:avLst/>
          </a:prstGeom>
        </p:spPr>
      </p:pic>
      <p:pic>
        <p:nvPicPr>
          <p:cNvPr id="112" name="!!cell-core-0-7" descr="W:\Projects\hacks\rwb-new\presentation\pptx\assets\cell-core-0-7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03485" y="416480"/>
            <a:ext cx="20932" cy="10721"/>
          </a:xfrm>
          <a:prstGeom prst="rect">
            <a:avLst/>
          </a:prstGeom>
        </p:spPr>
      </p:pic>
      <p:pic>
        <p:nvPicPr>
          <p:cNvPr id="113" name="!!cell-core-0-8" descr="W:\Projects\hacks\rwb-new\presentation\pptx\assets\cell-core-0-8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92763" y="421841"/>
            <a:ext cx="20932" cy="10721"/>
          </a:xfrm>
          <a:prstGeom prst="rect">
            <a:avLst/>
          </a:prstGeom>
        </p:spPr>
      </p:pic>
      <p:pic>
        <p:nvPicPr>
          <p:cNvPr id="114" name="!!cell-core-0-9" descr="W:\Projects\hacks\rwb-new\presentation\pptx\assets\cell-core-0-9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82042" y="427201"/>
            <a:ext cx="20932" cy="10721"/>
          </a:xfrm>
          <a:prstGeom prst="rect">
            <a:avLst/>
          </a:prstGeom>
        </p:spPr>
      </p:pic>
      <p:pic>
        <p:nvPicPr>
          <p:cNvPr id="115" name="!!cell-core-1-0" descr="W:\Projects\hacks\rwb-new\presentation\pptx\assets\cell-core-1-0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89255" y="384316"/>
            <a:ext cx="20932" cy="10721"/>
          </a:xfrm>
          <a:prstGeom prst="rect">
            <a:avLst/>
          </a:prstGeom>
        </p:spPr>
      </p:pic>
      <p:pic>
        <p:nvPicPr>
          <p:cNvPr id="116" name="!!cell-core-1-1" descr="W:\Projects\hacks\rwb-new\presentation\pptx\assets\cell-core-1-1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78534" y="389677"/>
            <a:ext cx="20932" cy="10721"/>
          </a:xfrm>
          <a:prstGeom prst="rect">
            <a:avLst/>
          </a:prstGeom>
        </p:spPr>
      </p:pic>
      <p:pic>
        <p:nvPicPr>
          <p:cNvPr id="117" name="!!cell-core-1-2" descr="W:\Projects\hacks\rwb-new\presentation\pptx\assets\cell-core-1-2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67813" y="395037"/>
            <a:ext cx="20932" cy="10721"/>
          </a:xfrm>
          <a:prstGeom prst="rect">
            <a:avLst/>
          </a:prstGeom>
        </p:spPr>
      </p:pic>
      <p:pic>
        <p:nvPicPr>
          <p:cNvPr id="118" name="!!cell-core-1-3" descr="W:\Projects\hacks\rwb-new\presentation\pptx\assets\cell-core-1-3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57091" y="400398"/>
            <a:ext cx="20932" cy="10721"/>
          </a:xfrm>
          <a:prstGeom prst="rect">
            <a:avLst/>
          </a:prstGeom>
        </p:spPr>
      </p:pic>
      <p:pic>
        <p:nvPicPr>
          <p:cNvPr id="119" name="!!cell-core-1-4" descr="W:\Projects\hacks\rwb-new\presentation\pptx\assets\cell-core-1-4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46370" y="405759"/>
            <a:ext cx="20932" cy="10721"/>
          </a:xfrm>
          <a:prstGeom prst="rect">
            <a:avLst/>
          </a:prstGeom>
        </p:spPr>
      </p:pic>
      <p:pic>
        <p:nvPicPr>
          <p:cNvPr id="120" name="!!cell-core-1-5" descr="W:\Projects\hacks\rwb-new\presentation\pptx\assets\cell-core-1-5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35649" y="411119"/>
            <a:ext cx="20932" cy="10721"/>
          </a:xfrm>
          <a:prstGeom prst="rect">
            <a:avLst/>
          </a:prstGeom>
        </p:spPr>
      </p:pic>
      <p:pic>
        <p:nvPicPr>
          <p:cNvPr id="121" name="!!cell-core-1-6" descr="W:\Projects\hacks\rwb-new\presentation\pptx\assets\cell-core-1-6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24927" y="416480"/>
            <a:ext cx="20932" cy="10721"/>
          </a:xfrm>
          <a:prstGeom prst="rect">
            <a:avLst/>
          </a:prstGeom>
        </p:spPr>
      </p:pic>
      <p:pic>
        <p:nvPicPr>
          <p:cNvPr id="122" name="!!cell-core-1-7" descr="W:\Projects\hacks\rwb-new\presentation\pptx\assets\cell-core-1-7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14206" y="421841"/>
            <a:ext cx="20932" cy="10721"/>
          </a:xfrm>
          <a:prstGeom prst="rect">
            <a:avLst/>
          </a:prstGeom>
        </p:spPr>
      </p:pic>
      <p:pic>
        <p:nvPicPr>
          <p:cNvPr id="123" name="!!cell-core-1-8" descr="W:\Projects\hacks\rwb-new\presentation\pptx\assets\cell-core-1-8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03485" y="427201"/>
            <a:ext cx="20932" cy="10721"/>
          </a:xfrm>
          <a:prstGeom prst="rect">
            <a:avLst/>
          </a:prstGeom>
        </p:spPr>
      </p:pic>
      <p:pic>
        <p:nvPicPr>
          <p:cNvPr id="124" name="!!cell-core-1-9" descr="W:\Projects\hacks\rwb-new\presentation\pptx\assets\cell-core-1-9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92763" y="432562"/>
            <a:ext cx="20932" cy="10721"/>
          </a:xfrm>
          <a:prstGeom prst="rect">
            <a:avLst/>
          </a:prstGeom>
        </p:spPr>
      </p:pic>
      <p:pic>
        <p:nvPicPr>
          <p:cNvPr id="125" name="!!cell-core-2-0" descr="W:\Projects\hacks\rwb-new\presentation\pptx\assets\cell-core-2-0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99977" y="389677"/>
            <a:ext cx="20932" cy="10721"/>
          </a:xfrm>
          <a:prstGeom prst="rect">
            <a:avLst/>
          </a:prstGeom>
        </p:spPr>
      </p:pic>
      <p:pic>
        <p:nvPicPr>
          <p:cNvPr id="126" name="!!cell-core-2-1" descr="W:\Projects\hacks\rwb-new\presentation\pptx\assets\cell-core-2-1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89255" y="395037"/>
            <a:ext cx="20932" cy="10721"/>
          </a:xfrm>
          <a:prstGeom prst="rect">
            <a:avLst/>
          </a:prstGeom>
        </p:spPr>
      </p:pic>
      <p:pic>
        <p:nvPicPr>
          <p:cNvPr id="127" name="!!cell-core-2-2" descr="W:\Projects\hacks\rwb-new\presentation\pptx\assets\cell-core-2-2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78534" y="400398"/>
            <a:ext cx="20932" cy="10721"/>
          </a:xfrm>
          <a:prstGeom prst="rect">
            <a:avLst/>
          </a:prstGeom>
        </p:spPr>
      </p:pic>
      <p:pic>
        <p:nvPicPr>
          <p:cNvPr id="128" name="!!cell-core-2-3" descr="W:\Projects\hacks\rwb-new\presentation\pptx\assets\cell-core-2-3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67813" y="405759"/>
            <a:ext cx="20932" cy="10721"/>
          </a:xfrm>
          <a:prstGeom prst="rect">
            <a:avLst/>
          </a:prstGeom>
        </p:spPr>
      </p:pic>
      <p:pic>
        <p:nvPicPr>
          <p:cNvPr id="129" name="!!cell-core-2-4" descr="W:\Projects\hacks\rwb-new\presentation\pptx\assets\cell-core-2-4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57091" y="411119"/>
            <a:ext cx="20932" cy="10721"/>
          </a:xfrm>
          <a:prstGeom prst="rect">
            <a:avLst/>
          </a:prstGeom>
        </p:spPr>
      </p:pic>
      <p:pic>
        <p:nvPicPr>
          <p:cNvPr id="130" name="!!cell-core-2-5" descr="W:\Projects\hacks\rwb-new\presentation\pptx\assets\cell-core-2-5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46370" y="416480"/>
            <a:ext cx="20932" cy="10721"/>
          </a:xfrm>
          <a:prstGeom prst="rect">
            <a:avLst/>
          </a:prstGeom>
        </p:spPr>
      </p:pic>
      <p:pic>
        <p:nvPicPr>
          <p:cNvPr id="131" name="!!cell-core-2-6" descr="W:\Projects\hacks\rwb-new\presentation\pptx\assets\cell-core-2-6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35649" y="421841"/>
            <a:ext cx="20932" cy="10721"/>
          </a:xfrm>
          <a:prstGeom prst="rect">
            <a:avLst/>
          </a:prstGeom>
        </p:spPr>
      </p:pic>
      <p:pic>
        <p:nvPicPr>
          <p:cNvPr id="132" name="!!cell-core-2-7" descr="W:\Projects\hacks\rwb-new\presentation\pptx\assets\cell-core-2-7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24927" y="427201"/>
            <a:ext cx="20932" cy="10721"/>
          </a:xfrm>
          <a:prstGeom prst="rect">
            <a:avLst/>
          </a:prstGeom>
        </p:spPr>
      </p:pic>
      <p:pic>
        <p:nvPicPr>
          <p:cNvPr id="133" name="!!cell-core-2-8" descr="W:\Projects\hacks\rwb-new\presentation\pptx\assets\cell-core-2-8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14206" y="432562"/>
            <a:ext cx="20932" cy="10721"/>
          </a:xfrm>
          <a:prstGeom prst="rect">
            <a:avLst/>
          </a:prstGeom>
        </p:spPr>
      </p:pic>
      <p:pic>
        <p:nvPicPr>
          <p:cNvPr id="134" name="!!cell-core-2-9" descr="W:\Projects\hacks\rwb-new\presentation\pptx\assets\cell-core-2-9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03485" y="437923"/>
            <a:ext cx="20932" cy="10721"/>
          </a:xfrm>
          <a:prstGeom prst="rect">
            <a:avLst/>
          </a:prstGeom>
        </p:spPr>
      </p:pic>
      <p:pic>
        <p:nvPicPr>
          <p:cNvPr id="135" name="!!cell-core-3-0" descr="W:\Projects\hacks\rwb-new\presentation\pptx\assets\cell-core-3-0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10698" y="395037"/>
            <a:ext cx="20932" cy="10721"/>
          </a:xfrm>
          <a:prstGeom prst="rect">
            <a:avLst/>
          </a:prstGeom>
        </p:spPr>
      </p:pic>
      <p:pic>
        <p:nvPicPr>
          <p:cNvPr id="136" name="!!cell-core-3-1" descr="W:\Projects\hacks\rwb-new\presentation\pptx\assets\cell-core-3-1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99977" y="400398"/>
            <a:ext cx="20932" cy="10721"/>
          </a:xfrm>
          <a:prstGeom prst="rect">
            <a:avLst/>
          </a:prstGeom>
        </p:spPr>
      </p:pic>
      <p:pic>
        <p:nvPicPr>
          <p:cNvPr id="137" name="!!cell-core-3-2" descr="W:\Projects\hacks\rwb-new\presentation\pptx\assets\cell-core-3-2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889255" y="405759"/>
            <a:ext cx="20932" cy="10721"/>
          </a:xfrm>
          <a:prstGeom prst="rect">
            <a:avLst/>
          </a:prstGeom>
        </p:spPr>
      </p:pic>
      <p:pic>
        <p:nvPicPr>
          <p:cNvPr id="138" name="!!cell-core-3-3" descr="W:\Projects\hacks\rwb-new\presentation\pptx\assets\cell-core-3-3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8534" y="411119"/>
            <a:ext cx="20932" cy="10721"/>
          </a:xfrm>
          <a:prstGeom prst="rect">
            <a:avLst/>
          </a:prstGeom>
        </p:spPr>
      </p:pic>
      <p:pic>
        <p:nvPicPr>
          <p:cNvPr id="139" name="!!cell-core-3-4" descr="W:\Projects\hacks\rwb-new\presentation\pptx\assets\cell-core-3-4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67813" y="416480"/>
            <a:ext cx="20932" cy="10721"/>
          </a:xfrm>
          <a:prstGeom prst="rect">
            <a:avLst/>
          </a:prstGeom>
        </p:spPr>
      </p:pic>
      <p:pic>
        <p:nvPicPr>
          <p:cNvPr id="140" name="!!cell-core-3-5" descr="W:\Projects\hacks\rwb-new\presentation\pptx\assets\cell-core-3-5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57091" y="421841"/>
            <a:ext cx="20932" cy="10721"/>
          </a:xfrm>
          <a:prstGeom prst="rect">
            <a:avLst/>
          </a:prstGeom>
        </p:spPr>
      </p:pic>
      <p:pic>
        <p:nvPicPr>
          <p:cNvPr id="141" name="!!cell-core-3-6" descr="W:\Projects\hacks\rwb-new\presentation\pptx\assets\cell-core-3-6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46370" y="427201"/>
            <a:ext cx="20932" cy="10721"/>
          </a:xfrm>
          <a:prstGeom prst="rect">
            <a:avLst/>
          </a:prstGeom>
        </p:spPr>
      </p:pic>
      <p:pic>
        <p:nvPicPr>
          <p:cNvPr id="142" name="!!cell-core-3-7" descr="W:\Projects\hacks\rwb-new\presentation\pptx\assets\cell-core-3-7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35649" y="432562"/>
            <a:ext cx="20932" cy="10721"/>
          </a:xfrm>
          <a:prstGeom prst="rect">
            <a:avLst/>
          </a:prstGeom>
        </p:spPr>
      </p:pic>
      <p:pic>
        <p:nvPicPr>
          <p:cNvPr id="143" name="!!cell-core-3-8" descr="W:\Projects\hacks\rwb-new\presentation\pptx\assets\cell-core-3-8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24927" y="437923"/>
            <a:ext cx="20932" cy="10721"/>
          </a:xfrm>
          <a:prstGeom prst="rect">
            <a:avLst/>
          </a:prstGeom>
        </p:spPr>
      </p:pic>
      <p:pic>
        <p:nvPicPr>
          <p:cNvPr id="144" name="!!cell-core-3-9" descr="W:\Projects\hacks\rwb-new\presentation\pptx\assets\cell-core-3-9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14206" y="443283"/>
            <a:ext cx="20932" cy="10721"/>
          </a:xfrm>
          <a:prstGeom prst="rect">
            <a:avLst/>
          </a:prstGeom>
        </p:spPr>
      </p:pic>
      <p:pic>
        <p:nvPicPr>
          <p:cNvPr id="145" name="!!cell-core-4-0" descr="W:\Projects\hacks\rwb-new\presentation\pptx\assets\cell-core-4-0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21419" y="400398"/>
            <a:ext cx="20932" cy="10721"/>
          </a:xfrm>
          <a:prstGeom prst="rect">
            <a:avLst/>
          </a:prstGeom>
        </p:spPr>
      </p:pic>
      <p:pic>
        <p:nvPicPr>
          <p:cNvPr id="146" name="!!cell-core-4-1" descr="W:\Projects\hacks\rwb-new\presentation\pptx\assets\cell-core-4-1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10698" y="405759"/>
            <a:ext cx="20932" cy="10721"/>
          </a:xfrm>
          <a:prstGeom prst="rect">
            <a:avLst/>
          </a:prstGeom>
        </p:spPr>
      </p:pic>
      <p:pic>
        <p:nvPicPr>
          <p:cNvPr id="147" name="!!cell-core-4-2" descr="W:\Projects\hacks\rwb-new\presentation\pptx\assets\cell-core-4-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99977" y="411119"/>
            <a:ext cx="20932" cy="10721"/>
          </a:xfrm>
          <a:prstGeom prst="rect">
            <a:avLst/>
          </a:prstGeom>
        </p:spPr>
      </p:pic>
      <p:pic>
        <p:nvPicPr>
          <p:cNvPr id="148" name="!!cell-core-4-3" descr="W:\Projects\hacks\rwb-new\presentation\pptx\assets\cell-core-4-3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89255" y="416480"/>
            <a:ext cx="20932" cy="10721"/>
          </a:xfrm>
          <a:prstGeom prst="rect">
            <a:avLst/>
          </a:prstGeom>
        </p:spPr>
      </p:pic>
      <p:pic>
        <p:nvPicPr>
          <p:cNvPr id="149" name="!!cell-core-4-4" descr="W:\Projects\hacks\rwb-new\presentation\pptx\assets\cell-core-4-4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78534" y="421841"/>
            <a:ext cx="20932" cy="10721"/>
          </a:xfrm>
          <a:prstGeom prst="rect">
            <a:avLst/>
          </a:prstGeom>
        </p:spPr>
      </p:pic>
      <p:pic>
        <p:nvPicPr>
          <p:cNvPr id="150" name="!!cell-core-4-5" descr="W:\Projects\hacks\rwb-new\presentation\pptx\assets\cell-core-4-5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67813" y="427201"/>
            <a:ext cx="20932" cy="10721"/>
          </a:xfrm>
          <a:prstGeom prst="rect">
            <a:avLst/>
          </a:prstGeom>
        </p:spPr>
      </p:pic>
      <p:pic>
        <p:nvPicPr>
          <p:cNvPr id="151" name="!!cell-core-4-6" descr="W:\Projects\hacks\rwb-new\presentation\pptx\assets\cell-core-4-6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57091" y="432562"/>
            <a:ext cx="20932" cy="10721"/>
          </a:xfrm>
          <a:prstGeom prst="rect">
            <a:avLst/>
          </a:prstGeom>
        </p:spPr>
      </p:pic>
      <p:pic>
        <p:nvPicPr>
          <p:cNvPr id="152" name="!!cell-core-4-7" descr="W:\Projects\hacks\rwb-new\presentation\pptx\assets\cell-core-4-7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46370" y="437923"/>
            <a:ext cx="20932" cy="10721"/>
          </a:xfrm>
          <a:prstGeom prst="rect">
            <a:avLst/>
          </a:prstGeom>
        </p:spPr>
      </p:pic>
      <p:pic>
        <p:nvPicPr>
          <p:cNvPr id="153" name="!!cell-core-4-8" descr="W:\Projects\hacks\rwb-new\presentation\pptx\assets\cell-core-4-8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35649" y="443283"/>
            <a:ext cx="20932" cy="10721"/>
          </a:xfrm>
          <a:prstGeom prst="rect">
            <a:avLst/>
          </a:prstGeom>
        </p:spPr>
      </p:pic>
      <p:pic>
        <p:nvPicPr>
          <p:cNvPr id="154" name="!!cell-core-4-9" descr="W:\Projects\hacks\rwb-new\presentation\pptx\assets\cell-core-4-9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24927" y="448644"/>
            <a:ext cx="20932" cy="10721"/>
          </a:xfrm>
          <a:prstGeom prst="rect">
            <a:avLst/>
          </a:prstGeom>
        </p:spPr>
      </p:pic>
      <p:pic>
        <p:nvPicPr>
          <p:cNvPr id="155" name="!!cell-core-5-0" descr="W:\Projects\hacks\rwb-new\presentation\pptx\assets\cell-core-5-0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32141" y="405759"/>
            <a:ext cx="20932" cy="10721"/>
          </a:xfrm>
          <a:prstGeom prst="rect">
            <a:avLst/>
          </a:prstGeom>
        </p:spPr>
      </p:pic>
      <p:pic>
        <p:nvPicPr>
          <p:cNvPr id="156" name="!!cell-core-5-1" descr="W:\Projects\hacks\rwb-new\presentation\pptx\assets\cell-core-5-1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21419" y="411119"/>
            <a:ext cx="20932" cy="10721"/>
          </a:xfrm>
          <a:prstGeom prst="rect">
            <a:avLst/>
          </a:prstGeom>
        </p:spPr>
      </p:pic>
      <p:pic>
        <p:nvPicPr>
          <p:cNvPr id="157" name="!!cell-core-5-2" descr="W:\Projects\hacks\rwb-new\presentation\pptx\assets\cell-core-5-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10698" y="416480"/>
            <a:ext cx="20932" cy="10721"/>
          </a:xfrm>
          <a:prstGeom prst="rect">
            <a:avLst/>
          </a:prstGeom>
        </p:spPr>
      </p:pic>
      <p:pic>
        <p:nvPicPr>
          <p:cNvPr id="158" name="!!cell-core-5-3" descr="W:\Projects\hacks\rwb-new\presentation\pptx\assets\cell-core-5-3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99977" y="421841"/>
            <a:ext cx="20932" cy="10721"/>
          </a:xfrm>
          <a:prstGeom prst="rect">
            <a:avLst/>
          </a:prstGeom>
        </p:spPr>
      </p:pic>
      <p:pic>
        <p:nvPicPr>
          <p:cNvPr id="159" name="!!cell-core-5-4" descr="W:\Projects\hacks\rwb-new\presentation\pptx\assets\cell-core-5-4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89255" y="427201"/>
            <a:ext cx="20932" cy="10721"/>
          </a:xfrm>
          <a:prstGeom prst="rect">
            <a:avLst/>
          </a:prstGeom>
        </p:spPr>
      </p:pic>
      <p:pic>
        <p:nvPicPr>
          <p:cNvPr id="160" name="!!cell-core-5-5" descr="W:\Projects\hacks\rwb-new\presentation\pptx\assets\cell-core-5-5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78534" y="432562"/>
            <a:ext cx="20932" cy="10721"/>
          </a:xfrm>
          <a:prstGeom prst="rect">
            <a:avLst/>
          </a:prstGeom>
        </p:spPr>
      </p:pic>
      <p:pic>
        <p:nvPicPr>
          <p:cNvPr id="161" name="!!cell-core-5-6" descr="W:\Projects\hacks\rwb-new\presentation\pptx\assets\cell-core-5-6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67813" y="437923"/>
            <a:ext cx="20932" cy="10721"/>
          </a:xfrm>
          <a:prstGeom prst="rect">
            <a:avLst/>
          </a:prstGeom>
        </p:spPr>
      </p:pic>
      <p:pic>
        <p:nvPicPr>
          <p:cNvPr id="162" name="!!cell-core-5-7" descr="W:\Projects\hacks\rwb-new\presentation\pptx\assets\cell-core-5-7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57091" y="443283"/>
            <a:ext cx="20932" cy="10721"/>
          </a:xfrm>
          <a:prstGeom prst="rect">
            <a:avLst/>
          </a:prstGeom>
        </p:spPr>
      </p:pic>
      <p:pic>
        <p:nvPicPr>
          <p:cNvPr id="163" name="!!cell-core-5-8" descr="W:\Projects\hacks\rwb-new\presentation\pptx\assets\cell-core-5-8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46370" y="448644"/>
            <a:ext cx="20932" cy="10721"/>
          </a:xfrm>
          <a:prstGeom prst="rect">
            <a:avLst/>
          </a:prstGeom>
        </p:spPr>
      </p:pic>
      <p:pic>
        <p:nvPicPr>
          <p:cNvPr id="164" name="!!cell-core-5-9" descr="W:\Projects\hacks\rwb-new\presentation\pptx\assets\cell-core-5-9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835649" y="454005"/>
            <a:ext cx="20932" cy="10721"/>
          </a:xfrm>
          <a:prstGeom prst="rect">
            <a:avLst/>
          </a:prstGeom>
        </p:spPr>
      </p:pic>
      <p:pic>
        <p:nvPicPr>
          <p:cNvPr id="165" name="!!cell-core-6-0" descr="W:\Projects\hacks\rwb-new\presentation\pptx\assets\cell-core-6-0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42862" y="411119"/>
            <a:ext cx="20932" cy="10721"/>
          </a:xfrm>
          <a:prstGeom prst="rect">
            <a:avLst/>
          </a:prstGeom>
        </p:spPr>
      </p:pic>
      <p:pic>
        <p:nvPicPr>
          <p:cNvPr id="166" name="!!cell-core-6-1" descr="W:\Projects\hacks\rwb-new\presentation\pptx\assets\cell-core-6-1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32141" y="416480"/>
            <a:ext cx="20932" cy="10721"/>
          </a:xfrm>
          <a:prstGeom prst="rect">
            <a:avLst/>
          </a:prstGeom>
        </p:spPr>
      </p:pic>
      <p:pic>
        <p:nvPicPr>
          <p:cNvPr id="167" name="!!cell-core-6-2" descr="W:\Projects\hacks\rwb-new\presentation\pptx\assets\cell-core-6-2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21419" y="421841"/>
            <a:ext cx="20932" cy="10721"/>
          </a:xfrm>
          <a:prstGeom prst="rect">
            <a:avLst/>
          </a:prstGeom>
        </p:spPr>
      </p:pic>
      <p:pic>
        <p:nvPicPr>
          <p:cNvPr id="168" name="!!cell-core-6-3" descr="W:\Projects\hacks\rwb-new\presentation\pptx\assets\cell-core-6-3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10698" y="427201"/>
            <a:ext cx="20932" cy="10721"/>
          </a:xfrm>
          <a:prstGeom prst="rect">
            <a:avLst/>
          </a:prstGeom>
        </p:spPr>
      </p:pic>
      <p:pic>
        <p:nvPicPr>
          <p:cNvPr id="169" name="!!cell-core-6-4" descr="W:\Projects\hacks\rwb-new\presentation\pptx\assets\cell-core-6-4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99977" y="432562"/>
            <a:ext cx="20932" cy="10721"/>
          </a:xfrm>
          <a:prstGeom prst="rect">
            <a:avLst/>
          </a:prstGeom>
        </p:spPr>
      </p:pic>
      <p:pic>
        <p:nvPicPr>
          <p:cNvPr id="170" name="!!cell-core-6-5" descr="W:\Projects\hacks\rwb-new\presentation\pptx\assets\cell-core-6-5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89255" y="437923"/>
            <a:ext cx="20932" cy="10721"/>
          </a:xfrm>
          <a:prstGeom prst="rect">
            <a:avLst/>
          </a:prstGeom>
        </p:spPr>
      </p:pic>
      <p:pic>
        <p:nvPicPr>
          <p:cNvPr id="171" name="!!cell-core-6-6" descr="W:\Projects\hacks\rwb-new\presentation\pptx\assets\cell-core-6-6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78534" y="443283"/>
            <a:ext cx="20932" cy="10721"/>
          </a:xfrm>
          <a:prstGeom prst="rect">
            <a:avLst/>
          </a:prstGeom>
        </p:spPr>
      </p:pic>
      <p:pic>
        <p:nvPicPr>
          <p:cNvPr id="172" name="!!cell-core-6-7" descr="W:\Projects\hacks\rwb-new\presentation\pptx\assets\cell-core-6-7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67813" y="448644"/>
            <a:ext cx="20932" cy="10721"/>
          </a:xfrm>
          <a:prstGeom prst="rect">
            <a:avLst/>
          </a:prstGeom>
        </p:spPr>
      </p:pic>
      <p:pic>
        <p:nvPicPr>
          <p:cNvPr id="173" name="!!cell-core-6-8" descr="W:\Projects\hacks\rwb-new\presentation\pptx\assets\cell-core-6-8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857091" y="454005"/>
            <a:ext cx="20932" cy="10721"/>
          </a:xfrm>
          <a:prstGeom prst="rect">
            <a:avLst/>
          </a:prstGeom>
        </p:spPr>
      </p:pic>
      <p:pic>
        <p:nvPicPr>
          <p:cNvPr id="174" name="!!cell-core-6-9" descr="W:\Projects\hacks\rwb-new\presentation\pptx\assets\cell-core-6-9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46370" y="459365"/>
            <a:ext cx="20932" cy="10721"/>
          </a:xfrm>
          <a:prstGeom prst="rect">
            <a:avLst/>
          </a:prstGeom>
        </p:spPr>
      </p:pic>
      <p:pic>
        <p:nvPicPr>
          <p:cNvPr id="175" name="!!cell-core-7-0" descr="W:\Projects\hacks\rwb-new\presentation\pptx\assets\cell-core-7-0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53583" y="416480"/>
            <a:ext cx="20932" cy="10721"/>
          </a:xfrm>
          <a:prstGeom prst="rect">
            <a:avLst/>
          </a:prstGeom>
        </p:spPr>
      </p:pic>
      <p:pic>
        <p:nvPicPr>
          <p:cNvPr id="176" name="!!cell-core-7-1" descr="W:\Projects\hacks\rwb-new\presentation\pptx\assets\cell-core-7-1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42862" y="421841"/>
            <a:ext cx="20932" cy="10721"/>
          </a:xfrm>
          <a:prstGeom prst="rect">
            <a:avLst/>
          </a:prstGeom>
        </p:spPr>
      </p:pic>
      <p:pic>
        <p:nvPicPr>
          <p:cNvPr id="177" name="!!cell-core-7-2" descr="W:\Projects\hacks\rwb-new\presentation\pptx\assets\cell-core-7-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32141" y="427201"/>
            <a:ext cx="20932" cy="10721"/>
          </a:xfrm>
          <a:prstGeom prst="rect">
            <a:avLst/>
          </a:prstGeom>
        </p:spPr>
      </p:pic>
      <p:pic>
        <p:nvPicPr>
          <p:cNvPr id="178" name="!!cell-core-7-3" descr="W:\Projects\hacks\rwb-new\presentation\pptx\assets\cell-core-7-3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21419" y="432562"/>
            <a:ext cx="20932" cy="10721"/>
          </a:xfrm>
          <a:prstGeom prst="rect">
            <a:avLst/>
          </a:prstGeom>
        </p:spPr>
      </p:pic>
      <p:pic>
        <p:nvPicPr>
          <p:cNvPr id="179" name="!!cell-core-7-4" descr="W:\Projects\hacks\rwb-new\presentation\pptx\assets\cell-core-7-4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10698" y="437923"/>
            <a:ext cx="20932" cy="10721"/>
          </a:xfrm>
          <a:prstGeom prst="rect">
            <a:avLst/>
          </a:prstGeom>
        </p:spPr>
      </p:pic>
      <p:pic>
        <p:nvPicPr>
          <p:cNvPr id="180" name="!!cell-core-7-5" descr="W:\Projects\hacks\rwb-new\presentation\pptx\assets\cell-core-7-5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99977" y="443283"/>
            <a:ext cx="20932" cy="10721"/>
          </a:xfrm>
          <a:prstGeom prst="rect">
            <a:avLst/>
          </a:prstGeom>
        </p:spPr>
      </p:pic>
      <p:pic>
        <p:nvPicPr>
          <p:cNvPr id="181" name="!!cell-core-7-6" descr="W:\Projects\hacks\rwb-new\presentation\pptx\assets\cell-core-7-6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889255" y="448644"/>
            <a:ext cx="20932" cy="10721"/>
          </a:xfrm>
          <a:prstGeom prst="rect">
            <a:avLst/>
          </a:prstGeom>
        </p:spPr>
      </p:pic>
      <p:pic>
        <p:nvPicPr>
          <p:cNvPr id="182" name="!!cell-core-7-7" descr="W:\Projects\hacks\rwb-new\presentation\pptx\assets\cell-core-7-7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78534" y="454005"/>
            <a:ext cx="20932" cy="10721"/>
          </a:xfrm>
          <a:prstGeom prst="rect">
            <a:avLst/>
          </a:prstGeom>
        </p:spPr>
      </p:pic>
      <p:pic>
        <p:nvPicPr>
          <p:cNvPr id="183" name="!!cell-core-7-8" descr="W:\Projects\hacks\rwb-new\presentation\pptx\assets\cell-core-7-8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867813" y="459365"/>
            <a:ext cx="20932" cy="10721"/>
          </a:xfrm>
          <a:prstGeom prst="rect">
            <a:avLst/>
          </a:prstGeom>
        </p:spPr>
      </p:pic>
      <p:pic>
        <p:nvPicPr>
          <p:cNvPr id="184" name="!!cell-core-7-9" descr="W:\Projects\hacks\rwb-new\presentation\pptx\assets\cell-core-7-9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857091" y="464726"/>
            <a:ext cx="20932" cy="10721"/>
          </a:xfrm>
          <a:prstGeom prst="rect">
            <a:avLst/>
          </a:prstGeom>
        </p:spPr>
      </p:pic>
      <p:pic>
        <p:nvPicPr>
          <p:cNvPr id="185" name="!!cell-core-8-0" descr="W:\Projects\hacks\rwb-new\presentation\pptx\assets\cell-core-8-0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64305" y="421841"/>
            <a:ext cx="20932" cy="10721"/>
          </a:xfrm>
          <a:prstGeom prst="rect">
            <a:avLst/>
          </a:prstGeom>
        </p:spPr>
      </p:pic>
      <p:pic>
        <p:nvPicPr>
          <p:cNvPr id="186" name="!!cell-core-8-1" descr="W:\Projects\hacks\rwb-new\presentation\pptx\assets\cell-core-8-1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53583" y="427201"/>
            <a:ext cx="20932" cy="10721"/>
          </a:xfrm>
          <a:prstGeom prst="rect">
            <a:avLst/>
          </a:prstGeom>
        </p:spPr>
      </p:pic>
      <p:pic>
        <p:nvPicPr>
          <p:cNvPr id="187" name="!!cell-core-8-2" descr="W:\Projects\hacks\rwb-new\presentation\pptx\assets\cell-core-8-2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942862" y="432562"/>
            <a:ext cx="20932" cy="10721"/>
          </a:xfrm>
          <a:prstGeom prst="rect">
            <a:avLst/>
          </a:prstGeom>
        </p:spPr>
      </p:pic>
      <p:pic>
        <p:nvPicPr>
          <p:cNvPr id="188" name="!!cell-core-8-3" descr="W:\Projects\hacks\rwb-new\presentation\pptx\assets\cell-core-8-3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32141" y="437923"/>
            <a:ext cx="20932" cy="10721"/>
          </a:xfrm>
          <a:prstGeom prst="rect">
            <a:avLst/>
          </a:prstGeom>
        </p:spPr>
      </p:pic>
      <p:pic>
        <p:nvPicPr>
          <p:cNvPr id="189" name="!!cell-core-8-4" descr="W:\Projects\hacks\rwb-new\presentation\pptx\assets\cell-core-8-4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21419" y="443283"/>
            <a:ext cx="20932" cy="10721"/>
          </a:xfrm>
          <a:prstGeom prst="rect">
            <a:avLst/>
          </a:prstGeom>
        </p:spPr>
      </p:pic>
      <p:pic>
        <p:nvPicPr>
          <p:cNvPr id="190" name="!!cell-core-8-5" descr="W:\Projects\hacks\rwb-new\presentation\pptx\assets\cell-core-8-5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910698" y="448644"/>
            <a:ext cx="20932" cy="10721"/>
          </a:xfrm>
          <a:prstGeom prst="rect">
            <a:avLst/>
          </a:prstGeom>
        </p:spPr>
      </p:pic>
      <p:pic>
        <p:nvPicPr>
          <p:cNvPr id="191" name="!!cell-core-8-6" descr="W:\Projects\hacks\rwb-new\presentation\pptx\assets\cell-core-8-6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899977" y="454005"/>
            <a:ext cx="20932" cy="10721"/>
          </a:xfrm>
          <a:prstGeom prst="rect">
            <a:avLst/>
          </a:prstGeom>
        </p:spPr>
      </p:pic>
      <p:pic>
        <p:nvPicPr>
          <p:cNvPr id="192" name="!!cell-core-8-7" descr="W:\Projects\hacks\rwb-new\presentation\pptx\assets\cell-core-8-7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89255" y="459365"/>
            <a:ext cx="20932" cy="10721"/>
          </a:xfrm>
          <a:prstGeom prst="rect">
            <a:avLst/>
          </a:prstGeom>
        </p:spPr>
      </p:pic>
      <p:pic>
        <p:nvPicPr>
          <p:cNvPr id="193" name="!!cell-core-8-8" descr="W:\Projects\hacks\rwb-new\presentation\pptx\assets\cell-core-8-8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878534" y="464726"/>
            <a:ext cx="20932" cy="10721"/>
          </a:xfrm>
          <a:prstGeom prst="rect">
            <a:avLst/>
          </a:prstGeom>
        </p:spPr>
      </p:pic>
      <p:pic>
        <p:nvPicPr>
          <p:cNvPr id="194" name="!!cell-core-8-9" descr="W:\Projects\hacks\rwb-new\presentation\pptx\assets\cell-core-8-9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67813" y="470087"/>
            <a:ext cx="20932" cy="10721"/>
          </a:xfrm>
          <a:prstGeom prst="rect">
            <a:avLst/>
          </a:prstGeom>
        </p:spPr>
      </p:pic>
      <p:pic>
        <p:nvPicPr>
          <p:cNvPr id="195" name="!!cell-core-9-0" descr="W:\Projects\hacks\rwb-new\presentation\pptx\assets\cell-core-9-0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75026" y="427201"/>
            <a:ext cx="20932" cy="10721"/>
          </a:xfrm>
          <a:prstGeom prst="rect">
            <a:avLst/>
          </a:prstGeom>
        </p:spPr>
      </p:pic>
      <p:pic>
        <p:nvPicPr>
          <p:cNvPr id="196" name="!!cell-core-9-1" descr="W:\Projects\hacks\rwb-new\presentation\pptx\assets\cell-core-9-1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64305" y="432562"/>
            <a:ext cx="20932" cy="10721"/>
          </a:xfrm>
          <a:prstGeom prst="rect">
            <a:avLst/>
          </a:prstGeom>
        </p:spPr>
      </p:pic>
      <p:pic>
        <p:nvPicPr>
          <p:cNvPr id="197" name="!!cell-core-9-2" descr="W:\Projects\hacks\rwb-new\presentation\pptx\assets\cell-core-9-2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53583" y="437923"/>
            <a:ext cx="20932" cy="10721"/>
          </a:xfrm>
          <a:prstGeom prst="rect">
            <a:avLst/>
          </a:prstGeom>
        </p:spPr>
      </p:pic>
      <p:pic>
        <p:nvPicPr>
          <p:cNvPr id="198" name="!!cell-core-9-3" descr="W:\Projects\hacks\rwb-new\presentation\pptx\assets\cell-core-9-3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942862" y="443283"/>
            <a:ext cx="20932" cy="10721"/>
          </a:xfrm>
          <a:prstGeom prst="rect">
            <a:avLst/>
          </a:prstGeom>
        </p:spPr>
      </p:pic>
      <p:pic>
        <p:nvPicPr>
          <p:cNvPr id="199" name="!!cell-core-9-4" descr="W:\Projects\hacks\rwb-new\presentation\pptx\assets\cell-core-9-4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32141" y="448644"/>
            <a:ext cx="20932" cy="10721"/>
          </a:xfrm>
          <a:prstGeom prst="rect">
            <a:avLst/>
          </a:prstGeom>
        </p:spPr>
      </p:pic>
      <p:pic>
        <p:nvPicPr>
          <p:cNvPr id="200" name="!!cell-core-9-5" descr="W:\Projects\hacks\rwb-new\presentation\pptx\assets\cell-core-9-5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921419" y="454005"/>
            <a:ext cx="20932" cy="10721"/>
          </a:xfrm>
          <a:prstGeom prst="rect">
            <a:avLst/>
          </a:prstGeom>
        </p:spPr>
      </p:pic>
      <p:pic>
        <p:nvPicPr>
          <p:cNvPr id="201" name="!!cell-core-9-6" descr="W:\Projects\hacks\rwb-new\presentation\pptx\assets\cell-core-9-6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910698" y="459365"/>
            <a:ext cx="20932" cy="10721"/>
          </a:xfrm>
          <a:prstGeom prst="rect">
            <a:avLst/>
          </a:prstGeom>
        </p:spPr>
      </p:pic>
      <p:pic>
        <p:nvPicPr>
          <p:cNvPr id="202" name="!!cell-core-9-7" descr="W:\Projects\hacks\rwb-new\presentation\pptx\assets\cell-core-9-7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899977" y="464726"/>
            <a:ext cx="20932" cy="10721"/>
          </a:xfrm>
          <a:prstGeom prst="rect">
            <a:avLst/>
          </a:prstGeom>
        </p:spPr>
      </p:pic>
      <p:pic>
        <p:nvPicPr>
          <p:cNvPr id="203" name="!!cell-core-9-8" descr="W:\Projects\hacks\rwb-new\presentation\pptx\assets\cell-core-9-8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889255" y="470087"/>
            <a:ext cx="20932" cy="10721"/>
          </a:xfrm>
          <a:prstGeom prst="rect">
            <a:avLst/>
          </a:prstGeom>
        </p:spPr>
      </p:pic>
      <p:pic>
        <p:nvPicPr>
          <p:cNvPr id="204" name="!!cell-core-9-9" descr="W:\Projects\hacks\rwb-new\presentation\pptx\assets\cell-core-9-9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878534" y="475447"/>
            <a:ext cx="20932" cy="10721"/>
          </a:xfrm>
          <a:prstGeom prst="rect">
            <a:avLst/>
          </a:prstGeom>
        </p:spPr>
      </p:pic>
      <p:pic>
        <p:nvPicPr>
          <p:cNvPr id="205" name="!!base-mart" descr="W:\Projects\hacks\rwb-new\presentation\pptx\assets\st-mart-base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06" name="!!cell-mart-0-0" descr="W:\Projects\hacks\rwb-new\presentation\pptx\assets\cell-mart-0-0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878534" y="343218"/>
            <a:ext cx="20932" cy="10721"/>
          </a:xfrm>
          <a:prstGeom prst="rect">
            <a:avLst/>
          </a:prstGeom>
        </p:spPr>
      </p:pic>
      <p:pic>
        <p:nvPicPr>
          <p:cNvPr id="207" name="!!cell-mart-0-1" descr="W:\Projects\hacks\rwb-new\presentation\pptx\assets\cell-mart-0-1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867813" y="348578"/>
            <a:ext cx="20932" cy="10721"/>
          </a:xfrm>
          <a:prstGeom prst="rect">
            <a:avLst/>
          </a:prstGeom>
        </p:spPr>
      </p:pic>
      <p:pic>
        <p:nvPicPr>
          <p:cNvPr id="208" name="!!cell-mart-0-2" descr="W:\Projects\hacks\rwb-new\presentation\pptx\assets\cell-mart-0-2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857091" y="353939"/>
            <a:ext cx="20932" cy="10721"/>
          </a:xfrm>
          <a:prstGeom prst="rect">
            <a:avLst/>
          </a:prstGeom>
        </p:spPr>
      </p:pic>
      <p:pic>
        <p:nvPicPr>
          <p:cNvPr id="209" name="!!cell-mart-0-3" descr="W:\Projects\hacks\rwb-new\presentation\pptx\assets\cell-mart-0-3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46370" y="359300"/>
            <a:ext cx="20932" cy="10721"/>
          </a:xfrm>
          <a:prstGeom prst="rect">
            <a:avLst/>
          </a:prstGeom>
        </p:spPr>
      </p:pic>
      <p:pic>
        <p:nvPicPr>
          <p:cNvPr id="210" name="!!cell-mart-0-4" descr="W:\Projects\hacks\rwb-new\presentation\pptx\assets\cell-mart-0-4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835649" y="364660"/>
            <a:ext cx="20932" cy="10721"/>
          </a:xfrm>
          <a:prstGeom prst="rect">
            <a:avLst/>
          </a:prstGeom>
        </p:spPr>
      </p:pic>
      <p:pic>
        <p:nvPicPr>
          <p:cNvPr id="211" name="!!cell-mart-0-5" descr="W:\Projects\hacks\rwb-new\presentation\pptx\assets\cell-mart-0-5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824927" y="370021"/>
            <a:ext cx="20932" cy="10721"/>
          </a:xfrm>
          <a:prstGeom prst="rect">
            <a:avLst/>
          </a:prstGeom>
        </p:spPr>
      </p:pic>
      <p:pic>
        <p:nvPicPr>
          <p:cNvPr id="212" name="!!cell-mart-0-6" descr="W:\Projects\hacks\rwb-new\presentation\pptx\assets\cell-mart-0-6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814206" y="375382"/>
            <a:ext cx="20932" cy="10721"/>
          </a:xfrm>
          <a:prstGeom prst="rect">
            <a:avLst/>
          </a:prstGeom>
        </p:spPr>
      </p:pic>
      <p:pic>
        <p:nvPicPr>
          <p:cNvPr id="213" name="!!cell-mart-0-7" descr="W:\Projects\hacks\rwb-new\presentation\pptx\assets\cell-mart-0-7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03485" y="380742"/>
            <a:ext cx="20932" cy="10721"/>
          </a:xfrm>
          <a:prstGeom prst="rect">
            <a:avLst/>
          </a:prstGeom>
        </p:spPr>
      </p:pic>
      <p:pic>
        <p:nvPicPr>
          <p:cNvPr id="214" name="!!cell-mart-0-8" descr="W:\Projects\hacks\rwb-new\presentation\pptx\assets\cell-mart-0-8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792763" y="386103"/>
            <a:ext cx="20932" cy="10721"/>
          </a:xfrm>
          <a:prstGeom prst="rect">
            <a:avLst/>
          </a:prstGeom>
        </p:spPr>
      </p:pic>
      <p:pic>
        <p:nvPicPr>
          <p:cNvPr id="215" name="!!cell-mart-0-9" descr="W:\Projects\hacks\rwb-new\presentation\pptx\assets\cell-mart-0-9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782042" y="391464"/>
            <a:ext cx="20932" cy="10721"/>
          </a:xfrm>
          <a:prstGeom prst="rect">
            <a:avLst/>
          </a:prstGeom>
        </p:spPr>
      </p:pic>
      <p:pic>
        <p:nvPicPr>
          <p:cNvPr id="216" name="!!cell-mart-1-0" descr="W:\Projects\hacks\rwb-new\presentation\pptx\assets\cell-mart-1-0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889255" y="348578"/>
            <a:ext cx="20932" cy="10721"/>
          </a:xfrm>
          <a:prstGeom prst="rect">
            <a:avLst/>
          </a:prstGeom>
        </p:spPr>
      </p:pic>
      <p:pic>
        <p:nvPicPr>
          <p:cNvPr id="217" name="!!cell-mart-1-1" descr="W:\Projects\hacks\rwb-new\presentation\pptx\assets\cell-mart-1-1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78534" y="353939"/>
            <a:ext cx="20932" cy="10721"/>
          </a:xfrm>
          <a:prstGeom prst="rect">
            <a:avLst/>
          </a:prstGeom>
        </p:spPr>
      </p:pic>
      <p:pic>
        <p:nvPicPr>
          <p:cNvPr id="218" name="!!cell-mart-1-2" descr="W:\Projects\hacks\rwb-new\presentation\pptx\assets\cell-mart-1-2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67813" y="359300"/>
            <a:ext cx="20932" cy="10721"/>
          </a:xfrm>
          <a:prstGeom prst="rect">
            <a:avLst/>
          </a:prstGeom>
        </p:spPr>
      </p:pic>
      <p:pic>
        <p:nvPicPr>
          <p:cNvPr id="219" name="!!cell-mart-1-3" descr="W:\Projects\hacks\rwb-new\presentation\pptx\assets\cell-mart-1-3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57091" y="364660"/>
            <a:ext cx="20932" cy="10721"/>
          </a:xfrm>
          <a:prstGeom prst="rect">
            <a:avLst/>
          </a:prstGeom>
        </p:spPr>
      </p:pic>
      <p:pic>
        <p:nvPicPr>
          <p:cNvPr id="220" name="!!cell-mart-1-4" descr="W:\Projects\hacks\rwb-new\presentation\pptx\assets\cell-mart-1-4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846370" y="370021"/>
            <a:ext cx="20932" cy="10721"/>
          </a:xfrm>
          <a:prstGeom prst="rect">
            <a:avLst/>
          </a:prstGeom>
        </p:spPr>
      </p:pic>
      <p:pic>
        <p:nvPicPr>
          <p:cNvPr id="221" name="!!cell-mart-1-5" descr="W:\Projects\hacks\rwb-new\presentation\pptx\assets\cell-mart-1-5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835649" y="375382"/>
            <a:ext cx="20932" cy="10721"/>
          </a:xfrm>
          <a:prstGeom prst="rect">
            <a:avLst/>
          </a:prstGeom>
        </p:spPr>
      </p:pic>
      <p:pic>
        <p:nvPicPr>
          <p:cNvPr id="222" name="!!cell-mart-1-6" descr="W:\Projects\hacks\rwb-new\presentation\pptx\assets\cell-mart-1-6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24927" y="380742"/>
            <a:ext cx="20932" cy="10721"/>
          </a:xfrm>
          <a:prstGeom prst="rect">
            <a:avLst/>
          </a:prstGeom>
        </p:spPr>
      </p:pic>
      <p:pic>
        <p:nvPicPr>
          <p:cNvPr id="223" name="!!cell-mart-1-7" descr="W:\Projects\hacks\rwb-new\presentation\pptx\assets\cell-mart-1-7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814206" y="386103"/>
            <a:ext cx="20932" cy="10721"/>
          </a:xfrm>
          <a:prstGeom prst="rect">
            <a:avLst/>
          </a:prstGeom>
        </p:spPr>
      </p:pic>
      <p:pic>
        <p:nvPicPr>
          <p:cNvPr id="224" name="!!cell-mart-1-8" descr="W:\Projects\hacks\rwb-new\presentation\pptx\assets\cell-mart-1-8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03485" y="391464"/>
            <a:ext cx="20932" cy="10721"/>
          </a:xfrm>
          <a:prstGeom prst="rect">
            <a:avLst/>
          </a:prstGeom>
        </p:spPr>
      </p:pic>
      <p:pic>
        <p:nvPicPr>
          <p:cNvPr id="225" name="!!cell-mart-1-9" descr="W:\Projects\hacks\rwb-new\presentation\pptx\assets\cell-mart-1-9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792763" y="396824"/>
            <a:ext cx="20932" cy="10721"/>
          </a:xfrm>
          <a:prstGeom prst="rect">
            <a:avLst/>
          </a:prstGeom>
        </p:spPr>
      </p:pic>
      <p:pic>
        <p:nvPicPr>
          <p:cNvPr id="226" name="!!cell-mart-2-0" descr="W:\Projects\hacks\rwb-new\presentation\pptx\assets\cell-mart-2-0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899977" y="353939"/>
            <a:ext cx="20932" cy="10721"/>
          </a:xfrm>
          <a:prstGeom prst="rect">
            <a:avLst/>
          </a:prstGeom>
        </p:spPr>
      </p:pic>
      <p:pic>
        <p:nvPicPr>
          <p:cNvPr id="227" name="!!cell-mart-2-1" descr="W:\Projects\hacks\rwb-new\presentation\pptx\assets\cell-mart-2-1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889255" y="359300"/>
            <a:ext cx="20932" cy="10721"/>
          </a:xfrm>
          <a:prstGeom prst="rect">
            <a:avLst/>
          </a:prstGeom>
        </p:spPr>
      </p:pic>
      <p:pic>
        <p:nvPicPr>
          <p:cNvPr id="228" name="!!cell-mart-2-2" descr="W:\Projects\hacks\rwb-new\presentation\pptx\assets\cell-mart-2-2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78534" y="364660"/>
            <a:ext cx="20932" cy="10721"/>
          </a:xfrm>
          <a:prstGeom prst="rect">
            <a:avLst/>
          </a:prstGeom>
        </p:spPr>
      </p:pic>
      <p:pic>
        <p:nvPicPr>
          <p:cNvPr id="229" name="!!cell-mart-2-3" descr="W:\Projects\hacks\rwb-new\presentation\pptx\assets\cell-mart-2-3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867813" y="370021"/>
            <a:ext cx="20932" cy="10721"/>
          </a:xfrm>
          <a:prstGeom prst="rect">
            <a:avLst/>
          </a:prstGeom>
        </p:spPr>
      </p:pic>
      <p:pic>
        <p:nvPicPr>
          <p:cNvPr id="230" name="!!cell-mart-2-4" descr="W:\Projects\hacks\rwb-new\presentation\pptx\assets\cell-mart-2-4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857091" y="375382"/>
            <a:ext cx="20932" cy="10721"/>
          </a:xfrm>
          <a:prstGeom prst="rect">
            <a:avLst/>
          </a:prstGeom>
        </p:spPr>
      </p:pic>
      <p:pic>
        <p:nvPicPr>
          <p:cNvPr id="231" name="!!cell-mart-2-5" descr="W:\Projects\hacks\rwb-new\presentation\pptx\assets\cell-mart-2-5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846370" y="380742"/>
            <a:ext cx="20932" cy="10721"/>
          </a:xfrm>
          <a:prstGeom prst="rect">
            <a:avLst/>
          </a:prstGeom>
        </p:spPr>
      </p:pic>
      <p:pic>
        <p:nvPicPr>
          <p:cNvPr id="232" name="!!cell-mart-2-6" descr="W:\Projects\hacks\rwb-new\presentation\pptx\assets\cell-mart-2-6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835649" y="386103"/>
            <a:ext cx="20932" cy="10721"/>
          </a:xfrm>
          <a:prstGeom prst="rect">
            <a:avLst/>
          </a:prstGeom>
        </p:spPr>
      </p:pic>
      <p:pic>
        <p:nvPicPr>
          <p:cNvPr id="233" name="!!cell-mart-2-7" descr="W:\Projects\hacks\rwb-new\presentation\pptx\assets\cell-mart-2-7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824927" y="391464"/>
            <a:ext cx="20932" cy="10721"/>
          </a:xfrm>
          <a:prstGeom prst="rect">
            <a:avLst/>
          </a:prstGeom>
        </p:spPr>
      </p:pic>
      <p:pic>
        <p:nvPicPr>
          <p:cNvPr id="234" name="!!cell-mart-2-8" descr="W:\Projects\hacks\rwb-new\presentation\pptx\assets\cell-mart-2-8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14206" y="396824"/>
            <a:ext cx="20932" cy="10721"/>
          </a:xfrm>
          <a:prstGeom prst="rect">
            <a:avLst/>
          </a:prstGeom>
        </p:spPr>
      </p:pic>
      <p:pic>
        <p:nvPicPr>
          <p:cNvPr id="235" name="!!cell-mart-2-9" descr="W:\Projects\hacks\rwb-new\presentation\pptx\assets\cell-mart-2-9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03485" y="402185"/>
            <a:ext cx="20932" cy="10721"/>
          </a:xfrm>
          <a:prstGeom prst="rect">
            <a:avLst/>
          </a:prstGeom>
        </p:spPr>
      </p:pic>
      <p:pic>
        <p:nvPicPr>
          <p:cNvPr id="236" name="!!cell-mart-3-0" descr="W:\Projects\hacks\rwb-new\presentation\pptx\assets\cell-mart-3-0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910698" y="359300"/>
            <a:ext cx="20932" cy="10721"/>
          </a:xfrm>
          <a:prstGeom prst="rect">
            <a:avLst/>
          </a:prstGeom>
        </p:spPr>
      </p:pic>
      <p:pic>
        <p:nvPicPr>
          <p:cNvPr id="237" name="!!cell-mart-3-1" descr="W:\Projects\hacks\rwb-new\presentation\pptx\assets\cell-mart-3-1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899977" y="364660"/>
            <a:ext cx="20932" cy="10721"/>
          </a:xfrm>
          <a:prstGeom prst="rect">
            <a:avLst/>
          </a:prstGeom>
        </p:spPr>
      </p:pic>
      <p:pic>
        <p:nvPicPr>
          <p:cNvPr id="238" name="!!cell-mart-3-2" descr="W:\Projects\hacks\rwb-new\presentation\pptx\assets\cell-mart-3-2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89255" y="370021"/>
            <a:ext cx="20932" cy="10721"/>
          </a:xfrm>
          <a:prstGeom prst="rect">
            <a:avLst/>
          </a:prstGeom>
        </p:spPr>
      </p:pic>
      <p:pic>
        <p:nvPicPr>
          <p:cNvPr id="239" name="!!cell-mart-3-3" descr="W:\Projects\hacks\rwb-new\presentation\pptx\assets\cell-mart-3-3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78534" y="375382"/>
            <a:ext cx="20932" cy="10721"/>
          </a:xfrm>
          <a:prstGeom prst="rect">
            <a:avLst/>
          </a:prstGeom>
        </p:spPr>
      </p:pic>
      <p:pic>
        <p:nvPicPr>
          <p:cNvPr id="240" name="!!cell-mart-3-4" descr="W:\Projects\hacks\rwb-new\presentation\pptx\assets\cell-mart-3-4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67813" y="380742"/>
            <a:ext cx="20932" cy="10721"/>
          </a:xfrm>
          <a:prstGeom prst="rect">
            <a:avLst/>
          </a:prstGeom>
        </p:spPr>
      </p:pic>
      <p:pic>
        <p:nvPicPr>
          <p:cNvPr id="241" name="!!cell-mart-3-5" descr="W:\Projects\hacks\rwb-new\presentation\pptx\assets\cell-mart-3-5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857091" y="386103"/>
            <a:ext cx="20932" cy="10721"/>
          </a:xfrm>
          <a:prstGeom prst="rect">
            <a:avLst/>
          </a:prstGeom>
        </p:spPr>
      </p:pic>
      <p:pic>
        <p:nvPicPr>
          <p:cNvPr id="242" name="!!cell-mart-3-6" descr="W:\Projects\hacks\rwb-new\presentation\pptx\assets\cell-mart-3-6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46370" y="391464"/>
            <a:ext cx="20932" cy="10721"/>
          </a:xfrm>
          <a:prstGeom prst="rect">
            <a:avLst/>
          </a:prstGeom>
        </p:spPr>
      </p:pic>
      <p:pic>
        <p:nvPicPr>
          <p:cNvPr id="243" name="!!cell-mart-3-7" descr="W:\Projects\hacks\rwb-new\presentation\pptx\assets\cell-mart-3-7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35649" y="396824"/>
            <a:ext cx="20932" cy="10721"/>
          </a:xfrm>
          <a:prstGeom prst="rect">
            <a:avLst/>
          </a:prstGeom>
        </p:spPr>
      </p:pic>
      <p:pic>
        <p:nvPicPr>
          <p:cNvPr id="244" name="!!cell-mart-3-8" descr="W:\Projects\hacks\rwb-new\presentation\pptx\assets\cell-mart-3-8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824927" y="402185"/>
            <a:ext cx="20932" cy="10721"/>
          </a:xfrm>
          <a:prstGeom prst="rect">
            <a:avLst/>
          </a:prstGeom>
        </p:spPr>
      </p:pic>
      <p:pic>
        <p:nvPicPr>
          <p:cNvPr id="245" name="!!cell-mart-3-9" descr="W:\Projects\hacks\rwb-new\presentation\pptx\assets\cell-mart-3-9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14206" y="407546"/>
            <a:ext cx="20932" cy="10721"/>
          </a:xfrm>
          <a:prstGeom prst="rect">
            <a:avLst/>
          </a:prstGeom>
        </p:spPr>
      </p:pic>
      <p:pic>
        <p:nvPicPr>
          <p:cNvPr id="246" name="!!cell-mart-4-0" descr="W:\Projects\hacks\rwb-new\presentation\pptx\assets\cell-mart-4-0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21419" y="364660"/>
            <a:ext cx="20932" cy="10721"/>
          </a:xfrm>
          <a:prstGeom prst="rect">
            <a:avLst/>
          </a:prstGeom>
        </p:spPr>
      </p:pic>
      <p:pic>
        <p:nvPicPr>
          <p:cNvPr id="247" name="!!cell-mart-4-1" descr="W:\Projects\hacks\rwb-new\presentation\pptx\assets\cell-mart-4-1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910698" y="370021"/>
            <a:ext cx="20932" cy="10721"/>
          </a:xfrm>
          <a:prstGeom prst="rect">
            <a:avLst/>
          </a:prstGeom>
        </p:spPr>
      </p:pic>
      <p:pic>
        <p:nvPicPr>
          <p:cNvPr id="248" name="!!cell-mart-4-2" descr="W:\Projects\hacks\rwb-new\presentation\pptx\assets\cell-mart-4-2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899977" y="375382"/>
            <a:ext cx="20932" cy="10721"/>
          </a:xfrm>
          <a:prstGeom prst="rect">
            <a:avLst/>
          </a:prstGeom>
        </p:spPr>
      </p:pic>
      <p:pic>
        <p:nvPicPr>
          <p:cNvPr id="249" name="!!cell-mart-4-3" descr="W:\Projects\hacks\rwb-new\presentation\pptx\assets\cell-mart-4-3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889255" y="380742"/>
            <a:ext cx="20932" cy="10721"/>
          </a:xfrm>
          <a:prstGeom prst="rect">
            <a:avLst/>
          </a:prstGeom>
        </p:spPr>
      </p:pic>
      <p:pic>
        <p:nvPicPr>
          <p:cNvPr id="250" name="!!cell-mart-4-4" descr="W:\Projects\hacks\rwb-new\presentation\pptx\assets\cell-mart-4-4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878534" y="386103"/>
            <a:ext cx="20932" cy="10721"/>
          </a:xfrm>
          <a:prstGeom prst="rect">
            <a:avLst/>
          </a:prstGeom>
        </p:spPr>
      </p:pic>
      <p:pic>
        <p:nvPicPr>
          <p:cNvPr id="251" name="!!cell-mart-4-5" descr="W:\Projects\hacks\rwb-new\presentation\pptx\assets\cell-mart-4-5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867813" y="391464"/>
            <a:ext cx="20932" cy="10721"/>
          </a:xfrm>
          <a:prstGeom prst="rect">
            <a:avLst/>
          </a:prstGeom>
        </p:spPr>
      </p:pic>
      <p:pic>
        <p:nvPicPr>
          <p:cNvPr id="252" name="!!cell-mart-4-6" descr="W:\Projects\hacks\rwb-new\presentation\pptx\assets\cell-mart-4-6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57091" y="396824"/>
            <a:ext cx="20932" cy="10721"/>
          </a:xfrm>
          <a:prstGeom prst="rect">
            <a:avLst/>
          </a:prstGeom>
        </p:spPr>
      </p:pic>
      <p:pic>
        <p:nvPicPr>
          <p:cNvPr id="253" name="!!cell-mart-4-7" descr="W:\Projects\hacks\rwb-new\presentation\pptx\assets\cell-mart-4-7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846370" y="402185"/>
            <a:ext cx="20932" cy="10721"/>
          </a:xfrm>
          <a:prstGeom prst="rect">
            <a:avLst/>
          </a:prstGeom>
        </p:spPr>
      </p:pic>
      <p:pic>
        <p:nvPicPr>
          <p:cNvPr id="254" name="!!cell-mart-4-8" descr="W:\Projects\hacks\rwb-new\presentation\pptx\assets\cell-mart-4-8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835649" y="407546"/>
            <a:ext cx="20932" cy="10721"/>
          </a:xfrm>
          <a:prstGeom prst="rect">
            <a:avLst/>
          </a:prstGeom>
        </p:spPr>
      </p:pic>
      <p:pic>
        <p:nvPicPr>
          <p:cNvPr id="255" name="!!cell-mart-4-9" descr="W:\Projects\hacks\rwb-new\presentation\pptx\assets\cell-mart-4-9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824927" y="412906"/>
            <a:ext cx="20932" cy="10721"/>
          </a:xfrm>
          <a:prstGeom prst="rect">
            <a:avLst/>
          </a:prstGeom>
        </p:spPr>
      </p:pic>
      <p:pic>
        <p:nvPicPr>
          <p:cNvPr id="256" name="!!cell-mart-5-0" descr="W:\Projects\hacks\rwb-new\presentation\pptx\assets\cell-mart-5-0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932141" y="370021"/>
            <a:ext cx="20932" cy="10721"/>
          </a:xfrm>
          <a:prstGeom prst="rect">
            <a:avLst/>
          </a:prstGeom>
        </p:spPr>
      </p:pic>
      <p:pic>
        <p:nvPicPr>
          <p:cNvPr id="257" name="!!cell-mart-5-1" descr="W:\Projects\hacks\rwb-new\presentation\pptx\assets\cell-mart-5-1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921419" y="375382"/>
            <a:ext cx="20932" cy="10721"/>
          </a:xfrm>
          <a:prstGeom prst="rect">
            <a:avLst/>
          </a:prstGeom>
        </p:spPr>
      </p:pic>
      <p:pic>
        <p:nvPicPr>
          <p:cNvPr id="258" name="!!cell-mart-5-2" descr="W:\Projects\hacks\rwb-new\presentation\pptx\assets\cell-mart-5-2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910698" y="380742"/>
            <a:ext cx="20932" cy="10721"/>
          </a:xfrm>
          <a:prstGeom prst="rect">
            <a:avLst/>
          </a:prstGeom>
        </p:spPr>
      </p:pic>
      <p:pic>
        <p:nvPicPr>
          <p:cNvPr id="259" name="!!cell-mart-5-3" descr="W:\Projects\hacks\rwb-new\presentation\pptx\assets\cell-mart-5-3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899977" y="386103"/>
            <a:ext cx="20932" cy="10721"/>
          </a:xfrm>
          <a:prstGeom prst="rect">
            <a:avLst/>
          </a:prstGeom>
        </p:spPr>
      </p:pic>
      <p:pic>
        <p:nvPicPr>
          <p:cNvPr id="260" name="!!cell-mart-5-4" descr="W:\Projects\hacks\rwb-new\presentation\pptx\assets\cell-mart-5-4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89255" y="391464"/>
            <a:ext cx="20932" cy="10721"/>
          </a:xfrm>
          <a:prstGeom prst="rect">
            <a:avLst/>
          </a:prstGeom>
        </p:spPr>
      </p:pic>
      <p:pic>
        <p:nvPicPr>
          <p:cNvPr id="261" name="!!cell-mart-5-5" descr="W:\Projects\hacks\rwb-new\presentation\pptx\assets\cell-mart-5-5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878534" y="396824"/>
            <a:ext cx="20932" cy="10721"/>
          </a:xfrm>
          <a:prstGeom prst="rect">
            <a:avLst/>
          </a:prstGeom>
        </p:spPr>
      </p:pic>
      <p:pic>
        <p:nvPicPr>
          <p:cNvPr id="262" name="!!cell-mart-5-6" descr="W:\Projects\hacks\rwb-new\presentation\pptx\assets\cell-mart-5-6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67813" y="402185"/>
            <a:ext cx="20932" cy="10721"/>
          </a:xfrm>
          <a:prstGeom prst="rect">
            <a:avLst/>
          </a:prstGeom>
        </p:spPr>
      </p:pic>
      <p:pic>
        <p:nvPicPr>
          <p:cNvPr id="263" name="!!cell-mart-5-7" descr="W:\Projects\hacks\rwb-new\presentation\pptx\assets\cell-mart-5-7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857091" y="407546"/>
            <a:ext cx="20932" cy="10721"/>
          </a:xfrm>
          <a:prstGeom prst="rect">
            <a:avLst/>
          </a:prstGeom>
        </p:spPr>
      </p:pic>
      <p:pic>
        <p:nvPicPr>
          <p:cNvPr id="264" name="!!cell-mart-5-8" descr="W:\Projects\hacks\rwb-new\presentation\pptx\assets\cell-mart-5-8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846370" y="412906"/>
            <a:ext cx="20932" cy="10721"/>
          </a:xfrm>
          <a:prstGeom prst="rect">
            <a:avLst/>
          </a:prstGeom>
        </p:spPr>
      </p:pic>
      <p:pic>
        <p:nvPicPr>
          <p:cNvPr id="265" name="!!cell-mart-5-9" descr="W:\Projects\hacks\rwb-new\presentation\pptx\assets\cell-mart-5-9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835649" y="418267"/>
            <a:ext cx="20932" cy="10721"/>
          </a:xfrm>
          <a:prstGeom prst="rect">
            <a:avLst/>
          </a:prstGeom>
        </p:spPr>
      </p:pic>
      <p:pic>
        <p:nvPicPr>
          <p:cNvPr id="266" name="!!cell-mart-6-0" descr="W:\Projects\hacks\rwb-new\presentation\pptx\assets\cell-mart-6-0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42862" y="375382"/>
            <a:ext cx="20932" cy="10721"/>
          </a:xfrm>
          <a:prstGeom prst="rect">
            <a:avLst/>
          </a:prstGeom>
        </p:spPr>
      </p:pic>
      <p:pic>
        <p:nvPicPr>
          <p:cNvPr id="267" name="!!cell-mart-6-1" descr="W:\Projects\hacks\rwb-new\presentation\pptx\assets\cell-mart-6-1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932141" y="380742"/>
            <a:ext cx="20932" cy="10721"/>
          </a:xfrm>
          <a:prstGeom prst="rect">
            <a:avLst/>
          </a:prstGeom>
        </p:spPr>
      </p:pic>
      <p:pic>
        <p:nvPicPr>
          <p:cNvPr id="268" name="!!cell-mart-6-2" descr="W:\Projects\hacks\rwb-new\presentation\pptx\assets\cell-mart-6-2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921419" y="386103"/>
            <a:ext cx="20932" cy="10721"/>
          </a:xfrm>
          <a:prstGeom prst="rect">
            <a:avLst/>
          </a:prstGeom>
        </p:spPr>
      </p:pic>
      <p:pic>
        <p:nvPicPr>
          <p:cNvPr id="269" name="!!cell-mart-6-3" descr="W:\Projects\hacks\rwb-new\presentation\pptx\assets\cell-mart-6-3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10698" y="391464"/>
            <a:ext cx="20932" cy="10721"/>
          </a:xfrm>
          <a:prstGeom prst="rect">
            <a:avLst/>
          </a:prstGeom>
        </p:spPr>
      </p:pic>
      <p:pic>
        <p:nvPicPr>
          <p:cNvPr id="270" name="!!cell-mart-6-4" descr="W:\Projects\hacks\rwb-new\presentation\pptx\assets\cell-mart-6-4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899977" y="396824"/>
            <a:ext cx="20932" cy="10721"/>
          </a:xfrm>
          <a:prstGeom prst="rect">
            <a:avLst/>
          </a:prstGeom>
        </p:spPr>
      </p:pic>
      <p:pic>
        <p:nvPicPr>
          <p:cNvPr id="271" name="!!cell-mart-6-5" descr="W:\Projects\hacks\rwb-new\presentation\pptx\assets\cell-mart-6-5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89255" y="402185"/>
            <a:ext cx="20932" cy="10721"/>
          </a:xfrm>
          <a:prstGeom prst="rect">
            <a:avLst/>
          </a:prstGeom>
        </p:spPr>
      </p:pic>
      <p:pic>
        <p:nvPicPr>
          <p:cNvPr id="272" name="!!cell-mart-6-6" descr="W:\Projects\hacks\rwb-new\presentation\pptx\assets\cell-mart-6-6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878534" y="407546"/>
            <a:ext cx="20932" cy="10721"/>
          </a:xfrm>
          <a:prstGeom prst="rect">
            <a:avLst/>
          </a:prstGeom>
        </p:spPr>
      </p:pic>
      <p:pic>
        <p:nvPicPr>
          <p:cNvPr id="273" name="!!cell-mart-6-7" descr="W:\Projects\hacks\rwb-new\presentation\pptx\assets\cell-mart-6-7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867813" y="412906"/>
            <a:ext cx="20932" cy="10721"/>
          </a:xfrm>
          <a:prstGeom prst="rect">
            <a:avLst/>
          </a:prstGeom>
        </p:spPr>
      </p:pic>
      <p:pic>
        <p:nvPicPr>
          <p:cNvPr id="274" name="!!cell-mart-6-8" descr="W:\Projects\hacks\rwb-new\presentation\pptx\assets\cell-mart-6-8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57091" y="418267"/>
            <a:ext cx="20932" cy="10721"/>
          </a:xfrm>
          <a:prstGeom prst="rect">
            <a:avLst/>
          </a:prstGeom>
        </p:spPr>
      </p:pic>
      <p:pic>
        <p:nvPicPr>
          <p:cNvPr id="275" name="!!cell-mart-6-9" descr="W:\Projects\hacks\rwb-new\presentation\pptx\assets\cell-mart-6-9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846370" y="423628"/>
            <a:ext cx="20932" cy="10721"/>
          </a:xfrm>
          <a:prstGeom prst="rect">
            <a:avLst/>
          </a:prstGeom>
        </p:spPr>
      </p:pic>
      <p:pic>
        <p:nvPicPr>
          <p:cNvPr id="276" name="!!cell-mart-7-0" descr="W:\Projects\hacks\rwb-new\presentation\pptx\assets\cell-mart-7-0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953583" y="380742"/>
            <a:ext cx="20932" cy="10721"/>
          </a:xfrm>
          <a:prstGeom prst="rect">
            <a:avLst/>
          </a:prstGeom>
        </p:spPr>
      </p:pic>
      <p:pic>
        <p:nvPicPr>
          <p:cNvPr id="277" name="!!cell-mart-7-1" descr="W:\Projects\hacks\rwb-new\presentation\pptx\assets\cell-mart-7-1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42862" y="386103"/>
            <a:ext cx="20932" cy="10721"/>
          </a:xfrm>
          <a:prstGeom prst="rect">
            <a:avLst/>
          </a:prstGeom>
        </p:spPr>
      </p:pic>
      <p:pic>
        <p:nvPicPr>
          <p:cNvPr id="278" name="!!cell-mart-7-2" descr="W:\Projects\hacks\rwb-new\presentation\pptx\assets\cell-mart-7-2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932141" y="391464"/>
            <a:ext cx="20932" cy="10721"/>
          </a:xfrm>
          <a:prstGeom prst="rect">
            <a:avLst/>
          </a:prstGeom>
        </p:spPr>
      </p:pic>
      <p:pic>
        <p:nvPicPr>
          <p:cNvPr id="279" name="!!cell-mart-7-3" descr="W:\Projects\hacks\rwb-new\presentation\pptx\assets\cell-mart-7-3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21419" y="396824"/>
            <a:ext cx="20932" cy="10721"/>
          </a:xfrm>
          <a:prstGeom prst="rect">
            <a:avLst/>
          </a:prstGeom>
        </p:spPr>
      </p:pic>
      <p:pic>
        <p:nvPicPr>
          <p:cNvPr id="280" name="!!cell-mart-7-4" descr="W:\Projects\hacks\rwb-new\presentation\pptx\assets\cell-mart-7-4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910698" y="402185"/>
            <a:ext cx="20932" cy="10721"/>
          </a:xfrm>
          <a:prstGeom prst="rect">
            <a:avLst/>
          </a:prstGeom>
        </p:spPr>
      </p:pic>
      <p:pic>
        <p:nvPicPr>
          <p:cNvPr id="281" name="!!cell-mart-7-5" descr="W:\Projects\hacks\rwb-new\presentation\pptx\assets\cell-mart-7-5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899977" y="407546"/>
            <a:ext cx="20932" cy="10721"/>
          </a:xfrm>
          <a:prstGeom prst="rect">
            <a:avLst/>
          </a:prstGeom>
        </p:spPr>
      </p:pic>
      <p:pic>
        <p:nvPicPr>
          <p:cNvPr id="282" name="!!cell-mart-7-6" descr="W:\Projects\hacks\rwb-new\presentation\pptx\assets\cell-mart-7-6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889255" y="412906"/>
            <a:ext cx="20932" cy="10721"/>
          </a:xfrm>
          <a:prstGeom prst="rect">
            <a:avLst/>
          </a:prstGeom>
        </p:spPr>
      </p:pic>
      <p:pic>
        <p:nvPicPr>
          <p:cNvPr id="283" name="!!cell-mart-7-7" descr="W:\Projects\hacks\rwb-new\presentation\pptx\assets\cell-mart-7-7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878534" y="418267"/>
            <a:ext cx="20932" cy="10721"/>
          </a:xfrm>
          <a:prstGeom prst="rect">
            <a:avLst/>
          </a:prstGeom>
        </p:spPr>
      </p:pic>
      <p:pic>
        <p:nvPicPr>
          <p:cNvPr id="284" name="!!cell-mart-7-8" descr="W:\Projects\hacks\rwb-new\presentation\pptx\assets\cell-mart-7-8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867813" y="423628"/>
            <a:ext cx="20932" cy="10721"/>
          </a:xfrm>
          <a:prstGeom prst="rect">
            <a:avLst/>
          </a:prstGeom>
        </p:spPr>
      </p:pic>
      <p:pic>
        <p:nvPicPr>
          <p:cNvPr id="285" name="!!cell-mart-7-9" descr="W:\Projects\hacks\rwb-new\presentation\pptx\assets\cell-mart-7-9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857091" y="428988"/>
            <a:ext cx="20932" cy="10721"/>
          </a:xfrm>
          <a:prstGeom prst="rect">
            <a:avLst/>
          </a:prstGeom>
        </p:spPr>
      </p:pic>
      <p:pic>
        <p:nvPicPr>
          <p:cNvPr id="286" name="!!cell-mart-8-0" descr="W:\Projects\hacks\rwb-new\presentation\pptx\assets\cell-mart-8-0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964305" y="386103"/>
            <a:ext cx="20932" cy="10721"/>
          </a:xfrm>
          <a:prstGeom prst="rect">
            <a:avLst/>
          </a:prstGeom>
        </p:spPr>
      </p:pic>
      <p:pic>
        <p:nvPicPr>
          <p:cNvPr id="287" name="!!cell-mart-8-1" descr="W:\Projects\hacks\rwb-new\presentation\pptx\assets\cell-mart-8-1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953583" y="391464"/>
            <a:ext cx="20932" cy="10721"/>
          </a:xfrm>
          <a:prstGeom prst="rect">
            <a:avLst/>
          </a:prstGeom>
        </p:spPr>
      </p:pic>
      <p:pic>
        <p:nvPicPr>
          <p:cNvPr id="288" name="!!cell-mart-8-2" descr="W:\Projects\hacks\rwb-new\presentation\pptx\assets\cell-mart-8-2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942862" y="396824"/>
            <a:ext cx="20932" cy="10721"/>
          </a:xfrm>
          <a:prstGeom prst="rect">
            <a:avLst/>
          </a:prstGeom>
        </p:spPr>
      </p:pic>
      <p:pic>
        <p:nvPicPr>
          <p:cNvPr id="289" name="!!cell-mart-8-3" descr="W:\Projects\hacks\rwb-new\presentation\pptx\assets\cell-mart-8-3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32141" y="402185"/>
            <a:ext cx="20932" cy="10721"/>
          </a:xfrm>
          <a:prstGeom prst="rect">
            <a:avLst/>
          </a:prstGeom>
        </p:spPr>
      </p:pic>
      <p:pic>
        <p:nvPicPr>
          <p:cNvPr id="290" name="!!cell-mart-8-4" descr="W:\Projects\hacks\rwb-new\presentation\pptx\assets\cell-mart-8-4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921419" y="407546"/>
            <a:ext cx="20932" cy="10721"/>
          </a:xfrm>
          <a:prstGeom prst="rect">
            <a:avLst/>
          </a:prstGeom>
        </p:spPr>
      </p:pic>
      <p:pic>
        <p:nvPicPr>
          <p:cNvPr id="291" name="!!cell-mart-8-5" descr="W:\Projects\hacks\rwb-new\presentation\pptx\assets\cell-mart-8-5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910698" y="412906"/>
            <a:ext cx="20932" cy="10721"/>
          </a:xfrm>
          <a:prstGeom prst="rect">
            <a:avLst/>
          </a:prstGeom>
        </p:spPr>
      </p:pic>
      <p:pic>
        <p:nvPicPr>
          <p:cNvPr id="292" name="!!cell-mart-8-6" descr="W:\Projects\hacks\rwb-new\presentation\pptx\assets\cell-mart-8-6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99977" y="418267"/>
            <a:ext cx="20932" cy="10721"/>
          </a:xfrm>
          <a:prstGeom prst="rect">
            <a:avLst/>
          </a:prstGeom>
        </p:spPr>
      </p:pic>
      <p:pic>
        <p:nvPicPr>
          <p:cNvPr id="293" name="!!cell-mart-8-7" descr="W:\Projects\hacks\rwb-new\presentation\pptx\assets\cell-mart-8-7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889255" y="423628"/>
            <a:ext cx="20932" cy="10721"/>
          </a:xfrm>
          <a:prstGeom prst="rect">
            <a:avLst/>
          </a:prstGeom>
        </p:spPr>
      </p:pic>
      <p:pic>
        <p:nvPicPr>
          <p:cNvPr id="294" name="!!cell-mart-8-8" descr="W:\Projects\hacks\rwb-new\presentation\pptx\assets\cell-mart-8-8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878534" y="428988"/>
            <a:ext cx="20932" cy="10721"/>
          </a:xfrm>
          <a:prstGeom prst="rect">
            <a:avLst/>
          </a:prstGeom>
        </p:spPr>
      </p:pic>
      <p:pic>
        <p:nvPicPr>
          <p:cNvPr id="295" name="!!cell-mart-8-9" descr="W:\Projects\hacks\rwb-new\presentation\pptx\assets\cell-mart-8-9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867813" y="434349"/>
            <a:ext cx="20932" cy="10721"/>
          </a:xfrm>
          <a:prstGeom prst="rect">
            <a:avLst/>
          </a:prstGeom>
        </p:spPr>
      </p:pic>
      <p:pic>
        <p:nvPicPr>
          <p:cNvPr id="296" name="!!cell-mart-9-0" descr="W:\Projects\hacks\rwb-new\presentation\pptx\assets\cell-mart-9-0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975026" y="391464"/>
            <a:ext cx="20932" cy="10721"/>
          </a:xfrm>
          <a:prstGeom prst="rect">
            <a:avLst/>
          </a:prstGeom>
        </p:spPr>
      </p:pic>
      <p:pic>
        <p:nvPicPr>
          <p:cNvPr id="297" name="!!cell-mart-9-1" descr="W:\Projects\hacks\rwb-new\presentation\pptx\assets\cell-mart-9-1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964305" y="396824"/>
            <a:ext cx="20932" cy="10721"/>
          </a:xfrm>
          <a:prstGeom prst="rect">
            <a:avLst/>
          </a:prstGeom>
        </p:spPr>
      </p:pic>
      <p:pic>
        <p:nvPicPr>
          <p:cNvPr id="298" name="!!cell-mart-9-2" descr="W:\Projects\hacks\rwb-new\presentation\pptx\assets\cell-mart-9-2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953583" y="402185"/>
            <a:ext cx="20932" cy="10721"/>
          </a:xfrm>
          <a:prstGeom prst="rect">
            <a:avLst/>
          </a:prstGeom>
        </p:spPr>
      </p:pic>
      <p:pic>
        <p:nvPicPr>
          <p:cNvPr id="299" name="!!cell-mart-9-3" descr="W:\Projects\hacks\rwb-new\presentation\pptx\assets\cell-mart-9-3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42862" y="407546"/>
            <a:ext cx="20932" cy="10721"/>
          </a:xfrm>
          <a:prstGeom prst="rect">
            <a:avLst/>
          </a:prstGeom>
        </p:spPr>
      </p:pic>
      <p:pic>
        <p:nvPicPr>
          <p:cNvPr id="300" name="!!cell-mart-9-4" descr="W:\Projects\hacks\rwb-new\presentation\pptx\assets\cell-mart-9-4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932141" y="412906"/>
            <a:ext cx="20932" cy="10721"/>
          </a:xfrm>
          <a:prstGeom prst="rect">
            <a:avLst/>
          </a:prstGeom>
        </p:spPr>
      </p:pic>
      <p:pic>
        <p:nvPicPr>
          <p:cNvPr id="301" name="!!cell-mart-9-5" descr="W:\Projects\hacks\rwb-new\presentation\pptx\assets\cell-mart-9-5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921419" y="418267"/>
            <a:ext cx="20932" cy="10721"/>
          </a:xfrm>
          <a:prstGeom prst="rect">
            <a:avLst/>
          </a:prstGeom>
        </p:spPr>
      </p:pic>
      <p:pic>
        <p:nvPicPr>
          <p:cNvPr id="302" name="!!cell-mart-9-6" descr="W:\Projects\hacks\rwb-new\presentation\pptx\assets\cell-mart-9-6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910698" y="423628"/>
            <a:ext cx="20932" cy="10721"/>
          </a:xfrm>
          <a:prstGeom prst="rect">
            <a:avLst/>
          </a:prstGeom>
        </p:spPr>
      </p:pic>
      <p:pic>
        <p:nvPicPr>
          <p:cNvPr id="303" name="!!cell-mart-9-7" descr="W:\Projects\hacks\rwb-new\presentation\pptx\assets\cell-mart-9-7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899977" y="428988"/>
            <a:ext cx="20932" cy="10721"/>
          </a:xfrm>
          <a:prstGeom prst="rect">
            <a:avLst/>
          </a:prstGeom>
        </p:spPr>
      </p:pic>
      <p:pic>
        <p:nvPicPr>
          <p:cNvPr id="304" name="!!cell-mart-9-8" descr="W:\Projects\hacks\rwb-new\presentation\pptx\assets\cell-mart-9-8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889255" y="434349"/>
            <a:ext cx="20932" cy="10721"/>
          </a:xfrm>
          <a:prstGeom prst="rect">
            <a:avLst/>
          </a:prstGeom>
        </p:spPr>
      </p:pic>
      <p:pic>
        <p:nvPicPr>
          <p:cNvPr id="305" name="!!cell-mart-9-9" descr="W:\Projects\hacks\rwb-new\presentation\pptx\assets\cell-mart-9-9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878534" y="439710"/>
            <a:ext cx="20932" cy="10721"/>
          </a:xfrm>
          <a:prstGeom prst="rect">
            <a:avLst/>
          </a:prstGeom>
        </p:spPr>
      </p:pic>
      <p:pic>
        <p:nvPicPr>
          <p:cNvPr id="306" name="!!shadow" descr="W:\Projects\hacks\rwb-new\presentation\pptx\assets\st-shadow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307" name="!!cube" descr="W:\Projects\hacks\rwb-new\presentation\pptx\assets\st-cube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sp>
        <p:nvSpPr>
          <p:cNvPr id="308" name="text-619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550 759 строк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 все текстом</a:t>
            </a:r>
            <a:endParaRPr lang="en-US" sz="3400" dirty="0"/>
          </a:p>
        </p:txBody>
      </p:sp>
      <p:pic>
        <p:nvPicPr>
          <p:cNvPr id="309" name="pic-620" descr="W:\Projects\hacks\rwb-new\presentation\pptx\assets\wf-0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762000" y="1841500"/>
            <a:ext cx="5815263" cy="3810000"/>
          </a:xfrm>
          <a:prstGeom prst="rect">
            <a:avLst/>
          </a:prstGeom>
        </p:spPr>
      </p:pic>
      <p:pic>
        <p:nvPicPr>
          <p:cNvPr id="310" name="pic-621" descr="W:\Projects\hacks\rwb-new\presentation\pptx\assets\wf-1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762000" y="1841500"/>
            <a:ext cx="5815263" cy="3810000"/>
          </a:xfrm>
          <a:prstGeom prst="rect">
            <a:avLst/>
          </a:prstGeom>
        </p:spPr>
      </p:pic>
      <p:pic>
        <p:nvPicPr>
          <p:cNvPr id="311" name="pic-622" descr="W:\Projects\hacks\rwb-new\presentation\pptx\assets\wf-2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762000" y="1841500"/>
            <a:ext cx="5815263" cy="3810000"/>
          </a:xfrm>
          <a:prstGeom prst="rect">
            <a:avLst/>
          </a:prstGeom>
        </p:spPr>
      </p:pic>
      <p:pic>
        <p:nvPicPr>
          <p:cNvPr id="312" name="pic-623" descr="W:\Projects\hacks\rwb-new\presentation\pptx\assets\wf-3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762000" y="1841500"/>
            <a:ext cx="5815263" cy="3810000"/>
          </a:xfrm>
          <a:prstGeom prst="rect">
            <a:avLst/>
          </a:prstGeom>
        </p:spPr>
      </p:pic>
      <p:pic>
        <p:nvPicPr>
          <p:cNvPr id="313" name="pic-624" descr="W:\Projects\hacks\rwb-new\presentation\pptx\assets\wf-4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762000" y="1841500"/>
            <a:ext cx="5815263" cy="3810000"/>
          </a:xfrm>
          <a:prstGeom prst="rect">
            <a:avLst/>
          </a:prstGeom>
        </p:spPr>
      </p:pic>
      <p:pic>
        <p:nvPicPr>
          <p:cNvPr id="314" name="pic-625" descr="W:\Projects\hacks\rwb-new\presentation\pptx\assets\wf-5.pn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762000" y="1841500"/>
            <a:ext cx="5815263" cy="3810000"/>
          </a:xfrm>
          <a:prstGeom prst="rect">
            <a:avLst/>
          </a:prstGeom>
        </p:spPr>
      </p:pic>
      <p:pic>
        <p:nvPicPr>
          <p:cNvPr id="315" name="pic-626" descr="W:\Projects\hacks\rwb-new\presentation\pptx\assets\wf-6.pn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762000" y="1841500"/>
            <a:ext cx="5815263" cy="3810000"/>
          </a:xfrm>
          <a:prstGeom prst="rect">
            <a:avLst/>
          </a:prstGeom>
        </p:spPr>
      </p:pic>
      <p:pic>
        <p:nvPicPr>
          <p:cNvPr id="316" name="pic-627" descr="W:\Projects\hacks\rwb-new\presentation\pptx\assets\wf-7.pn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762000" y="1841500"/>
            <a:ext cx="5815263" cy="3810000"/>
          </a:xfrm>
          <a:prstGeom prst="rect">
            <a:avLst/>
          </a:prstGeom>
        </p:spPr>
      </p:pic>
      <p:sp>
        <p:nvSpPr>
          <p:cNvPr id="317" name="shape-628"/>
          <p:cNvSpPr/>
          <p:nvPr/>
        </p:nvSpPr>
        <p:spPr>
          <a:xfrm>
            <a:off x="7620000" y="2032000"/>
            <a:ext cx="177800" cy="177800"/>
          </a:xfrm>
          <a:prstGeom prst="roundRect">
            <a:avLst>
              <a:gd name="adj" fmla="val 28571"/>
            </a:avLst>
          </a:prstGeom>
          <a:solidFill>
            <a:srgbClr val="2348FF"/>
          </a:solidFill>
          <a:ln/>
        </p:spPr>
      </p:sp>
      <p:sp>
        <p:nvSpPr>
          <p:cNvPr id="318" name="text-629"/>
          <p:cNvSpPr txBox="1"/>
          <p:nvPr/>
        </p:nvSpPr>
        <p:spPr>
          <a:xfrm>
            <a:off x="7937500" y="19685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</a:t>
            </a:r>
            <a:endParaRPr lang="en-US" sz="1200" dirty="0"/>
          </a:p>
        </p:txBody>
      </p:sp>
      <p:sp>
        <p:nvSpPr>
          <p:cNvPr id="319" name="text-630"/>
          <p:cNvSpPr txBox="1"/>
          <p:nvPr/>
        </p:nvSpPr>
        <p:spPr>
          <a:xfrm>
            <a:off x="10287000" y="196850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112 650</a:t>
            </a:r>
            <a:endParaRPr lang="en-US" sz="1400" dirty="0"/>
          </a:p>
        </p:txBody>
      </p:sp>
      <p:sp>
        <p:nvSpPr>
          <p:cNvPr id="320" name="shape-631"/>
          <p:cNvSpPr/>
          <p:nvPr/>
        </p:nvSpPr>
        <p:spPr>
          <a:xfrm>
            <a:off x="7620000" y="2438400"/>
            <a:ext cx="177800" cy="177800"/>
          </a:xfrm>
          <a:prstGeom prst="roundRect">
            <a:avLst>
              <a:gd name="adj" fmla="val 28571"/>
            </a:avLst>
          </a:prstGeom>
          <a:solidFill>
            <a:srgbClr val="328EF9"/>
          </a:solidFill>
          <a:ln/>
        </p:spPr>
      </p:sp>
      <p:sp>
        <p:nvSpPr>
          <p:cNvPr id="321" name="text-632"/>
          <p:cNvSpPr txBox="1"/>
          <p:nvPr/>
        </p:nvSpPr>
        <p:spPr>
          <a:xfrm>
            <a:off x="7937500" y="23749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order_payments</a:t>
            </a:r>
            <a:endParaRPr lang="en-US" sz="1200" dirty="0"/>
          </a:p>
        </p:txBody>
      </p:sp>
      <p:sp>
        <p:nvSpPr>
          <p:cNvPr id="322" name="text-633"/>
          <p:cNvSpPr txBox="1"/>
          <p:nvPr/>
        </p:nvSpPr>
        <p:spPr>
          <a:xfrm>
            <a:off x="10287000" y="237490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103 886</a:t>
            </a:r>
            <a:endParaRPr lang="en-US" sz="1400" dirty="0"/>
          </a:p>
        </p:txBody>
      </p:sp>
      <p:sp>
        <p:nvSpPr>
          <p:cNvPr id="323" name="shape-634"/>
          <p:cNvSpPr/>
          <p:nvPr/>
        </p:nvSpPr>
        <p:spPr>
          <a:xfrm>
            <a:off x="7620000" y="2844800"/>
            <a:ext cx="177800" cy="177800"/>
          </a:xfrm>
          <a:prstGeom prst="roundRect">
            <a:avLst>
              <a:gd name="adj" fmla="val 28571"/>
            </a:avLst>
          </a:prstGeom>
          <a:solidFill>
            <a:srgbClr val="3BC4EE"/>
          </a:solidFill>
          <a:ln/>
        </p:spPr>
      </p:sp>
      <p:sp>
        <p:nvSpPr>
          <p:cNvPr id="324" name="text-635"/>
          <p:cNvSpPr txBox="1"/>
          <p:nvPr/>
        </p:nvSpPr>
        <p:spPr>
          <a:xfrm>
            <a:off x="7937500" y="27813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200" dirty="0"/>
          </a:p>
        </p:txBody>
      </p:sp>
      <p:sp>
        <p:nvSpPr>
          <p:cNvPr id="325" name="text-636"/>
          <p:cNvSpPr txBox="1"/>
          <p:nvPr/>
        </p:nvSpPr>
        <p:spPr>
          <a:xfrm>
            <a:off x="10287000" y="278130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99 441</a:t>
            </a:r>
            <a:endParaRPr lang="en-US" sz="1400" dirty="0"/>
          </a:p>
        </p:txBody>
      </p:sp>
      <p:sp>
        <p:nvSpPr>
          <p:cNvPr id="326" name="shape-637"/>
          <p:cNvSpPr/>
          <p:nvPr/>
        </p:nvSpPr>
        <p:spPr>
          <a:xfrm>
            <a:off x="7620000" y="3251200"/>
            <a:ext cx="177800" cy="177800"/>
          </a:xfrm>
          <a:prstGeom prst="roundRect">
            <a:avLst>
              <a:gd name="adj" fmla="val 28571"/>
            </a:avLst>
          </a:prstGeom>
          <a:solidFill>
            <a:srgbClr val="518FF2"/>
          </a:solidFill>
          <a:ln/>
        </p:spPr>
      </p:sp>
      <p:sp>
        <p:nvSpPr>
          <p:cNvPr id="327" name="text-638"/>
          <p:cNvSpPr txBox="1"/>
          <p:nvPr/>
        </p:nvSpPr>
        <p:spPr>
          <a:xfrm>
            <a:off x="7937500" y="31877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order_reviews</a:t>
            </a:r>
            <a:endParaRPr lang="en-US" sz="1200" dirty="0"/>
          </a:p>
        </p:txBody>
      </p:sp>
      <p:sp>
        <p:nvSpPr>
          <p:cNvPr id="328" name="text-639"/>
          <p:cNvSpPr txBox="1"/>
          <p:nvPr/>
        </p:nvSpPr>
        <p:spPr>
          <a:xfrm>
            <a:off x="10287000" y="318770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99 224</a:t>
            </a:r>
            <a:endParaRPr lang="en-US" sz="1400" dirty="0"/>
          </a:p>
        </p:txBody>
      </p:sp>
      <p:sp>
        <p:nvSpPr>
          <p:cNvPr id="329" name="shape-640"/>
          <p:cNvSpPr/>
          <p:nvPr/>
        </p:nvSpPr>
        <p:spPr>
          <a:xfrm>
            <a:off x="7620000" y="3657600"/>
            <a:ext cx="177800" cy="177800"/>
          </a:xfrm>
          <a:prstGeom prst="roundRect">
            <a:avLst>
              <a:gd name="adj" fmla="val 28571"/>
            </a:avLst>
          </a:prstGeom>
          <a:solidFill>
            <a:srgbClr val="7F57EB"/>
          </a:solidFill>
          <a:ln/>
        </p:spPr>
      </p:sp>
      <p:sp>
        <p:nvSpPr>
          <p:cNvPr id="330" name="text-641"/>
          <p:cNvSpPr txBox="1"/>
          <p:nvPr/>
        </p:nvSpPr>
        <p:spPr>
          <a:xfrm>
            <a:off x="7937500" y="35941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331" name="text-642"/>
          <p:cNvSpPr txBox="1"/>
          <p:nvPr/>
        </p:nvSpPr>
        <p:spPr>
          <a:xfrm>
            <a:off x="10287000" y="359410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99 441</a:t>
            </a:r>
            <a:endParaRPr lang="en-US" sz="1400" dirty="0"/>
          </a:p>
        </p:txBody>
      </p:sp>
      <p:sp>
        <p:nvSpPr>
          <p:cNvPr id="332" name="shape-643"/>
          <p:cNvSpPr/>
          <p:nvPr/>
        </p:nvSpPr>
        <p:spPr>
          <a:xfrm>
            <a:off x="7620000" y="4064000"/>
            <a:ext cx="177800" cy="177800"/>
          </a:xfrm>
          <a:prstGeom prst="roundRect">
            <a:avLst>
              <a:gd name="adj" fmla="val 28571"/>
            </a:avLst>
          </a:prstGeom>
          <a:solidFill>
            <a:srgbClr val="1A36CC"/>
          </a:solidFill>
          <a:ln/>
        </p:spPr>
      </p:sp>
      <p:sp>
        <p:nvSpPr>
          <p:cNvPr id="333" name="text-644"/>
          <p:cNvSpPr txBox="1"/>
          <p:nvPr/>
        </p:nvSpPr>
        <p:spPr>
          <a:xfrm>
            <a:off x="7937500" y="40005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200" dirty="0"/>
          </a:p>
        </p:txBody>
      </p:sp>
      <p:sp>
        <p:nvSpPr>
          <p:cNvPr id="334" name="text-645"/>
          <p:cNvSpPr txBox="1"/>
          <p:nvPr/>
        </p:nvSpPr>
        <p:spPr>
          <a:xfrm>
            <a:off x="10287000" y="400050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32 951</a:t>
            </a:r>
            <a:endParaRPr lang="en-US" sz="1400" dirty="0"/>
          </a:p>
        </p:txBody>
      </p:sp>
      <p:sp>
        <p:nvSpPr>
          <p:cNvPr id="335" name="shape-646"/>
          <p:cNvSpPr/>
          <p:nvPr/>
        </p:nvSpPr>
        <p:spPr>
          <a:xfrm>
            <a:off x="7620000" y="4470400"/>
            <a:ext cx="177800" cy="177800"/>
          </a:xfrm>
          <a:prstGeom prst="roundRect">
            <a:avLst>
              <a:gd name="adj" fmla="val 28571"/>
            </a:avLst>
          </a:prstGeom>
          <a:solidFill>
            <a:srgbClr val="78E9FF"/>
          </a:solidFill>
          <a:ln/>
        </p:spPr>
      </p:sp>
      <p:sp>
        <p:nvSpPr>
          <p:cNvPr id="336" name="text-647"/>
          <p:cNvSpPr txBox="1"/>
          <p:nvPr/>
        </p:nvSpPr>
        <p:spPr>
          <a:xfrm>
            <a:off x="7937500" y="44069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sellers</a:t>
            </a:r>
            <a:endParaRPr lang="en-US" sz="1200" dirty="0"/>
          </a:p>
        </p:txBody>
      </p:sp>
      <p:sp>
        <p:nvSpPr>
          <p:cNvPr id="337" name="text-648"/>
          <p:cNvSpPr txBox="1"/>
          <p:nvPr/>
        </p:nvSpPr>
        <p:spPr>
          <a:xfrm>
            <a:off x="10287000" y="440690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3 095</a:t>
            </a:r>
            <a:endParaRPr lang="en-US" sz="1400" dirty="0"/>
          </a:p>
        </p:txBody>
      </p:sp>
      <p:sp>
        <p:nvSpPr>
          <p:cNvPr id="338" name="shape-649"/>
          <p:cNvSpPr/>
          <p:nvPr/>
        </p:nvSpPr>
        <p:spPr>
          <a:xfrm>
            <a:off x="7620000" y="4876800"/>
            <a:ext cx="177800" cy="177800"/>
          </a:xfrm>
          <a:prstGeom prst="roundRect">
            <a:avLst>
              <a:gd name="adj" fmla="val 28571"/>
            </a:avLst>
          </a:prstGeom>
          <a:solidFill>
            <a:srgbClr val="8A8A93"/>
          </a:solidFill>
          <a:ln/>
        </p:spPr>
      </p:sp>
      <p:sp>
        <p:nvSpPr>
          <p:cNvPr id="339" name="text-650"/>
          <p:cNvSpPr txBox="1"/>
          <p:nvPr/>
        </p:nvSpPr>
        <p:spPr>
          <a:xfrm>
            <a:off x="7937500" y="48133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category_translation</a:t>
            </a:r>
            <a:endParaRPr lang="en-US" sz="1200" dirty="0"/>
          </a:p>
        </p:txBody>
      </p:sp>
      <p:sp>
        <p:nvSpPr>
          <p:cNvPr id="340" name="text-651"/>
          <p:cNvSpPr txBox="1"/>
          <p:nvPr/>
        </p:nvSpPr>
        <p:spPr>
          <a:xfrm>
            <a:off x="10287000" y="481330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400" dirty="0"/>
          </a:p>
        </p:txBody>
      </p:sp>
      <p:sp>
        <p:nvSpPr>
          <p:cNvPr id="341" name="text-652"/>
          <p:cNvSpPr txBox="1"/>
          <p:nvPr/>
        </p:nvSpPr>
        <p:spPr>
          <a:xfrm>
            <a:off x="762000" y="587375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клетка = 1 000 строк. Даты, суммы и оценки приехали строками, каждую колонку проверили скриптами.</a:t>
            </a:r>
            <a:endParaRPr lang="en-US" sz="11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8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decel="100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8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350" decel="1000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decel="100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48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350" decel="1000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decel="100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48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decel="1000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decel="100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8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350" decel="100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decel="100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48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350" decel="1000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2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2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decel="100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48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350" decel="1000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2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00" decel="1000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48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350" decel="1000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2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500" decel="1000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350" decel="100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653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Анкета не равна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человеку</a:t>
            </a:r>
            <a:endParaRPr lang="en-US" sz="3400" dirty="0"/>
          </a:p>
        </p:txBody>
      </p:sp>
      <p:sp>
        <p:nvSpPr>
          <p:cNvPr id="4" name="shape-654"/>
          <p:cNvSpPr/>
          <p:nvPr/>
        </p:nvSpPr>
        <p:spPr>
          <a:xfrm>
            <a:off x="1270000" y="2286000"/>
            <a:ext cx="3175000" cy="3175000"/>
          </a:xfrm>
          <a:prstGeom prst="ellipse">
            <a:avLst/>
          </a:prstGeom>
          <a:ln w="19050">
            <a:solidFill>
              <a:srgbClr val="E2E2E7"/>
            </a:solidFill>
            <a:prstDash val="dash"/>
          </a:ln>
        </p:spPr>
      </p:sp>
      <p:sp>
        <p:nvSpPr>
          <p:cNvPr id="5" name="line-655"/>
          <p:cNvSpPr/>
          <p:nvPr/>
        </p:nvSpPr>
        <p:spPr>
          <a:xfrm>
            <a:off x="2857500" y="2286000"/>
            <a:ext cx="0" cy="158750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6" name="shape-656"/>
          <p:cNvSpPr/>
          <p:nvPr/>
        </p:nvSpPr>
        <p:spPr>
          <a:xfrm>
            <a:off x="2679700" y="216535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7" name="line-657"/>
          <p:cNvSpPr/>
          <p:nvPr/>
        </p:nvSpPr>
        <p:spPr>
          <a:xfrm flipH="1">
            <a:off x="2857500" y="2393200"/>
            <a:ext cx="573471" cy="148030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8" name="shape-658"/>
          <p:cNvSpPr/>
          <p:nvPr/>
        </p:nvSpPr>
        <p:spPr>
          <a:xfrm>
            <a:off x="3253171" y="227255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9" name="line-659"/>
          <p:cNvSpPr/>
          <p:nvPr/>
        </p:nvSpPr>
        <p:spPr>
          <a:xfrm flipH="1">
            <a:off x="2857500" y="2700323"/>
            <a:ext cx="1069492" cy="1173177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10" name="shape-660"/>
          <p:cNvSpPr/>
          <p:nvPr/>
        </p:nvSpPr>
        <p:spPr>
          <a:xfrm>
            <a:off x="3749192" y="2579673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11" name="line-661"/>
          <p:cNvSpPr/>
          <p:nvPr/>
        </p:nvSpPr>
        <p:spPr>
          <a:xfrm flipH="1">
            <a:off x="2857500" y="3165890"/>
            <a:ext cx="1421072" cy="70761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12" name="shape-662"/>
          <p:cNvSpPr/>
          <p:nvPr/>
        </p:nvSpPr>
        <p:spPr>
          <a:xfrm>
            <a:off x="4100772" y="304524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13" name="line-663"/>
          <p:cNvSpPr/>
          <p:nvPr/>
        </p:nvSpPr>
        <p:spPr>
          <a:xfrm flipH="1">
            <a:off x="2857500" y="3727024"/>
            <a:ext cx="1580728" cy="146476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14" name="shape-664"/>
          <p:cNvSpPr/>
          <p:nvPr/>
        </p:nvSpPr>
        <p:spPr>
          <a:xfrm>
            <a:off x="4260428" y="3606374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15" name="line-665"/>
          <p:cNvSpPr/>
          <p:nvPr/>
        </p:nvSpPr>
        <p:spPr>
          <a:xfrm>
            <a:off x="2857500" y="3873500"/>
            <a:ext cx="1526898" cy="43444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16" name="shape-666"/>
          <p:cNvSpPr/>
          <p:nvPr/>
        </p:nvSpPr>
        <p:spPr>
          <a:xfrm>
            <a:off x="4206598" y="418729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17" name="line-667"/>
          <p:cNvSpPr/>
          <p:nvPr/>
        </p:nvSpPr>
        <p:spPr>
          <a:xfrm>
            <a:off x="2857500" y="3873500"/>
            <a:ext cx="1266852" cy="956682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18" name="shape-668"/>
          <p:cNvSpPr/>
          <p:nvPr/>
        </p:nvSpPr>
        <p:spPr>
          <a:xfrm>
            <a:off x="3946552" y="4709532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19" name="line-669"/>
          <p:cNvSpPr/>
          <p:nvPr/>
        </p:nvSpPr>
        <p:spPr>
          <a:xfrm>
            <a:off x="2857500" y="3873500"/>
            <a:ext cx="835711" cy="134972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20" name="shape-670"/>
          <p:cNvSpPr/>
          <p:nvPr/>
        </p:nvSpPr>
        <p:spPr>
          <a:xfrm>
            <a:off x="3515411" y="510257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21" name="line-671"/>
          <p:cNvSpPr/>
          <p:nvPr/>
        </p:nvSpPr>
        <p:spPr>
          <a:xfrm>
            <a:off x="2857500" y="3873500"/>
            <a:ext cx="291702" cy="156047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22" name="shape-672"/>
          <p:cNvSpPr/>
          <p:nvPr/>
        </p:nvSpPr>
        <p:spPr>
          <a:xfrm>
            <a:off x="2971402" y="531332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23" name="line-673"/>
          <p:cNvSpPr/>
          <p:nvPr/>
        </p:nvSpPr>
        <p:spPr>
          <a:xfrm flipH="1">
            <a:off x="2565798" y="3873500"/>
            <a:ext cx="291702" cy="156047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24" name="shape-674"/>
          <p:cNvSpPr/>
          <p:nvPr/>
        </p:nvSpPr>
        <p:spPr>
          <a:xfrm>
            <a:off x="2387998" y="531332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25" name="line-675"/>
          <p:cNvSpPr/>
          <p:nvPr/>
        </p:nvSpPr>
        <p:spPr>
          <a:xfrm flipH="1">
            <a:off x="2021789" y="3873500"/>
            <a:ext cx="835711" cy="134972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26" name="shape-676"/>
          <p:cNvSpPr/>
          <p:nvPr/>
        </p:nvSpPr>
        <p:spPr>
          <a:xfrm>
            <a:off x="1843989" y="510257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27" name="line-677"/>
          <p:cNvSpPr/>
          <p:nvPr/>
        </p:nvSpPr>
        <p:spPr>
          <a:xfrm flipH="1">
            <a:off x="1590648" y="3873500"/>
            <a:ext cx="1266852" cy="956682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28" name="shape-678"/>
          <p:cNvSpPr/>
          <p:nvPr/>
        </p:nvSpPr>
        <p:spPr>
          <a:xfrm>
            <a:off x="1412848" y="4709532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29" name="line-679"/>
          <p:cNvSpPr/>
          <p:nvPr/>
        </p:nvSpPr>
        <p:spPr>
          <a:xfrm flipH="1">
            <a:off x="1330602" y="3873500"/>
            <a:ext cx="1526898" cy="43444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30" name="shape-680"/>
          <p:cNvSpPr/>
          <p:nvPr/>
        </p:nvSpPr>
        <p:spPr>
          <a:xfrm>
            <a:off x="1152802" y="418729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31" name="line-681"/>
          <p:cNvSpPr/>
          <p:nvPr/>
        </p:nvSpPr>
        <p:spPr>
          <a:xfrm>
            <a:off x="1276772" y="3727024"/>
            <a:ext cx="1580728" cy="146476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32" name="shape-682"/>
          <p:cNvSpPr/>
          <p:nvPr/>
        </p:nvSpPr>
        <p:spPr>
          <a:xfrm>
            <a:off x="1098972" y="3606374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33" name="line-683"/>
          <p:cNvSpPr/>
          <p:nvPr/>
        </p:nvSpPr>
        <p:spPr>
          <a:xfrm>
            <a:off x="1436428" y="3165890"/>
            <a:ext cx="1421072" cy="70761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34" name="shape-684"/>
          <p:cNvSpPr/>
          <p:nvPr/>
        </p:nvSpPr>
        <p:spPr>
          <a:xfrm>
            <a:off x="1258628" y="304524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35" name="line-685"/>
          <p:cNvSpPr/>
          <p:nvPr/>
        </p:nvSpPr>
        <p:spPr>
          <a:xfrm>
            <a:off x="1788008" y="2700323"/>
            <a:ext cx="1069492" cy="1173177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36" name="shape-686"/>
          <p:cNvSpPr/>
          <p:nvPr/>
        </p:nvSpPr>
        <p:spPr>
          <a:xfrm>
            <a:off x="1610208" y="2579673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37" name="line-687"/>
          <p:cNvSpPr/>
          <p:nvPr/>
        </p:nvSpPr>
        <p:spPr>
          <a:xfrm>
            <a:off x="2284029" y="2393200"/>
            <a:ext cx="573471" cy="148030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38" name="shape-688"/>
          <p:cNvSpPr/>
          <p:nvPr/>
        </p:nvSpPr>
        <p:spPr>
          <a:xfrm>
            <a:off x="2106229" y="2272550"/>
            <a:ext cx="3556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5875">
            <a:solidFill>
              <a:srgbClr val="C9C9D1"/>
            </a:solidFill>
            <a:prstDash val="solid"/>
          </a:ln>
        </p:spPr>
      </p:sp>
      <p:sp>
        <p:nvSpPr>
          <p:cNvPr id="39" name="shape-689"/>
          <p:cNvSpPr/>
          <p:nvPr/>
        </p:nvSpPr>
        <p:spPr>
          <a:xfrm>
            <a:off x="2273300" y="3289300"/>
            <a:ext cx="1168400" cy="1168400"/>
          </a:xfrm>
          <a:prstGeom prst="ellipse">
            <a:avLst/>
          </a:prstGeom>
          <a:solidFill>
            <a:srgbClr val="2348FF"/>
          </a:solidFill>
          <a:ln/>
        </p:spPr>
      </p:sp>
      <p:pic>
        <p:nvPicPr>
          <p:cNvPr id="40" name="pic-690" descr="W:\Projects\hacks\rwb-new\presentation\pptx\assets\ico-use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606800"/>
            <a:ext cx="533400" cy="533400"/>
          </a:xfrm>
          <a:prstGeom prst="rect">
            <a:avLst/>
          </a:prstGeom>
        </p:spPr>
      </p:pic>
      <p:sp>
        <p:nvSpPr>
          <p:cNvPr id="41" name="text-691"/>
          <p:cNvSpPr txBox="1"/>
          <p:nvPr/>
        </p:nvSpPr>
        <p:spPr>
          <a:xfrm>
            <a:off x="952500" y="55880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17 анкет у одного человека</a:t>
            </a:r>
            <a:endParaRPr lang="en-US" sz="1100" dirty="0"/>
          </a:p>
        </p:txBody>
      </p:sp>
      <p:sp>
        <p:nvSpPr>
          <p:cNvPr id="42" name="shape-692"/>
          <p:cNvSpPr/>
          <p:nvPr/>
        </p:nvSpPr>
        <p:spPr>
          <a:xfrm>
            <a:off x="5461000" y="1905000"/>
            <a:ext cx="5969000" cy="1206500"/>
          </a:xfrm>
          <a:prstGeom prst="roundRect">
            <a:avLst>
              <a:gd name="adj" fmla="val 15789"/>
            </a:avLst>
          </a:prstGeom>
          <a:solidFill>
            <a:srgbClr val="F1F1F3"/>
          </a:solidFill>
          <a:ln/>
        </p:spPr>
      </p:sp>
      <p:sp>
        <p:nvSpPr>
          <p:cNvPr id="43" name="text-693"/>
          <p:cNvSpPr txBox="1"/>
          <p:nvPr/>
        </p:nvSpPr>
        <p:spPr>
          <a:xfrm>
            <a:off x="5715000" y="2032000"/>
            <a:ext cx="209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strike="sngStrike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99 441</a:t>
            </a:r>
            <a:endParaRPr lang="en-US" sz="4200" dirty="0"/>
          </a:p>
        </p:txBody>
      </p:sp>
      <p:pic>
        <p:nvPicPr>
          <p:cNvPr id="44" name="pic-694" descr="W:\Projects\hacks\rwb-new\presentation\pptx\assets\ico-arrow-right-cob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2190750"/>
            <a:ext cx="355600" cy="355600"/>
          </a:xfrm>
          <a:prstGeom prst="rect">
            <a:avLst/>
          </a:prstGeom>
        </p:spPr>
      </p:pic>
      <p:sp>
        <p:nvSpPr>
          <p:cNvPr id="45" name="text-695"/>
          <p:cNvSpPr txBox="1"/>
          <p:nvPr/>
        </p:nvSpPr>
        <p:spPr>
          <a:xfrm>
            <a:off x="8382000" y="2032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96 096</a:t>
            </a:r>
            <a:endParaRPr lang="en-US" sz="4200" dirty="0"/>
          </a:p>
        </p:txBody>
      </p:sp>
      <p:sp>
        <p:nvSpPr>
          <p:cNvPr id="46" name="text-696"/>
          <p:cNvSpPr txBox="1"/>
          <p:nvPr/>
        </p:nvSpPr>
        <p:spPr>
          <a:xfrm>
            <a:off x="5715000" y="269875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customer_id: анкета на каждый заказ</a:t>
            </a:r>
            <a:endParaRPr lang="en-US" sz="950" dirty="0"/>
          </a:p>
        </p:txBody>
      </p:sp>
      <p:sp>
        <p:nvSpPr>
          <p:cNvPr id="47" name="text-697"/>
          <p:cNvSpPr txBox="1"/>
          <p:nvPr/>
        </p:nvSpPr>
        <p:spPr>
          <a:xfrm>
            <a:off x="8382000" y="269875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customer_unique_id: человек</a:t>
            </a:r>
            <a:endParaRPr lang="en-US" sz="950" dirty="0"/>
          </a:p>
        </p:txBody>
      </p:sp>
      <p:sp>
        <p:nvSpPr>
          <p:cNvPr id="48" name="shape-698"/>
          <p:cNvSpPr/>
          <p:nvPr/>
        </p:nvSpPr>
        <p:spPr>
          <a:xfrm>
            <a:off x="5588000" y="3797300"/>
            <a:ext cx="762000" cy="292100"/>
          </a:xfrm>
          <a:prstGeom prst="roundRect">
            <a:avLst>
              <a:gd name="adj" fmla="val 30435"/>
            </a:avLst>
          </a:prstGeom>
          <a:solidFill>
            <a:srgbClr val="7F57EB"/>
          </a:solidFill>
          <a:ln/>
        </p:spPr>
      </p:sp>
      <p:sp>
        <p:nvSpPr>
          <p:cNvPr id="49" name="text-699"/>
          <p:cNvSpPr txBox="1"/>
          <p:nvPr/>
        </p:nvSpPr>
        <p:spPr>
          <a:xfrm>
            <a:off x="5588000" y="3797300"/>
            <a:ext cx="762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950" dirty="0"/>
          </a:p>
        </p:txBody>
      </p:sp>
      <p:sp>
        <p:nvSpPr>
          <p:cNvPr id="50" name="line-700"/>
          <p:cNvSpPr/>
          <p:nvPr/>
        </p:nvSpPr>
        <p:spPr>
          <a:xfrm flipH="1">
            <a:off x="6350000" y="3670300"/>
            <a:ext cx="508000" cy="273050"/>
          </a:xfrm>
          <a:prstGeom prst="line">
            <a:avLst/>
          </a:prstGeom>
          <a:noFill/>
          <a:ln w="31750">
            <a:solidFill>
              <a:srgbClr val="7F57EB"/>
            </a:solidFill>
            <a:prstDash val="solid"/>
          </a:ln>
        </p:spPr>
      </p:sp>
      <p:sp>
        <p:nvSpPr>
          <p:cNvPr id="51" name="line-701"/>
          <p:cNvSpPr/>
          <p:nvPr/>
        </p:nvSpPr>
        <p:spPr>
          <a:xfrm>
            <a:off x="6350000" y="3943350"/>
            <a:ext cx="508000" cy="273050"/>
          </a:xfrm>
          <a:prstGeom prst="line">
            <a:avLst/>
          </a:prstGeom>
          <a:noFill/>
          <a:ln w="31750">
            <a:solidFill>
              <a:srgbClr val="7F57EB"/>
            </a:solidFill>
            <a:prstDash val="solid"/>
          </a:ln>
        </p:spPr>
      </p:sp>
      <p:sp>
        <p:nvSpPr>
          <p:cNvPr id="52" name="shape-702"/>
          <p:cNvSpPr/>
          <p:nvPr/>
        </p:nvSpPr>
        <p:spPr>
          <a:xfrm>
            <a:off x="6858000" y="3556000"/>
            <a:ext cx="6985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9050">
            <a:solidFill>
              <a:srgbClr val="C9C9D1"/>
            </a:solidFill>
            <a:prstDash val="solid"/>
          </a:ln>
        </p:spPr>
      </p:sp>
      <p:sp>
        <p:nvSpPr>
          <p:cNvPr id="53" name="shape-703"/>
          <p:cNvSpPr/>
          <p:nvPr/>
        </p:nvSpPr>
        <p:spPr>
          <a:xfrm>
            <a:off x="6858000" y="4102100"/>
            <a:ext cx="698500" cy="241300"/>
          </a:xfrm>
          <a:prstGeom prst="roundRect">
            <a:avLst>
              <a:gd name="adj" fmla="val 28947"/>
            </a:avLst>
          </a:prstGeom>
          <a:solidFill>
            <a:srgbClr val="F1F1F3"/>
          </a:solidFill>
          <a:ln w="19050">
            <a:solidFill>
              <a:srgbClr val="C9C9D1"/>
            </a:solidFill>
            <a:prstDash val="solid"/>
          </a:ln>
        </p:spPr>
      </p:sp>
      <p:sp>
        <p:nvSpPr>
          <p:cNvPr id="54" name="text-704"/>
          <p:cNvSpPr txBox="1"/>
          <p:nvPr/>
        </p:nvSpPr>
        <p:spPr>
          <a:xfrm>
            <a:off x="7874000" y="3619500"/>
            <a:ext cx="12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7F5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789</a:t>
            </a:r>
            <a:endParaRPr lang="en-US" sz="3200" dirty="0"/>
          </a:p>
        </p:txBody>
      </p:sp>
      <p:sp>
        <p:nvSpPr>
          <p:cNvPr id="55" name="text-705"/>
          <p:cNvSpPr txBox="1"/>
          <p:nvPr/>
        </p:nvSpPr>
        <p:spPr>
          <a:xfrm>
            <a:off x="7874000" y="40767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отзывов висят сразу на нескольких заказах</a:t>
            </a:r>
            <a:endParaRPr lang="en-US" sz="1050" dirty="0"/>
          </a:p>
        </p:txBody>
      </p:sp>
      <p:sp>
        <p:nvSpPr>
          <p:cNvPr id="56" name="shape-706"/>
          <p:cNvSpPr/>
          <p:nvPr/>
        </p:nvSpPr>
        <p:spPr>
          <a:xfrm>
            <a:off x="5588000" y="4826000"/>
            <a:ext cx="920750" cy="292100"/>
          </a:xfrm>
          <a:prstGeom prst="roundRect">
            <a:avLst>
              <a:gd name="adj" fmla="val 50000"/>
            </a:avLst>
          </a:prstGeom>
          <a:solidFill>
            <a:srgbClr val="2348FF"/>
          </a:solidFill>
          <a:ln/>
        </p:spPr>
      </p:sp>
      <p:sp>
        <p:nvSpPr>
          <p:cNvPr id="57" name="text-707"/>
          <p:cNvSpPr txBox="1"/>
          <p:nvPr/>
        </p:nvSpPr>
        <p:spPr>
          <a:xfrm>
            <a:off x="5588000" y="4826000"/>
            <a:ext cx="9207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endParaRPr lang="en-US" sz="1050" dirty="0"/>
          </a:p>
        </p:txBody>
      </p:sp>
      <p:sp>
        <p:nvSpPr>
          <p:cNvPr id="58" name="shape-708"/>
          <p:cNvSpPr/>
          <p:nvPr/>
        </p:nvSpPr>
        <p:spPr>
          <a:xfrm>
            <a:off x="6572250" y="4826000"/>
            <a:ext cx="317500" cy="292100"/>
          </a:xfrm>
          <a:prstGeom prst="roundRect">
            <a:avLst>
              <a:gd name="adj" fmla="val 50000"/>
            </a:avLst>
          </a:prstGeom>
          <a:solidFill>
            <a:srgbClr val="F1F1F3"/>
          </a:solidFill>
          <a:ln/>
        </p:spPr>
      </p:sp>
      <p:sp>
        <p:nvSpPr>
          <p:cNvPr id="59" name="text-709"/>
          <p:cNvSpPr txBox="1"/>
          <p:nvPr/>
        </p:nvSpPr>
        <p:spPr>
          <a:xfrm>
            <a:off x="6572250" y="482600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shape-710"/>
          <p:cNvSpPr/>
          <p:nvPr/>
        </p:nvSpPr>
        <p:spPr>
          <a:xfrm>
            <a:off x="6953250" y="4826000"/>
            <a:ext cx="317500" cy="292100"/>
          </a:xfrm>
          <a:prstGeom prst="roundRect">
            <a:avLst>
              <a:gd name="adj" fmla="val 50000"/>
            </a:avLst>
          </a:prstGeom>
          <a:solidFill>
            <a:srgbClr val="F1F1F3"/>
          </a:solidFill>
          <a:ln/>
        </p:spPr>
      </p:sp>
      <p:sp>
        <p:nvSpPr>
          <p:cNvPr id="61" name="text-711"/>
          <p:cNvSpPr txBox="1"/>
          <p:nvPr/>
        </p:nvSpPr>
        <p:spPr>
          <a:xfrm>
            <a:off x="6953250" y="482600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shape-712"/>
          <p:cNvSpPr/>
          <p:nvPr/>
        </p:nvSpPr>
        <p:spPr>
          <a:xfrm>
            <a:off x="7334250" y="4826000"/>
            <a:ext cx="317500" cy="292100"/>
          </a:xfrm>
          <a:prstGeom prst="roundRect">
            <a:avLst>
              <a:gd name="adj" fmla="val 50000"/>
            </a:avLst>
          </a:prstGeom>
          <a:solidFill>
            <a:srgbClr val="F1F1F3"/>
          </a:solidFill>
          <a:ln/>
        </p:spPr>
      </p:sp>
      <p:sp>
        <p:nvSpPr>
          <p:cNvPr id="63" name="text-713"/>
          <p:cNvSpPr txBox="1"/>
          <p:nvPr/>
        </p:nvSpPr>
        <p:spPr>
          <a:xfrm>
            <a:off x="7334250" y="482600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64" name="text-714"/>
          <p:cNvSpPr txBox="1"/>
          <p:nvPr/>
        </p:nvSpPr>
        <p:spPr>
          <a:xfrm>
            <a:off x="7874000" y="47117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order_item_id</a:t>
            </a:r>
            <a:endParaRPr lang="en-US" sz="2000" dirty="0"/>
          </a:p>
        </p:txBody>
      </p:sp>
      <p:sp>
        <p:nvSpPr>
          <p:cNvPr id="65" name="text-715"/>
          <p:cNvSpPr txBox="1"/>
          <p:nvPr/>
        </p:nvSpPr>
        <p:spPr>
          <a:xfrm>
            <a:off x="7874000" y="50927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номер строки внутри заказа, а не ключ</a:t>
            </a:r>
            <a:endParaRPr lang="en-US" sz="105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-0.18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8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-0.14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-0.08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-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38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2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-0.02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-0.06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-0.09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-0.1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-0.1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-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-0.1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-0.08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-0.08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-0.14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-0.043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-0.18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24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1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1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1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1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2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3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38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2" presetClass="entr" presetSubtype="2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2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1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2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1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4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5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219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1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grpId="0" nodeType="withEffect">
                                  <p:stCondLst>
                                    <p:cond delay="219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1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9" dur="30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53" presetClass="entr" presetSubtype="16" fill="hold" grpId="0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1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3" presetClass="entr" presetSubtype="16" fill="hold" grpId="0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1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grpId="0" nodeType="withEffect">
                                  <p:stCondLst>
                                    <p:cond delay="237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1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53" presetClass="entr" presetSubtype="16" fill="hold" grpId="0" nodeType="withEffect">
                                  <p:stCondLst>
                                    <p:cond delay="237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1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6" presetClass="emph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261" dur="1300" repeatCount="indefinite" accel="50000" decel="5000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3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1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716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Пропуски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 потери</a:t>
            </a:r>
            <a:endParaRPr lang="en-US" sz="3400" dirty="0"/>
          </a:p>
        </p:txBody>
      </p:sp>
      <p:sp>
        <p:nvSpPr>
          <p:cNvPr id="4" name="line-717"/>
          <p:cNvSpPr/>
          <p:nvPr/>
        </p:nvSpPr>
        <p:spPr>
          <a:xfrm>
            <a:off x="762000" y="4635500"/>
            <a:ext cx="10668000" cy="0"/>
          </a:xfrm>
          <a:prstGeom prst="line">
            <a:avLst/>
          </a:prstGeom>
          <a:noFill/>
          <a:ln w="19050">
            <a:solidFill>
              <a:srgbClr val="C9C9D1"/>
            </a:solidFill>
            <a:prstDash val="solid"/>
          </a:ln>
        </p:spPr>
      </p:sp>
      <p:sp>
        <p:nvSpPr>
          <p:cNvPr id="5" name="shape-718"/>
          <p:cNvSpPr/>
          <p:nvPr/>
        </p:nvSpPr>
        <p:spPr>
          <a:xfrm>
            <a:off x="812800" y="4610100"/>
            <a:ext cx="308708" cy="25400"/>
          </a:xfrm>
          <a:prstGeom prst="roundRect">
            <a:avLst>
              <a:gd name="adj" fmla="val 50000"/>
            </a:avLst>
          </a:prstGeom>
          <a:solidFill>
            <a:srgbClr val="328EF9"/>
          </a:solidFill>
          <a:ln/>
        </p:spPr>
      </p:sp>
      <p:sp>
        <p:nvSpPr>
          <p:cNvPr id="6" name="text-719"/>
          <p:cNvSpPr txBox="1"/>
          <p:nvPr/>
        </p:nvSpPr>
        <p:spPr>
          <a:xfrm>
            <a:off x="812800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</a:t>
            </a:r>
            <a:endParaRPr lang="en-US" sz="900" dirty="0"/>
          </a:p>
        </p:txBody>
      </p:sp>
      <p:sp>
        <p:nvSpPr>
          <p:cNvPr id="7" name="text-720"/>
          <p:cNvSpPr txBox="1"/>
          <p:nvPr/>
        </p:nvSpPr>
        <p:spPr>
          <a:xfrm>
            <a:off x="812800" y="4876800"/>
            <a:ext cx="508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2016</a:t>
            </a:r>
            <a:endParaRPr lang="en-US" sz="900" dirty="0"/>
          </a:p>
        </p:txBody>
      </p:sp>
      <p:sp>
        <p:nvSpPr>
          <p:cNvPr id="8" name="shape-721"/>
          <p:cNvSpPr/>
          <p:nvPr/>
        </p:nvSpPr>
        <p:spPr>
          <a:xfrm>
            <a:off x="1223108" y="4526412"/>
            <a:ext cx="308708" cy="109088"/>
          </a:xfrm>
          <a:prstGeom prst="roundRect">
            <a:avLst>
              <a:gd name="adj" fmla="val 34926"/>
            </a:avLst>
          </a:prstGeom>
          <a:solidFill>
            <a:srgbClr val="328EF9"/>
          </a:solidFill>
          <a:ln/>
        </p:spPr>
      </p:sp>
      <p:sp>
        <p:nvSpPr>
          <p:cNvPr id="9" name="text-722"/>
          <p:cNvSpPr txBox="1"/>
          <p:nvPr/>
        </p:nvSpPr>
        <p:spPr>
          <a:xfrm>
            <a:off x="1223108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</a:t>
            </a:r>
            <a:endParaRPr lang="en-US" sz="900" dirty="0"/>
          </a:p>
        </p:txBody>
      </p:sp>
      <p:sp>
        <p:nvSpPr>
          <p:cNvPr id="10" name="text-723"/>
          <p:cNvSpPr txBox="1"/>
          <p:nvPr/>
        </p:nvSpPr>
        <p:spPr>
          <a:xfrm>
            <a:off x="1633415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</a:t>
            </a:r>
            <a:endParaRPr lang="en-US" sz="900" dirty="0"/>
          </a:p>
        </p:txBody>
      </p:sp>
      <p:sp>
        <p:nvSpPr>
          <p:cNvPr id="11" name="shape-724"/>
          <p:cNvSpPr/>
          <p:nvPr/>
        </p:nvSpPr>
        <p:spPr>
          <a:xfrm>
            <a:off x="2043723" y="4610100"/>
            <a:ext cx="308708" cy="25400"/>
          </a:xfrm>
          <a:prstGeom prst="roundRect">
            <a:avLst>
              <a:gd name="adj" fmla="val 50000"/>
            </a:avLst>
          </a:prstGeom>
          <a:solidFill>
            <a:srgbClr val="328EF9"/>
          </a:solidFill>
          <a:ln/>
        </p:spPr>
      </p:sp>
      <p:sp>
        <p:nvSpPr>
          <p:cNvPr id="12" name="text-725"/>
          <p:cNvSpPr txBox="1"/>
          <p:nvPr/>
        </p:nvSpPr>
        <p:spPr>
          <a:xfrm>
            <a:off x="2043723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</a:t>
            </a:r>
            <a:endParaRPr lang="en-US" sz="900" dirty="0"/>
          </a:p>
        </p:txBody>
      </p:sp>
      <p:sp>
        <p:nvSpPr>
          <p:cNvPr id="13" name="shape-726"/>
          <p:cNvSpPr/>
          <p:nvPr/>
        </p:nvSpPr>
        <p:spPr>
          <a:xfrm>
            <a:off x="2454031" y="4366147"/>
            <a:ext cx="308708" cy="269353"/>
          </a:xfrm>
          <a:prstGeom prst="roundRect">
            <a:avLst>
              <a:gd name="adj" fmla="val 14145"/>
            </a:avLst>
          </a:prstGeom>
          <a:solidFill>
            <a:srgbClr val="328EF9"/>
          </a:solidFill>
          <a:ln/>
        </p:spPr>
      </p:sp>
      <p:sp>
        <p:nvSpPr>
          <p:cNvPr id="14" name="text-727"/>
          <p:cNvSpPr txBox="1"/>
          <p:nvPr/>
        </p:nvSpPr>
        <p:spPr>
          <a:xfrm>
            <a:off x="2454031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</a:t>
            </a:r>
            <a:endParaRPr lang="en-US" sz="900" dirty="0"/>
          </a:p>
        </p:txBody>
      </p:sp>
      <p:sp>
        <p:nvSpPr>
          <p:cNvPr id="15" name="text-728"/>
          <p:cNvSpPr txBox="1"/>
          <p:nvPr/>
        </p:nvSpPr>
        <p:spPr>
          <a:xfrm>
            <a:off x="2454031" y="4876800"/>
            <a:ext cx="508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2017</a:t>
            </a:r>
            <a:endParaRPr lang="en-US" sz="900" dirty="0"/>
          </a:p>
        </p:txBody>
      </p:sp>
      <p:sp>
        <p:nvSpPr>
          <p:cNvPr id="16" name="shape-729"/>
          <p:cNvSpPr/>
          <p:nvPr/>
        </p:nvSpPr>
        <p:spPr>
          <a:xfrm>
            <a:off x="2864338" y="4036189"/>
            <a:ext cx="308708" cy="599311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17" name="text-730"/>
          <p:cNvSpPr txBox="1"/>
          <p:nvPr/>
        </p:nvSpPr>
        <p:spPr>
          <a:xfrm>
            <a:off x="2864338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</a:t>
            </a:r>
            <a:endParaRPr lang="en-US" sz="900" dirty="0"/>
          </a:p>
        </p:txBody>
      </p:sp>
      <p:sp>
        <p:nvSpPr>
          <p:cNvPr id="18" name="shape-731"/>
          <p:cNvSpPr/>
          <p:nvPr/>
        </p:nvSpPr>
        <p:spPr>
          <a:xfrm>
            <a:off x="3274646" y="3732494"/>
            <a:ext cx="308708" cy="903006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19" name="text-732"/>
          <p:cNvSpPr txBox="1"/>
          <p:nvPr/>
        </p:nvSpPr>
        <p:spPr>
          <a:xfrm>
            <a:off x="3274646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</a:t>
            </a:r>
            <a:endParaRPr lang="en-US" sz="900" dirty="0"/>
          </a:p>
        </p:txBody>
      </p:sp>
      <p:sp>
        <p:nvSpPr>
          <p:cNvPr id="20" name="shape-733"/>
          <p:cNvSpPr/>
          <p:nvPr/>
        </p:nvSpPr>
        <p:spPr>
          <a:xfrm>
            <a:off x="3684954" y="3826094"/>
            <a:ext cx="308708" cy="809406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21" name="text-734"/>
          <p:cNvSpPr txBox="1"/>
          <p:nvPr/>
        </p:nvSpPr>
        <p:spPr>
          <a:xfrm>
            <a:off x="3684954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</a:t>
            </a:r>
            <a:endParaRPr lang="en-US" sz="900" dirty="0"/>
          </a:p>
        </p:txBody>
      </p:sp>
      <p:sp>
        <p:nvSpPr>
          <p:cNvPr id="22" name="shape-735"/>
          <p:cNvSpPr/>
          <p:nvPr/>
        </p:nvSpPr>
        <p:spPr>
          <a:xfrm>
            <a:off x="4095262" y="3389742"/>
            <a:ext cx="308708" cy="1245758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23" name="text-736"/>
          <p:cNvSpPr txBox="1"/>
          <p:nvPr/>
        </p:nvSpPr>
        <p:spPr>
          <a:xfrm>
            <a:off x="4095262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</a:t>
            </a:r>
            <a:endParaRPr lang="en-US" sz="900" dirty="0"/>
          </a:p>
        </p:txBody>
      </p:sp>
      <p:sp>
        <p:nvSpPr>
          <p:cNvPr id="24" name="shape-737"/>
          <p:cNvSpPr/>
          <p:nvPr/>
        </p:nvSpPr>
        <p:spPr>
          <a:xfrm>
            <a:off x="4505569" y="3542936"/>
            <a:ext cx="308708" cy="1092564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25" name="text-738"/>
          <p:cNvSpPr txBox="1"/>
          <p:nvPr/>
        </p:nvSpPr>
        <p:spPr>
          <a:xfrm>
            <a:off x="4505569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</a:t>
            </a:r>
            <a:endParaRPr lang="en-US" sz="900" dirty="0"/>
          </a:p>
        </p:txBody>
      </p:sp>
      <p:sp>
        <p:nvSpPr>
          <p:cNvPr id="26" name="shape-739"/>
          <p:cNvSpPr/>
          <p:nvPr/>
        </p:nvSpPr>
        <p:spPr>
          <a:xfrm>
            <a:off x="4915877" y="3279980"/>
            <a:ext cx="308708" cy="1355520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27" name="text-740"/>
          <p:cNvSpPr txBox="1"/>
          <p:nvPr/>
        </p:nvSpPr>
        <p:spPr>
          <a:xfrm>
            <a:off x="4915877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</a:t>
            </a:r>
            <a:endParaRPr lang="en-US" sz="900" dirty="0"/>
          </a:p>
        </p:txBody>
      </p:sp>
      <p:sp>
        <p:nvSpPr>
          <p:cNvPr id="28" name="shape-741"/>
          <p:cNvSpPr/>
          <p:nvPr/>
        </p:nvSpPr>
        <p:spPr>
          <a:xfrm>
            <a:off x="5326185" y="3177290"/>
            <a:ext cx="308708" cy="1458210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29" name="text-742"/>
          <p:cNvSpPr txBox="1"/>
          <p:nvPr/>
        </p:nvSpPr>
        <p:spPr>
          <a:xfrm>
            <a:off x="5326185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</a:t>
            </a:r>
            <a:endParaRPr lang="en-US" sz="900" dirty="0"/>
          </a:p>
        </p:txBody>
      </p:sp>
      <p:sp>
        <p:nvSpPr>
          <p:cNvPr id="30" name="shape-743"/>
          <p:cNvSpPr/>
          <p:nvPr/>
        </p:nvSpPr>
        <p:spPr>
          <a:xfrm>
            <a:off x="5736492" y="3192777"/>
            <a:ext cx="308708" cy="1442723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31" name="text-744"/>
          <p:cNvSpPr txBox="1"/>
          <p:nvPr/>
        </p:nvSpPr>
        <p:spPr>
          <a:xfrm>
            <a:off x="5736492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</a:t>
            </a:r>
            <a:endParaRPr lang="en-US" sz="900" dirty="0"/>
          </a:p>
        </p:txBody>
      </p:sp>
      <p:sp>
        <p:nvSpPr>
          <p:cNvPr id="32" name="shape-745"/>
          <p:cNvSpPr/>
          <p:nvPr/>
        </p:nvSpPr>
        <p:spPr>
          <a:xfrm>
            <a:off x="6146800" y="3076282"/>
            <a:ext cx="308708" cy="1559218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33" name="text-746"/>
          <p:cNvSpPr txBox="1"/>
          <p:nvPr/>
        </p:nvSpPr>
        <p:spPr>
          <a:xfrm>
            <a:off x="6146800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</a:t>
            </a:r>
            <a:endParaRPr lang="en-US" sz="900" dirty="0"/>
          </a:p>
        </p:txBody>
      </p:sp>
      <p:sp>
        <p:nvSpPr>
          <p:cNvPr id="34" name="shape-747"/>
          <p:cNvSpPr/>
          <p:nvPr/>
        </p:nvSpPr>
        <p:spPr>
          <a:xfrm>
            <a:off x="6557108" y="2095500"/>
            <a:ext cx="308708" cy="2540000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35" name="text-748"/>
          <p:cNvSpPr txBox="1"/>
          <p:nvPr/>
        </p:nvSpPr>
        <p:spPr>
          <a:xfrm>
            <a:off x="6557108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</a:t>
            </a:r>
            <a:endParaRPr lang="en-US" sz="900" dirty="0"/>
          </a:p>
        </p:txBody>
      </p:sp>
      <p:sp>
        <p:nvSpPr>
          <p:cNvPr id="36" name="shape-749"/>
          <p:cNvSpPr/>
          <p:nvPr/>
        </p:nvSpPr>
        <p:spPr>
          <a:xfrm>
            <a:off x="6967415" y="2725450"/>
            <a:ext cx="308708" cy="1910050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37" name="text-750"/>
          <p:cNvSpPr txBox="1"/>
          <p:nvPr/>
        </p:nvSpPr>
        <p:spPr>
          <a:xfrm>
            <a:off x="6967415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</a:t>
            </a:r>
            <a:endParaRPr lang="en-US" sz="900" dirty="0"/>
          </a:p>
        </p:txBody>
      </p:sp>
      <p:sp>
        <p:nvSpPr>
          <p:cNvPr id="38" name="shape-751"/>
          <p:cNvSpPr/>
          <p:nvPr/>
        </p:nvSpPr>
        <p:spPr>
          <a:xfrm>
            <a:off x="7377723" y="2188090"/>
            <a:ext cx="308708" cy="2447410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39" name="text-752"/>
          <p:cNvSpPr txBox="1"/>
          <p:nvPr/>
        </p:nvSpPr>
        <p:spPr>
          <a:xfrm>
            <a:off x="7377723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</a:t>
            </a:r>
            <a:endParaRPr lang="en-US" sz="900" dirty="0"/>
          </a:p>
        </p:txBody>
      </p:sp>
      <p:sp>
        <p:nvSpPr>
          <p:cNvPr id="40" name="text-753"/>
          <p:cNvSpPr txBox="1"/>
          <p:nvPr/>
        </p:nvSpPr>
        <p:spPr>
          <a:xfrm>
            <a:off x="7377723" y="4876800"/>
            <a:ext cx="508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</a:t>
            </a:r>
            <a:endParaRPr lang="en-US" sz="900" dirty="0"/>
          </a:p>
        </p:txBody>
      </p:sp>
      <p:sp>
        <p:nvSpPr>
          <p:cNvPr id="41" name="shape-754"/>
          <p:cNvSpPr/>
          <p:nvPr/>
        </p:nvSpPr>
        <p:spPr>
          <a:xfrm>
            <a:off x="7788031" y="2370240"/>
            <a:ext cx="308708" cy="2265260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42" name="text-755"/>
          <p:cNvSpPr txBox="1"/>
          <p:nvPr/>
        </p:nvSpPr>
        <p:spPr>
          <a:xfrm>
            <a:off x="7788031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</a:t>
            </a:r>
            <a:endParaRPr lang="en-US" sz="900" dirty="0"/>
          </a:p>
        </p:txBody>
      </p:sp>
      <p:sp>
        <p:nvSpPr>
          <p:cNvPr id="43" name="shape-756"/>
          <p:cNvSpPr/>
          <p:nvPr/>
        </p:nvSpPr>
        <p:spPr>
          <a:xfrm>
            <a:off x="8198338" y="2207618"/>
            <a:ext cx="308708" cy="2427882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44" name="text-757"/>
          <p:cNvSpPr txBox="1"/>
          <p:nvPr/>
        </p:nvSpPr>
        <p:spPr>
          <a:xfrm>
            <a:off x="8198338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</a:t>
            </a:r>
            <a:endParaRPr lang="en-US" sz="900" dirty="0"/>
          </a:p>
        </p:txBody>
      </p:sp>
      <p:sp>
        <p:nvSpPr>
          <p:cNvPr id="45" name="shape-758"/>
          <p:cNvSpPr/>
          <p:nvPr/>
        </p:nvSpPr>
        <p:spPr>
          <a:xfrm>
            <a:off x="8608646" y="2299198"/>
            <a:ext cx="308708" cy="2336302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46" name="text-759"/>
          <p:cNvSpPr txBox="1"/>
          <p:nvPr/>
        </p:nvSpPr>
        <p:spPr>
          <a:xfrm>
            <a:off x="8608646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</a:t>
            </a:r>
            <a:endParaRPr lang="en-US" sz="900" dirty="0"/>
          </a:p>
        </p:txBody>
      </p:sp>
      <p:sp>
        <p:nvSpPr>
          <p:cNvPr id="47" name="shape-760"/>
          <p:cNvSpPr/>
          <p:nvPr/>
        </p:nvSpPr>
        <p:spPr>
          <a:xfrm>
            <a:off x="9018954" y="2321420"/>
            <a:ext cx="308708" cy="2314080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48" name="text-761"/>
          <p:cNvSpPr txBox="1"/>
          <p:nvPr/>
        </p:nvSpPr>
        <p:spPr>
          <a:xfrm>
            <a:off x="9018954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</a:t>
            </a:r>
            <a:endParaRPr lang="en-US" sz="900" dirty="0"/>
          </a:p>
        </p:txBody>
      </p:sp>
      <p:sp>
        <p:nvSpPr>
          <p:cNvPr id="49" name="shape-762"/>
          <p:cNvSpPr/>
          <p:nvPr/>
        </p:nvSpPr>
        <p:spPr>
          <a:xfrm>
            <a:off x="9429262" y="2559124"/>
            <a:ext cx="308708" cy="2076376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50" name="text-763"/>
          <p:cNvSpPr txBox="1"/>
          <p:nvPr/>
        </p:nvSpPr>
        <p:spPr>
          <a:xfrm>
            <a:off x="9429262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</a:t>
            </a:r>
            <a:endParaRPr lang="en-US" sz="900" dirty="0"/>
          </a:p>
        </p:txBody>
      </p:sp>
      <p:sp>
        <p:nvSpPr>
          <p:cNvPr id="51" name="shape-764"/>
          <p:cNvSpPr/>
          <p:nvPr/>
        </p:nvSpPr>
        <p:spPr>
          <a:xfrm>
            <a:off x="9839569" y="2517038"/>
            <a:ext cx="308708" cy="2118462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52" name="text-765"/>
          <p:cNvSpPr txBox="1"/>
          <p:nvPr/>
        </p:nvSpPr>
        <p:spPr>
          <a:xfrm>
            <a:off x="9839569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</a:t>
            </a:r>
            <a:endParaRPr lang="en-US" sz="900" dirty="0"/>
          </a:p>
        </p:txBody>
      </p:sp>
      <p:sp>
        <p:nvSpPr>
          <p:cNvPr id="53" name="shape-766"/>
          <p:cNvSpPr/>
          <p:nvPr/>
        </p:nvSpPr>
        <p:spPr>
          <a:xfrm>
            <a:off x="10249877" y="2442966"/>
            <a:ext cx="308708" cy="2192534"/>
          </a:xfrm>
          <a:prstGeom prst="roundRect">
            <a:avLst>
              <a:gd name="adj" fmla="val 12342"/>
            </a:avLst>
          </a:prstGeom>
          <a:solidFill>
            <a:srgbClr val="328EF9"/>
          </a:solidFill>
          <a:ln/>
        </p:spPr>
      </p:sp>
      <p:sp>
        <p:nvSpPr>
          <p:cNvPr id="54" name="text-767"/>
          <p:cNvSpPr txBox="1"/>
          <p:nvPr/>
        </p:nvSpPr>
        <p:spPr>
          <a:xfrm>
            <a:off x="10249877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</a:t>
            </a:r>
            <a:endParaRPr lang="en-US" sz="900" dirty="0"/>
          </a:p>
        </p:txBody>
      </p:sp>
      <p:sp>
        <p:nvSpPr>
          <p:cNvPr id="55" name="shape-768"/>
          <p:cNvSpPr/>
          <p:nvPr/>
        </p:nvSpPr>
        <p:spPr>
          <a:xfrm>
            <a:off x="10660185" y="4610100"/>
            <a:ext cx="308708" cy="25400"/>
          </a:xfrm>
          <a:prstGeom prst="roundRect">
            <a:avLst>
              <a:gd name="adj" fmla="val 50000"/>
            </a:avLst>
          </a:prstGeom>
          <a:solidFill>
            <a:srgbClr val="D3263A"/>
          </a:solidFill>
          <a:ln/>
        </p:spPr>
      </p:sp>
      <p:sp>
        <p:nvSpPr>
          <p:cNvPr id="56" name="text-769"/>
          <p:cNvSpPr txBox="1"/>
          <p:nvPr/>
        </p:nvSpPr>
        <p:spPr>
          <a:xfrm>
            <a:off x="10660185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</a:t>
            </a:r>
            <a:endParaRPr lang="en-US" sz="900" dirty="0"/>
          </a:p>
        </p:txBody>
      </p:sp>
      <p:sp>
        <p:nvSpPr>
          <p:cNvPr id="57" name="shape-770"/>
          <p:cNvSpPr/>
          <p:nvPr/>
        </p:nvSpPr>
        <p:spPr>
          <a:xfrm>
            <a:off x="11070492" y="4610100"/>
            <a:ext cx="308708" cy="25400"/>
          </a:xfrm>
          <a:prstGeom prst="roundRect">
            <a:avLst>
              <a:gd name="adj" fmla="val 50000"/>
            </a:avLst>
          </a:prstGeom>
          <a:solidFill>
            <a:srgbClr val="D3263A"/>
          </a:solidFill>
          <a:ln/>
        </p:spPr>
      </p:sp>
      <p:sp>
        <p:nvSpPr>
          <p:cNvPr id="58" name="text-771"/>
          <p:cNvSpPr txBox="1"/>
          <p:nvPr/>
        </p:nvSpPr>
        <p:spPr>
          <a:xfrm>
            <a:off x="11070492" y="4699000"/>
            <a:ext cx="30870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</a:t>
            </a:r>
            <a:endParaRPr lang="en-US" sz="900" dirty="0"/>
          </a:p>
        </p:txBody>
      </p:sp>
      <p:sp>
        <p:nvSpPr>
          <p:cNvPr id="59" name="shape-772"/>
          <p:cNvSpPr/>
          <p:nvPr/>
        </p:nvSpPr>
        <p:spPr>
          <a:xfrm>
            <a:off x="1508369" y="4165600"/>
            <a:ext cx="558800" cy="558800"/>
          </a:xfrm>
          <a:prstGeom prst="ellipse">
            <a:avLst/>
          </a:prstGeom>
          <a:ln w="38100">
            <a:solidFill>
              <a:srgbClr val="D3263A"/>
            </a:solidFill>
            <a:prstDash val="dash"/>
          </a:ln>
        </p:spPr>
      </p:sp>
      <p:sp>
        <p:nvSpPr>
          <p:cNvPr id="60" name="shape-773"/>
          <p:cNvSpPr/>
          <p:nvPr/>
        </p:nvSpPr>
        <p:spPr>
          <a:xfrm>
            <a:off x="2232269" y="2540000"/>
            <a:ext cx="2984500" cy="635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E2E2E7"/>
            </a:solidFill>
            <a:prstDash val="solid"/>
          </a:ln>
          <a:effectLst>
            <a:outerShdw blurRad="228600" dist="762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1" name="text-774"/>
          <p:cNvSpPr txBox="1"/>
          <p:nvPr/>
        </p:nvSpPr>
        <p:spPr>
          <a:xfrm>
            <a:off x="2397369" y="2590800"/>
            <a:ext cx="203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заказов</a:t>
            </a:r>
            <a:endParaRPr lang="en-US" sz="2000" dirty="0"/>
          </a:p>
        </p:txBody>
      </p:sp>
      <p:sp>
        <p:nvSpPr>
          <p:cNvPr id="62" name="text-775"/>
          <p:cNvSpPr txBox="1"/>
          <p:nvPr/>
        </p:nvSpPr>
        <p:spPr>
          <a:xfrm>
            <a:off x="2397369" y="2921000"/>
            <a:ext cx="273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ноябрь 2016 молча выпадет из отчёта</a:t>
            </a:r>
            <a:endParaRPr lang="en-US" sz="950" dirty="0"/>
          </a:p>
        </p:txBody>
      </p:sp>
      <p:sp>
        <p:nvSpPr>
          <p:cNvPr id="63" name="line-776"/>
          <p:cNvSpPr/>
          <p:nvPr/>
        </p:nvSpPr>
        <p:spPr>
          <a:xfrm>
            <a:off x="762000" y="5207000"/>
            <a:ext cx="10668000" cy="0"/>
          </a:xfrm>
          <a:prstGeom prst="line">
            <a:avLst/>
          </a:prstGeom>
          <a:noFill/>
          <a:ln w="19050">
            <a:solidFill>
              <a:srgbClr val="E2E2E7"/>
            </a:solidFill>
            <a:prstDash val="solid"/>
          </a:ln>
        </p:spPr>
      </p:sp>
      <p:sp>
        <p:nvSpPr>
          <p:cNvPr id="64" name="text-777"/>
          <p:cNvSpPr txBox="1"/>
          <p:nvPr/>
        </p:nvSpPr>
        <p:spPr>
          <a:xfrm>
            <a:off x="762000" y="5270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610</a:t>
            </a:r>
            <a:endParaRPr lang="en-US" sz="2800" dirty="0"/>
          </a:p>
        </p:txBody>
      </p:sp>
      <p:sp>
        <p:nvSpPr>
          <p:cNvPr id="65" name="text-778"/>
          <p:cNvSpPr txBox="1"/>
          <p:nvPr/>
        </p:nvSpPr>
        <p:spPr>
          <a:xfrm>
            <a:off x="762000" y="57531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товаров без категории</a:t>
            </a:r>
            <a:endParaRPr lang="en-US" sz="1000" dirty="0"/>
          </a:p>
        </p:txBody>
      </p:sp>
      <p:sp>
        <p:nvSpPr>
          <p:cNvPr id="66" name="text-779"/>
          <p:cNvSpPr txBox="1"/>
          <p:nvPr/>
        </p:nvSpPr>
        <p:spPr>
          <a:xfrm>
            <a:off x="3492500" y="5270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775</a:t>
            </a:r>
            <a:endParaRPr lang="en-US" sz="2800" dirty="0"/>
          </a:p>
        </p:txBody>
      </p:sp>
      <p:sp>
        <p:nvSpPr>
          <p:cNvPr id="67" name="text-780"/>
          <p:cNvSpPr txBox="1"/>
          <p:nvPr/>
        </p:nvSpPr>
        <p:spPr>
          <a:xfrm>
            <a:off x="3492500" y="57531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заказов без позиций: unavailable и canceled</a:t>
            </a:r>
            <a:endParaRPr lang="en-US" sz="1000" dirty="0"/>
          </a:p>
        </p:txBody>
      </p:sp>
      <p:sp>
        <p:nvSpPr>
          <p:cNvPr id="68" name="text-781"/>
          <p:cNvSpPr txBox="1"/>
          <p:nvPr/>
        </p:nvSpPr>
        <p:spPr>
          <a:xfrm>
            <a:off x="6223000" y="5270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170 726,63</a:t>
            </a:r>
            <a:endParaRPr lang="en-US" sz="2800" dirty="0"/>
          </a:p>
        </p:txBody>
      </p:sp>
      <p:sp>
        <p:nvSpPr>
          <p:cNvPr id="69" name="text-782"/>
          <p:cNvSpPr txBox="1"/>
          <p:nvPr/>
        </p:nvSpPr>
        <p:spPr>
          <a:xfrm>
            <a:off x="6223000" y="57531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выручки на товарах без категории</a:t>
            </a:r>
            <a:endParaRPr lang="en-US" sz="1000" dirty="0"/>
          </a:p>
        </p:txBody>
      </p:sp>
      <p:sp>
        <p:nvSpPr>
          <p:cNvPr id="70" name="text-783"/>
          <p:cNvSpPr txBox="1"/>
          <p:nvPr/>
        </p:nvSpPr>
        <p:spPr>
          <a:xfrm>
            <a:off x="8953500" y="5270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 ≠ 71</a:t>
            </a:r>
            <a:endParaRPr lang="en-US" sz="2800" dirty="0"/>
          </a:p>
        </p:txBody>
      </p:sp>
      <p:sp>
        <p:nvSpPr>
          <p:cNvPr id="71" name="text-784"/>
          <p:cNvSpPr txBox="1"/>
          <p:nvPr/>
        </p:nvSpPr>
        <p:spPr>
          <a:xfrm>
            <a:off x="8953500" y="57531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категорий в товарах и в переводах</a:t>
            </a:r>
            <a:endParaRPr lang="en-US" sz="10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95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9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75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5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84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845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1025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02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111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11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120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1205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1385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1385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1475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1475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24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24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24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24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7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entr" presetSubtype="0" fill="hold" grpId="0" nodeType="withEffect">
                                  <p:stCondLst>
                                    <p:cond delay="205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1" dur="35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219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35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6" presetClass="emph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Scale>
                                      <p:cBhvr>
                                        <p:cTn id="230" dur="800" repeatCount="indefinite" accel="50000" decel="5000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233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4" dur="350" decel="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239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entr" presetSubtype="0" fill="hold" grpId="0" nodeType="withEffect">
                                  <p:stCondLst>
                                    <p:cond delay="247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1" dur="350" decel="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267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59" grpId="1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785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Хронология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 грязь</a:t>
            </a:r>
            <a:endParaRPr lang="en-US" sz="3400" dirty="0"/>
          </a:p>
        </p:txBody>
      </p:sp>
      <p:sp>
        <p:nvSpPr>
          <p:cNvPr id="4" name="shape-786"/>
          <p:cNvSpPr/>
          <p:nvPr/>
        </p:nvSpPr>
        <p:spPr>
          <a:xfrm>
            <a:off x="762000" y="2095500"/>
            <a:ext cx="2253226" cy="2603500"/>
          </a:xfrm>
          <a:prstGeom prst="roundRect">
            <a:avLst>
              <a:gd name="adj" fmla="val 5073"/>
            </a:avLst>
          </a:prstGeom>
          <a:solidFill>
            <a:srgbClr val="FBE9EB"/>
          </a:solidFill>
          <a:ln/>
        </p:spPr>
      </p:sp>
      <p:sp>
        <p:nvSpPr>
          <p:cNvPr id="5" name="shape-787"/>
          <p:cNvSpPr/>
          <p:nvPr/>
        </p:nvSpPr>
        <p:spPr>
          <a:xfrm>
            <a:off x="781050" y="4658278"/>
            <a:ext cx="187223" cy="40722"/>
          </a:xfrm>
          <a:prstGeom prst="roundRect">
            <a:avLst>
              <a:gd name="adj" fmla="val 50000"/>
            </a:avLst>
          </a:prstGeom>
          <a:solidFill>
            <a:srgbClr val="D3263A"/>
          </a:solidFill>
          <a:ln/>
        </p:spPr>
      </p:sp>
      <p:sp>
        <p:nvSpPr>
          <p:cNvPr id="6" name="shape-788"/>
          <p:cNvSpPr/>
          <p:nvPr/>
        </p:nvSpPr>
        <p:spPr>
          <a:xfrm>
            <a:off x="1006373" y="4670205"/>
            <a:ext cx="187223" cy="28795"/>
          </a:xfrm>
          <a:prstGeom prst="roundRect">
            <a:avLst>
              <a:gd name="adj" fmla="val 49999"/>
            </a:avLst>
          </a:prstGeom>
          <a:solidFill>
            <a:srgbClr val="D3263A"/>
          </a:solidFill>
          <a:ln/>
        </p:spPr>
      </p:sp>
      <p:sp>
        <p:nvSpPr>
          <p:cNvPr id="7" name="shape-789"/>
          <p:cNvSpPr/>
          <p:nvPr/>
        </p:nvSpPr>
        <p:spPr>
          <a:xfrm>
            <a:off x="1231695" y="4673600"/>
            <a:ext cx="187223" cy="25400"/>
          </a:xfrm>
          <a:prstGeom prst="roundRect">
            <a:avLst>
              <a:gd name="adj" fmla="val 50000"/>
            </a:avLst>
          </a:prstGeom>
          <a:solidFill>
            <a:srgbClr val="D3263A"/>
          </a:solidFill>
          <a:ln/>
        </p:spPr>
      </p:sp>
      <p:sp>
        <p:nvSpPr>
          <p:cNvPr id="8" name="shape-790"/>
          <p:cNvSpPr/>
          <p:nvPr/>
        </p:nvSpPr>
        <p:spPr>
          <a:xfrm>
            <a:off x="1457018" y="4660908"/>
            <a:ext cx="187223" cy="38092"/>
          </a:xfrm>
          <a:prstGeom prst="roundRect">
            <a:avLst>
              <a:gd name="adj" fmla="val 50000"/>
            </a:avLst>
          </a:prstGeom>
          <a:solidFill>
            <a:srgbClr val="D3263A"/>
          </a:solidFill>
          <a:ln/>
        </p:spPr>
      </p:sp>
      <p:sp>
        <p:nvSpPr>
          <p:cNvPr id="9" name="shape-791"/>
          <p:cNvSpPr/>
          <p:nvPr/>
        </p:nvSpPr>
        <p:spPr>
          <a:xfrm>
            <a:off x="1682340" y="4658278"/>
            <a:ext cx="187223" cy="40722"/>
          </a:xfrm>
          <a:prstGeom prst="roundRect">
            <a:avLst>
              <a:gd name="adj" fmla="val 50000"/>
            </a:avLst>
          </a:prstGeom>
          <a:solidFill>
            <a:srgbClr val="D3263A"/>
          </a:solidFill>
          <a:ln/>
        </p:spPr>
      </p:sp>
      <p:sp>
        <p:nvSpPr>
          <p:cNvPr id="10" name="shape-792"/>
          <p:cNvSpPr/>
          <p:nvPr/>
        </p:nvSpPr>
        <p:spPr>
          <a:xfrm>
            <a:off x="1907663" y="4625588"/>
            <a:ext cx="187223" cy="73412"/>
          </a:xfrm>
          <a:prstGeom prst="roundRect">
            <a:avLst>
              <a:gd name="adj" fmla="val 34599"/>
            </a:avLst>
          </a:prstGeom>
          <a:solidFill>
            <a:srgbClr val="D3263A"/>
          </a:solidFill>
          <a:ln/>
        </p:spPr>
      </p:sp>
      <p:sp>
        <p:nvSpPr>
          <p:cNvPr id="11" name="shape-793"/>
          <p:cNvSpPr/>
          <p:nvPr/>
        </p:nvSpPr>
        <p:spPr>
          <a:xfrm>
            <a:off x="2132985" y="4607943"/>
            <a:ext cx="187223" cy="91057"/>
          </a:xfrm>
          <a:prstGeom prst="roundRect">
            <a:avLst>
              <a:gd name="adj" fmla="val 27895"/>
            </a:avLst>
          </a:prstGeom>
          <a:solidFill>
            <a:srgbClr val="D3263A"/>
          </a:solidFill>
          <a:ln/>
        </p:spPr>
      </p:sp>
      <p:sp>
        <p:nvSpPr>
          <p:cNvPr id="12" name="shape-794"/>
          <p:cNvSpPr/>
          <p:nvPr/>
        </p:nvSpPr>
        <p:spPr>
          <a:xfrm>
            <a:off x="2358308" y="4567834"/>
            <a:ext cx="187223" cy="131166"/>
          </a:xfrm>
          <a:prstGeom prst="roundRect">
            <a:avLst>
              <a:gd name="adj" fmla="val 19365"/>
            </a:avLst>
          </a:prstGeom>
          <a:solidFill>
            <a:srgbClr val="D3263A"/>
          </a:solidFill>
          <a:ln/>
        </p:spPr>
      </p:sp>
      <p:sp>
        <p:nvSpPr>
          <p:cNvPr id="13" name="shape-795"/>
          <p:cNvSpPr/>
          <p:nvPr/>
        </p:nvSpPr>
        <p:spPr>
          <a:xfrm>
            <a:off x="2583631" y="4458087"/>
            <a:ext cx="187223" cy="240913"/>
          </a:xfrm>
          <a:prstGeom prst="roundRect">
            <a:avLst>
              <a:gd name="adj" fmla="val 13567"/>
            </a:avLst>
          </a:prstGeom>
          <a:solidFill>
            <a:srgbClr val="D3263A"/>
          </a:solidFill>
          <a:ln/>
        </p:spPr>
      </p:sp>
      <p:sp>
        <p:nvSpPr>
          <p:cNvPr id="14" name="shape-796"/>
          <p:cNvSpPr/>
          <p:nvPr/>
        </p:nvSpPr>
        <p:spPr>
          <a:xfrm>
            <a:off x="2808953" y="4266841"/>
            <a:ext cx="187223" cy="432159"/>
          </a:xfrm>
          <a:prstGeom prst="roundRect">
            <a:avLst>
              <a:gd name="adj" fmla="val 13567"/>
            </a:avLst>
          </a:prstGeom>
          <a:solidFill>
            <a:srgbClr val="D3263A"/>
          </a:solidFill>
          <a:ln/>
        </p:spPr>
      </p:sp>
      <p:sp>
        <p:nvSpPr>
          <p:cNvPr id="15" name="shape-797"/>
          <p:cNvSpPr/>
          <p:nvPr/>
        </p:nvSpPr>
        <p:spPr>
          <a:xfrm>
            <a:off x="3034276" y="2286000"/>
            <a:ext cx="187223" cy="2413000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16" name="shape-798"/>
          <p:cNvSpPr/>
          <p:nvPr/>
        </p:nvSpPr>
        <p:spPr>
          <a:xfrm>
            <a:off x="3259598" y="2510324"/>
            <a:ext cx="187223" cy="2188676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17" name="shape-799"/>
          <p:cNvSpPr/>
          <p:nvPr/>
        </p:nvSpPr>
        <p:spPr>
          <a:xfrm>
            <a:off x="3484921" y="2976309"/>
            <a:ext cx="187223" cy="1722691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18" name="shape-800"/>
          <p:cNvSpPr/>
          <p:nvPr/>
        </p:nvSpPr>
        <p:spPr>
          <a:xfrm>
            <a:off x="3710244" y="3243945"/>
            <a:ext cx="187223" cy="1455055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19" name="shape-801"/>
          <p:cNvSpPr/>
          <p:nvPr/>
        </p:nvSpPr>
        <p:spPr>
          <a:xfrm>
            <a:off x="3935566" y="3549557"/>
            <a:ext cx="187223" cy="1149443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20" name="shape-802"/>
          <p:cNvSpPr/>
          <p:nvPr/>
        </p:nvSpPr>
        <p:spPr>
          <a:xfrm>
            <a:off x="4160889" y="3740848"/>
            <a:ext cx="187223" cy="958152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21" name="shape-803"/>
          <p:cNvSpPr/>
          <p:nvPr/>
        </p:nvSpPr>
        <p:spPr>
          <a:xfrm>
            <a:off x="4386211" y="3897650"/>
            <a:ext cx="187223" cy="801350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22" name="shape-804"/>
          <p:cNvSpPr/>
          <p:nvPr/>
        </p:nvSpPr>
        <p:spPr>
          <a:xfrm>
            <a:off x="4611534" y="4118447"/>
            <a:ext cx="187223" cy="580553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23" name="shape-805"/>
          <p:cNvSpPr/>
          <p:nvPr/>
        </p:nvSpPr>
        <p:spPr>
          <a:xfrm>
            <a:off x="4836856" y="4264449"/>
            <a:ext cx="187223" cy="434551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24" name="shape-806"/>
          <p:cNvSpPr/>
          <p:nvPr/>
        </p:nvSpPr>
        <p:spPr>
          <a:xfrm>
            <a:off x="5062179" y="4320540"/>
            <a:ext cx="187223" cy="378460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25" name="shape-807"/>
          <p:cNvSpPr/>
          <p:nvPr/>
        </p:nvSpPr>
        <p:spPr>
          <a:xfrm>
            <a:off x="5287502" y="4343121"/>
            <a:ext cx="187223" cy="355879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26" name="shape-808"/>
          <p:cNvSpPr/>
          <p:nvPr/>
        </p:nvSpPr>
        <p:spPr>
          <a:xfrm>
            <a:off x="5512824" y="4400798"/>
            <a:ext cx="187223" cy="298202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27" name="shape-809"/>
          <p:cNvSpPr/>
          <p:nvPr/>
        </p:nvSpPr>
        <p:spPr>
          <a:xfrm>
            <a:off x="5738147" y="4423940"/>
            <a:ext cx="187223" cy="275060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28" name="shape-810"/>
          <p:cNvSpPr/>
          <p:nvPr/>
        </p:nvSpPr>
        <p:spPr>
          <a:xfrm>
            <a:off x="5963469" y="4417239"/>
            <a:ext cx="187223" cy="281761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29" name="shape-811"/>
          <p:cNvSpPr/>
          <p:nvPr/>
        </p:nvSpPr>
        <p:spPr>
          <a:xfrm>
            <a:off x="6188792" y="4450464"/>
            <a:ext cx="187223" cy="248536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30" name="shape-812"/>
          <p:cNvSpPr/>
          <p:nvPr/>
        </p:nvSpPr>
        <p:spPr>
          <a:xfrm>
            <a:off x="6414115" y="4501594"/>
            <a:ext cx="187223" cy="197406"/>
          </a:xfrm>
          <a:prstGeom prst="roundRect">
            <a:avLst>
              <a:gd name="adj" fmla="val 13567"/>
            </a:avLst>
          </a:prstGeom>
          <a:solidFill>
            <a:srgbClr val="328EF9"/>
          </a:solidFill>
          <a:ln/>
        </p:spPr>
      </p:sp>
      <p:sp>
        <p:nvSpPr>
          <p:cNvPr id="31" name="shape-813"/>
          <p:cNvSpPr/>
          <p:nvPr/>
        </p:nvSpPr>
        <p:spPr>
          <a:xfrm>
            <a:off x="6639437" y="4520334"/>
            <a:ext cx="187223" cy="178666"/>
          </a:xfrm>
          <a:prstGeom prst="roundRect">
            <a:avLst>
              <a:gd name="adj" fmla="val 14216"/>
            </a:avLst>
          </a:prstGeom>
          <a:solidFill>
            <a:srgbClr val="328EF9"/>
          </a:solidFill>
          <a:ln/>
        </p:spPr>
      </p:sp>
      <p:sp>
        <p:nvSpPr>
          <p:cNvPr id="32" name="shape-814"/>
          <p:cNvSpPr/>
          <p:nvPr/>
        </p:nvSpPr>
        <p:spPr>
          <a:xfrm>
            <a:off x="6864760" y="4523258"/>
            <a:ext cx="187223" cy="175742"/>
          </a:xfrm>
          <a:prstGeom prst="roundRect">
            <a:avLst>
              <a:gd name="adj" fmla="val 14453"/>
            </a:avLst>
          </a:prstGeom>
          <a:solidFill>
            <a:srgbClr val="328EF9"/>
          </a:solidFill>
          <a:ln/>
        </p:spPr>
      </p:sp>
      <p:sp>
        <p:nvSpPr>
          <p:cNvPr id="33" name="shape-815"/>
          <p:cNvSpPr/>
          <p:nvPr/>
        </p:nvSpPr>
        <p:spPr>
          <a:xfrm>
            <a:off x="7090082" y="4552176"/>
            <a:ext cx="187223" cy="146824"/>
          </a:xfrm>
          <a:prstGeom prst="roundRect">
            <a:avLst>
              <a:gd name="adj" fmla="val 17300"/>
            </a:avLst>
          </a:prstGeom>
          <a:solidFill>
            <a:srgbClr val="328EF9"/>
          </a:solidFill>
          <a:ln/>
        </p:spPr>
      </p:sp>
      <p:sp>
        <p:nvSpPr>
          <p:cNvPr id="34" name="shape-816"/>
          <p:cNvSpPr/>
          <p:nvPr/>
        </p:nvSpPr>
        <p:spPr>
          <a:xfrm>
            <a:off x="7315405" y="4550073"/>
            <a:ext cx="187223" cy="148927"/>
          </a:xfrm>
          <a:prstGeom prst="roundRect">
            <a:avLst>
              <a:gd name="adj" fmla="val 17055"/>
            </a:avLst>
          </a:prstGeom>
          <a:solidFill>
            <a:srgbClr val="328EF9"/>
          </a:solidFill>
          <a:ln/>
        </p:spPr>
      </p:sp>
      <p:sp>
        <p:nvSpPr>
          <p:cNvPr id="35" name="shape-817"/>
          <p:cNvSpPr/>
          <p:nvPr/>
        </p:nvSpPr>
        <p:spPr>
          <a:xfrm>
            <a:off x="7540727" y="4552883"/>
            <a:ext cx="187223" cy="146117"/>
          </a:xfrm>
          <a:prstGeom prst="roundRect">
            <a:avLst>
              <a:gd name="adj" fmla="val 17383"/>
            </a:avLst>
          </a:prstGeom>
          <a:solidFill>
            <a:srgbClr val="328EF9"/>
          </a:solidFill>
          <a:ln/>
        </p:spPr>
      </p:sp>
      <p:sp>
        <p:nvSpPr>
          <p:cNvPr id="36" name="line-818"/>
          <p:cNvSpPr/>
          <p:nvPr/>
        </p:nvSpPr>
        <p:spPr>
          <a:xfrm>
            <a:off x="762000" y="4699000"/>
            <a:ext cx="6985000" cy="0"/>
          </a:xfrm>
          <a:prstGeom prst="line">
            <a:avLst/>
          </a:prstGeom>
          <a:noFill/>
          <a:ln w="19050">
            <a:solidFill>
              <a:srgbClr val="C9C9D1"/>
            </a:solidFill>
            <a:prstDash val="solid"/>
          </a:ln>
        </p:spPr>
      </p:sp>
      <p:sp>
        <p:nvSpPr>
          <p:cNvPr id="37" name="line-819"/>
          <p:cNvSpPr/>
          <p:nvPr/>
        </p:nvSpPr>
        <p:spPr>
          <a:xfrm>
            <a:off x="3015226" y="2032000"/>
            <a:ext cx="0" cy="2730500"/>
          </a:xfrm>
          <a:prstGeom prst="line">
            <a:avLst/>
          </a:prstGeom>
          <a:noFill/>
          <a:ln w="31750">
            <a:solidFill>
              <a:srgbClr val="D3263A"/>
            </a:solidFill>
            <a:prstDash val="dash"/>
          </a:ln>
        </p:spPr>
      </p:sp>
      <p:sp>
        <p:nvSpPr>
          <p:cNvPr id="38" name="text-820"/>
          <p:cNvSpPr txBox="1"/>
          <p:nvPr/>
        </p:nvSpPr>
        <p:spPr>
          <a:xfrm>
            <a:off x="1364226" y="4800600"/>
            <a:ext cx="158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раньше оплаты</a:t>
            </a:r>
            <a:endParaRPr lang="en-US" sz="950" dirty="0"/>
          </a:p>
        </p:txBody>
      </p:sp>
      <p:sp>
        <p:nvSpPr>
          <p:cNvPr id="39" name="text-821"/>
          <p:cNvSpPr txBox="1"/>
          <p:nvPr/>
        </p:nvSpPr>
        <p:spPr>
          <a:xfrm>
            <a:off x="3091426" y="48006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дни от оплаты до отгрузки</a:t>
            </a:r>
            <a:endParaRPr lang="en-US" sz="950" dirty="0"/>
          </a:p>
        </p:txBody>
      </p:sp>
      <p:sp>
        <p:nvSpPr>
          <p:cNvPr id="40" name="shape-822"/>
          <p:cNvSpPr/>
          <p:nvPr/>
        </p:nvSpPr>
        <p:spPr>
          <a:xfrm>
            <a:off x="920750" y="2247900"/>
            <a:ext cx="1841500" cy="6985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E2E2E7"/>
            </a:solidFill>
            <a:prstDash val="solid"/>
          </a:ln>
          <a:effectLst>
            <a:outerShdw blurRad="228600" dist="762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text-823"/>
          <p:cNvSpPr txBox="1"/>
          <p:nvPr/>
        </p:nvSpPr>
        <p:spPr>
          <a:xfrm>
            <a:off x="1066800" y="2298700"/>
            <a:ext cx="1587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1 359</a:t>
            </a:r>
            <a:endParaRPr lang="en-US" sz="2100" dirty="0"/>
          </a:p>
        </p:txBody>
      </p:sp>
      <p:sp>
        <p:nvSpPr>
          <p:cNvPr id="42" name="text-824"/>
          <p:cNvSpPr txBox="1"/>
          <p:nvPr/>
        </p:nvSpPr>
        <p:spPr>
          <a:xfrm>
            <a:off x="1066800" y="2641600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отгружены раньше оплаты</a:t>
            </a:r>
            <a:endParaRPr lang="en-US" sz="950" dirty="0"/>
          </a:p>
        </p:txBody>
      </p:sp>
      <p:sp>
        <p:nvSpPr>
          <p:cNvPr id="43" name="text-825"/>
          <p:cNvSpPr txBox="1"/>
          <p:nvPr/>
        </p:nvSpPr>
        <p:spPr>
          <a:xfrm>
            <a:off x="8255000" y="17780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2600" dirty="0"/>
          </a:p>
        </p:txBody>
      </p:sp>
      <p:sp>
        <p:nvSpPr>
          <p:cNvPr id="44" name="text-826"/>
          <p:cNvSpPr txBox="1"/>
          <p:nvPr/>
        </p:nvSpPr>
        <p:spPr>
          <a:xfrm>
            <a:off x="8255000" y="21971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вручены раньше отгрузки</a:t>
            </a:r>
            <a:endParaRPr lang="en-US" sz="1000" dirty="0"/>
          </a:p>
        </p:txBody>
      </p:sp>
      <p:sp>
        <p:nvSpPr>
          <p:cNvPr id="45" name="text-827"/>
          <p:cNvSpPr txBox="1"/>
          <p:nvPr/>
        </p:nvSpPr>
        <p:spPr>
          <a:xfrm>
            <a:off x="8255000" y="250825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600" dirty="0"/>
          </a:p>
        </p:txBody>
      </p:sp>
      <p:sp>
        <p:nvSpPr>
          <p:cNvPr id="46" name="text-828"/>
          <p:cNvSpPr txBox="1"/>
          <p:nvPr/>
        </p:nvSpPr>
        <p:spPr>
          <a:xfrm>
            <a:off x="8255000" y="292735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отменённых с датой вручения</a:t>
            </a:r>
            <a:endParaRPr lang="en-US" sz="1000" dirty="0"/>
          </a:p>
        </p:txBody>
      </p:sp>
      <p:sp>
        <p:nvSpPr>
          <p:cNvPr id="47" name="text-829"/>
          <p:cNvSpPr txBox="1"/>
          <p:nvPr/>
        </p:nvSpPr>
        <p:spPr>
          <a:xfrm>
            <a:off x="8255000" y="32385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1 139</a:t>
            </a:r>
            <a:endParaRPr lang="en-US" sz="2600" dirty="0"/>
          </a:p>
        </p:txBody>
      </p:sp>
      <p:sp>
        <p:nvSpPr>
          <p:cNvPr id="48" name="text-830"/>
          <p:cNvSpPr txBox="1"/>
          <p:nvPr/>
        </p:nvSpPr>
        <p:spPr>
          <a:xfrm>
            <a:off x="8255000" y="36576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заказов: платежи не бьются с позициями</a:t>
            </a:r>
            <a:endParaRPr lang="en-US" sz="1000" dirty="0"/>
          </a:p>
        </p:txBody>
      </p:sp>
      <p:sp>
        <p:nvSpPr>
          <p:cNvPr id="49" name="shape-831"/>
          <p:cNvSpPr/>
          <p:nvPr/>
        </p:nvSpPr>
        <p:spPr>
          <a:xfrm>
            <a:off x="8255000" y="4064000"/>
            <a:ext cx="1149350" cy="254000"/>
          </a:xfrm>
          <a:prstGeom prst="roundRect">
            <a:avLst>
              <a:gd name="adj" fmla="val 50000"/>
            </a:avLst>
          </a:prstGeom>
          <a:solidFill>
            <a:srgbClr val="F1F1F3"/>
          </a:solidFill>
          <a:ln/>
        </p:spPr>
      </p:sp>
      <p:sp>
        <p:nvSpPr>
          <p:cNvPr id="50" name="text-832"/>
          <p:cNvSpPr txBox="1"/>
          <p:nvPr/>
        </p:nvSpPr>
        <p:spPr>
          <a:xfrm>
            <a:off x="8255000" y="4064000"/>
            <a:ext cx="1149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auriflama/sp</a:t>
            </a:r>
            <a:endParaRPr lang="en-US" sz="950" dirty="0"/>
          </a:p>
        </p:txBody>
      </p:sp>
      <p:sp>
        <p:nvSpPr>
          <p:cNvPr id="51" name="shape-833"/>
          <p:cNvSpPr/>
          <p:nvPr/>
        </p:nvSpPr>
        <p:spPr>
          <a:xfrm>
            <a:off x="8255000" y="4368800"/>
            <a:ext cx="2520950" cy="254000"/>
          </a:xfrm>
          <a:prstGeom prst="roundRect">
            <a:avLst>
              <a:gd name="adj" fmla="val 50000"/>
            </a:avLst>
          </a:prstGeom>
          <a:solidFill>
            <a:srgbClr val="F1F1F3"/>
          </a:solidFill>
          <a:ln/>
        </p:spPr>
      </p:sp>
      <p:sp>
        <p:nvSpPr>
          <p:cNvPr id="52" name="text-834"/>
          <p:cNvSpPr txBox="1"/>
          <p:nvPr/>
        </p:nvSpPr>
        <p:spPr>
          <a:xfrm>
            <a:off x="8255000" y="4368800"/>
            <a:ext cx="25209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rio de janeiro \ rio de janeiro</a:t>
            </a:r>
            <a:endParaRPr lang="en-US" sz="950" dirty="0"/>
          </a:p>
        </p:txBody>
      </p:sp>
      <p:sp>
        <p:nvSpPr>
          <p:cNvPr id="53" name="shape-835"/>
          <p:cNvSpPr/>
          <p:nvPr/>
        </p:nvSpPr>
        <p:spPr>
          <a:xfrm>
            <a:off x="8255000" y="4673600"/>
            <a:ext cx="857250" cy="254000"/>
          </a:xfrm>
          <a:prstGeom prst="roundRect">
            <a:avLst>
              <a:gd name="adj" fmla="val 50000"/>
            </a:avLst>
          </a:prstGeom>
          <a:solidFill>
            <a:srgbClr val="FBE9EB"/>
          </a:solidFill>
          <a:ln/>
        </p:spPr>
      </p:sp>
      <p:sp>
        <p:nvSpPr>
          <p:cNvPr id="54" name="text-836"/>
          <p:cNvSpPr txBox="1"/>
          <p:nvPr/>
        </p:nvSpPr>
        <p:spPr>
          <a:xfrm>
            <a:off x="8255000" y="4673600"/>
            <a:ext cx="85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3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04482255</a:t>
            </a:r>
            <a:endParaRPr lang="en-US" sz="950" dirty="0"/>
          </a:p>
        </p:txBody>
      </p:sp>
      <p:sp>
        <p:nvSpPr>
          <p:cNvPr id="55" name="text-837"/>
          <p:cNvSpPr txBox="1"/>
          <p:nvPr/>
        </p:nvSpPr>
        <p:spPr>
          <a:xfrm>
            <a:off x="8255000" y="48768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611</a:t>
            </a:r>
            <a:endParaRPr lang="en-US" sz="2600" dirty="0"/>
          </a:p>
        </p:txBody>
      </p:sp>
      <p:sp>
        <p:nvSpPr>
          <p:cNvPr id="56" name="text-838"/>
          <p:cNvSpPr txBox="1"/>
          <p:nvPr/>
        </p:nvSpPr>
        <p:spPr>
          <a:xfrm>
            <a:off x="8255000" y="52959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написаний городов, индекс вместо города</a:t>
            </a:r>
            <a:endParaRPr lang="en-US" sz="1000" dirty="0"/>
          </a:p>
        </p:txBody>
      </p:sp>
      <p:sp>
        <p:nvSpPr>
          <p:cNvPr id="57" name="shape-839"/>
          <p:cNvSpPr/>
          <p:nvPr/>
        </p:nvSpPr>
        <p:spPr>
          <a:xfrm>
            <a:off x="762000" y="5715000"/>
            <a:ext cx="10668000" cy="508000"/>
          </a:xfrm>
          <a:prstGeom prst="roundRect">
            <a:avLst>
              <a:gd name="adj" fmla="val 32500"/>
            </a:avLst>
          </a:prstGeom>
          <a:solidFill>
            <a:srgbClr val="F0E4FF"/>
          </a:solidFill>
          <a:ln/>
        </p:spPr>
      </p:sp>
      <p:pic>
        <p:nvPicPr>
          <p:cNvPr id="58" name="pic-840" descr="W:\Projects\hacks\rwb-new\presentation\pptx\assets\ico-shield-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854700"/>
            <a:ext cx="228600" cy="228600"/>
          </a:xfrm>
          <a:prstGeom prst="rect">
            <a:avLst/>
          </a:prstGeom>
        </p:spPr>
      </p:pic>
      <p:sp>
        <p:nvSpPr>
          <p:cNvPr id="59" name="text-841"/>
          <p:cNvSpPr txBox="1"/>
          <p:nvPr/>
        </p:nvSpPr>
        <p:spPr>
          <a:xfrm>
            <a:off x="1308100" y="5715000"/>
            <a:ext cx="993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Вывод: </a:t>
            </a:r>
            <a:r>
              <a:rPr lang="en-US" sz="1200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источникам доверять нельзя. Проверки живут в модели, а не в голове аналитика.</a:t>
            </a:r>
            <a:endParaRPr lang="en-US" sz="12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4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6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68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75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89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965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35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5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146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35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2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5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35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2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5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70000">
                                          <p:val>
                                            <p:strVal val="#ppt_y-#ppt_h*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2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5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2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5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24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24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24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" presetClass="entr" presetSubtype="2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5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2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5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2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5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2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8" dur="5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35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9" dur="6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3" dur="6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7" dur="6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842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решили: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правила переноса</a:t>
            </a:r>
            <a:endParaRPr lang="en-US" sz="3400" dirty="0"/>
          </a:p>
        </p:txBody>
      </p:sp>
      <p:sp>
        <p:nvSpPr>
          <p:cNvPr id="4" name="shape-843"/>
          <p:cNvSpPr/>
          <p:nvPr/>
        </p:nvSpPr>
        <p:spPr>
          <a:xfrm>
            <a:off x="762000" y="1619250"/>
            <a:ext cx="1320800" cy="292100"/>
          </a:xfrm>
          <a:prstGeom prst="roundRect">
            <a:avLst>
              <a:gd name="adj" fmla="val 50000"/>
            </a:avLst>
          </a:prstGeom>
          <a:solidFill>
            <a:srgbClr val="F0E4FF"/>
          </a:solidFill>
          <a:ln/>
        </p:spPr>
      </p:sp>
      <p:sp>
        <p:nvSpPr>
          <p:cNvPr id="5" name="text-844"/>
          <p:cNvSpPr txBox="1"/>
          <p:nvPr/>
        </p:nvSpPr>
        <p:spPr>
          <a:xfrm>
            <a:off x="762000" y="1619250"/>
            <a:ext cx="1320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raw: всё text</a:t>
            </a:r>
            <a:endParaRPr lang="en-US" sz="1050" dirty="0"/>
          </a:p>
        </p:txBody>
      </p:sp>
      <p:sp>
        <p:nvSpPr>
          <p:cNvPr id="6" name="shape-845"/>
          <p:cNvSpPr/>
          <p:nvPr/>
        </p:nvSpPr>
        <p:spPr>
          <a:xfrm>
            <a:off x="8667750" y="1619250"/>
            <a:ext cx="2762250" cy="292100"/>
          </a:xfrm>
          <a:prstGeom prst="roundRect">
            <a:avLst>
              <a:gd name="adj" fmla="val 50000"/>
            </a:avLst>
          </a:prstGeom>
          <a:solidFill>
            <a:srgbClr val="2348FF"/>
          </a:solidFill>
          <a:ln/>
        </p:spPr>
      </p:sp>
      <p:sp>
        <p:nvSpPr>
          <p:cNvPr id="7" name="text-846"/>
          <p:cNvSpPr txBox="1"/>
          <p:nvPr/>
        </p:nvSpPr>
        <p:spPr>
          <a:xfrm>
            <a:off x="8667750" y="1619250"/>
            <a:ext cx="2762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core: типы, NULL, PK, FK, CHECK</a:t>
            </a:r>
            <a:endParaRPr lang="en-US" sz="1050" dirty="0"/>
          </a:p>
        </p:txBody>
      </p:sp>
      <p:sp>
        <p:nvSpPr>
          <p:cNvPr id="8" name="text-847"/>
          <p:cNvSpPr txBox="1"/>
          <p:nvPr/>
        </p:nvSpPr>
        <p:spPr>
          <a:xfrm>
            <a:off x="762000" y="2095500"/>
            <a:ext cx="16615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purchase_ts</a:t>
            </a:r>
            <a:endParaRPr lang="en-US" sz="950" dirty="0"/>
          </a:p>
        </p:txBody>
      </p:sp>
      <p:sp>
        <p:nvSpPr>
          <p:cNvPr id="9" name="shape-848"/>
          <p:cNvSpPr/>
          <p:nvPr/>
        </p:nvSpPr>
        <p:spPr>
          <a:xfrm>
            <a:off x="762000" y="2324100"/>
            <a:ext cx="1661583" cy="419100"/>
          </a:xfrm>
          <a:prstGeom prst="roundRect">
            <a:avLst>
              <a:gd name="adj" fmla="val 24242"/>
            </a:avLst>
          </a:prstGeom>
          <a:solidFill>
            <a:srgbClr val="F1F1F3"/>
          </a:solidFill>
          <a:ln/>
        </p:spPr>
      </p:sp>
      <p:sp>
        <p:nvSpPr>
          <p:cNvPr id="10" name="text-849"/>
          <p:cNvSpPr txBox="1"/>
          <p:nvPr/>
        </p:nvSpPr>
        <p:spPr>
          <a:xfrm>
            <a:off x="850900" y="2324100"/>
            <a:ext cx="148378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'2017-10-02 10:56'</a:t>
            </a:r>
            <a:endParaRPr lang="en-US" sz="950" dirty="0"/>
          </a:p>
        </p:txBody>
      </p:sp>
      <p:sp>
        <p:nvSpPr>
          <p:cNvPr id="11" name="shape-850"/>
          <p:cNvSpPr/>
          <p:nvPr/>
        </p:nvSpPr>
        <p:spPr>
          <a:xfrm>
            <a:off x="1580092" y="2768600"/>
            <a:ext cx="25400" cy="1270000"/>
          </a:xfrm>
          <a:prstGeom prst="rect">
            <a:avLst/>
          </a:prstGeom>
          <a:solidFill>
            <a:srgbClr val="518FF2"/>
          </a:solidFill>
          <a:ln/>
        </p:spPr>
      </p:sp>
      <p:sp>
        <p:nvSpPr>
          <p:cNvPr id="12" name="run-851"/>
          <p:cNvSpPr/>
          <p:nvPr/>
        </p:nvSpPr>
        <p:spPr>
          <a:xfrm>
            <a:off x="1554692" y="2755900"/>
            <a:ext cx="76200" cy="762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13" name="shape-852"/>
          <p:cNvSpPr/>
          <p:nvPr/>
        </p:nvSpPr>
        <p:spPr>
          <a:xfrm>
            <a:off x="1067075" y="3251200"/>
            <a:ext cx="1051433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348FF"/>
            </a:solidFill>
            <a:prstDash val="solid"/>
          </a:ln>
        </p:spPr>
      </p:sp>
      <p:sp>
        <p:nvSpPr>
          <p:cNvPr id="14" name="text-853"/>
          <p:cNvSpPr txBox="1"/>
          <p:nvPr/>
        </p:nvSpPr>
        <p:spPr>
          <a:xfrm>
            <a:off x="1067075" y="3251200"/>
            <a:ext cx="10514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::timestamp</a:t>
            </a:r>
            <a:endParaRPr lang="en-US" sz="950" dirty="0"/>
          </a:p>
        </p:txBody>
      </p:sp>
      <p:sp>
        <p:nvSpPr>
          <p:cNvPr id="15" name="shape-854"/>
          <p:cNvSpPr/>
          <p:nvPr/>
        </p:nvSpPr>
        <p:spPr>
          <a:xfrm>
            <a:off x="762000" y="4064000"/>
            <a:ext cx="1661583" cy="635000"/>
          </a:xfrm>
          <a:prstGeom prst="roundRect">
            <a:avLst>
              <a:gd name="adj" fmla="val 18000"/>
            </a:avLst>
          </a:prstGeom>
          <a:solidFill>
            <a:srgbClr val="2348FF"/>
          </a:solidFill>
          <a:ln/>
        </p:spPr>
      </p:sp>
      <p:sp>
        <p:nvSpPr>
          <p:cNvPr id="16" name="text-855"/>
          <p:cNvSpPr txBox="1"/>
          <p:nvPr/>
        </p:nvSpPr>
        <p:spPr>
          <a:xfrm>
            <a:off x="863600" y="4064000"/>
            <a:ext cx="14583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2017-10-02 10:56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17" name="text-856"/>
          <p:cNvSpPr txBox="1"/>
          <p:nvPr/>
        </p:nvSpPr>
        <p:spPr>
          <a:xfrm>
            <a:off x="2563283" y="2095500"/>
            <a:ext cx="16615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approved_at</a:t>
            </a:r>
            <a:endParaRPr lang="en-US" sz="950" dirty="0"/>
          </a:p>
        </p:txBody>
      </p:sp>
      <p:sp>
        <p:nvSpPr>
          <p:cNvPr id="18" name="shape-857"/>
          <p:cNvSpPr/>
          <p:nvPr/>
        </p:nvSpPr>
        <p:spPr>
          <a:xfrm>
            <a:off x="2563283" y="2324100"/>
            <a:ext cx="1661583" cy="419100"/>
          </a:xfrm>
          <a:prstGeom prst="roundRect">
            <a:avLst>
              <a:gd name="adj" fmla="val 24242"/>
            </a:avLst>
          </a:prstGeom>
          <a:solidFill>
            <a:srgbClr val="F1F1F3"/>
          </a:solidFill>
          <a:ln/>
        </p:spPr>
      </p:sp>
      <p:sp>
        <p:nvSpPr>
          <p:cNvPr id="19" name="text-858"/>
          <p:cNvSpPr txBox="1"/>
          <p:nvPr/>
        </p:nvSpPr>
        <p:spPr>
          <a:xfrm>
            <a:off x="2652183" y="2324100"/>
            <a:ext cx="148378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endParaRPr lang="en-US" sz="950" dirty="0"/>
          </a:p>
        </p:txBody>
      </p:sp>
      <p:sp>
        <p:nvSpPr>
          <p:cNvPr id="20" name="shape-859"/>
          <p:cNvSpPr/>
          <p:nvPr/>
        </p:nvSpPr>
        <p:spPr>
          <a:xfrm>
            <a:off x="3381375" y="2768600"/>
            <a:ext cx="25400" cy="1270000"/>
          </a:xfrm>
          <a:prstGeom prst="rect">
            <a:avLst/>
          </a:prstGeom>
          <a:solidFill>
            <a:srgbClr val="518FF2"/>
          </a:solidFill>
          <a:ln/>
        </p:spPr>
      </p:sp>
      <p:sp>
        <p:nvSpPr>
          <p:cNvPr id="21" name="run-860"/>
          <p:cNvSpPr/>
          <p:nvPr/>
        </p:nvSpPr>
        <p:spPr>
          <a:xfrm>
            <a:off x="3355975" y="2755900"/>
            <a:ext cx="76200" cy="762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22" name="shape-861"/>
          <p:cNvSpPr/>
          <p:nvPr/>
        </p:nvSpPr>
        <p:spPr>
          <a:xfrm>
            <a:off x="2830957" y="3251200"/>
            <a:ext cx="1126236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348FF"/>
            </a:solidFill>
            <a:prstDash val="solid"/>
          </a:ln>
        </p:spPr>
      </p:sp>
      <p:sp>
        <p:nvSpPr>
          <p:cNvPr id="23" name="text-862"/>
          <p:cNvSpPr txBox="1"/>
          <p:nvPr/>
        </p:nvSpPr>
        <p:spPr>
          <a:xfrm>
            <a:off x="2830957" y="3251200"/>
            <a:ext cx="11262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NULLIF(trim)</a:t>
            </a:r>
            <a:endParaRPr lang="en-US" sz="950" dirty="0"/>
          </a:p>
        </p:txBody>
      </p:sp>
      <p:sp>
        <p:nvSpPr>
          <p:cNvPr id="24" name="shape-863"/>
          <p:cNvSpPr/>
          <p:nvPr/>
        </p:nvSpPr>
        <p:spPr>
          <a:xfrm>
            <a:off x="2563283" y="4064000"/>
            <a:ext cx="1661583" cy="635000"/>
          </a:xfrm>
          <a:prstGeom prst="roundRect">
            <a:avLst>
              <a:gd name="adj" fmla="val 18000"/>
            </a:avLst>
          </a:prstGeom>
          <a:solidFill>
            <a:srgbClr val="2348FF"/>
          </a:solidFill>
          <a:ln/>
        </p:spPr>
      </p:sp>
      <p:sp>
        <p:nvSpPr>
          <p:cNvPr id="25" name="text-864"/>
          <p:cNvSpPr txBox="1"/>
          <p:nvPr/>
        </p:nvSpPr>
        <p:spPr>
          <a:xfrm>
            <a:off x="2664883" y="4064000"/>
            <a:ext cx="14583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данных нет</a:t>
            </a:r>
            <a:endParaRPr lang="en-US" sz="1100" dirty="0"/>
          </a:p>
        </p:txBody>
      </p:sp>
      <p:sp>
        <p:nvSpPr>
          <p:cNvPr id="26" name="text-865"/>
          <p:cNvSpPr txBox="1"/>
          <p:nvPr/>
        </p:nvSpPr>
        <p:spPr>
          <a:xfrm>
            <a:off x="4364567" y="2095500"/>
            <a:ext cx="16615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shape-866"/>
          <p:cNvSpPr/>
          <p:nvPr/>
        </p:nvSpPr>
        <p:spPr>
          <a:xfrm>
            <a:off x="4364567" y="2324100"/>
            <a:ext cx="1661583" cy="419100"/>
          </a:xfrm>
          <a:prstGeom prst="roundRect">
            <a:avLst>
              <a:gd name="adj" fmla="val 24242"/>
            </a:avLst>
          </a:prstGeom>
          <a:solidFill>
            <a:srgbClr val="F1F1F3"/>
          </a:solidFill>
          <a:ln/>
        </p:spPr>
      </p:sp>
      <p:sp>
        <p:nvSpPr>
          <p:cNvPr id="28" name="text-867"/>
          <p:cNvSpPr txBox="1"/>
          <p:nvPr/>
        </p:nvSpPr>
        <p:spPr>
          <a:xfrm>
            <a:off x="4453467" y="2324100"/>
            <a:ext cx="148378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'29.99'</a:t>
            </a:r>
            <a:endParaRPr lang="en-US" sz="950" dirty="0"/>
          </a:p>
        </p:txBody>
      </p:sp>
      <p:sp>
        <p:nvSpPr>
          <p:cNvPr id="29" name="shape-868"/>
          <p:cNvSpPr/>
          <p:nvPr/>
        </p:nvSpPr>
        <p:spPr>
          <a:xfrm>
            <a:off x="5182658" y="2768600"/>
            <a:ext cx="25400" cy="1270000"/>
          </a:xfrm>
          <a:prstGeom prst="rect">
            <a:avLst/>
          </a:prstGeom>
          <a:solidFill>
            <a:srgbClr val="518FF2"/>
          </a:solidFill>
          <a:ln/>
        </p:spPr>
      </p:sp>
      <p:sp>
        <p:nvSpPr>
          <p:cNvPr id="30" name="run-869"/>
          <p:cNvSpPr/>
          <p:nvPr/>
        </p:nvSpPr>
        <p:spPr>
          <a:xfrm>
            <a:off x="5157258" y="2755900"/>
            <a:ext cx="76200" cy="762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31" name="shape-870"/>
          <p:cNvSpPr/>
          <p:nvPr/>
        </p:nvSpPr>
        <p:spPr>
          <a:xfrm>
            <a:off x="4594839" y="3251200"/>
            <a:ext cx="1201039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348FF"/>
            </a:solidFill>
            <a:prstDash val="solid"/>
          </a:ln>
        </p:spPr>
      </p:sp>
      <p:sp>
        <p:nvSpPr>
          <p:cNvPr id="32" name="text-871"/>
          <p:cNvSpPr txBox="1"/>
          <p:nvPr/>
        </p:nvSpPr>
        <p:spPr>
          <a:xfrm>
            <a:off x="4594839" y="3251200"/>
            <a:ext cx="120103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::numeric ≥ 0</a:t>
            </a:r>
            <a:endParaRPr lang="en-US" sz="950" dirty="0"/>
          </a:p>
        </p:txBody>
      </p:sp>
      <p:sp>
        <p:nvSpPr>
          <p:cNvPr id="33" name="shape-872"/>
          <p:cNvSpPr/>
          <p:nvPr/>
        </p:nvSpPr>
        <p:spPr>
          <a:xfrm>
            <a:off x="4364567" y="4064000"/>
            <a:ext cx="1661583" cy="635000"/>
          </a:xfrm>
          <a:prstGeom prst="roundRect">
            <a:avLst>
              <a:gd name="adj" fmla="val 18000"/>
            </a:avLst>
          </a:prstGeom>
          <a:solidFill>
            <a:srgbClr val="2348FF"/>
          </a:solidFill>
          <a:ln/>
        </p:spPr>
      </p:sp>
      <p:sp>
        <p:nvSpPr>
          <p:cNvPr id="34" name="text-873"/>
          <p:cNvSpPr txBox="1"/>
          <p:nvPr/>
        </p:nvSpPr>
        <p:spPr>
          <a:xfrm>
            <a:off x="4466167" y="4064000"/>
            <a:ext cx="14583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29.99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</a:t>
            </a:r>
            <a:endParaRPr lang="en-US" sz="1100" dirty="0"/>
          </a:p>
        </p:txBody>
      </p:sp>
      <p:sp>
        <p:nvSpPr>
          <p:cNvPr id="35" name="text-874"/>
          <p:cNvSpPr txBox="1"/>
          <p:nvPr/>
        </p:nvSpPr>
        <p:spPr>
          <a:xfrm>
            <a:off x="6165850" y="2095500"/>
            <a:ext cx="16615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order_status</a:t>
            </a:r>
            <a:endParaRPr lang="en-US" sz="950" dirty="0"/>
          </a:p>
        </p:txBody>
      </p:sp>
      <p:sp>
        <p:nvSpPr>
          <p:cNvPr id="36" name="shape-875"/>
          <p:cNvSpPr/>
          <p:nvPr/>
        </p:nvSpPr>
        <p:spPr>
          <a:xfrm>
            <a:off x="6165850" y="2324100"/>
            <a:ext cx="1661583" cy="419100"/>
          </a:xfrm>
          <a:prstGeom prst="roundRect">
            <a:avLst>
              <a:gd name="adj" fmla="val 24242"/>
            </a:avLst>
          </a:prstGeom>
          <a:solidFill>
            <a:srgbClr val="F1F1F3"/>
          </a:solidFill>
          <a:ln/>
        </p:spPr>
      </p:sp>
      <p:sp>
        <p:nvSpPr>
          <p:cNvPr id="37" name="text-876"/>
          <p:cNvSpPr txBox="1"/>
          <p:nvPr/>
        </p:nvSpPr>
        <p:spPr>
          <a:xfrm>
            <a:off x="6254750" y="2324100"/>
            <a:ext cx="148378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'delivered'</a:t>
            </a:r>
            <a:endParaRPr lang="en-US" sz="950" dirty="0"/>
          </a:p>
        </p:txBody>
      </p:sp>
      <p:sp>
        <p:nvSpPr>
          <p:cNvPr id="38" name="shape-877"/>
          <p:cNvSpPr/>
          <p:nvPr/>
        </p:nvSpPr>
        <p:spPr>
          <a:xfrm>
            <a:off x="6983942" y="2768600"/>
            <a:ext cx="25400" cy="1270000"/>
          </a:xfrm>
          <a:prstGeom prst="rect">
            <a:avLst/>
          </a:prstGeom>
          <a:solidFill>
            <a:srgbClr val="518FF2"/>
          </a:solidFill>
          <a:ln/>
        </p:spPr>
      </p:sp>
      <p:sp>
        <p:nvSpPr>
          <p:cNvPr id="39" name="run-878"/>
          <p:cNvSpPr/>
          <p:nvPr/>
        </p:nvSpPr>
        <p:spPr>
          <a:xfrm>
            <a:off x="6958542" y="2755900"/>
            <a:ext cx="76200" cy="762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40" name="shape-879"/>
          <p:cNvSpPr/>
          <p:nvPr/>
        </p:nvSpPr>
        <p:spPr>
          <a:xfrm>
            <a:off x="6321319" y="3251200"/>
            <a:ext cx="1350645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348FF"/>
            </a:solidFill>
            <a:prstDash val="solid"/>
          </a:ln>
        </p:spPr>
      </p:sp>
      <p:sp>
        <p:nvSpPr>
          <p:cNvPr id="41" name="text-880"/>
          <p:cNvSpPr txBox="1"/>
          <p:nvPr/>
        </p:nvSpPr>
        <p:spPr>
          <a:xfrm>
            <a:off x="6321319" y="3251200"/>
            <a:ext cx="135064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из списка</a:t>
            </a:r>
            <a:endParaRPr lang="en-US" sz="950" dirty="0"/>
          </a:p>
        </p:txBody>
      </p:sp>
      <p:sp>
        <p:nvSpPr>
          <p:cNvPr id="42" name="shape-881"/>
          <p:cNvSpPr/>
          <p:nvPr/>
        </p:nvSpPr>
        <p:spPr>
          <a:xfrm>
            <a:off x="6165850" y="4064000"/>
            <a:ext cx="1661583" cy="635000"/>
          </a:xfrm>
          <a:prstGeom prst="roundRect">
            <a:avLst>
              <a:gd name="adj" fmla="val 18000"/>
            </a:avLst>
          </a:prstGeom>
          <a:solidFill>
            <a:srgbClr val="2348FF"/>
          </a:solidFill>
          <a:ln/>
        </p:spPr>
      </p:sp>
      <p:sp>
        <p:nvSpPr>
          <p:cNvPr id="43" name="text-882"/>
          <p:cNvSpPr txBox="1"/>
          <p:nvPr/>
        </p:nvSpPr>
        <p:spPr>
          <a:xfrm>
            <a:off x="6267450" y="4064000"/>
            <a:ext cx="14583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delivered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 есть</a:t>
            </a:r>
            <a:endParaRPr lang="en-US" sz="1100" dirty="0"/>
          </a:p>
        </p:txBody>
      </p:sp>
      <p:sp>
        <p:nvSpPr>
          <p:cNvPr id="44" name="text-883"/>
          <p:cNvSpPr txBox="1"/>
          <p:nvPr/>
        </p:nvSpPr>
        <p:spPr>
          <a:xfrm>
            <a:off x="7967133" y="2095500"/>
            <a:ext cx="16615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seller_id</a:t>
            </a:r>
            <a:endParaRPr lang="en-US" sz="950" dirty="0"/>
          </a:p>
        </p:txBody>
      </p:sp>
      <p:sp>
        <p:nvSpPr>
          <p:cNvPr id="45" name="shape-884"/>
          <p:cNvSpPr/>
          <p:nvPr/>
        </p:nvSpPr>
        <p:spPr>
          <a:xfrm>
            <a:off x="7967133" y="2324100"/>
            <a:ext cx="1661583" cy="419100"/>
          </a:xfrm>
          <a:prstGeom prst="roundRect">
            <a:avLst>
              <a:gd name="adj" fmla="val 24242"/>
            </a:avLst>
          </a:prstGeom>
          <a:solidFill>
            <a:srgbClr val="F1F1F3"/>
          </a:solidFill>
          <a:ln/>
        </p:spPr>
      </p:sp>
      <p:sp>
        <p:nvSpPr>
          <p:cNvPr id="46" name="text-885"/>
          <p:cNvSpPr txBox="1"/>
          <p:nvPr/>
        </p:nvSpPr>
        <p:spPr>
          <a:xfrm>
            <a:off x="8056033" y="2324100"/>
            <a:ext cx="148378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'3504c0cb…'</a:t>
            </a:r>
            <a:endParaRPr lang="en-US" sz="950" dirty="0"/>
          </a:p>
        </p:txBody>
      </p:sp>
      <p:sp>
        <p:nvSpPr>
          <p:cNvPr id="47" name="shape-886"/>
          <p:cNvSpPr/>
          <p:nvPr/>
        </p:nvSpPr>
        <p:spPr>
          <a:xfrm>
            <a:off x="8785225" y="2768600"/>
            <a:ext cx="25400" cy="1270000"/>
          </a:xfrm>
          <a:prstGeom prst="rect">
            <a:avLst/>
          </a:prstGeom>
          <a:solidFill>
            <a:srgbClr val="518FF2"/>
          </a:solidFill>
          <a:ln/>
        </p:spPr>
      </p:sp>
      <p:sp>
        <p:nvSpPr>
          <p:cNvPr id="48" name="run-887"/>
          <p:cNvSpPr/>
          <p:nvPr/>
        </p:nvSpPr>
        <p:spPr>
          <a:xfrm>
            <a:off x="8759825" y="2755900"/>
            <a:ext cx="76200" cy="762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49" name="shape-888"/>
          <p:cNvSpPr/>
          <p:nvPr/>
        </p:nvSpPr>
        <p:spPr>
          <a:xfrm>
            <a:off x="8309610" y="3251200"/>
            <a:ext cx="97663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348FF"/>
            </a:solidFill>
            <a:prstDash val="solid"/>
          </a:ln>
        </p:spPr>
      </p:sp>
      <p:sp>
        <p:nvSpPr>
          <p:cNvPr id="50" name="text-889"/>
          <p:cNvSpPr txBox="1"/>
          <p:nvPr/>
        </p:nvSpPr>
        <p:spPr>
          <a:xfrm>
            <a:off x="8309610" y="3251200"/>
            <a:ext cx="9766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51" name="shape-890"/>
          <p:cNvSpPr/>
          <p:nvPr/>
        </p:nvSpPr>
        <p:spPr>
          <a:xfrm>
            <a:off x="7967133" y="4064000"/>
            <a:ext cx="1661583" cy="635000"/>
          </a:xfrm>
          <a:prstGeom prst="roundRect">
            <a:avLst>
              <a:gd name="adj" fmla="val 18000"/>
            </a:avLst>
          </a:prstGeom>
          <a:solidFill>
            <a:srgbClr val="2348FF"/>
          </a:solidFill>
          <a:ln/>
        </p:spPr>
      </p:sp>
      <p:sp>
        <p:nvSpPr>
          <p:cNvPr id="52" name="text-891"/>
          <p:cNvSpPr txBox="1"/>
          <p:nvPr/>
        </p:nvSpPr>
        <p:spPr>
          <a:xfrm>
            <a:off x="8068733" y="4064000"/>
            <a:ext cx="14583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3504c0cb…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FK найден</a:t>
            </a:r>
            <a:endParaRPr lang="en-US" sz="1100" dirty="0"/>
          </a:p>
        </p:txBody>
      </p:sp>
      <p:sp>
        <p:nvSpPr>
          <p:cNvPr id="53" name="text-892"/>
          <p:cNvSpPr txBox="1"/>
          <p:nvPr/>
        </p:nvSpPr>
        <p:spPr>
          <a:xfrm>
            <a:off x="9768417" y="2095500"/>
            <a:ext cx="16615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950" dirty="0"/>
          </a:p>
        </p:txBody>
      </p:sp>
      <p:sp>
        <p:nvSpPr>
          <p:cNvPr id="54" name="shape-893"/>
          <p:cNvSpPr/>
          <p:nvPr/>
        </p:nvSpPr>
        <p:spPr>
          <a:xfrm>
            <a:off x="9768417" y="2324100"/>
            <a:ext cx="1661583" cy="419100"/>
          </a:xfrm>
          <a:prstGeom prst="roundRect">
            <a:avLst>
              <a:gd name="adj" fmla="val 24242"/>
            </a:avLst>
          </a:prstGeom>
          <a:solidFill>
            <a:srgbClr val="F1F1F3"/>
          </a:solidFill>
          <a:ln/>
        </p:spPr>
      </p:sp>
      <p:sp>
        <p:nvSpPr>
          <p:cNvPr id="55" name="text-894"/>
          <p:cNvSpPr txBox="1"/>
          <p:nvPr/>
        </p:nvSpPr>
        <p:spPr>
          <a:xfrm>
            <a:off x="9857317" y="2324100"/>
            <a:ext cx="148378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'7'</a:t>
            </a:r>
            <a:endParaRPr lang="en-US" sz="950" dirty="0"/>
          </a:p>
        </p:txBody>
      </p:sp>
      <p:sp>
        <p:nvSpPr>
          <p:cNvPr id="56" name="shape-895"/>
          <p:cNvSpPr/>
          <p:nvPr/>
        </p:nvSpPr>
        <p:spPr>
          <a:xfrm>
            <a:off x="10586508" y="2768600"/>
            <a:ext cx="25400" cy="1270000"/>
          </a:xfrm>
          <a:prstGeom prst="rect">
            <a:avLst/>
          </a:prstGeom>
          <a:solidFill>
            <a:srgbClr val="D3263A"/>
          </a:solidFill>
          <a:ln/>
        </p:spPr>
      </p:sp>
      <p:sp>
        <p:nvSpPr>
          <p:cNvPr id="57" name="run-896"/>
          <p:cNvSpPr/>
          <p:nvPr/>
        </p:nvSpPr>
        <p:spPr>
          <a:xfrm>
            <a:off x="10561108" y="2755900"/>
            <a:ext cx="76200" cy="76200"/>
          </a:xfrm>
          <a:prstGeom prst="ellipse">
            <a:avLst/>
          </a:prstGeom>
          <a:solidFill>
            <a:srgbClr val="D3263A"/>
          </a:solidFill>
          <a:ln/>
        </p:spPr>
      </p:sp>
      <p:sp>
        <p:nvSpPr>
          <p:cNvPr id="58" name="shape-897"/>
          <p:cNvSpPr/>
          <p:nvPr/>
        </p:nvSpPr>
        <p:spPr>
          <a:xfrm>
            <a:off x="10148295" y="3251200"/>
            <a:ext cx="901827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D3263A"/>
            </a:solidFill>
            <a:prstDash val="solid"/>
          </a:ln>
        </p:spPr>
      </p:sp>
      <p:sp>
        <p:nvSpPr>
          <p:cNvPr id="59" name="text-898"/>
          <p:cNvSpPr txBox="1"/>
          <p:nvPr/>
        </p:nvSpPr>
        <p:spPr>
          <a:xfrm>
            <a:off x="10148295" y="3251200"/>
            <a:ext cx="9018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3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1–5</a:t>
            </a:r>
            <a:endParaRPr lang="en-US" sz="950" dirty="0"/>
          </a:p>
        </p:txBody>
      </p:sp>
      <p:sp>
        <p:nvSpPr>
          <p:cNvPr id="60" name="shape-899"/>
          <p:cNvSpPr/>
          <p:nvPr/>
        </p:nvSpPr>
        <p:spPr>
          <a:xfrm>
            <a:off x="9768417" y="4064000"/>
            <a:ext cx="1661583" cy="635000"/>
          </a:xfrm>
          <a:prstGeom prst="roundRect">
            <a:avLst>
              <a:gd name="adj" fmla="val 18000"/>
            </a:avLst>
          </a:prstGeom>
          <a:solidFill>
            <a:srgbClr val="D3263A"/>
          </a:solidFill>
          <a:ln/>
        </p:spPr>
      </p:sp>
      <p:sp>
        <p:nvSpPr>
          <p:cNvPr id="61" name="text-900"/>
          <p:cNvSpPr txBox="1"/>
          <p:nvPr/>
        </p:nvSpPr>
        <p:spPr>
          <a:xfrm>
            <a:off x="9870017" y="4064000"/>
            <a:ext cx="14583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отказ</a:t>
            </a:r>
            <a:endParaRPr lang="en-US" sz="1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падает</a:t>
            </a:r>
            <a:endParaRPr lang="en-US" sz="1100" dirty="0"/>
          </a:p>
        </p:txBody>
      </p:sp>
      <p:pic>
        <p:nvPicPr>
          <p:cNvPr id="62" name="pic-901" descr="W:\Projects\hacks\rwb-new\presentation\pptx\assets\ico-refresh-cob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156200"/>
            <a:ext cx="215900" cy="215900"/>
          </a:xfrm>
          <a:prstGeom prst="rect">
            <a:avLst/>
          </a:prstGeom>
        </p:spPr>
      </p:pic>
      <p:sp>
        <p:nvSpPr>
          <p:cNvPr id="63" name="text-902"/>
          <p:cNvSpPr txBox="1"/>
          <p:nvPr/>
        </p:nvSpPr>
        <p:spPr>
          <a:xfrm>
            <a:off x="1079500" y="5118100"/>
            <a:ext cx="1035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скрипт </a:t>
            </a:r>
            <a:r>
              <a:rPr lang="en-US" sz="1200" b="1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build_core.sql</a:t>
            </a:r>
            <a:r>
              <a:rPr lang="en-US" sz="120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нуля, DROP SCHEMA и BEGIN … COMMIT: наполовину собранной модели не бывает</a:t>
            </a:r>
            <a:endParaRPr lang="en-US" sz="12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1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8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8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1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1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8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1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2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2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2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2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2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2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2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2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2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2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000 0.1778 E" pathEditMode="relative" ptsTypes="">
                                      <p:cBhvr>
                                        <p:cTn id="187" dur="1600" repeatCount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2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2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53" presetClass="entr" presetSubtype="16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26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53" presetClass="entr" presetSubtype="16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26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0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000 0.1778 E" pathEditMode="relative" ptsTypes="">
                                      <p:cBhvr>
                                        <p:cTn id="210" dur="1600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53" presetClass="entr" presetSubtype="16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6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6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2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53" presetClass="entr" presetSubtype="16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6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6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2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0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000 0.1778 E" pathEditMode="relative" ptsTypes="">
                                      <p:cBhvr>
                                        <p:cTn id="223" dur="1600" repeatCount="indefinite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4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6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6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2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6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6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26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0" presetClass="entr" presetSubtype="0" fill="hold" grpId="0" nodeType="withEffect">
                                  <p:stCondLst>
                                    <p:cond delay="219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000 0.1778 E" pathEditMode="relative" ptsTypes="">
                                      <p:cBhvr>
                                        <p:cTn id="236" dur="1600" repeatCount="indefinite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000 0.1778 E" pathEditMode="relative" ptsTypes="">
                                      <p:cBhvr>
                                        <p:cTn id="239" dur="1600" repeatCount="indefinite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53" presetClass="entr" presetSubtype="16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2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000 0.1778 E" pathEditMode="relative" ptsTypes="">
                                      <p:cBhvr>
                                        <p:cTn id="247" dur="1600" repeatCount="indefinite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8" presetID="2" presetClass="entr" presetSubtype="8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1" dur="60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903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слоя,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 в нашем знаке</a:t>
            </a:r>
            <a:endParaRPr lang="en-US" sz="3400" dirty="0"/>
          </a:p>
        </p:txBody>
      </p:sp>
      <p:pic>
        <p:nvPicPr>
          <p:cNvPr id="4" name="!!rb-raw" descr="W:\Projects\hacks\rwb-new\presentation\pptx\assets\st-raw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5" name="!!row-raw-0" descr="W:\Projects\hacks\rwb-new\presentation\pptx\assets\st-raw-row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6" name="!!row-raw-1" descr="W:\Projects\hacks\rwb-new\presentation\pptx\assets\st-raw-row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7" name="!!row-raw-2" descr="W:\Projects\hacks\rwb-new\presentation\pptx\assets\st-raw-row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8" name="!!row-raw-3" descr="W:\Projects\hacks\rwb-new\presentation\pptx\assets\st-raw-row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9" name="!!row-raw-4" descr="W:\Projects\hacks\rwb-new\presentation\pptx\assets\st-raw-row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10" name="!!row-raw-5" descr="W:\Projects\hacks\rwb-new\presentation\pptx\assets\st-raw-row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11" name="!!row-raw-6" descr="W:\Projects\hacks\rwb-new\presentation\pptx\assets\st-raw-row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12" name="!!row-raw-7" descr="W:\Projects\hacks\rwb-new\presentation\pptx\assets\st-raw-row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13" name="!!row-raw-8" descr="W:\Projects\hacks\rwb-new\presentation\pptx\assets\st-raw-row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14" name="!!row-raw-9" descr="W:\Projects\hacks\rwb-new\presentation\pptx\assets\st-raw-row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15" name="!!rb-core" descr="W:\Projects\hacks\rwb-new\presentation\pptx\assets\st-core-b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16" name="!!row-core-0" descr="W:\Projects\hacks\rwb-new\presentation\pptx\assets\st-core-row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17" name="!!row-core-1" descr="W:\Projects\hacks\rwb-new\presentation\pptx\assets\st-core-row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18" name="!!row-core-2" descr="W:\Projects\hacks\rwb-new\presentation\pptx\assets\st-core-row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19" name="!!row-core-3" descr="W:\Projects\hacks\rwb-new\presentation\pptx\assets\st-core-row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20" name="!!row-core-4" descr="W:\Projects\hacks\rwb-new\presentation\pptx\assets\st-core-row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21" name="!!row-core-5" descr="W:\Projects\hacks\rwb-new\presentation\pptx\assets\st-core-row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22" name="!!row-core-6" descr="W:\Projects\hacks\rwb-new\presentation\pptx\assets\st-core-row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23" name="!!row-core-7" descr="W:\Projects\hacks\rwb-new\presentation\pptx\assets\st-core-row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24" name="!!row-core-8" descr="W:\Projects\hacks\rwb-new\presentation\pptx\assets\st-core-row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25" name="!!row-core-9" descr="W:\Projects\hacks\rwb-new\presentation\pptx\assets\st-core-row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26" name="!!rb-mart" descr="W:\Projects\hacks\rwb-new\presentation\pptx\assets\st-mart-bas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27" name="!!row-mart-0" descr="W:\Projects\hacks\rwb-new\presentation\pptx\assets\st-mart-row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28" name="!!row-mart-1" descr="W:\Projects\hacks\rwb-new\presentation\pptx\assets\st-mart-row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29" name="!!row-mart-2" descr="W:\Projects\hacks\rwb-new\presentation\pptx\assets\st-mart-row2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30" name="!!row-mart-3" descr="W:\Projects\hacks\rwb-new\presentation\pptx\assets\st-mart-row3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31" name="!!row-mart-4" descr="W:\Projects\hacks\rwb-new\presentation\pptx\assets\st-mart-row4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32" name="!!row-mart-5" descr="W:\Projects\hacks\rwb-new\presentation\pptx\assets\st-mart-row5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33" name="!!row-mart-6" descr="W:\Projects\hacks\rwb-new\presentation\pptx\assets\st-mart-row6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34" name="!!row-mart-7" descr="W:\Projects\hacks\rwb-new\presentation\pptx\assets\st-mart-row7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35" name="!!row-mart-8" descr="W:\Projects\hacks\rwb-new\presentation\pptx\assets\st-mart-row8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36" name="!!row-mart-9" descr="W:\Projects\hacks\rwb-new\presentation\pptx\assets\st-mart-row9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37" name="!!rshadow" descr="W:\Projects\hacks\rwb-new\presentation\pptx\assets\st-shadow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pic>
        <p:nvPicPr>
          <p:cNvPr id="38" name="!!rcube" descr="W:\Projects\hacks\rwb-new\presentation\pptx\assets\st-cub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1333500"/>
            <a:ext cx="4953000" cy="4953000"/>
          </a:xfrm>
          <a:prstGeom prst="rect">
            <a:avLst/>
          </a:prstGeom>
        </p:spPr>
      </p:pic>
      <p:sp>
        <p:nvSpPr>
          <p:cNvPr id="39" name="shape-939"/>
          <p:cNvSpPr/>
          <p:nvPr/>
        </p:nvSpPr>
        <p:spPr>
          <a:xfrm>
            <a:off x="5842000" y="2019300"/>
            <a:ext cx="152400" cy="1524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40" name="text-940"/>
          <p:cNvSpPr txBox="1"/>
          <p:nvPr/>
        </p:nvSpPr>
        <p:spPr>
          <a:xfrm>
            <a:off x="6127750" y="19050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ответы</a:t>
            </a:r>
            <a:endParaRPr lang="en-US" sz="2100" dirty="0"/>
          </a:p>
        </p:txBody>
      </p:sp>
      <p:sp>
        <p:nvSpPr>
          <p:cNvPr id="41" name="text-941"/>
          <p:cNvSpPr txBox="1"/>
          <p:nvPr/>
        </p:nvSpPr>
        <p:spPr>
          <a:xfrm>
            <a:off x="7366000" y="1905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считаются из core</a:t>
            </a:r>
            <a:endParaRPr lang="en-US" sz="1350" dirty="0"/>
          </a:p>
        </p:txBody>
      </p:sp>
      <p:sp>
        <p:nvSpPr>
          <p:cNvPr id="42" name="shape-942"/>
          <p:cNvSpPr/>
          <p:nvPr/>
        </p:nvSpPr>
        <p:spPr>
          <a:xfrm>
            <a:off x="5842000" y="2844800"/>
            <a:ext cx="152400" cy="152400"/>
          </a:xfrm>
          <a:prstGeom prst="ellipse">
            <a:avLst/>
          </a:prstGeom>
          <a:solidFill>
            <a:srgbClr val="3BC4EE"/>
          </a:solidFill>
          <a:ln/>
        </p:spPr>
      </p:sp>
      <p:sp>
        <p:nvSpPr>
          <p:cNvPr id="43" name="text-943"/>
          <p:cNvSpPr txBox="1"/>
          <p:nvPr/>
        </p:nvSpPr>
        <p:spPr>
          <a:xfrm>
            <a:off x="6127750" y="27305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</a:t>
            </a:r>
            <a:endParaRPr lang="en-US" sz="2100" dirty="0"/>
          </a:p>
        </p:txBody>
      </p:sp>
      <p:sp>
        <p:nvSpPr>
          <p:cNvPr id="44" name="text-944"/>
          <p:cNvSpPr txBox="1"/>
          <p:nvPr/>
        </p:nvSpPr>
        <p:spPr>
          <a:xfrm>
            <a:off x="7366000" y="27305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витрины под задачу: исполнение заказа</a:t>
            </a:r>
            <a:endParaRPr lang="en-US" sz="1350" dirty="0"/>
          </a:p>
        </p:txBody>
      </p:sp>
      <p:sp>
        <p:nvSpPr>
          <p:cNvPr id="45" name="shape-945"/>
          <p:cNvSpPr/>
          <p:nvPr/>
        </p:nvSpPr>
        <p:spPr>
          <a:xfrm>
            <a:off x="5842000" y="3670300"/>
            <a:ext cx="152400" cy="152400"/>
          </a:xfrm>
          <a:prstGeom prst="ellipse">
            <a:avLst/>
          </a:prstGeom>
          <a:solidFill>
            <a:srgbClr val="518FF2"/>
          </a:solidFill>
          <a:ln/>
        </p:spPr>
      </p:sp>
      <p:sp>
        <p:nvSpPr>
          <p:cNvPr id="46" name="text-946"/>
          <p:cNvSpPr txBox="1"/>
          <p:nvPr/>
        </p:nvSpPr>
        <p:spPr>
          <a:xfrm>
            <a:off x="6127750" y="35560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2100" dirty="0"/>
          </a:p>
        </p:txBody>
      </p:sp>
      <p:sp>
        <p:nvSpPr>
          <p:cNvPr id="47" name="text-947"/>
          <p:cNvSpPr txBox="1"/>
          <p:nvPr/>
        </p:nvSpPr>
        <p:spPr>
          <a:xfrm>
            <a:off x="7366000" y="3556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модель: типы, ключи, связи, дедупликация</a:t>
            </a:r>
            <a:endParaRPr lang="en-US" sz="1350" dirty="0"/>
          </a:p>
        </p:txBody>
      </p:sp>
      <p:sp>
        <p:nvSpPr>
          <p:cNvPr id="48" name="shape-948"/>
          <p:cNvSpPr/>
          <p:nvPr/>
        </p:nvSpPr>
        <p:spPr>
          <a:xfrm>
            <a:off x="5842000" y="4495800"/>
            <a:ext cx="152400" cy="152400"/>
          </a:xfrm>
          <a:prstGeom prst="ellipse">
            <a:avLst/>
          </a:prstGeom>
          <a:solidFill>
            <a:srgbClr val="7F57EB"/>
          </a:solidFill>
          <a:ln/>
        </p:spPr>
      </p:sp>
      <p:sp>
        <p:nvSpPr>
          <p:cNvPr id="49" name="text-949"/>
          <p:cNvSpPr txBox="1"/>
          <p:nvPr/>
        </p:nvSpPr>
        <p:spPr>
          <a:xfrm>
            <a:off x="6127750" y="43815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</a:t>
            </a:r>
            <a:endParaRPr lang="en-US" sz="2100" dirty="0"/>
          </a:p>
        </p:txBody>
      </p:sp>
      <p:sp>
        <p:nvSpPr>
          <p:cNvPr id="50" name="text-950"/>
          <p:cNvSpPr txBox="1"/>
          <p:nvPr/>
        </p:nvSpPr>
        <p:spPr>
          <a:xfrm>
            <a:off x="7366000" y="43815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приехало, только читаем</a:t>
            </a:r>
            <a:endParaRPr lang="en-US" sz="1350" dirty="0"/>
          </a:p>
        </p:txBody>
      </p:sp>
      <p:sp>
        <p:nvSpPr>
          <p:cNvPr id="51" name="shape-951"/>
          <p:cNvSpPr/>
          <p:nvPr/>
        </p:nvSpPr>
        <p:spPr>
          <a:xfrm>
            <a:off x="6127750" y="5461000"/>
            <a:ext cx="1346200" cy="292100"/>
          </a:xfrm>
          <a:prstGeom prst="roundRect">
            <a:avLst>
              <a:gd name="adj" fmla="val 50000"/>
            </a:avLst>
          </a:prstGeom>
          <a:solidFill>
            <a:srgbClr val="F1F1F3"/>
          </a:solidFill>
          <a:ln/>
        </p:spPr>
      </p:sp>
      <p:sp>
        <p:nvSpPr>
          <p:cNvPr id="52" name="text-952"/>
          <p:cNvSpPr txBox="1"/>
          <p:nvPr/>
        </p:nvSpPr>
        <p:spPr>
          <a:xfrm>
            <a:off x="6127750" y="5461000"/>
            <a:ext cx="1346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build_core.sql</a:t>
            </a:r>
            <a:endParaRPr lang="en-US" sz="1000" dirty="0"/>
          </a:p>
        </p:txBody>
      </p:sp>
      <p:pic>
        <p:nvPicPr>
          <p:cNvPr id="53" name="pic-953" descr="W:\Projects\hacks\rwb-new\presentation\pptx\assets\ico-arrow-right-mut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37450" y="5518150"/>
            <a:ext cx="177800" cy="177800"/>
          </a:xfrm>
          <a:prstGeom prst="rect">
            <a:avLst/>
          </a:prstGeom>
        </p:spPr>
      </p:pic>
      <p:sp>
        <p:nvSpPr>
          <p:cNvPr id="54" name="shape-954"/>
          <p:cNvSpPr/>
          <p:nvPr/>
        </p:nvSpPr>
        <p:spPr>
          <a:xfrm>
            <a:off x="7778750" y="5461000"/>
            <a:ext cx="1346200" cy="292100"/>
          </a:xfrm>
          <a:prstGeom prst="roundRect">
            <a:avLst>
              <a:gd name="adj" fmla="val 50000"/>
            </a:avLst>
          </a:prstGeom>
          <a:solidFill>
            <a:srgbClr val="F1F1F3"/>
          </a:solidFill>
          <a:ln/>
        </p:spPr>
      </p:sp>
      <p:sp>
        <p:nvSpPr>
          <p:cNvPr id="55" name="text-955"/>
          <p:cNvSpPr txBox="1"/>
          <p:nvPr/>
        </p:nvSpPr>
        <p:spPr>
          <a:xfrm>
            <a:off x="7778750" y="5461000"/>
            <a:ext cx="1346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build_mart.sql</a:t>
            </a:r>
            <a:endParaRPr lang="en-US" sz="1000" dirty="0"/>
          </a:p>
        </p:txBody>
      </p:sp>
      <p:pic>
        <p:nvPicPr>
          <p:cNvPr id="56" name="pic-956" descr="W:\Projects\hacks\rwb-new\presentation\pptx\assets\ico-arrow-right-mut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88450" y="5518150"/>
            <a:ext cx="177800" cy="177800"/>
          </a:xfrm>
          <a:prstGeom prst="rect">
            <a:avLst/>
          </a:prstGeom>
        </p:spPr>
      </p:pic>
      <p:sp>
        <p:nvSpPr>
          <p:cNvPr id="57" name="shape-957"/>
          <p:cNvSpPr/>
          <p:nvPr/>
        </p:nvSpPr>
        <p:spPr>
          <a:xfrm>
            <a:off x="9429750" y="5461000"/>
            <a:ext cx="1651000" cy="292100"/>
          </a:xfrm>
          <a:prstGeom prst="roundRect">
            <a:avLst>
              <a:gd name="adj" fmla="val 50000"/>
            </a:avLst>
          </a:prstGeom>
          <a:solidFill>
            <a:srgbClr val="F1F1F3"/>
          </a:solidFill>
          <a:ln/>
        </p:spPr>
      </p:sp>
      <p:sp>
        <p:nvSpPr>
          <p:cNvPr id="58" name="text-958"/>
          <p:cNvSpPr txBox="1"/>
          <p:nvPr/>
        </p:nvSpPr>
        <p:spPr>
          <a:xfrm>
            <a:off x="9429750" y="5461000"/>
            <a:ext cx="165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D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build_dashboard.py</a:t>
            </a:r>
            <a:endParaRPr lang="en-US" sz="10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10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10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10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0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10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10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10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10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10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10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10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10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10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10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10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10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10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10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10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10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10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10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10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10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10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10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10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10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10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10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6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2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10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8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2" presetClass="entr" presetSubtype="2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9" dur="4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3" dur="4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0" presetClass="path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 -0.012 L 0 0 E" pathEditMode="relative" ptsTypes="">
                                      <p:cBhvr>
                                        <p:cTn id="225" dur="2600" repeatCount="indefinite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7" grpId="0" animBg="1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959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Схема core: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ключ это решение</a:t>
            </a:r>
            <a:endParaRPr lang="en-US" sz="3400" dirty="0"/>
          </a:p>
        </p:txBody>
      </p:sp>
      <p:sp>
        <p:nvSpPr>
          <p:cNvPr id="4" name="line-960"/>
          <p:cNvSpPr/>
          <p:nvPr/>
        </p:nvSpPr>
        <p:spPr>
          <a:xfrm>
            <a:off x="3429000" y="2222500"/>
            <a:ext cx="1333500" cy="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5" name="line-961"/>
          <p:cNvSpPr/>
          <p:nvPr/>
        </p:nvSpPr>
        <p:spPr>
          <a:xfrm>
            <a:off x="7429500" y="2222500"/>
            <a:ext cx="1333500" cy="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6" name="line-962"/>
          <p:cNvSpPr/>
          <p:nvPr/>
        </p:nvSpPr>
        <p:spPr>
          <a:xfrm>
            <a:off x="6096000" y="2730500"/>
            <a:ext cx="0" cy="57150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7" name="line-963"/>
          <p:cNvSpPr/>
          <p:nvPr/>
        </p:nvSpPr>
        <p:spPr>
          <a:xfrm>
            <a:off x="3429000" y="3810000"/>
            <a:ext cx="1333500" cy="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8" name="line-964"/>
          <p:cNvSpPr/>
          <p:nvPr/>
        </p:nvSpPr>
        <p:spPr>
          <a:xfrm>
            <a:off x="6096000" y="4318000"/>
            <a:ext cx="0" cy="57150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9" name="line-965"/>
          <p:cNvSpPr/>
          <p:nvPr/>
        </p:nvSpPr>
        <p:spPr>
          <a:xfrm>
            <a:off x="3429000" y="5397500"/>
            <a:ext cx="1333500" cy="0"/>
          </a:xfrm>
          <a:prstGeom prst="line">
            <a:avLst/>
          </a:prstGeom>
          <a:noFill/>
          <a:ln w="28575">
            <a:solidFill>
              <a:srgbClr val="2348FF"/>
            </a:solidFill>
            <a:prstDash val="solid"/>
          </a:ln>
        </p:spPr>
      </p:sp>
      <p:sp>
        <p:nvSpPr>
          <p:cNvPr id="10" name="geom-966"/>
          <p:cNvSpPr/>
          <p:nvPr/>
        </p:nvSpPr>
        <p:spPr>
          <a:xfrm>
            <a:off x="7429500" y="2476500"/>
            <a:ext cx="1333500" cy="1333500"/>
          </a:xfrm>
          <a:custGeom>
            <a:avLst/>
            <a:gdLst/>
            <a:ahLst/>
            <a:cxnLst/>
            <a:rect l="l" t="t" r="r" b="b"/>
            <a:pathLst>
              <a:path w="1333500" h="1333500">
                <a:moveTo>
                  <a:pt x="0" y="0"/>
                </a:moveTo>
                <a:lnTo>
                  <a:pt x="666750" y="0"/>
                </a:lnTo>
                <a:lnTo>
                  <a:pt x="666750" y="1333500"/>
                </a:lnTo>
                <a:lnTo>
                  <a:pt x="1333500" y="1333500"/>
                </a:lnTo>
              </a:path>
            </a:pathLst>
          </a:custGeom>
          <a:ln w="28575">
            <a:solidFill>
              <a:srgbClr val="2348FF"/>
            </a:solidFill>
            <a:prstDash val="solid"/>
          </a:ln>
        </p:spPr>
      </p:sp>
      <p:sp>
        <p:nvSpPr>
          <p:cNvPr id="11" name="shape-967"/>
          <p:cNvSpPr/>
          <p:nvPr/>
        </p:nvSpPr>
        <p:spPr>
          <a:xfrm>
            <a:off x="723900" y="1676400"/>
            <a:ext cx="2743200" cy="1092200"/>
          </a:xfrm>
          <a:prstGeom prst="roundRect">
            <a:avLst>
              <a:gd name="adj" fmla="val 17442"/>
            </a:avLst>
          </a:prstGeom>
          <a:ln w="19050">
            <a:solidFill>
              <a:srgbClr val="2348FF"/>
            </a:solidFill>
            <a:prstDash val="solid"/>
          </a:ln>
        </p:spPr>
      </p:sp>
      <p:sp>
        <p:nvSpPr>
          <p:cNvPr id="12" name="shape-968"/>
          <p:cNvSpPr/>
          <p:nvPr/>
        </p:nvSpPr>
        <p:spPr>
          <a:xfrm>
            <a:off x="762000" y="1714500"/>
            <a:ext cx="2667000" cy="101600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31750">
            <a:solidFill>
              <a:srgbClr val="2348FF"/>
            </a:solidFill>
            <a:prstDash val="solid"/>
          </a:ln>
        </p:spPr>
      </p:sp>
      <p:sp>
        <p:nvSpPr>
          <p:cNvPr id="13" name="text-969"/>
          <p:cNvSpPr txBox="1"/>
          <p:nvPr/>
        </p:nvSpPr>
        <p:spPr>
          <a:xfrm>
            <a:off x="952500" y="18542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14" name="text-970"/>
          <p:cNvSpPr txBox="1"/>
          <p:nvPr/>
        </p:nvSpPr>
        <p:spPr>
          <a:xfrm>
            <a:off x="952500" y="2146300"/>
            <a:ext cx="234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customer_unique_id</a:t>
            </a:r>
            <a:endParaRPr lang="en-US" sz="1050" dirty="0"/>
          </a:p>
        </p:txBody>
      </p:sp>
      <p:sp>
        <p:nvSpPr>
          <p:cNvPr id="15" name="text-971"/>
          <p:cNvSpPr txBox="1"/>
          <p:nvPr/>
        </p:nvSpPr>
        <p:spPr>
          <a:xfrm>
            <a:off x="952500" y="2387600"/>
            <a:ext cx="234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человек, а не учётка заказа</a:t>
            </a:r>
            <a:endParaRPr lang="en-US" sz="950" dirty="0"/>
          </a:p>
        </p:txBody>
      </p:sp>
      <p:sp>
        <p:nvSpPr>
          <p:cNvPr id="16" name="shape-972"/>
          <p:cNvSpPr/>
          <p:nvPr/>
        </p:nvSpPr>
        <p:spPr>
          <a:xfrm>
            <a:off x="4762500" y="1714500"/>
            <a:ext cx="2667000" cy="1016000"/>
          </a:xfrm>
          <a:prstGeom prst="roundRect">
            <a:avLst>
              <a:gd name="adj" fmla="val 16250"/>
            </a:avLst>
          </a:prstGeom>
          <a:solidFill>
            <a:srgbClr val="F1F1F3"/>
          </a:solidFill>
          <a:ln/>
        </p:spPr>
      </p:sp>
      <p:sp>
        <p:nvSpPr>
          <p:cNvPr id="17" name="text-973"/>
          <p:cNvSpPr txBox="1"/>
          <p:nvPr/>
        </p:nvSpPr>
        <p:spPr>
          <a:xfrm>
            <a:off x="4953000" y="18542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1500" dirty="0"/>
          </a:p>
        </p:txBody>
      </p:sp>
      <p:sp>
        <p:nvSpPr>
          <p:cNvPr id="18" name="text-974"/>
          <p:cNvSpPr txBox="1"/>
          <p:nvPr/>
        </p:nvSpPr>
        <p:spPr>
          <a:xfrm>
            <a:off x="4953000" y="2146300"/>
            <a:ext cx="234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order_id</a:t>
            </a:r>
            <a:endParaRPr lang="en-US" sz="1050" dirty="0"/>
          </a:p>
        </p:txBody>
      </p:sp>
      <p:sp>
        <p:nvSpPr>
          <p:cNvPr id="19" name="text-975"/>
          <p:cNvSpPr txBox="1"/>
          <p:nvPr/>
        </p:nvSpPr>
        <p:spPr>
          <a:xfrm>
            <a:off x="4953000" y="2387600"/>
            <a:ext cx="234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по статусам, гео снимком</a:t>
            </a:r>
            <a:endParaRPr lang="en-US" sz="950" dirty="0"/>
          </a:p>
        </p:txBody>
      </p:sp>
      <p:sp>
        <p:nvSpPr>
          <p:cNvPr id="20" name="shape-976"/>
          <p:cNvSpPr/>
          <p:nvPr/>
        </p:nvSpPr>
        <p:spPr>
          <a:xfrm>
            <a:off x="8724900" y="1676400"/>
            <a:ext cx="2743200" cy="1092200"/>
          </a:xfrm>
          <a:prstGeom prst="roundRect">
            <a:avLst>
              <a:gd name="adj" fmla="val 17442"/>
            </a:avLst>
          </a:prstGeom>
          <a:ln w="19050">
            <a:solidFill>
              <a:srgbClr val="2348FF"/>
            </a:solidFill>
            <a:prstDash val="solid"/>
          </a:ln>
        </p:spPr>
      </p:sp>
      <p:sp>
        <p:nvSpPr>
          <p:cNvPr id="21" name="shape-977"/>
          <p:cNvSpPr/>
          <p:nvPr/>
        </p:nvSpPr>
        <p:spPr>
          <a:xfrm>
            <a:off x="8763000" y="1714500"/>
            <a:ext cx="2667000" cy="101600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31750">
            <a:solidFill>
              <a:srgbClr val="2348FF"/>
            </a:solidFill>
            <a:prstDash val="solid"/>
          </a:ln>
        </p:spPr>
      </p:sp>
      <p:sp>
        <p:nvSpPr>
          <p:cNvPr id="22" name="text-978"/>
          <p:cNvSpPr txBox="1"/>
          <p:nvPr/>
        </p:nvSpPr>
        <p:spPr>
          <a:xfrm>
            <a:off x="8953500" y="18542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order_reviews</a:t>
            </a:r>
            <a:endParaRPr lang="en-US" sz="1500" dirty="0"/>
          </a:p>
        </p:txBody>
      </p:sp>
      <p:sp>
        <p:nvSpPr>
          <p:cNvPr id="23" name="text-979"/>
          <p:cNvSpPr txBox="1"/>
          <p:nvPr/>
        </p:nvSpPr>
        <p:spPr>
          <a:xfrm>
            <a:off x="8953500" y="2146300"/>
            <a:ext cx="234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review_id + order_id</a:t>
            </a:r>
            <a:endParaRPr lang="en-US" sz="1050" dirty="0"/>
          </a:p>
        </p:txBody>
      </p:sp>
      <p:sp>
        <p:nvSpPr>
          <p:cNvPr id="24" name="text-980"/>
          <p:cNvSpPr txBox="1"/>
          <p:nvPr/>
        </p:nvSpPr>
        <p:spPr>
          <a:xfrm>
            <a:off x="8953500" y="2387600"/>
            <a:ext cx="234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отзыв на нескольких заказах</a:t>
            </a:r>
            <a:endParaRPr lang="en-US" sz="950" dirty="0"/>
          </a:p>
        </p:txBody>
      </p:sp>
      <p:sp>
        <p:nvSpPr>
          <p:cNvPr id="25" name="shape-981"/>
          <p:cNvSpPr/>
          <p:nvPr/>
        </p:nvSpPr>
        <p:spPr>
          <a:xfrm>
            <a:off x="762000" y="3302000"/>
            <a:ext cx="2667000" cy="1016000"/>
          </a:xfrm>
          <a:prstGeom prst="roundRect">
            <a:avLst>
              <a:gd name="adj" fmla="val 16250"/>
            </a:avLst>
          </a:prstGeom>
          <a:solidFill>
            <a:srgbClr val="F1F1F3"/>
          </a:solidFill>
          <a:ln/>
        </p:spPr>
      </p:sp>
      <p:sp>
        <p:nvSpPr>
          <p:cNvPr id="26" name="text-982"/>
          <p:cNvSpPr txBox="1"/>
          <p:nvPr/>
        </p:nvSpPr>
        <p:spPr>
          <a:xfrm>
            <a:off x="952500" y="34417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sellers</a:t>
            </a:r>
            <a:endParaRPr lang="en-US" sz="1500" dirty="0"/>
          </a:p>
        </p:txBody>
      </p:sp>
      <p:sp>
        <p:nvSpPr>
          <p:cNvPr id="27" name="text-983"/>
          <p:cNvSpPr txBox="1"/>
          <p:nvPr/>
        </p:nvSpPr>
        <p:spPr>
          <a:xfrm>
            <a:off x="952500" y="3733800"/>
            <a:ext cx="234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seller_id</a:t>
            </a:r>
            <a:endParaRPr lang="en-US" sz="1050" dirty="0"/>
          </a:p>
        </p:txBody>
      </p:sp>
      <p:sp>
        <p:nvSpPr>
          <p:cNvPr id="28" name="text-984"/>
          <p:cNvSpPr txBox="1"/>
          <p:nvPr/>
        </p:nvSpPr>
        <p:spPr>
          <a:xfrm>
            <a:off x="952500" y="3975100"/>
            <a:ext cx="234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город и штат как в источнике</a:t>
            </a:r>
            <a:endParaRPr lang="en-US" sz="950" dirty="0"/>
          </a:p>
        </p:txBody>
      </p:sp>
      <p:sp>
        <p:nvSpPr>
          <p:cNvPr id="29" name="shape-985"/>
          <p:cNvSpPr/>
          <p:nvPr/>
        </p:nvSpPr>
        <p:spPr>
          <a:xfrm>
            <a:off x="4724400" y="3263900"/>
            <a:ext cx="2743200" cy="1092200"/>
          </a:xfrm>
          <a:prstGeom prst="roundRect">
            <a:avLst>
              <a:gd name="adj" fmla="val 17442"/>
            </a:avLst>
          </a:prstGeom>
          <a:ln w="19050">
            <a:solidFill>
              <a:srgbClr val="2348FF"/>
            </a:solidFill>
            <a:prstDash val="solid"/>
          </a:ln>
        </p:spPr>
      </p:sp>
      <p:sp>
        <p:nvSpPr>
          <p:cNvPr id="30" name="shape-986"/>
          <p:cNvSpPr/>
          <p:nvPr/>
        </p:nvSpPr>
        <p:spPr>
          <a:xfrm>
            <a:off x="4762500" y="3302000"/>
            <a:ext cx="2667000" cy="101600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31750">
            <a:solidFill>
              <a:srgbClr val="2348FF"/>
            </a:solidFill>
            <a:prstDash val="solid"/>
          </a:ln>
        </p:spPr>
      </p:sp>
      <p:sp>
        <p:nvSpPr>
          <p:cNvPr id="31" name="text-987"/>
          <p:cNvSpPr txBox="1"/>
          <p:nvPr/>
        </p:nvSpPr>
        <p:spPr>
          <a:xfrm>
            <a:off x="4953000" y="34417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order_items</a:t>
            </a:r>
            <a:endParaRPr lang="en-US" sz="1500" dirty="0"/>
          </a:p>
        </p:txBody>
      </p:sp>
      <p:sp>
        <p:nvSpPr>
          <p:cNvPr id="32" name="text-988"/>
          <p:cNvSpPr txBox="1"/>
          <p:nvPr/>
        </p:nvSpPr>
        <p:spPr>
          <a:xfrm>
            <a:off x="4953000" y="3733800"/>
            <a:ext cx="234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order_id + item_no</a:t>
            </a:r>
            <a:endParaRPr lang="en-US" sz="1050" dirty="0"/>
          </a:p>
        </p:txBody>
      </p:sp>
      <p:sp>
        <p:nvSpPr>
          <p:cNvPr id="33" name="text-989"/>
          <p:cNvSpPr txBox="1"/>
          <p:nvPr/>
        </p:nvSpPr>
        <p:spPr>
          <a:xfrm>
            <a:off x="4953000" y="3975100"/>
            <a:ext cx="234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номер позиции стал частью ключа</a:t>
            </a:r>
            <a:endParaRPr lang="en-US" sz="950" dirty="0"/>
          </a:p>
        </p:txBody>
      </p:sp>
      <p:sp>
        <p:nvSpPr>
          <p:cNvPr id="34" name="shape-990"/>
          <p:cNvSpPr/>
          <p:nvPr/>
        </p:nvSpPr>
        <p:spPr>
          <a:xfrm>
            <a:off x="8763000" y="3302000"/>
            <a:ext cx="2667000" cy="1016000"/>
          </a:xfrm>
          <a:prstGeom prst="roundRect">
            <a:avLst>
              <a:gd name="adj" fmla="val 16250"/>
            </a:avLst>
          </a:prstGeom>
          <a:solidFill>
            <a:srgbClr val="F1F1F3"/>
          </a:solidFill>
          <a:ln/>
        </p:spPr>
      </p:sp>
      <p:sp>
        <p:nvSpPr>
          <p:cNvPr id="35" name="text-991"/>
          <p:cNvSpPr txBox="1"/>
          <p:nvPr/>
        </p:nvSpPr>
        <p:spPr>
          <a:xfrm>
            <a:off x="8953500" y="34417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order_payments</a:t>
            </a:r>
            <a:endParaRPr lang="en-US" sz="1500" dirty="0"/>
          </a:p>
        </p:txBody>
      </p:sp>
      <p:sp>
        <p:nvSpPr>
          <p:cNvPr id="36" name="text-992"/>
          <p:cNvSpPr txBox="1"/>
          <p:nvPr/>
        </p:nvSpPr>
        <p:spPr>
          <a:xfrm>
            <a:off x="8953500" y="3733800"/>
            <a:ext cx="234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order_id + payment_no</a:t>
            </a:r>
            <a:endParaRPr lang="en-US" sz="1050" dirty="0"/>
          </a:p>
        </p:txBody>
      </p:sp>
      <p:sp>
        <p:nvSpPr>
          <p:cNvPr id="37" name="text-993"/>
          <p:cNvSpPr txBox="1"/>
          <p:nvPr/>
        </p:nvSpPr>
        <p:spPr>
          <a:xfrm>
            <a:off x="8953500" y="3975100"/>
            <a:ext cx="234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несколько платежей легально</a:t>
            </a:r>
            <a:endParaRPr lang="en-US" sz="950" dirty="0"/>
          </a:p>
        </p:txBody>
      </p:sp>
      <p:sp>
        <p:nvSpPr>
          <p:cNvPr id="38" name="shape-994"/>
          <p:cNvSpPr/>
          <p:nvPr/>
        </p:nvSpPr>
        <p:spPr>
          <a:xfrm>
            <a:off x="762000" y="4889500"/>
            <a:ext cx="2667000" cy="1016000"/>
          </a:xfrm>
          <a:prstGeom prst="roundRect">
            <a:avLst>
              <a:gd name="adj" fmla="val 16250"/>
            </a:avLst>
          </a:prstGeom>
          <a:solidFill>
            <a:srgbClr val="F1F1F3"/>
          </a:solidFill>
          <a:ln/>
        </p:spPr>
      </p:sp>
      <p:sp>
        <p:nvSpPr>
          <p:cNvPr id="39" name="text-995"/>
          <p:cNvSpPr txBox="1"/>
          <p:nvPr/>
        </p:nvSpPr>
        <p:spPr>
          <a:xfrm>
            <a:off x="952500" y="50292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product_categories</a:t>
            </a:r>
            <a:endParaRPr lang="en-US" sz="1500" dirty="0"/>
          </a:p>
        </p:txBody>
      </p:sp>
      <p:sp>
        <p:nvSpPr>
          <p:cNvPr id="40" name="text-996"/>
          <p:cNvSpPr txBox="1"/>
          <p:nvPr/>
        </p:nvSpPr>
        <p:spPr>
          <a:xfrm>
            <a:off x="952500" y="5321300"/>
            <a:ext cx="234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category_name</a:t>
            </a:r>
            <a:endParaRPr lang="en-US" sz="1050" dirty="0"/>
          </a:p>
        </p:txBody>
      </p:sp>
      <p:sp>
        <p:nvSpPr>
          <p:cNvPr id="41" name="text-997"/>
          <p:cNvSpPr txBox="1"/>
          <p:nvPr/>
        </p:nvSpPr>
        <p:spPr>
          <a:xfrm>
            <a:off x="952500" y="5562600"/>
            <a:ext cx="234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товаров, перевод опционален</a:t>
            </a:r>
            <a:endParaRPr lang="en-US" sz="950" dirty="0"/>
          </a:p>
        </p:txBody>
      </p:sp>
      <p:sp>
        <p:nvSpPr>
          <p:cNvPr id="42" name="shape-998"/>
          <p:cNvSpPr/>
          <p:nvPr/>
        </p:nvSpPr>
        <p:spPr>
          <a:xfrm>
            <a:off x="4762500" y="4889500"/>
            <a:ext cx="2667000" cy="1016000"/>
          </a:xfrm>
          <a:prstGeom prst="roundRect">
            <a:avLst>
              <a:gd name="adj" fmla="val 16250"/>
            </a:avLst>
          </a:prstGeom>
          <a:solidFill>
            <a:srgbClr val="F1F1F3"/>
          </a:solidFill>
          <a:ln/>
        </p:spPr>
      </p:sp>
      <p:sp>
        <p:nvSpPr>
          <p:cNvPr id="43" name="text-999"/>
          <p:cNvSpPr txBox="1"/>
          <p:nvPr/>
        </p:nvSpPr>
        <p:spPr>
          <a:xfrm>
            <a:off x="4953000" y="50292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500" dirty="0"/>
          </a:p>
        </p:txBody>
      </p:sp>
      <p:sp>
        <p:nvSpPr>
          <p:cNvPr id="44" name="text-1000"/>
          <p:cNvSpPr txBox="1"/>
          <p:nvPr/>
        </p:nvSpPr>
        <p:spPr>
          <a:xfrm>
            <a:off x="4953000" y="5321300"/>
            <a:ext cx="234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product_id</a:t>
            </a:r>
            <a:endParaRPr lang="en-US" sz="1050" dirty="0"/>
          </a:p>
        </p:txBody>
      </p:sp>
      <p:sp>
        <p:nvSpPr>
          <p:cNvPr id="45" name="text-1001"/>
          <p:cNvSpPr txBox="1"/>
          <p:nvPr/>
        </p:nvSpPr>
        <p:spPr>
          <a:xfrm>
            <a:off x="4953000" y="5562600"/>
            <a:ext cx="234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категория: nullable FK</a:t>
            </a:r>
            <a:endParaRPr lang="en-US" sz="950" dirty="0"/>
          </a:p>
        </p:txBody>
      </p:sp>
      <p:sp>
        <p:nvSpPr>
          <p:cNvPr id="46" name="shape-1002"/>
          <p:cNvSpPr/>
          <p:nvPr/>
        </p:nvSpPr>
        <p:spPr>
          <a:xfrm>
            <a:off x="4705350" y="2165350"/>
            <a:ext cx="114300" cy="1143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47" name="shape-1003"/>
          <p:cNvSpPr/>
          <p:nvPr/>
        </p:nvSpPr>
        <p:spPr>
          <a:xfrm>
            <a:off x="8705850" y="2165350"/>
            <a:ext cx="114300" cy="1143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48" name="shape-1004"/>
          <p:cNvSpPr/>
          <p:nvPr/>
        </p:nvSpPr>
        <p:spPr>
          <a:xfrm>
            <a:off x="6038850" y="3244850"/>
            <a:ext cx="114300" cy="1143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49" name="shape-1005"/>
          <p:cNvSpPr/>
          <p:nvPr/>
        </p:nvSpPr>
        <p:spPr>
          <a:xfrm>
            <a:off x="3371850" y="3752850"/>
            <a:ext cx="114300" cy="1143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50" name="shape-1006"/>
          <p:cNvSpPr/>
          <p:nvPr/>
        </p:nvSpPr>
        <p:spPr>
          <a:xfrm>
            <a:off x="6038850" y="4832350"/>
            <a:ext cx="114300" cy="1143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51" name="shape-1007"/>
          <p:cNvSpPr/>
          <p:nvPr/>
        </p:nvSpPr>
        <p:spPr>
          <a:xfrm>
            <a:off x="3371850" y="5340350"/>
            <a:ext cx="114300" cy="1143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52" name="shape-1008"/>
          <p:cNvSpPr/>
          <p:nvPr/>
        </p:nvSpPr>
        <p:spPr>
          <a:xfrm>
            <a:off x="8705850" y="3752850"/>
            <a:ext cx="114300" cy="1143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53" name="run-1009"/>
          <p:cNvSpPr/>
          <p:nvPr/>
        </p:nvSpPr>
        <p:spPr>
          <a:xfrm>
            <a:off x="6057900" y="2692400"/>
            <a:ext cx="76200" cy="762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54" name="run-1010"/>
          <p:cNvSpPr/>
          <p:nvPr/>
        </p:nvSpPr>
        <p:spPr>
          <a:xfrm>
            <a:off x="6057900" y="4279900"/>
            <a:ext cx="76200" cy="762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55" name="run-1011"/>
          <p:cNvSpPr/>
          <p:nvPr/>
        </p:nvSpPr>
        <p:spPr>
          <a:xfrm>
            <a:off x="4724400" y="2184400"/>
            <a:ext cx="76200" cy="762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56" name="run-1012"/>
          <p:cNvSpPr/>
          <p:nvPr/>
        </p:nvSpPr>
        <p:spPr>
          <a:xfrm>
            <a:off x="7391400" y="2438400"/>
            <a:ext cx="76200" cy="762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57" name="shape-1013"/>
          <p:cNvSpPr/>
          <p:nvPr/>
        </p:nvSpPr>
        <p:spPr>
          <a:xfrm>
            <a:off x="8763000" y="4921250"/>
            <a:ext cx="1397000" cy="292100"/>
          </a:xfrm>
          <a:prstGeom prst="roundRect">
            <a:avLst>
              <a:gd name="adj" fmla="val 50000"/>
            </a:avLst>
          </a:prstGeom>
          <a:solidFill>
            <a:srgbClr val="F1F1F3"/>
          </a:solidFill>
          <a:ln/>
        </p:spPr>
      </p:sp>
      <p:sp>
        <p:nvSpPr>
          <p:cNvPr id="58" name="text-1014"/>
          <p:cNvSpPr txBox="1"/>
          <p:nvPr/>
        </p:nvSpPr>
        <p:spPr>
          <a:xfrm>
            <a:off x="8763000" y="492125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деньги numeric</a:t>
            </a:r>
            <a:endParaRPr lang="en-US" sz="1050" dirty="0"/>
          </a:p>
        </p:txBody>
      </p:sp>
      <p:sp>
        <p:nvSpPr>
          <p:cNvPr id="59" name="shape-1015"/>
          <p:cNvSpPr/>
          <p:nvPr/>
        </p:nvSpPr>
        <p:spPr>
          <a:xfrm>
            <a:off x="8763000" y="5289550"/>
            <a:ext cx="1397000" cy="292100"/>
          </a:xfrm>
          <a:prstGeom prst="roundRect">
            <a:avLst>
              <a:gd name="adj" fmla="val 50000"/>
            </a:avLst>
          </a:prstGeom>
          <a:solidFill>
            <a:srgbClr val="F1F1F3"/>
          </a:solidFill>
          <a:ln/>
        </p:spPr>
      </p:sp>
      <p:sp>
        <p:nvSpPr>
          <p:cNvPr id="60" name="text-1016"/>
          <p:cNvSpPr txBox="1"/>
          <p:nvPr/>
        </p:nvSpPr>
        <p:spPr>
          <a:xfrm>
            <a:off x="8763000" y="528955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даты timestamp</a:t>
            </a:r>
            <a:endParaRPr lang="en-US" sz="1050" dirty="0"/>
          </a:p>
        </p:txBody>
      </p:sp>
      <p:sp>
        <p:nvSpPr>
          <p:cNvPr id="61" name="shape-1017"/>
          <p:cNvSpPr/>
          <p:nvPr/>
        </p:nvSpPr>
        <p:spPr>
          <a:xfrm>
            <a:off x="7493000" y="5657850"/>
            <a:ext cx="3937000" cy="292100"/>
          </a:xfrm>
          <a:prstGeom prst="roundRect">
            <a:avLst>
              <a:gd name="adj" fmla="val 50000"/>
            </a:avLst>
          </a:prstGeom>
          <a:solidFill>
            <a:srgbClr val="2348FF"/>
          </a:solidFill>
          <a:ln/>
        </p:spPr>
      </p:sp>
      <p:sp>
        <p:nvSpPr>
          <p:cNvPr id="62" name="text-1018"/>
          <p:cNvSpPr txBox="1"/>
          <p:nvPr/>
        </p:nvSpPr>
        <p:spPr>
          <a:xfrm>
            <a:off x="7493000" y="5657850"/>
            <a:ext cx="393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дубль или провисшая связь не запишется</a:t>
            </a:r>
            <a:endParaRPr lang="en-US" sz="105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6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2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2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2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2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2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2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26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26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26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26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2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2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26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26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1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2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1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2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16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1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16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16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3" presetClass="entr" presetSubtype="16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1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1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53" presetClass="entr" presetSubtype="16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1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4" dur="5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8" dur="5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2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5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2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6" dur="5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000 0.0833 E" pathEditMode="relative" ptsTypes="">
                                      <p:cBhvr>
                                        <p:cTn id="239" dur="1400" repeatCount="indefinite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24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8" dur="24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-0.1094 0.0000 E" pathEditMode="relative" ptsTypes="">
                                      <p:cBhvr>
                                        <p:cTn id="261" dur="1700" repeatCount="indefinite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2" presetID="6" presetClass="emph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263" dur="1100" repeatCount="indefinite" accel="50000" decel="500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264" presetID="6" presetClass="emph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265" dur="1100" repeatCount="indefinite" accel="50000" decel="500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266" presetID="6" presetClass="emph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267" dur="1100" repeatCount="indefinite" accel="50000" decel="5000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268" presetID="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000 0.0833 E" pathEditMode="relative" ptsTypes="">
                                      <p:cBhvr>
                                        <p:cTn id="270" dur="1400" repeatCount="indefinite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547 0.0000 L 0.0547 0.1944 L 0.1094 0.1944 E" pathEditMode="relative" ptsTypes="">
                                      <p:cBhvr>
                                        <p:cTn id="273" dur="2400" repeatCount="indefinite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1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0" grpId="1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9" grpId="1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019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именно так</a:t>
            </a:r>
            <a:endParaRPr lang="en-US" sz="3400" dirty="0"/>
          </a:p>
        </p:txBody>
      </p:sp>
      <p:sp>
        <p:nvSpPr>
          <p:cNvPr id="4" name="text-1020"/>
          <p:cNvSpPr txBox="1"/>
          <p:nvPr/>
        </p:nvSpPr>
        <p:spPr>
          <a:xfrm>
            <a:off x="2730500" y="163830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наивно</a:t>
            </a:r>
            <a:endParaRPr lang="en-US" sz="1000" dirty="0"/>
          </a:p>
        </p:txBody>
      </p:sp>
      <p:sp>
        <p:nvSpPr>
          <p:cNvPr id="5" name="text-1021"/>
          <p:cNvSpPr txBox="1"/>
          <p:nvPr/>
        </p:nvSpPr>
        <p:spPr>
          <a:xfrm>
            <a:off x="4889500" y="16383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модели</a:t>
            </a:r>
            <a:endParaRPr lang="en-US" sz="1000" dirty="0"/>
          </a:p>
        </p:txBody>
      </p:sp>
      <p:sp>
        <p:nvSpPr>
          <p:cNvPr id="6" name="text-1022"/>
          <p:cNvSpPr txBox="1"/>
          <p:nvPr/>
        </p:nvSpPr>
        <p:spPr>
          <a:xfrm>
            <a:off x="6921500" y="1638300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потеря</a:t>
            </a:r>
            <a:endParaRPr lang="en-US" sz="1000" dirty="0"/>
          </a:p>
        </p:txBody>
      </p:sp>
      <p:sp>
        <p:nvSpPr>
          <p:cNvPr id="7" name="text-1023"/>
          <p:cNvSpPr txBox="1"/>
          <p:nvPr/>
        </p:nvSpPr>
        <p:spPr>
          <a:xfrm>
            <a:off x="8763000" y="16383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8" name="shape-1024"/>
          <p:cNvSpPr/>
          <p:nvPr/>
        </p:nvSpPr>
        <p:spPr>
          <a:xfrm>
            <a:off x="762000" y="1905000"/>
            <a:ext cx="10668000" cy="685800"/>
          </a:xfrm>
          <a:prstGeom prst="roundRect">
            <a:avLst>
              <a:gd name="adj" fmla="val 20370"/>
            </a:avLst>
          </a:prstGeom>
          <a:solidFill>
            <a:srgbClr val="F1F1F3"/>
          </a:solidFill>
          <a:ln/>
        </p:spPr>
      </p:sp>
      <p:sp>
        <p:nvSpPr>
          <p:cNvPr id="9" name="text-1025"/>
          <p:cNvSpPr txBox="1"/>
          <p:nvPr/>
        </p:nvSpPr>
        <p:spPr>
          <a:xfrm>
            <a:off x="939800" y="1905000"/>
            <a:ext cx="171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Покупатель</a:t>
            </a:r>
            <a:endParaRPr lang="en-US" sz="1350" dirty="0"/>
          </a:p>
        </p:txBody>
      </p:sp>
      <p:sp>
        <p:nvSpPr>
          <p:cNvPr id="10" name="text-1026"/>
          <p:cNvSpPr txBox="1"/>
          <p:nvPr/>
        </p:nvSpPr>
        <p:spPr>
          <a:xfrm>
            <a:off x="2730500" y="1905000"/>
            <a:ext cx="184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99 441</a:t>
            </a:r>
            <a:endParaRPr lang="en-US" sz="1600" dirty="0"/>
          </a:p>
        </p:txBody>
      </p:sp>
      <p:sp>
        <p:nvSpPr>
          <p:cNvPr id="11" name="shape-1027"/>
          <p:cNvSpPr/>
          <p:nvPr/>
        </p:nvSpPr>
        <p:spPr>
          <a:xfrm>
            <a:off x="2730500" y="2235200"/>
            <a:ext cx="707136" cy="25400"/>
          </a:xfrm>
          <a:prstGeom prst="rect">
            <a:avLst/>
          </a:prstGeom>
          <a:solidFill>
            <a:srgbClr val="D3263A"/>
          </a:solidFill>
          <a:ln/>
        </p:spPr>
      </p:sp>
      <p:pic>
        <p:nvPicPr>
          <p:cNvPr id="12" name="pic-1028" descr="W:\Projects\hacks\rwb-new\presentation\pptx\assets\ico-arrow-right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2146300"/>
            <a:ext cx="203200" cy="203200"/>
          </a:xfrm>
          <a:prstGeom prst="rect">
            <a:avLst/>
          </a:prstGeom>
        </p:spPr>
      </p:pic>
      <p:sp>
        <p:nvSpPr>
          <p:cNvPr id="13" name="text-1029"/>
          <p:cNvSpPr txBox="1"/>
          <p:nvPr/>
        </p:nvSpPr>
        <p:spPr>
          <a:xfrm>
            <a:off x="4889500" y="1905000"/>
            <a:ext cx="1968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96 096</a:t>
            </a:r>
            <a:endParaRPr lang="en-US" sz="1700" dirty="0"/>
          </a:p>
        </p:txBody>
      </p:sp>
      <p:sp>
        <p:nvSpPr>
          <p:cNvPr id="14" name="shape-1030"/>
          <p:cNvSpPr/>
          <p:nvPr/>
        </p:nvSpPr>
        <p:spPr>
          <a:xfrm>
            <a:off x="6921500" y="2101850"/>
            <a:ext cx="1587500" cy="292100"/>
          </a:xfrm>
          <a:prstGeom prst="roundRect">
            <a:avLst>
              <a:gd name="adj" fmla="val 50000"/>
            </a:avLst>
          </a:prstGeom>
          <a:solidFill>
            <a:srgbClr val="FBE9EB"/>
          </a:solidFill>
          <a:ln/>
        </p:spPr>
      </p:sp>
      <p:sp>
        <p:nvSpPr>
          <p:cNvPr id="15" name="text-1031"/>
          <p:cNvSpPr txBox="1"/>
          <p:nvPr/>
        </p:nvSpPr>
        <p:spPr>
          <a:xfrm>
            <a:off x="6921500" y="2101850"/>
            <a:ext cx="158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3 345 дублей</a:t>
            </a:r>
            <a:endParaRPr lang="en-US" sz="1000" dirty="0"/>
          </a:p>
        </p:txBody>
      </p:sp>
      <p:sp>
        <p:nvSpPr>
          <p:cNvPr id="16" name="text-1032"/>
          <p:cNvSpPr txBox="1"/>
          <p:nvPr/>
        </p:nvSpPr>
        <p:spPr>
          <a:xfrm>
            <a:off x="8763000" y="1905000"/>
            <a:ext cx="25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customer_unique_id, повторных 3,12% вместо 0</a:t>
            </a:r>
            <a:endParaRPr lang="en-US" sz="1000" dirty="0"/>
          </a:p>
        </p:txBody>
      </p:sp>
      <p:sp>
        <p:nvSpPr>
          <p:cNvPr id="17" name="shape-1033"/>
          <p:cNvSpPr/>
          <p:nvPr/>
        </p:nvSpPr>
        <p:spPr>
          <a:xfrm>
            <a:off x="762000" y="2692400"/>
            <a:ext cx="10668000" cy="685800"/>
          </a:xfrm>
          <a:prstGeom prst="roundRect">
            <a:avLst>
              <a:gd name="adj" fmla="val 20370"/>
            </a:avLst>
          </a:prstGeom>
          <a:solidFill>
            <a:srgbClr val="F1F1F3"/>
          </a:solidFill>
          <a:ln/>
        </p:spPr>
      </p:sp>
      <p:sp>
        <p:nvSpPr>
          <p:cNvPr id="18" name="text-1034"/>
          <p:cNvSpPr txBox="1"/>
          <p:nvPr/>
        </p:nvSpPr>
        <p:spPr>
          <a:xfrm>
            <a:off x="939800" y="2692400"/>
            <a:ext cx="171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География</a:t>
            </a:r>
            <a:endParaRPr lang="en-US" sz="1350" dirty="0"/>
          </a:p>
        </p:txBody>
      </p:sp>
      <p:sp>
        <p:nvSpPr>
          <p:cNvPr id="19" name="text-1035"/>
          <p:cNvSpPr txBox="1"/>
          <p:nvPr/>
        </p:nvSpPr>
        <p:spPr>
          <a:xfrm>
            <a:off x="2730500" y="2692400"/>
            <a:ext cx="184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адрес сейчас</a:t>
            </a:r>
            <a:endParaRPr lang="en-US" sz="1600" dirty="0"/>
          </a:p>
        </p:txBody>
      </p:sp>
      <p:sp>
        <p:nvSpPr>
          <p:cNvPr id="20" name="shape-1036"/>
          <p:cNvSpPr/>
          <p:nvPr/>
        </p:nvSpPr>
        <p:spPr>
          <a:xfrm>
            <a:off x="2730500" y="3022600"/>
            <a:ext cx="1414272" cy="25400"/>
          </a:xfrm>
          <a:prstGeom prst="rect">
            <a:avLst/>
          </a:prstGeom>
          <a:solidFill>
            <a:srgbClr val="D3263A"/>
          </a:solidFill>
          <a:ln/>
        </p:spPr>
      </p:sp>
      <p:pic>
        <p:nvPicPr>
          <p:cNvPr id="21" name="pic-1037" descr="W:\Projects\hacks\rwb-new\presentation\pptx\assets\ico-arrow-right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2933700"/>
            <a:ext cx="203200" cy="203200"/>
          </a:xfrm>
          <a:prstGeom prst="rect">
            <a:avLst/>
          </a:prstGeom>
        </p:spPr>
      </p:pic>
      <p:sp>
        <p:nvSpPr>
          <p:cNvPr id="22" name="text-1038"/>
          <p:cNvSpPr txBox="1"/>
          <p:nvPr/>
        </p:nvSpPr>
        <p:spPr>
          <a:xfrm>
            <a:off x="4889500" y="2692400"/>
            <a:ext cx="1968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адрес в заказе</a:t>
            </a:r>
            <a:endParaRPr lang="en-US" sz="1700" dirty="0"/>
          </a:p>
        </p:txBody>
      </p:sp>
      <p:sp>
        <p:nvSpPr>
          <p:cNvPr id="23" name="shape-1039"/>
          <p:cNvSpPr/>
          <p:nvPr/>
        </p:nvSpPr>
        <p:spPr>
          <a:xfrm>
            <a:off x="6921500" y="2889250"/>
            <a:ext cx="1587500" cy="292100"/>
          </a:xfrm>
          <a:prstGeom prst="roundRect">
            <a:avLst>
              <a:gd name="adj" fmla="val 50000"/>
            </a:avLst>
          </a:prstGeom>
          <a:solidFill>
            <a:srgbClr val="FBE9EB"/>
          </a:solidFill>
          <a:ln/>
        </p:spPr>
      </p:sp>
      <p:sp>
        <p:nvSpPr>
          <p:cNvPr id="24" name="text-1040"/>
          <p:cNvSpPr txBox="1"/>
          <p:nvPr/>
        </p:nvSpPr>
        <p:spPr>
          <a:xfrm>
            <a:off x="6921500" y="2889250"/>
            <a:ext cx="158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переездов</a:t>
            </a:r>
            <a:endParaRPr lang="en-US" sz="1000" dirty="0"/>
          </a:p>
        </p:txBody>
      </p:sp>
      <p:sp>
        <p:nvSpPr>
          <p:cNvPr id="25" name="text-1041"/>
          <p:cNvSpPr txBox="1"/>
          <p:nvPr/>
        </p:nvSpPr>
        <p:spPr>
          <a:xfrm>
            <a:off x="8763000" y="2692400"/>
            <a:ext cx="25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снимок в заказе, регионы не плывут</a:t>
            </a:r>
            <a:endParaRPr lang="en-US" sz="1000" dirty="0"/>
          </a:p>
        </p:txBody>
      </p:sp>
      <p:sp>
        <p:nvSpPr>
          <p:cNvPr id="26" name="shape-1042"/>
          <p:cNvSpPr/>
          <p:nvPr/>
        </p:nvSpPr>
        <p:spPr>
          <a:xfrm>
            <a:off x="762000" y="3479800"/>
            <a:ext cx="10668000" cy="685800"/>
          </a:xfrm>
          <a:prstGeom prst="roundRect">
            <a:avLst>
              <a:gd name="adj" fmla="val 20370"/>
            </a:avLst>
          </a:prstGeom>
          <a:solidFill>
            <a:srgbClr val="F1F1F3"/>
          </a:solidFill>
          <a:ln/>
        </p:spPr>
      </p:sp>
      <p:sp>
        <p:nvSpPr>
          <p:cNvPr id="27" name="text-1043"/>
          <p:cNvSpPr txBox="1"/>
          <p:nvPr/>
        </p:nvSpPr>
        <p:spPr>
          <a:xfrm>
            <a:off x="939800" y="3479800"/>
            <a:ext cx="171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Категории</a:t>
            </a:r>
            <a:endParaRPr lang="en-US" sz="1350" dirty="0"/>
          </a:p>
        </p:txBody>
      </p:sp>
      <p:sp>
        <p:nvSpPr>
          <p:cNvPr id="28" name="text-1044"/>
          <p:cNvSpPr txBox="1"/>
          <p:nvPr/>
        </p:nvSpPr>
        <p:spPr>
          <a:xfrm>
            <a:off x="2730500" y="3479800"/>
            <a:ext cx="184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600" dirty="0"/>
          </a:p>
        </p:txBody>
      </p:sp>
      <p:sp>
        <p:nvSpPr>
          <p:cNvPr id="29" name="shape-1045"/>
          <p:cNvSpPr/>
          <p:nvPr/>
        </p:nvSpPr>
        <p:spPr>
          <a:xfrm>
            <a:off x="2730500" y="3810000"/>
            <a:ext cx="235712" cy="25400"/>
          </a:xfrm>
          <a:prstGeom prst="rect">
            <a:avLst/>
          </a:prstGeom>
          <a:solidFill>
            <a:srgbClr val="D3263A"/>
          </a:solidFill>
          <a:ln/>
        </p:spPr>
      </p:sp>
      <p:pic>
        <p:nvPicPr>
          <p:cNvPr id="30" name="pic-1046" descr="W:\Projects\hacks\rwb-new\presentation\pptx\assets\ico-arrow-right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3721100"/>
            <a:ext cx="203200" cy="203200"/>
          </a:xfrm>
          <a:prstGeom prst="rect">
            <a:avLst/>
          </a:prstGeom>
        </p:spPr>
      </p:pic>
      <p:sp>
        <p:nvSpPr>
          <p:cNvPr id="31" name="text-1047"/>
          <p:cNvSpPr txBox="1"/>
          <p:nvPr/>
        </p:nvSpPr>
        <p:spPr>
          <a:xfrm>
            <a:off x="4889500" y="3479800"/>
            <a:ext cx="1968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700" dirty="0"/>
          </a:p>
        </p:txBody>
      </p:sp>
      <p:sp>
        <p:nvSpPr>
          <p:cNvPr id="32" name="shape-1048"/>
          <p:cNvSpPr/>
          <p:nvPr/>
        </p:nvSpPr>
        <p:spPr>
          <a:xfrm>
            <a:off x="6921500" y="3676650"/>
            <a:ext cx="1587500" cy="292100"/>
          </a:xfrm>
          <a:prstGeom prst="roundRect">
            <a:avLst>
              <a:gd name="adj" fmla="val 50000"/>
            </a:avLst>
          </a:prstGeom>
          <a:solidFill>
            <a:srgbClr val="FBE9EB"/>
          </a:solidFill>
          <a:ln/>
        </p:spPr>
      </p:sp>
      <p:sp>
        <p:nvSpPr>
          <p:cNvPr id="33" name="text-1049"/>
          <p:cNvSpPr txBox="1"/>
          <p:nvPr/>
        </p:nvSpPr>
        <p:spPr>
          <a:xfrm>
            <a:off x="6921500" y="3676650"/>
            <a:ext cx="158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 категории</a:t>
            </a:r>
            <a:endParaRPr lang="en-US" sz="1000" dirty="0"/>
          </a:p>
        </p:txBody>
      </p:sp>
      <p:sp>
        <p:nvSpPr>
          <p:cNvPr id="34" name="text-1050"/>
          <p:cNvSpPr txBox="1"/>
          <p:nvPr/>
        </p:nvSpPr>
        <p:spPr>
          <a:xfrm>
            <a:off x="8763000" y="3479800"/>
            <a:ext cx="25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справочник из товаров, перевод опционален</a:t>
            </a:r>
            <a:endParaRPr lang="en-US" sz="1000" dirty="0"/>
          </a:p>
        </p:txBody>
      </p:sp>
      <p:sp>
        <p:nvSpPr>
          <p:cNvPr id="35" name="shape-1051"/>
          <p:cNvSpPr/>
          <p:nvPr/>
        </p:nvSpPr>
        <p:spPr>
          <a:xfrm>
            <a:off x="762000" y="4267200"/>
            <a:ext cx="10668000" cy="685800"/>
          </a:xfrm>
          <a:prstGeom prst="roundRect">
            <a:avLst>
              <a:gd name="adj" fmla="val 20370"/>
            </a:avLst>
          </a:prstGeom>
          <a:solidFill>
            <a:srgbClr val="F1F1F3"/>
          </a:solidFill>
          <a:ln/>
        </p:spPr>
      </p:sp>
      <p:sp>
        <p:nvSpPr>
          <p:cNvPr id="36" name="text-1052"/>
          <p:cNvSpPr txBox="1"/>
          <p:nvPr/>
        </p:nvSpPr>
        <p:spPr>
          <a:xfrm>
            <a:off x="939800" y="4267200"/>
            <a:ext cx="171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категории</a:t>
            </a:r>
            <a:endParaRPr lang="en-US" sz="1350" dirty="0"/>
          </a:p>
        </p:txBody>
      </p:sp>
      <p:sp>
        <p:nvSpPr>
          <p:cNvPr id="37" name="text-1053"/>
          <p:cNvSpPr txBox="1"/>
          <p:nvPr/>
        </p:nvSpPr>
        <p:spPr>
          <a:xfrm>
            <a:off x="2730500" y="4267200"/>
            <a:ext cx="184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13 050 771,48</a:t>
            </a:r>
            <a:endParaRPr lang="en-US" sz="1600" dirty="0"/>
          </a:p>
        </p:txBody>
      </p:sp>
      <p:sp>
        <p:nvSpPr>
          <p:cNvPr id="38" name="shape-1054"/>
          <p:cNvSpPr/>
          <p:nvPr/>
        </p:nvSpPr>
        <p:spPr>
          <a:xfrm>
            <a:off x="2730500" y="4597400"/>
            <a:ext cx="1532128" cy="25400"/>
          </a:xfrm>
          <a:prstGeom prst="rect">
            <a:avLst/>
          </a:prstGeom>
          <a:solidFill>
            <a:srgbClr val="D3263A"/>
          </a:solidFill>
          <a:ln/>
        </p:spPr>
      </p:sp>
      <p:pic>
        <p:nvPicPr>
          <p:cNvPr id="39" name="pic-1055" descr="W:\Projects\hacks\rwb-new\presentation\pptx\assets\ico-arrow-right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4508500"/>
            <a:ext cx="203200" cy="203200"/>
          </a:xfrm>
          <a:prstGeom prst="rect">
            <a:avLst/>
          </a:prstGeom>
        </p:spPr>
      </p:pic>
      <p:sp>
        <p:nvSpPr>
          <p:cNvPr id="40" name="text-1056"/>
          <p:cNvSpPr txBox="1"/>
          <p:nvPr/>
        </p:nvSpPr>
        <p:spPr>
          <a:xfrm>
            <a:off x="4889500" y="4267200"/>
            <a:ext cx="1968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13 221 498,11</a:t>
            </a:r>
            <a:endParaRPr lang="en-US" sz="1700" dirty="0"/>
          </a:p>
        </p:txBody>
      </p:sp>
      <p:sp>
        <p:nvSpPr>
          <p:cNvPr id="41" name="shape-1057"/>
          <p:cNvSpPr/>
          <p:nvPr/>
        </p:nvSpPr>
        <p:spPr>
          <a:xfrm>
            <a:off x="6921500" y="4464050"/>
            <a:ext cx="1587500" cy="292100"/>
          </a:xfrm>
          <a:prstGeom prst="roundRect">
            <a:avLst>
              <a:gd name="adj" fmla="val 50000"/>
            </a:avLst>
          </a:prstGeom>
          <a:solidFill>
            <a:srgbClr val="FBE9EB"/>
          </a:solidFill>
          <a:ln/>
        </p:spPr>
      </p:sp>
      <p:sp>
        <p:nvSpPr>
          <p:cNvPr id="42" name="text-1058"/>
          <p:cNvSpPr txBox="1"/>
          <p:nvPr/>
        </p:nvSpPr>
        <p:spPr>
          <a:xfrm>
            <a:off x="6921500" y="4464050"/>
            <a:ext cx="158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−170 726,63</a:t>
            </a:r>
            <a:endParaRPr lang="en-US" sz="1000" dirty="0"/>
          </a:p>
        </p:txBody>
      </p:sp>
      <p:sp>
        <p:nvSpPr>
          <p:cNvPr id="43" name="text-1059"/>
          <p:cNvSpPr txBox="1"/>
          <p:nvPr/>
        </p:nvSpPr>
        <p:spPr>
          <a:xfrm>
            <a:off x="8763000" y="4267200"/>
            <a:ext cx="25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отдельная строка, сумма сходится</a:t>
            </a:r>
            <a:endParaRPr lang="en-US" sz="1000" dirty="0"/>
          </a:p>
        </p:txBody>
      </p:sp>
      <p:sp>
        <p:nvSpPr>
          <p:cNvPr id="44" name="shape-1060"/>
          <p:cNvSpPr/>
          <p:nvPr/>
        </p:nvSpPr>
        <p:spPr>
          <a:xfrm>
            <a:off x="762000" y="5054600"/>
            <a:ext cx="10668000" cy="685800"/>
          </a:xfrm>
          <a:prstGeom prst="roundRect">
            <a:avLst>
              <a:gd name="adj" fmla="val 20370"/>
            </a:avLst>
          </a:prstGeom>
          <a:solidFill>
            <a:srgbClr val="F1F1F3"/>
          </a:solidFill>
          <a:ln/>
        </p:spPr>
      </p:sp>
      <p:sp>
        <p:nvSpPr>
          <p:cNvPr id="45" name="text-1061"/>
          <p:cNvSpPr txBox="1"/>
          <p:nvPr/>
        </p:nvSpPr>
        <p:spPr>
          <a:xfrm>
            <a:off x="939800" y="5054600"/>
            <a:ext cx="171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Заказы в отчётах</a:t>
            </a:r>
            <a:endParaRPr lang="en-US" sz="1350" dirty="0"/>
          </a:p>
        </p:txBody>
      </p:sp>
      <p:sp>
        <p:nvSpPr>
          <p:cNvPr id="46" name="text-1062"/>
          <p:cNvSpPr txBox="1"/>
          <p:nvPr/>
        </p:nvSpPr>
        <p:spPr>
          <a:xfrm>
            <a:off x="2730500" y="5054600"/>
            <a:ext cx="184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98 666</a:t>
            </a:r>
            <a:endParaRPr lang="en-US" sz="1600" dirty="0"/>
          </a:p>
        </p:txBody>
      </p:sp>
      <p:sp>
        <p:nvSpPr>
          <p:cNvPr id="47" name="shape-1063"/>
          <p:cNvSpPr/>
          <p:nvPr/>
        </p:nvSpPr>
        <p:spPr>
          <a:xfrm>
            <a:off x="2730500" y="5384800"/>
            <a:ext cx="707136" cy="25400"/>
          </a:xfrm>
          <a:prstGeom prst="rect">
            <a:avLst/>
          </a:prstGeom>
          <a:solidFill>
            <a:srgbClr val="D3263A"/>
          </a:solidFill>
          <a:ln/>
        </p:spPr>
      </p:sp>
      <p:pic>
        <p:nvPicPr>
          <p:cNvPr id="48" name="pic-1064" descr="W:\Projects\hacks\rwb-new\presentation\pptx\assets\ico-arrow-right-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5295900"/>
            <a:ext cx="203200" cy="203200"/>
          </a:xfrm>
          <a:prstGeom prst="rect">
            <a:avLst/>
          </a:prstGeom>
        </p:spPr>
      </p:pic>
      <p:sp>
        <p:nvSpPr>
          <p:cNvPr id="49" name="text-1065"/>
          <p:cNvSpPr txBox="1"/>
          <p:nvPr/>
        </p:nvSpPr>
        <p:spPr>
          <a:xfrm>
            <a:off x="4889500" y="5054600"/>
            <a:ext cx="1968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99 441</a:t>
            </a:r>
            <a:endParaRPr lang="en-US" sz="1700" dirty="0"/>
          </a:p>
        </p:txBody>
      </p:sp>
      <p:sp>
        <p:nvSpPr>
          <p:cNvPr id="50" name="shape-1066"/>
          <p:cNvSpPr/>
          <p:nvPr/>
        </p:nvSpPr>
        <p:spPr>
          <a:xfrm>
            <a:off x="6921500" y="5251450"/>
            <a:ext cx="1587500" cy="292100"/>
          </a:xfrm>
          <a:prstGeom prst="roundRect">
            <a:avLst>
              <a:gd name="adj" fmla="val 50000"/>
            </a:avLst>
          </a:prstGeom>
          <a:solidFill>
            <a:srgbClr val="FBE9EB"/>
          </a:solidFill>
          <a:ln/>
        </p:spPr>
      </p:sp>
      <p:sp>
        <p:nvSpPr>
          <p:cNvPr id="51" name="text-1067"/>
          <p:cNvSpPr txBox="1"/>
          <p:nvPr/>
        </p:nvSpPr>
        <p:spPr>
          <a:xfrm>
            <a:off x="6921500" y="5251450"/>
            <a:ext cx="158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−775 заказов</a:t>
            </a:r>
            <a:endParaRPr lang="en-US" sz="1000" dirty="0"/>
          </a:p>
        </p:txBody>
      </p:sp>
      <p:sp>
        <p:nvSpPr>
          <p:cNvPr id="52" name="text-1068"/>
          <p:cNvSpPr txBox="1"/>
          <p:nvPr/>
        </p:nvSpPr>
        <p:spPr>
          <a:xfrm>
            <a:off x="8763000" y="5054600"/>
            <a:ext cx="25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JOIN, где пары может не быть</a:t>
            </a:r>
            <a:endParaRPr lang="en-US" sz="10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8" fill="hold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8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24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8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4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24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" presetClass="entr" presetSubtype="8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4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24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203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203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069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Ничего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не потеряли</a:t>
            </a:r>
            <a:endParaRPr lang="en-US" sz="3400" dirty="0"/>
          </a:p>
        </p:txBody>
      </p:sp>
      <p:sp>
        <p:nvSpPr>
          <p:cNvPr id="4" name="text-1070"/>
          <p:cNvSpPr txBox="1"/>
          <p:nvPr/>
        </p:nvSpPr>
        <p:spPr>
          <a:xfrm>
            <a:off x="762000" y="1663700"/>
            <a:ext cx="127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</a:t>
            </a:r>
            <a:endParaRPr lang="en-US" sz="1300" dirty="0"/>
          </a:p>
        </p:txBody>
      </p:sp>
      <p:sp>
        <p:nvSpPr>
          <p:cNvPr id="5" name="text-1071"/>
          <p:cNvSpPr txBox="1"/>
          <p:nvPr/>
        </p:nvSpPr>
        <p:spPr>
          <a:xfrm>
            <a:off x="4826000" y="16256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E7C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потерь: </a:t>
            </a:r>
            <a:r>
              <a:rPr lang="en-US" sz="1700" b="1" dirty="0">
                <a:solidFill>
                  <a:srgbClr val="0E7C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text-1072"/>
          <p:cNvSpPr txBox="1"/>
          <p:nvPr/>
        </p:nvSpPr>
        <p:spPr>
          <a:xfrm>
            <a:off x="10160000" y="1663700"/>
            <a:ext cx="127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1300" dirty="0"/>
          </a:p>
        </p:txBody>
      </p:sp>
      <p:sp>
        <p:nvSpPr>
          <p:cNvPr id="7" name="text-1073"/>
          <p:cNvSpPr txBox="1"/>
          <p:nvPr/>
        </p:nvSpPr>
        <p:spPr>
          <a:xfrm>
            <a:off x="5334000" y="2032000"/>
            <a:ext cx="120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заказы</a:t>
            </a:r>
            <a:endParaRPr lang="en-US" sz="1250" dirty="0"/>
          </a:p>
        </p:txBody>
      </p:sp>
      <p:sp>
        <p:nvSpPr>
          <p:cNvPr id="8" name="shape-1074"/>
          <p:cNvSpPr/>
          <p:nvPr/>
        </p:nvSpPr>
        <p:spPr>
          <a:xfrm>
            <a:off x="2579899" y="2057400"/>
            <a:ext cx="2690601" cy="228600"/>
          </a:xfrm>
          <a:prstGeom prst="roundRect">
            <a:avLst>
              <a:gd name="adj" fmla="val 25000"/>
            </a:avLst>
          </a:prstGeom>
          <a:solidFill>
            <a:srgbClr val="C9C9D1"/>
          </a:solidFill>
          <a:ln/>
        </p:spPr>
      </p:sp>
      <p:sp>
        <p:nvSpPr>
          <p:cNvPr id="9" name="text-1075"/>
          <p:cNvSpPr txBox="1"/>
          <p:nvPr/>
        </p:nvSpPr>
        <p:spPr>
          <a:xfrm>
            <a:off x="762000" y="2032000"/>
            <a:ext cx="82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99 441</a:t>
            </a:r>
            <a:endParaRPr lang="en-US" sz="1200" dirty="0"/>
          </a:p>
        </p:txBody>
      </p:sp>
      <p:sp>
        <p:nvSpPr>
          <p:cNvPr id="10" name="shape-1076"/>
          <p:cNvSpPr/>
          <p:nvPr/>
        </p:nvSpPr>
        <p:spPr>
          <a:xfrm>
            <a:off x="6921500" y="2057400"/>
            <a:ext cx="2690601" cy="228600"/>
          </a:xfrm>
          <a:prstGeom prst="roundRect">
            <a:avLst>
              <a:gd name="adj" fmla="val 25000"/>
            </a:avLst>
          </a:prstGeom>
          <a:solidFill>
            <a:srgbClr val="328EF9"/>
          </a:solidFill>
          <a:ln/>
        </p:spPr>
      </p:sp>
      <p:sp>
        <p:nvSpPr>
          <p:cNvPr id="11" name="text-1077"/>
          <p:cNvSpPr txBox="1"/>
          <p:nvPr/>
        </p:nvSpPr>
        <p:spPr>
          <a:xfrm>
            <a:off x="9713701" y="20320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99 441</a:t>
            </a:r>
            <a:endParaRPr lang="en-US" sz="1200" dirty="0"/>
          </a:p>
        </p:txBody>
      </p:sp>
      <p:sp>
        <p:nvSpPr>
          <p:cNvPr id="12" name="shape-1078"/>
          <p:cNvSpPr/>
          <p:nvPr/>
        </p:nvSpPr>
        <p:spPr>
          <a:xfrm>
            <a:off x="6540500" y="2063750"/>
            <a:ext cx="215900" cy="215900"/>
          </a:xfrm>
          <a:prstGeom prst="ellipse">
            <a:avLst/>
          </a:prstGeom>
          <a:solidFill>
            <a:srgbClr val="0E7C55"/>
          </a:solidFill>
          <a:ln/>
        </p:spPr>
      </p:sp>
      <p:pic>
        <p:nvPicPr>
          <p:cNvPr id="13" name="pic-1079" descr="W:\Projects\hacks\rwb-new\presentation\pptx\assets\ico-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2101850"/>
            <a:ext cx="139700" cy="139700"/>
          </a:xfrm>
          <a:prstGeom prst="rect">
            <a:avLst/>
          </a:prstGeom>
        </p:spPr>
      </p:pic>
      <p:sp>
        <p:nvSpPr>
          <p:cNvPr id="14" name="text-1080"/>
          <p:cNvSpPr txBox="1"/>
          <p:nvPr/>
        </p:nvSpPr>
        <p:spPr>
          <a:xfrm>
            <a:off x="5334000" y="2501900"/>
            <a:ext cx="120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позиции</a:t>
            </a:r>
            <a:endParaRPr lang="en-US" sz="1250" dirty="0"/>
          </a:p>
        </p:txBody>
      </p:sp>
      <p:sp>
        <p:nvSpPr>
          <p:cNvPr id="15" name="shape-1081"/>
          <p:cNvSpPr/>
          <p:nvPr/>
        </p:nvSpPr>
        <p:spPr>
          <a:xfrm>
            <a:off x="2222500" y="2527300"/>
            <a:ext cx="3048000" cy="228600"/>
          </a:xfrm>
          <a:prstGeom prst="roundRect">
            <a:avLst>
              <a:gd name="adj" fmla="val 25000"/>
            </a:avLst>
          </a:prstGeom>
          <a:solidFill>
            <a:srgbClr val="C9C9D1"/>
          </a:solidFill>
          <a:ln/>
        </p:spPr>
      </p:sp>
      <p:sp>
        <p:nvSpPr>
          <p:cNvPr id="16" name="text-1082"/>
          <p:cNvSpPr txBox="1"/>
          <p:nvPr/>
        </p:nvSpPr>
        <p:spPr>
          <a:xfrm>
            <a:off x="762000" y="2501900"/>
            <a:ext cx="82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112 650</a:t>
            </a:r>
            <a:endParaRPr lang="en-US" sz="1200" dirty="0"/>
          </a:p>
        </p:txBody>
      </p:sp>
      <p:sp>
        <p:nvSpPr>
          <p:cNvPr id="17" name="shape-1083"/>
          <p:cNvSpPr/>
          <p:nvPr/>
        </p:nvSpPr>
        <p:spPr>
          <a:xfrm>
            <a:off x="6921500" y="2527300"/>
            <a:ext cx="3048000" cy="228600"/>
          </a:xfrm>
          <a:prstGeom prst="roundRect">
            <a:avLst>
              <a:gd name="adj" fmla="val 25000"/>
            </a:avLst>
          </a:prstGeom>
          <a:solidFill>
            <a:srgbClr val="328EF9"/>
          </a:solidFill>
          <a:ln/>
        </p:spPr>
      </p:sp>
      <p:sp>
        <p:nvSpPr>
          <p:cNvPr id="18" name="text-1084"/>
          <p:cNvSpPr txBox="1"/>
          <p:nvPr/>
        </p:nvSpPr>
        <p:spPr>
          <a:xfrm>
            <a:off x="10071100" y="25019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112 650</a:t>
            </a:r>
            <a:endParaRPr lang="en-US" sz="1200" dirty="0"/>
          </a:p>
        </p:txBody>
      </p:sp>
      <p:sp>
        <p:nvSpPr>
          <p:cNvPr id="19" name="shape-1085"/>
          <p:cNvSpPr/>
          <p:nvPr/>
        </p:nvSpPr>
        <p:spPr>
          <a:xfrm>
            <a:off x="6540500" y="2533650"/>
            <a:ext cx="215900" cy="215900"/>
          </a:xfrm>
          <a:prstGeom prst="ellipse">
            <a:avLst/>
          </a:prstGeom>
          <a:solidFill>
            <a:srgbClr val="0E7C55"/>
          </a:solidFill>
          <a:ln/>
        </p:spPr>
      </p:sp>
      <p:pic>
        <p:nvPicPr>
          <p:cNvPr id="20" name="pic-1086" descr="W:\Projects\hacks\rwb-new\presentation\pptx\assets\ico-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2571750"/>
            <a:ext cx="139700" cy="139700"/>
          </a:xfrm>
          <a:prstGeom prst="rect">
            <a:avLst/>
          </a:prstGeom>
        </p:spPr>
      </p:pic>
      <p:sp>
        <p:nvSpPr>
          <p:cNvPr id="21" name="text-1087"/>
          <p:cNvSpPr txBox="1"/>
          <p:nvPr/>
        </p:nvSpPr>
        <p:spPr>
          <a:xfrm>
            <a:off x="5334000" y="2971800"/>
            <a:ext cx="120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платежи</a:t>
            </a:r>
            <a:endParaRPr lang="en-US" sz="1250" dirty="0"/>
          </a:p>
        </p:txBody>
      </p:sp>
      <p:sp>
        <p:nvSpPr>
          <p:cNvPr id="22" name="shape-1088"/>
          <p:cNvSpPr/>
          <p:nvPr/>
        </p:nvSpPr>
        <p:spPr>
          <a:xfrm>
            <a:off x="2459630" y="2997200"/>
            <a:ext cx="2810870" cy="228600"/>
          </a:xfrm>
          <a:prstGeom prst="roundRect">
            <a:avLst>
              <a:gd name="adj" fmla="val 25000"/>
            </a:avLst>
          </a:prstGeom>
          <a:solidFill>
            <a:srgbClr val="C9C9D1"/>
          </a:solidFill>
          <a:ln/>
        </p:spPr>
      </p:sp>
      <p:sp>
        <p:nvSpPr>
          <p:cNvPr id="23" name="text-1089"/>
          <p:cNvSpPr txBox="1"/>
          <p:nvPr/>
        </p:nvSpPr>
        <p:spPr>
          <a:xfrm>
            <a:off x="762000" y="2971800"/>
            <a:ext cx="82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103 886</a:t>
            </a:r>
            <a:endParaRPr lang="en-US" sz="1200" dirty="0"/>
          </a:p>
        </p:txBody>
      </p:sp>
      <p:sp>
        <p:nvSpPr>
          <p:cNvPr id="24" name="shape-1090"/>
          <p:cNvSpPr/>
          <p:nvPr/>
        </p:nvSpPr>
        <p:spPr>
          <a:xfrm>
            <a:off x="6921500" y="2997200"/>
            <a:ext cx="2810870" cy="228600"/>
          </a:xfrm>
          <a:prstGeom prst="roundRect">
            <a:avLst>
              <a:gd name="adj" fmla="val 25000"/>
            </a:avLst>
          </a:prstGeom>
          <a:solidFill>
            <a:srgbClr val="328EF9"/>
          </a:solidFill>
          <a:ln/>
        </p:spPr>
      </p:sp>
      <p:sp>
        <p:nvSpPr>
          <p:cNvPr id="25" name="text-1091"/>
          <p:cNvSpPr txBox="1"/>
          <p:nvPr/>
        </p:nvSpPr>
        <p:spPr>
          <a:xfrm>
            <a:off x="9833970" y="29718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103 886</a:t>
            </a:r>
            <a:endParaRPr lang="en-US" sz="1200" dirty="0"/>
          </a:p>
        </p:txBody>
      </p:sp>
      <p:sp>
        <p:nvSpPr>
          <p:cNvPr id="26" name="shape-1092"/>
          <p:cNvSpPr/>
          <p:nvPr/>
        </p:nvSpPr>
        <p:spPr>
          <a:xfrm>
            <a:off x="6540500" y="3003550"/>
            <a:ext cx="215900" cy="215900"/>
          </a:xfrm>
          <a:prstGeom prst="ellipse">
            <a:avLst/>
          </a:prstGeom>
          <a:solidFill>
            <a:srgbClr val="0E7C55"/>
          </a:solidFill>
          <a:ln/>
        </p:spPr>
      </p:sp>
      <p:pic>
        <p:nvPicPr>
          <p:cNvPr id="27" name="pic-1093" descr="W:\Projects\hacks\rwb-new\presentation\pptx\assets\ico-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3041650"/>
            <a:ext cx="139700" cy="139700"/>
          </a:xfrm>
          <a:prstGeom prst="rect">
            <a:avLst/>
          </a:prstGeom>
        </p:spPr>
      </p:pic>
      <p:sp>
        <p:nvSpPr>
          <p:cNvPr id="28" name="text-1094"/>
          <p:cNvSpPr txBox="1"/>
          <p:nvPr/>
        </p:nvSpPr>
        <p:spPr>
          <a:xfrm>
            <a:off x="5334000" y="3441700"/>
            <a:ext cx="120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отзывы</a:t>
            </a:r>
            <a:endParaRPr lang="en-US" sz="1250" dirty="0"/>
          </a:p>
        </p:txBody>
      </p:sp>
      <p:sp>
        <p:nvSpPr>
          <p:cNvPr id="29" name="shape-1095"/>
          <p:cNvSpPr/>
          <p:nvPr/>
        </p:nvSpPr>
        <p:spPr>
          <a:xfrm>
            <a:off x="2585771" y="3467100"/>
            <a:ext cx="2684729" cy="228600"/>
          </a:xfrm>
          <a:prstGeom prst="roundRect">
            <a:avLst>
              <a:gd name="adj" fmla="val 25000"/>
            </a:avLst>
          </a:prstGeom>
          <a:solidFill>
            <a:srgbClr val="C9C9D1"/>
          </a:solidFill>
          <a:ln/>
        </p:spPr>
      </p:sp>
      <p:sp>
        <p:nvSpPr>
          <p:cNvPr id="30" name="text-1096"/>
          <p:cNvSpPr txBox="1"/>
          <p:nvPr/>
        </p:nvSpPr>
        <p:spPr>
          <a:xfrm>
            <a:off x="762000" y="3441700"/>
            <a:ext cx="82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99 224</a:t>
            </a:r>
            <a:endParaRPr lang="en-US" sz="1200" dirty="0"/>
          </a:p>
        </p:txBody>
      </p:sp>
      <p:sp>
        <p:nvSpPr>
          <p:cNvPr id="31" name="shape-1097"/>
          <p:cNvSpPr/>
          <p:nvPr/>
        </p:nvSpPr>
        <p:spPr>
          <a:xfrm>
            <a:off x="6921500" y="3467100"/>
            <a:ext cx="2684729" cy="228600"/>
          </a:xfrm>
          <a:prstGeom prst="roundRect">
            <a:avLst>
              <a:gd name="adj" fmla="val 25000"/>
            </a:avLst>
          </a:prstGeom>
          <a:solidFill>
            <a:srgbClr val="328EF9"/>
          </a:solidFill>
          <a:ln/>
        </p:spPr>
      </p:sp>
      <p:sp>
        <p:nvSpPr>
          <p:cNvPr id="32" name="text-1098"/>
          <p:cNvSpPr txBox="1"/>
          <p:nvPr/>
        </p:nvSpPr>
        <p:spPr>
          <a:xfrm>
            <a:off x="9707829" y="34417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99 224</a:t>
            </a:r>
            <a:endParaRPr lang="en-US" sz="1200" dirty="0"/>
          </a:p>
        </p:txBody>
      </p:sp>
      <p:sp>
        <p:nvSpPr>
          <p:cNvPr id="33" name="shape-1099"/>
          <p:cNvSpPr/>
          <p:nvPr/>
        </p:nvSpPr>
        <p:spPr>
          <a:xfrm>
            <a:off x="6540500" y="3473450"/>
            <a:ext cx="215900" cy="215900"/>
          </a:xfrm>
          <a:prstGeom prst="ellipse">
            <a:avLst/>
          </a:prstGeom>
          <a:solidFill>
            <a:srgbClr val="0E7C55"/>
          </a:solidFill>
          <a:ln/>
        </p:spPr>
      </p:sp>
      <p:pic>
        <p:nvPicPr>
          <p:cNvPr id="34" name="pic-1100" descr="W:\Projects\hacks\rwb-new\presentation\pptx\assets\ico-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3511550"/>
            <a:ext cx="139700" cy="139700"/>
          </a:xfrm>
          <a:prstGeom prst="rect">
            <a:avLst/>
          </a:prstGeom>
        </p:spPr>
      </p:pic>
      <p:sp>
        <p:nvSpPr>
          <p:cNvPr id="35" name="text-1101"/>
          <p:cNvSpPr txBox="1"/>
          <p:nvPr/>
        </p:nvSpPr>
        <p:spPr>
          <a:xfrm>
            <a:off x="5334000" y="3911600"/>
            <a:ext cx="120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товары</a:t>
            </a:r>
            <a:endParaRPr lang="en-US" sz="1250" dirty="0"/>
          </a:p>
        </p:txBody>
      </p:sp>
      <p:sp>
        <p:nvSpPr>
          <p:cNvPr id="36" name="shape-1102"/>
          <p:cNvSpPr/>
          <p:nvPr/>
        </p:nvSpPr>
        <p:spPr>
          <a:xfrm>
            <a:off x="4378936" y="3937000"/>
            <a:ext cx="891564" cy="228600"/>
          </a:xfrm>
          <a:prstGeom prst="roundRect">
            <a:avLst>
              <a:gd name="adj" fmla="val 25000"/>
            </a:avLst>
          </a:prstGeom>
          <a:solidFill>
            <a:srgbClr val="C9C9D1"/>
          </a:solidFill>
          <a:ln/>
        </p:spPr>
      </p:sp>
      <p:sp>
        <p:nvSpPr>
          <p:cNvPr id="37" name="text-1103"/>
          <p:cNvSpPr txBox="1"/>
          <p:nvPr/>
        </p:nvSpPr>
        <p:spPr>
          <a:xfrm>
            <a:off x="762000" y="3911600"/>
            <a:ext cx="82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32 951</a:t>
            </a:r>
            <a:endParaRPr lang="en-US" sz="1200" dirty="0"/>
          </a:p>
        </p:txBody>
      </p:sp>
      <p:sp>
        <p:nvSpPr>
          <p:cNvPr id="38" name="shape-1104"/>
          <p:cNvSpPr/>
          <p:nvPr/>
        </p:nvSpPr>
        <p:spPr>
          <a:xfrm>
            <a:off x="6921500" y="3937000"/>
            <a:ext cx="891564" cy="228600"/>
          </a:xfrm>
          <a:prstGeom prst="roundRect">
            <a:avLst>
              <a:gd name="adj" fmla="val 25000"/>
            </a:avLst>
          </a:prstGeom>
          <a:solidFill>
            <a:srgbClr val="328EF9"/>
          </a:solidFill>
          <a:ln/>
        </p:spPr>
      </p:sp>
      <p:sp>
        <p:nvSpPr>
          <p:cNvPr id="39" name="text-1105"/>
          <p:cNvSpPr txBox="1"/>
          <p:nvPr/>
        </p:nvSpPr>
        <p:spPr>
          <a:xfrm>
            <a:off x="7914664" y="39116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32 951</a:t>
            </a:r>
            <a:endParaRPr lang="en-US" sz="1200" dirty="0"/>
          </a:p>
        </p:txBody>
      </p:sp>
      <p:sp>
        <p:nvSpPr>
          <p:cNvPr id="40" name="shape-1106"/>
          <p:cNvSpPr/>
          <p:nvPr/>
        </p:nvSpPr>
        <p:spPr>
          <a:xfrm>
            <a:off x="6540500" y="3943350"/>
            <a:ext cx="215900" cy="215900"/>
          </a:xfrm>
          <a:prstGeom prst="ellipse">
            <a:avLst/>
          </a:prstGeom>
          <a:solidFill>
            <a:srgbClr val="0E7C55"/>
          </a:solidFill>
          <a:ln/>
        </p:spPr>
      </p:sp>
      <p:pic>
        <p:nvPicPr>
          <p:cNvPr id="41" name="pic-1107" descr="W:\Projects\hacks\rwb-new\presentation\pptx\assets\ico-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3981450"/>
            <a:ext cx="139700" cy="139700"/>
          </a:xfrm>
          <a:prstGeom prst="rect">
            <a:avLst/>
          </a:prstGeom>
        </p:spPr>
      </p:pic>
      <p:sp>
        <p:nvSpPr>
          <p:cNvPr id="42" name="text-1108"/>
          <p:cNvSpPr txBox="1"/>
          <p:nvPr/>
        </p:nvSpPr>
        <p:spPr>
          <a:xfrm>
            <a:off x="5334000" y="4381500"/>
            <a:ext cx="120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продавцы</a:t>
            </a:r>
            <a:endParaRPr lang="en-US" sz="1250" dirty="0"/>
          </a:p>
        </p:txBody>
      </p:sp>
      <p:sp>
        <p:nvSpPr>
          <p:cNvPr id="43" name="shape-1109"/>
          <p:cNvSpPr/>
          <p:nvPr/>
        </p:nvSpPr>
        <p:spPr>
          <a:xfrm>
            <a:off x="5181600" y="4406900"/>
            <a:ext cx="88900" cy="228600"/>
          </a:xfrm>
          <a:prstGeom prst="roundRect">
            <a:avLst>
              <a:gd name="adj" fmla="val 50000"/>
            </a:avLst>
          </a:prstGeom>
          <a:solidFill>
            <a:srgbClr val="C9C9D1"/>
          </a:solidFill>
          <a:ln/>
        </p:spPr>
      </p:sp>
      <p:sp>
        <p:nvSpPr>
          <p:cNvPr id="44" name="text-1110"/>
          <p:cNvSpPr txBox="1"/>
          <p:nvPr/>
        </p:nvSpPr>
        <p:spPr>
          <a:xfrm>
            <a:off x="762000" y="4381500"/>
            <a:ext cx="82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3 095</a:t>
            </a:r>
            <a:endParaRPr lang="en-US" sz="1200" dirty="0"/>
          </a:p>
        </p:txBody>
      </p:sp>
      <p:sp>
        <p:nvSpPr>
          <p:cNvPr id="45" name="shape-1111"/>
          <p:cNvSpPr/>
          <p:nvPr/>
        </p:nvSpPr>
        <p:spPr>
          <a:xfrm>
            <a:off x="6921500" y="4406900"/>
            <a:ext cx="88900" cy="228600"/>
          </a:xfrm>
          <a:prstGeom prst="roundRect">
            <a:avLst>
              <a:gd name="adj" fmla="val 50000"/>
            </a:avLst>
          </a:prstGeom>
          <a:solidFill>
            <a:srgbClr val="328EF9"/>
          </a:solidFill>
          <a:ln/>
        </p:spPr>
      </p:sp>
      <p:sp>
        <p:nvSpPr>
          <p:cNvPr id="46" name="text-1112"/>
          <p:cNvSpPr txBox="1"/>
          <p:nvPr/>
        </p:nvSpPr>
        <p:spPr>
          <a:xfrm>
            <a:off x="7112000" y="43815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3 095</a:t>
            </a:r>
            <a:endParaRPr lang="en-US" sz="1200" dirty="0"/>
          </a:p>
        </p:txBody>
      </p:sp>
      <p:sp>
        <p:nvSpPr>
          <p:cNvPr id="47" name="shape-1113"/>
          <p:cNvSpPr/>
          <p:nvPr/>
        </p:nvSpPr>
        <p:spPr>
          <a:xfrm>
            <a:off x="6540500" y="4413250"/>
            <a:ext cx="215900" cy="215900"/>
          </a:xfrm>
          <a:prstGeom prst="ellipse">
            <a:avLst/>
          </a:prstGeom>
          <a:solidFill>
            <a:srgbClr val="0E7C55"/>
          </a:solidFill>
          <a:ln/>
        </p:spPr>
      </p:sp>
      <p:pic>
        <p:nvPicPr>
          <p:cNvPr id="48" name="pic-1114" descr="W:\Projects\hacks\rwb-new\presentation\pptx\assets\ico-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4451350"/>
            <a:ext cx="139700" cy="139700"/>
          </a:xfrm>
          <a:prstGeom prst="rect">
            <a:avLst/>
          </a:prstGeom>
        </p:spPr>
      </p:pic>
      <p:sp>
        <p:nvSpPr>
          <p:cNvPr id="49" name="text-1115"/>
          <p:cNvSpPr txBox="1"/>
          <p:nvPr/>
        </p:nvSpPr>
        <p:spPr>
          <a:xfrm>
            <a:off x="5334000" y="4851400"/>
            <a:ext cx="120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покупатели</a:t>
            </a:r>
            <a:endParaRPr lang="en-US" sz="1250" dirty="0"/>
          </a:p>
        </p:txBody>
      </p:sp>
      <p:sp>
        <p:nvSpPr>
          <p:cNvPr id="50" name="shape-1116"/>
          <p:cNvSpPr/>
          <p:nvPr/>
        </p:nvSpPr>
        <p:spPr>
          <a:xfrm>
            <a:off x="2579899" y="4876800"/>
            <a:ext cx="2690601" cy="228600"/>
          </a:xfrm>
          <a:prstGeom prst="roundRect">
            <a:avLst>
              <a:gd name="adj" fmla="val 25000"/>
            </a:avLst>
          </a:prstGeom>
          <a:solidFill>
            <a:srgbClr val="C9C9D1"/>
          </a:solidFill>
          <a:ln/>
        </p:spPr>
      </p:sp>
      <p:sp>
        <p:nvSpPr>
          <p:cNvPr id="51" name="text-1117"/>
          <p:cNvSpPr txBox="1"/>
          <p:nvPr/>
        </p:nvSpPr>
        <p:spPr>
          <a:xfrm>
            <a:off x="762000" y="4851400"/>
            <a:ext cx="825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99 441</a:t>
            </a:r>
            <a:endParaRPr lang="en-US" sz="1200" dirty="0"/>
          </a:p>
        </p:txBody>
      </p:sp>
      <p:sp>
        <p:nvSpPr>
          <p:cNvPr id="52" name="shape-1118"/>
          <p:cNvSpPr/>
          <p:nvPr/>
        </p:nvSpPr>
        <p:spPr>
          <a:xfrm>
            <a:off x="6921500" y="4876800"/>
            <a:ext cx="2600094" cy="228600"/>
          </a:xfrm>
          <a:prstGeom prst="roundRect">
            <a:avLst>
              <a:gd name="adj" fmla="val 25000"/>
            </a:avLst>
          </a:prstGeom>
          <a:solidFill>
            <a:srgbClr val="7F57EB"/>
          </a:solidFill>
          <a:ln/>
        </p:spPr>
      </p:sp>
      <p:sp>
        <p:nvSpPr>
          <p:cNvPr id="53" name="text-1119"/>
          <p:cNvSpPr txBox="1"/>
          <p:nvPr/>
        </p:nvSpPr>
        <p:spPr>
          <a:xfrm>
            <a:off x="9623194" y="485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F5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96 096</a:t>
            </a:r>
            <a:endParaRPr lang="en-US" sz="1200" dirty="0"/>
          </a:p>
        </p:txBody>
      </p:sp>
      <p:sp>
        <p:nvSpPr>
          <p:cNvPr id="54" name="shape-1120"/>
          <p:cNvSpPr/>
          <p:nvPr/>
        </p:nvSpPr>
        <p:spPr>
          <a:xfrm>
            <a:off x="6540500" y="4883150"/>
            <a:ext cx="215900" cy="215900"/>
          </a:xfrm>
          <a:prstGeom prst="ellipse">
            <a:avLst/>
          </a:prstGeom>
          <a:solidFill>
            <a:srgbClr val="7F57EB"/>
          </a:solidFill>
          <a:ln/>
        </p:spPr>
      </p:sp>
      <p:pic>
        <p:nvPicPr>
          <p:cNvPr id="55" name="pic-1121" descr="W:\Projects\hacks\rwb-new\presentation\pptx\assets\ico-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4921250"/>
            <a:ext cx="139700" cy="139700"/>
          </a:xfrm>
          <a:prstGeom prst="rect">
            <a:avLst/>
          </a:prstGeom>
        </p:spPr>
      </p:pic>
      <p:sp>
        <p:nvSpPr>
          <p:cNvPr id="56" name="shape-1122"/>
          <p:cNvSpPr/>
          <p:nvPr/>
        </p:nvSpPr>
        <p:spPr>
          <a:xfrm>
            <a:off x="10347094" y="4870450"/>
            <a:ext cx="1079500" cy="241300"/>
          </a:xfrm>
          <a:prstGeom prst="roundRect">
            <a:avLst>
              <a:gd name="adj" fmla="val 50000"/>
            </a:avLst>
          </a:prstGeom>
          <a:solidFill>
            <a:srgbClr val="F1ECFD"/>
          </a:solidFill>
          <a:ln/>
        </p:spPr>
      </p:sp>
      <p:sp>
        <p:nvSpPr>
          <p:cNvPr id="57" name="text-1123"/>
          <p:cNvSpPr txBox="1"/>
          <p:nvPr/>
        </p:nvSpPr>
        <p:spPr>
          <a:xfrm>
            <a:off x="10347094" y="4870450"/>
            <a:ext cx="1079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F5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дедупликация</a:t>
            </a:r>
            <a:endParaRPr lang="en-US" sz="850" dirty="0"/>
          </a:p>
        </p:txBody>
      </p:sp>
      <p:sp>
        <p:nvSpPr>
          <p:cNvPr id="58" name="shape-1124"/>
          <p:cNvSpPr/>
          <p:nvPr/>
        </p:nvSpPr>
        <p:spPr>
          <a:xfrm>
            <a:off x="762000" y="5461000"/>
            <a:ext cx="1651000" cy="292100"/>
          </a:xfrm>
          <a:prstGeom prst="roundRect">
            <a:avLst>
              <a:gd name="adj" fmla="val 50000"/>
            </a:avLst>
          </a:prstGeom>
          <a:solidFill>
            <a:srgbClr val="FBE9EB"/>
          </a:solidFill>
          <a:ln/>
        </p:spPr>
      </p:sp>
      <p:sp>
        <p:nvSpPr>
          <p:cNvPr id="59" name="text-1125"/>
          <p:cNvSpPr txBox="1"/>
          <p:nvPr/>
        </p:nvSpPr>
        <p:spPr>
          <a:xfrm>
            <a:off x="762000" y="5461000"/>
            <a:ext cx="165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3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EXCEPTION</a:t>
            </a:r>
            <a:endParaRPr lang="en-US" sz="1050" dirty="0"/>
          </a:p>
        </p:txBody>
      </p:sp>
      <p:sp>
        <p:nvSpPr>
          <p:cNvPr id="60" name="text-1126"/>
          <p:cNvSpPr txBox="1"/>
          <p:nvPr/>
        </p:nvSpPr>
        <p:spPr>
          <a:xfrm>
            <a:off x="2540000" y="5461000"/>
            <a:ext cx="889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витрины: число строк, пары заказ и продавец, сумма денег. Расхождение валит сборку, а не молчит</a:t>
            </a:r>
            <a:endParaRPr lang="en-US" sz="115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-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-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-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3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-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3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3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8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-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8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8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3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3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8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8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-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8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8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3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3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8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8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-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8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8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29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3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1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3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142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3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1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3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53" presetClass="entr" presetSubtype="16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155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3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53" presetClass="entr" presetSubtype="16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1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58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3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3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1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1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1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3" presetClass="entr" presetSubtype="16" fill="hold" grpId="0" nodeType="withEffect">
                                  <p:stCondLst>
                                    <p:cond delay="203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53" presetClass="entr" presetSubtype="16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1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2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53" presetClass="entr" presetSubtype="16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53" presetClass="entr" presetSubtype="16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24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24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" presetClass="entr" presetSubtype="8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8" dur="6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6" presetClass="emph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260" dur="1200" repeatCount="indefinite" accel="50000" decel="500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3000" y="10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127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Витрины: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один SELECT без join</a:t>
            </a:r>
            <a:endParaRPr lang="en-US" sz="3400" dirty="0"/>
          </a:p>
        </p:txBody>
      </p:sp>
      <p:sp>
        <p:nvSpPr>
          <p:cNvPr id="4" name="shape-1128"/>
          <p:cNvSpPr/>
          <p:nvPr/>
        </p:nvSpPr>
        <p:spPr>
          <a:xfrm>
            <a:off x="762000" y="2730500"/>
            <a:ext cx="2413000" cy="1460500"/>
          </a:xfrm>
          <a:prstGeom prst="roundRect">
            <a:avLst>
              <a:gd name="adj" fmla="val 13913"/>
            </a:avLst>
          </a:prstGeom>
          <a:solidFill>
            <a:srgbClr val="2348FF"/>
          </a:solidFill>
          <a:ln/>
        </p:spPr>
      </p:sp>
      <p:sp>
        <p:nvSpPr>
          <p:cNvPr id="5" name="text-1129"/>
          <p:cNvSpPr txBox="1"/>
          <p:nvPr/>
        </p:nvSpPr>
        <p:spPr>
          <a:xfrm>
            <a:off x="990600" y="2895600"/>
            <a:ext cx="20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заказ</a:t>
            </a:r>
            <a:endParaRPr lang="en-US" sz="2400" dirty="0"/>
          </a:p>
        </p:txBody>
      </p:sp>
      <p:sp>
        <p:nvSpPr>
          <p:cNvPr id="6" name="shape-1130"/>
          <p:cNvSpPr/>
          <p:nvPr/>
        </p:nvSpPr>
        <p:spPr>
          <a:xfrm>
            <a:off x="990600" y="3403600"/>
            <a:ext cx="381000" cy="3810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7" name="text-1131"/>
          <p:cNvSpPr txBox="1"/>
          <p:nvPr/>
        </p:nvSpPr>
        <p:spPr>
          <a:xfrm>
            <a:off x="990600" y="34036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П1</a:t>
            </a:r>
            <a:endParaRPr lang="en-US" sz="1050" dirty="0"/>
          </a:p>
        </p:txBody>
      </p:sp>
      <p:sp>
        <p:nvSpPr>
          <p:cNvPr id="8" name="shape-1132"/>
          <p:cNvSpPr/>
          <p:nvPr/>
        </p:nvSpPr>
        <p:spPr>
          <a:xfrm>
            <a:off x="1447800" y="3403600"/>
            <a:ext cx="381000" cy="3810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9" name="text-1133"/>
          <p:cNvSpPr txBox="1"/>
          <p:nvPr/>
        </p:nvSpPr>
        <p:spPr>
          <a:xfrm>
            <a:off x="1447800" y="34036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П2</a:t>
            </a:r>
            <a:endParaRPr lang="en-US" sz="1050" dirty="0"/>
          </a:p>
        </p:txBody>
      </p:sp>
      <p:sp>
        <p:nvSpPr>
          <p:cNvPr id="10" name="shape-1134"/>
          <p:cNvSpPr/>
          <p:nvPr/>
        </p:nvSpPr>
        <p:spPr>
          <a:xfrm>
            <a:off x="1905000" y="3403600"/>
            <a:ext cx="381000" cy="3810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11" name="text-1135"/>
          <p:cNvSpPr txBox="1"/>
          <p:nvPr/>
        </p:nvSpPr>
        <p:spPr>
          <a:xfrm>
            <a:off x="1905000" y="34036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П3</a:t>
            </a:r>
            <a:endParaRPr lang="en-US" sz="1050" dirty="0"/>
          </a:p>
        </p:txBody>
      </p:sp>
      <p:sp>
        <p:nvSpPr>
          <p:cNvPr id="12" name="text-1136"/>
          <p:cNvSpPr txBox="1"/>
          <p:nvPr/>
        </p:nvSpPr>
        <p:spPr>
          <a:xfrm>
            <a:off x="990600" y="3848100"/>
            <a:ext cx="203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продавца</a:t>
            </a:r>
            <a:endParaRPr lang="en-US" sz="1050" dirty="0"/>
          </a:p>
        </p:txBody>
      </p:sp>
      <p:sp>
        <p:nvSpPr>
          <p:cNvPr id="13" name="geom-1137"/>
          <p:cNvSpPr/>
          <p:nvPr/>
        </p:nvSpPr>
        <p:spPr>
          <a:xfrm>
            <a:off x="3175000" y="2476500"/>
            <a:ext cx="1905000" cy="698500"/>
          </a:xfrm>
          <a:custGeom>
            <a:avLst/>
            <a:gdLst/>
            <a:ahLst/>
            <a:cxnLst/>
            <a:rect l="l" t="t" r="r" b="b"/>
            <a:pathLst>
              <a:path w="1905000" h="698500">
                <a:moveTo>
                  <a:pt x="0" y="698500"/>
                </a:moveTo>
                <a:lnTo>
                  <a:pt x="889000" y="698500"/>
                </a:lnTo>
                <a:lnTo>
                  <a:pt x="889000" y="0"/>
                </a:lnTo>
                <a:lnTo>
                  <a:pt x="1905000" y="0"/>
                </a:lnTo>
              </a:path>
            </a:pathLst>
          </a:custGeom>
          <a:ln w="38100">
            <a:solidFill>
              <a:srgbClr val="2348FF"/>
            </a:solidFill>
            <a:prstDash val="solid"/>
          </a:ln>
        </p:spPr>
      </p:sp>
      <p:sp>
        <p:nvSpPr>
          <p:cNvPr id="14" name="geom-1138"/>
          <p:cNvSpPr/>
          <p:nvPr/>
        </p:nvSpPr>
        <p:spPr>
          <a:xfrm>
            <a:off x="3175000" y="374650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0" y="0"/>
                </a:moveTo>
                <a:lnTo>
                  <a:pt x="889000" y="0"/>
                </a:lnTo>
                <a:lnTo>
                  <a:pt x="889000" y="571500"/>
                </a:lnTo>
                <a:lnTo>
                  <a:pt x="1905000" y="571500"/>
                </a:lnTo>
              </a:path>
            </a:pathLst>
          </a:custGeom>
          <a:ln w="38100">
            <a:solidFill>
              <a:srgbClr val="7F57EB"/>
            </a:solidFill>
            <a:prstDash val="solid"/>
          </a:ln>
        </p:spPr>
      </p:sp>
      <p:sp>
        <p:nvSpPr>
          <p:cNvPr id="15" name="run-1139"/>
          <p:cNvSpPr/>
          <p:nvPr/>
        </p:nvSpPr>
        <p:spPr>
          <a:xfrm>
            <a:off x="3130550" y="3130550"/>
            <a:ext cx="88900" cy="889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16" name="run-1140"/>
          <p:cNvSpPr/>
          <p:nvPr/>
        </p:nvSpPr>
        <p:spPr>
          <a:xfrm>
            <a:off x="3130550" y="3702050"/>
            <a:ext cx="88900" cy="88900"/>
          </a:xfrm>
          <a:prstGeom prst="ellipse">
            <a:avLst/>
          </a:prstGeom>
          <a:solidFill>
            <a:srgbClr val="7F57EB"/>
          </a:solidFill>
          <a:ln/>
        </p:spPr>
      </p:sp>
      <p:sp>
        <p:nvSpPr>
          <p:cNvPr id="17" name="text-1141"/>
          <p:cNvSpPr txBox="1"/>
          <p:nvPr/>
        </p:nvSpPr>
        <p:spPr>
          <a:xfrm>
            <a:off x="5080000" y="17018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3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order_fulfillment</a:t>
            </a:r>
            <a:endParaRPr lang="en-US" sz="1400" dirty="0"/>
          </a:p>
        </p:txBody>
      </p:sp>
      <p:sp>
        <p:nvSpPr>
          <p:cNvPr id="18" name="text-1142"/>
          <p:cNvSpPr txBox="1"/>
          <p:nvPr/>
        </p:nvSpPr>
        <p:spPr>
          <a:xfrm>
            <a:off x="5080000" y="1955800"/>
            <a:ext cx="355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в днях, on_time, суммы, последний отзыв; сломанная хронология в NULL</a:t>
            </a:r>
            <a:endParaRPr lang="en-US" sz="950" dirty="0"/>
          </a:p>
        </p:txBody>
      </p:sp>
      <p:sp>
        <p:nvSpPr>
          <p:cNvPr id="19" name="shape-1143"/>
          <p:cNvSpPr/>
          <p:nvPr/>
        </p:nvSpPr>
        <p:spPr>
          <a:xfrm>
            <a:off x="5080000" y="2298700"/>
            <a:ext cx="3556000" cy="381000"/>
          </a:xfrm>
          <a:prstGeom prst="roundRect">
            <a:avLst>
              <a:gd name="adj" fmla="val 26667"/>
            </a:avLst>
          </a:prstGeom>
          <a:solidFill>
            <a:srgbClr val="E9EDFF"/>
          </a:solidFill>
          <a:ln w="28575">
            <a:solidFill>
              <a:srgbClr val="2348FF"/>
            </a:solidFill>
            <a:prstDash val="solid"/>
          </a:ln>
        </p:spPr>
      </p:sp>
      <p:sp>
        <p:nvSpPr>
          <p:cNvPr id="20" name="text-1144"/>
          <p:cNvSpPr txBox="1"/>
          <p:nvPr/>
        </p:nvSpPr>
        <p:spPr>
          <a:xfrm>
            <a:off x="5080000" y="3556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F5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seller_shipment</a:t>
            </a:r>
            <a:endParaRPr lang="en-US" sz="1400" dirty="0"/>
          </a:p>
        </p:txBody>
      </p:sp>
      <p:sp>
        <p:nvSpPr>
          <p:cNvPr id="21" name="text-1145"/>
          <p:cNvSpPr txBox="1"/>
          <p:nvPr/>
        </p:nvSpPr>
        <p:spPr>
          <a:xfrm>
            <a:off x="5080000" y="38100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E5E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 отгрузки пары и флаг «успел ли»</a:t>
            </a:r>
            <a:endParaRPr lang="en-US" sz="950" dirty="0"/>
          </a:p>
        </p:txBody>
      </p:sp>
      <p:sp>
        <p:nvSpPr>
          <p:cNvPr id="22" name="shape-1146"/>
          <p:cNvSpPr/>
          <p:nvPr/>
        </p:nvSpPr>
        <p:spPr>
          <a:xfrm>
            <a:off x="5080000" y="4064000"/>
            <a:ext cx="3556000" cy="330200"/>
          </a:xfrm>
          <a:prstGeom prst="roundRect">
            <a:avLst>
              <a:gd name="adj" fmla="val 26923"/>
            </a:avLst>
          </a:prstGeom>
          <a:solidFill>
            <a:srgbClr val="F1ECFD"/>
          </a:solidFill>
          <a:ln w="28575">
            <a:solidFill>
              <a:srgbClr val="7F57EB"/>
            </a:solidFill>
            <a:prstDash val="solid"/>
          </a:ln>
        </p:spPr>
      </p:sp>
      <p:sp>
        <p:nvSpPr>
          <p:cNvPr id="23" name="shape-1147"/>
          <p:cNvSpPr/>
          <p:nvPr/>
        </p:nvSpPr>
        <p:spPr>
          <a:xfrm>
            <a:off x="5080000" y="4457700"/>
            <a:ext cx="3556000" cy="330200"/>
          </a:xfrm>
          <a:prstGeom prst="roundRect">
            <a:avLst>
              <a:gd name="adj" fmla="val 26923"/>
            </a:avLst>
          </a:prstGeom>
          <a:solidFill>
            <a:srgbClr val="F1ECFD"/>
          </a:solidFill>
          <a:ln w="28575">
            <a:solidFill>
              <a:srgbClr val="7F57EB"/>
            </a:solidFill>
            <a:prstDash val="solid"/>
          </a:ln>
        </p:spPr>
      </p:sp>
      <p:sp>
        <p:nvSpPr>
          <p:cNvPr id="24" name="shape-1148"/>
          <p:cNvSpPr/>
          <p:nvPr/>
        </p:nvSpPr>
        <p:spPr>
          <a:xfrm>
            <a:off x="5080000" y="4851400"/>
            <a:ext cx="3556000" cy="330200"/>
          </a:xfrm>
          <a:prstGeom prst="roundRect">
            <a:avLst>
              <a:gd name="adj" fmla="val 26923"/>
            </a:avLst>
          </a:prstGeom>
          <a:solidFill>
            <a:srgbClr val="F1ECFD"/>
          </a:solidFill>
          <a:ln w="28575">
            <a:solidFill>
              <a:srgbClr val="7F57EB"/>
            </a:solidFill>
            <a:prstDash val="solid"/>
          </a:ln>
        </p:spPr>
      </p:sp>
      <p:sp>
        <p:nvSpPr>
          <p:cNvPr id="25" name="text-1149"/>
          <p:cNvSpPr txBox="1"/>
          <p:nvPr/>
        </p:nvSpPr>
        <p:spPr>
          <a:xfrm>
            <a:off x="9017000" y="2095500"/>
            <a:ext cx="241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99 441</a:t>
            </a:r>
            <a:endParaRPr lang="en-US" sz="3800" dirty="0"/>
          </a:p>
        </p:txBody>
      </p:sp>
      <p:sp>
        <p:nvSpPr>
          <p:cNvPr id="26" name="text-1150"/>
          <p:cNvSpPr txBox="1"/>
          <p:nvPr/>
        </p:nvSpPr>
        <p:spPr>
          <a:xfrm>
            <a:off x="9017000" y="2667000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строка = 1 заказ</a:t>
            </a:r>
            <a:endParaRPr lang="en-US" sz="1050" dirty="0"/>
          </a:p>
        </p:txBody>
      </p:sp>
      <p:sp>
        <p:nvSpPr>
          <p:cNvPr id="27" name="text-1151"/>
          <p:cNvSpPr txBox="1"/>
          <p:nvPr/>
        </p:nvSpPr>
        <p:spPr>
          <a:xfrm>
            <a:off x="9017000" y="4064000"/>
            <a:ext cx="241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7F5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100 010</a:t>
            </a:r>
            <a:endParaRPr lang="en-US" sz="3800" dirty="0"/>
          </a:p>
        </p:txBody>
      </p:sp>
      <p:sp>
        <p:nvSpPr>
          <p:cNvPr id="28" name="text-1152"/>
          <p:cNvSpPr txBox="1"/>
          <p:nvPr/>
        </p:nvSpPr>
        <p:spPr>
          <a:xfrm>
            <a:off x="9017000" y="4635500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строка = заказ × продавец</a:t>
            </a:r>
            <a:endParaRPr lang="en-US" sz="1050" dirty="0"/>
          </a:p>
        </p:txBody>
      </p:sp>
      <p:sp>
        <p:nvSpPr>
          <p:cNvPr id="29" name="shape-1153"/>
          <p:cNvSpPr/>
          <p:nvPr/>
        </p:nvSpPr>
        <p:spPr>
          <a:xfrm>
            <a:off x="762000" y="5588000"/>
            <a:ext cx="10668000" cy="571500"/>
          </a:xfrm>
          <a:prstGeom prst="roundRect">
            <a:avLst>
              <a:gd name="adj" fmla="val 28889"/>
            </a:avLst>
          </a:prstGeom>
          <a:solidFill>
            <a:srgbClr val="F0E4FF"/>
          </a:solidFill>
          <a:ln/>
        </p:spPr>
      </p:sp>
      <p:pic>
        <p:nvPicPr>
          <p:cNvPr id="30" name="pic-1154" descr="W:\Projects\hacks\rwb-new\presentation\pptx\assets\ico-alert-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759450"/>
            <a:ext cx="228600" cy="228600"/>
          </a:xfrm>
          <a:prstGeom prst="rect">
            <a:avLst/>
          </a:prstGeom>
        </p:spPr>
      </p:pic>
      <p:sp>
        <p:nvSpPr>
          <p:cNvPr id="31" name="text-1155"/>
          <p:cNvSpPr txBox="1"/>
          <p:nvPr/>
        </p:nvSpPr>
        <p:spPr>
          <a:xfrm>
            <a:off x="1308100" y="5588000"/>
            <a:ext cx="9931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is_single_seller: </a:t>
            </a:r>
            <a:r>
              <a:rPr lang="en-US" sz="1200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дата отгрузки в источнике одна на заказ, поэтому рейтинг продавца честен только для заказов с одним продавцом</a:t>
            </a:r>
            <a:endParaRPr lang="en-US" sz="12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2000">
                                          <p:val>
                                            <p:strVal val="#ppt_w*1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72000">
                                          <p:val>
                                            <p:strVal val="#ppt_x+#ppt_w*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3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3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729 0.0000 L 0.0729 -0.1019 L 0.1563 -0.1019 E" pathEditMode="relative" ptsTypes="">
                                      <p:cBhvr>
                                        <p:cTn id="99" dur="1800" repeatCount="indefinite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729 0.0000 L 0.0729 0.0833 L 0.1563 0.0833 E" pathEditMode="relative" ptsTypes="">
                                      <p:cBhvr>
                                        <p:cTn id="114" dur="1800" repeatCount="indefinite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rb-raw" descr="W:\Projects\hacks\rwb-new\presentation\pptx\assets\st-raw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4" name="!!row-raw-0" descr="W:\Projects\hacks\rwb-new\presentation\pptx\assets\st-raw-row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5" name="!!row-raw-1" descr="W:\Projects\hacks\rwb-new\presentation\pptx\assets\st-raw-row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6" name="!!row-raw-2" descr="W:\Projects\hacks\rwb-new\presentation\pptx\assets\st-raw-row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7" name="!!row-raw-3" descr="W:\Projects\hacks\rwb-new\presentation\pptx\assets\st-raw-row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8" name="!!row-raw-4" descr="W:\Projects\hacks\rwb-new\presentation\pptx\assets\st-raw-row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9" name="!!row-raw-5" descr="W:\Projects\hacks\rwb-new\presentation\pptx\assets\st-raw-row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0" name="!!row-raw-6" descr="W:\Projects\hacks\rwb-new\presentation\pptx\assets\st-raw-row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1" name="!!row-raw-7" descr="W:\Projects\hacks\rwb-new\presentation\pptx\assets\st-raw-row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2" name="!!row-raw-8" descr="W:\Projects\hacks\rwb-new\presentation\pptx\assets\st-raw-row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3" name="!!row-raw-9" descr="W:\Projects\hacks\rwb-new\presentation\pptx\assets\st-raw-row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4" name="!!rb-core" descr="W:\Projects\hacks\rwb-new\presentation\pptx\assets\st-core-b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5" name="!!row-core-0" descr="W:\Projects\hacks\rwb-new\presentation\pptx\assets\st-core-row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6" name="!!row-core-1" descr="W:\Projects\hacks\rwb-new\presentation\pptx\assets\st-core-row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7" name="!!row-core-2" descr="W:\Projects\hacks\rwb-new\presentation\pptx\assets\st-core-row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8" name="!!row-core-3" descr="W:\Projects\hacks\rwb-new\presentation\pptx\assets\st-core-row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19" name="!!row-core-4" descr="W:\Projects\hacks\rwb-new\presentation\pptx\assets\st-core-row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0" name="!!row-core-5" descr="W:\Projects\hacks\rwb-new\presentation\pptx\assets\st-core-row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1" name="!!row-core-6" descr="W:\Projects\hacks\rwb-new\presentation\pptx\assets\st-core-row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2" name="!!row-core-7" descr="W:\Projects\hacks\rwb-new\presentation\pptx\assets\st-core-row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3" name="!!row-core-8" descr="W:\Projects\hacks\rwb-new\presentation\pptx\assets\st-core-row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4" name="!!row-core-9" descr="W:\Projects\hacks\rwb-new\presentation\pptx\assets\st-core-row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5" name="!!rb-mart" descr="W:\Projects\hacks\rwb-new\presentation\pptx\assets\st-mart-bas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6" name="!!row-mart-0" descr="W:\Projects\hacks\rwb-new\presentation\pptx\assets\st-mart-row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7" name="!!row-mart-1" descr="W:\Projects\hacks\rwb-new\presentation\pptx\assets\st-mart-row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8" name="!!row-mart-2" descr="W:\Projects\hacks\rwb-new\presentation\pptx\assets\st-mart-row2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29" name="!!row-mart-3" descr="W:\Projects\hacks\rwb-new\presentation\pptx\assets\st-mart-row3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30" name="!!row-mart-4" descr="W:\Projects\hacks\rwb-new\presentation\pptx\assets\st-mart-row4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31" name="!!row-mart-5" descr="W:\Projects\hacks\rwb-new\presentation\pptx\assets\st-mart-row5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32" name="!!row-mart-6" descr="W:\Projects\hacks\rwb-new\presentation\pptx\assets\st-mart-row6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33" name="!!row-mart-7" descr="W:\Projects\hacks\rwb-new\presentation\pptx\assets\st-mart-row7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34" name="!!row-mart-8" descr="W:\Projects\hacks\rwb-new\presentation\pptx\assets\st-mart-row8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35" name="!!row-mart-9" descr="W:\Projects\hacks\rwb-new\presentation\pptx\assets\st-mart-row9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36" name="!!rshadow" descr="W:\Projects\hacks\rwb-new\presentation\pptx\assets\st-shadow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pic>
        <p:nvPicPr>
          <p:cNvPr id="37" name="!!rcube" descr="W:\Projects\hacks\rwb-new\presentation\pptx\assets\st-cub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1365" y="279400"/>
            <a:ext cx="255270" cy="255270"/>
          </a:xfrm>
          <a:prstGeom prst="rect">
            <a:avLst/>
          </a:prstGeom>
        </p:spPr>
      </p:pic>
      <p:sp>
        <p:nvSpPr>
          <p:cNvPr id="38" name="text-1191"/>
          <p:cNvSpPr txBox="1"/>
          <p:nvPr/>
        </p:nvSpPr>
        <p:spPr>
          <a:xfrm>
            <a:off x="762000" y="7493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 А: </a:t>
            </a:r>
            <a:r>
              <a:rPr lang="en-US" sz="3800" b="1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все пять контролей сошлись</a:t>
            </a:r>
            <a:endParaRPr lang="en-US" sz="3400" dirty="0"/>
          </a:p>
        </p:txBody>
      </p:sp>
      <p:sp>
        <p:nvSpPr>
          <p:cNvPr id="39" name="text-1192"/>
          <p:cNvSpPr txBox="1"/>
          <p:nvPr/>
        </p:nvSpPr>
        <p:spPr>
          <a:xfrm>
            <a:off x="762000" y="1524000"/>
            <a:ext cx="571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234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13 221 498,11</a:t>
            </a:r>
            <a:endParaRPr lang="en-US" sz="4800" dirty="0"/>
          </a:p>
        </p:txBody>
      </p:sp>
      <p:sp>
        <p:nvSpPr>
          <p:cNvPr id="40" name="text-1193"/>
          <p:cNvSpPr txBox="1"/>
          <p:nvPr/>
        </p:nvSpPr>
        <p:spPr>
          <a:xfrm>
            <a:off x="762000" y="22352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выручка за 24 месяца, R$, товары без доставки по доставленным заказам</a:t>
            </a:r>
            <a:endParaRPr lang="en-US" sz="1050" dirty="0"/>
          </a:p>
        </p:txBody>
      </p:sp>
      <p:sp>
        <p:nvSpPr>
          <p:cNvPr id="41" name="line-1194"/>
          <p:cNvSpPr/>
          <p:nvPr/>
        </p:nvSpPr>
        <p:spPr>
          <a:xfrm>
            <a:off x="762000" y="4826000"/>
            <a:ext cx="10668000" cy="0"/>
          </a:xfrm>
          <a:prstGeom prst="line">
            <a:avLst/>
          </a:prstGeom>
          <a:noFill/>
          <a:ln w="19050">
            <a:solidFill>
              <a:srgbClr val="C9C9D1"/>
            </a:solidFill>
            <a:prstDash val="solid"/>
          </a:ln>
        </p:spPr>
      </p:sp>
      <p:sp>
        <p:nvSpPr>
          <p:cNvPr id="42" name="geom-1195"/>
          <p:cNvSpPr/>
          <p:nvPr/>
        </p:nvSpPr>
        <p:spPr>
          <a:xfrm>
            <a:off x="762000" y="2603500"/>
            <a:ext cx="10668000" cy="2222500"/>
          </a:xfrm>
          <a:custGeom>
            <a:avLst/>
            <a:gdLst/>
            <a:ahLst/>
            <a:cxnLst/>
            <a:rect l="l" t="t" r="r" b="b"/>
            <a:pathLst>
              <a:path w="10668000" h="2222500">
                <a:moveTo>
                  <a:pt x="0" y="2222196"/>
                </a:moveTo>
                <a:lnTo>
                  <a:pt x="463826" y="2131767"/>
                </a:lnTo>
                <a:lnTo>
                  <a:pt x="927652" y="2222500"/>
                </a:lnTo>
                <a:lnTo>
                  <a:pt x="1391478" y="2222475"/>
                </a:lnTo>
                <a:lnTo>
                  <a:pt x="1855304" y="1970951"/>
                </a:lnTo>
                <a:lnTo>
                  <a:pt x="2319130" y="1695491"/>
                </a:lnTo>
                <a:lnTo>
                  <a:pt x="2782957" y="1414292"/>
                </a:lnTo>
                <a:lnTo>
                  <a:pt x="3246783" y="1455984"/>
                </a:lnTo>
                <a:lnTo>
                  <a:pt x="3710609" y="1121475"/>
                </a:lnTo>
                <a:lnTo>
                  <a:pt x="4174435" y="1273160"/>
                </a:lnTo>
                <a:lnTo>
                  <a:pt x="4638261" y="1138876"/>
                </a:lnTo>
                <a:lnTo>
                  <a:pt x="5102087" y="974410"/>
                </a:lnTo>
                <a:lnTo>
                  <a:pt x="5565913" y="855834"/>
                </a:lnTo>
                <a:lnTo>
                  <a:pt x="6029739" y="763924"/>
                </a:lnTo>
                <a:lnTo>
                  <a:pt x="6493565" y="0"/>
                </a:lnTo>
                <a:lnTo>
                  <a:pt x="6957391" y="588905"/>
                </a:lnTo>
                <a:lnTo>
                  <a:pt x="7421217" y="142023"/>
                </a:lnTo>
                <a:lnTo>
                  <a:pt x="7885043" y="362993"/>
                </a:lnTo>
                <a:lnTo>
                  <a:pt x="8348870" y="77421"/>
                </a:lnTo>
                <a:lnTo>
                  <a:pt x="8812696" y="32021"/>
                </a:lnTo>
                <a:lnTo>
                  <a:pt x="9276522" y="22997"/>
                </a:lnTo>
                <a:lnTo>
                  <a:pt x="9740348" y="296301"/>
                </a:lnTo>
                <a:lnTo>
                  <a:pt x="10204174" y="269580"/>
                </a:lnTo>
                <a:lnTo>
                  <a:pt x="10668000" y="335679"/>
                </a:lnTo>
                <a:lnTo>
                  <a:pt x="10668000" y="2222500"/>
                </a:lnTo>
                <a:lnTo>
                  <a:pt x="0" y="2222500"/>
                </a:lnTo>
                <a:close/>
              </a:path>
            </a:pathLst>
          </a:custGeom>
          <a:solidFill>
            <a:srgbClr val="328EF9">
              <a:alpha val="22000"/>
            </a:srgbClr>
          </a:solidFill>
          <a:ln/>
        </p:spPr>
      </p:sp>
      <p:sp>
        <p:nvSpPr>
          <p:cNvPr id="43" name="geom-1196"/>
          <p:cNvSpPr/>
          <p:nvPr/>
        </p:nvSpPr>
        <p:spPr>
          <a:xfrm>
            <a:off x="762000" y="2603500"/>
            <a:ext cx="10668000" cy="2222500"/>
          </a:xfrm>
          <a:custGeom>
            <a:avLst/>
            <a:gdLst/>
            <a:ahLst/>
            <a:cxnLst/>
            <a:rect l="l" t="t" r="r" b="b"/>
            <a:pathLst>
              <a:path w="10668000" h="2222500">
                <a:moveTo>
                  <a:pt x="0" y="2222196"/>
                </a:moveTo>
                <a:lnTo>
                  <a:pt x="463826" y="2131767"/>
                </a:lnTo>
                <a:lnTo>
                  <a:pt x="927652" y="2222500"/>
                </a:lnTo>
                <a:lnTo>
                  <a:pt x="1391478" y="2222475"/>
                </a:lnTo>
                <a:lnTo>
                  <a:pt x="1855304" y="1970951"/>
                </a:lnTo>
                <a:lnTo>
                  <a:pt x="2319130" y="1695491"/>
                </a:lnTo>
                <a:lnTo>
                  <a:pt x="2782957" y="1414292"/>
                </a:lnTo>
                <a:lnTo>
                  <a:pt x="3246783" y="1455984"/>
                </a:lnTo>
                <a:lnTo>
                  <a:pt x="3710609" y="1121475"/>
                </a:lnTo>
                <a:lnTo>
                  <a:pt x="4174435" y="1273160"/>
                </a:lnTo>
                <a:lnTo>
                  <a:pt x="4638261" y="1138876"/>
                </a:lnTo>
                <a:lnTo>
                  <a:pt x="5102087" y="974410"/>
                </a:lnTo>
                <a:lnTo>
                  <a:pt x="5565913" y="855834"/>
                </a:lnTo>
                <a:lnTo>
                  <a:pt x="6029739" y="763924"/>
                </a:lnTo>
                <a:lnTo>
                  <a:pt x="6493565" y="0"/>
                </a:lnTo>
                <a:lnTo>
                  <a:pt x="6957391" y="588905"/>
                </a:lnTo>
                <a:lnTo>
                  <a:pt x="7421217" y="142023"/>
                </a:lnTo>
                <a:lnTo>
                  <a:pt x="7885043" y="362993"/>
                </a:lnTo>
                <a:lnTo>
                  <a:pt x="8348870" y="77421"/>
                </a:lnTo>
                <a:lnTo>
                  <a:pt x="8812696" y="32021"/>
                </a:lnTo>
                <a:lnTo>
                  <a:pt x="9276522" y="22997"/>
                </a:lnTo>
                <a:lnTo>
                  <a:pt x="9740348" y="296301"/>
                </a:lnTo>
                <a:lnTo>
                  <a:pt x="10204174" y="269580"/>
                </a:lnTo>
                <a:lnTo>
                  <a:pt x="10668000" y="335679"/>
                </a:lnTo>
              </a:path>
            </a:pathLst>
          </a:custGeom>
          <a:ln w="44450">
            <a:solidFill>
              <a:srgbClr val="2348FF"/>
            </a:solidFill>
            <a:prstDash val="solid"/>
          </a:ln>
        </p:spPr>
      </p:sp>
      <p:sp>
        <p:nvSpPr>
          <p:cNvPr id="44" name="run-1197"/>
          <p:cNvSpPr/>
          <p:nvPr/>
        </p:nvSpPr>
        <p:spPr>
          <a:xfrm>
            <a:off x="704850" y="4768546"/>
            <a:ext cx="114300" cy="114300"/>
          </a:xfrm>
          <a:prstGeom prst="ellipse">
            <a:avLst/>
          </a:prstGeom>
          <a:solidFill>
            <a:srgbClr val="2348FF"/>
          </a:solidFill>
          <a:ln/>
        </p:spPr>
      </p:sp>
      <p:sp>
        <p:nvSpPr>
          <p:cNvPr id="45" name="text-1198"/>
          <p:cNvSpPr txBox="1"/>
          <p:nvPr/>
        </p:nvSpPr>
        <p:spPr>
          <a:xfrm>
            <a:off x="762000" y="4889500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сен 2016</a:t>
            </a:r>
            <a:endParaRPr lang="en-US" sz="950" dirty="0"/>
          </a:p>
        </p:txBody>
      </p:sp>
      <p:sp>
        <p:nvSpPr>
          <p:cNvPr id="46" name="text-1199"/>
          <p:cNvSpPr txBox="1"/>
          <p:nvPr/>
        </p:nvSpPr>
        <p:spPr>
          <a:xfrm>
            <a:off x="2299804" y="4889500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янв 2017</a:t>
            </a:r>
            <a:endParaRPr lang="en-US" sz="950" dirty="0"/>
          </a:p>
        </p:txBody>
      </p:sp>
      <p:sp>
        <p:nvSpPr>
          <p:cNvPr id="47" name="text-1200"/>
          <p:cNvSpPr txBox="1"/>
          <p:nvPr/>
        </p:nvSpPr>
        <p:spPr>
          <a:xfrm>
            <a:off x="7865717" y="4889500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янв 2018</a:t>
            </a:r>
            <a:endParaRPr lang="en-US" sz="950" dirty="0"/>
          </a:p>
        </p:txBody>
      </p:sp>
      <p:sp>
        <p:nvSpPr>
          <p:cNvPr id="48" name="shape-1201"/>
          <p:cNvSpPr/>
          <p:nvPr/>
        </p:nvSpPr>
        <p:spPr>
          <a:xfrm>
            <a:off x="1619802" y="4756150"/>
            <a:ext cx="139700" cy="139700"/>
          </a:xfrm>
          <a:prstGeom prst="ellipse">
            <a:avLst/>
          </a:prstGeom>
          <a:solidFill>
            <a:srgbClr val="D3263A"/>
          </a:solidFill>
          <a:ln/>
        </p:spPr>
      </p:sp>
      <p:sp>
        <p:nvSpPr>
          <p:cNvPr id="49" name="text-1202"/>
          <p:cNvSpPr txBox="1"/>
          <p:nvPr/>
        </p:nvSpPr>
        <p:spPr>
          <a:xfrm>
            <a:off x="1626152" y="4216400"/>
            <a:ext cx="393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3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generate_series: ноябрь 2016 = 0, строка есть</a:t>
            </a:r>
            <a:endParaRPr lang="en-US" sz="950" dirty="0"/>
          </a:p>
        </p:txBody>
      </p:sp>
      <p:sp>
        <p:nvSpPr>
          <p:cNvPr id="50" name="line-1203"/>
          <p:cNvSpPr/>
          <p:nvPr/>
        </p:nvSpPr>
        <p:spPr>
          <a:xfrm>
            <a:off x="762000" y="5270500"/>
            <a:ext cx="10668000" cy="0"/>
          </a:xfrm>
          <a:prstGeom prst="line">
            <a:avLst/>
          </a:prstGeom>
          <a:noFill/>
          <a:ln w="19050">
            <a:solidFill>
              <a:srgbClr val="E2E2E7"/>
            </a:solidFill>
            <a:prstDash val="solid"/>
          </a:ln>
        </p:spPr>
      </p:sp>
      <p:sp>
        <p:nvSpPr>
          <p:cNvPr id="51" name="text-1204"/>
          <p:cNvSpPr txBox="1"/>
          <p:nvPr/>
        </p:nvSpPr>
        <p:spPr>
          <a:xfrm>
            <a:off x="762000" y="5372100"/>
            <a:ext cx="260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226 987,93</a:t>
            </a:r>
            <a:endParaRPr lang="en-US" sz="2300" dirty="0"/>
          </a:p>
        </p:txBody>
      </p:sp>
      <p:sp>
        <p:nvSpPr>
          <p:cNvPr id="52" name="text-1205"/>
          <p:cNvSpPr txBox="1"/>
          <p:nvPr/>
        </p:nvSpPr>
        <p:spPr>
          <a:xfrm>
            <a:off x="762000" y="5791200"/>
            <a:ext cx="260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топ-продавец из Гуарибы: выручка от позиций</a:t>
            </a:r>
            <a:endParaRPr lang="en-US" sz="1000" dirty="0"/>
          </a:p>
        </p:txBody>
      </p:sp>
      <p:sp>
        <p:nvSpPr>
          <p:cNvPr id="53" name="text-1206"/>
          <p:cNvSpPr txBox="1"/>
          <p:nvPr/>
        </p:nvSpPr>
        <p:spPr>
          <a:xfrm>
            <a:off x="3492500" y="5372100"/>
            <a:ext cx="260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159,88</a:t>
            </a:r>
            <a:endParaRPr lang="en-US" sz="2300" dirty="0"/>
          </a:p>
        </p:txBody>
      </p:sp>
      <p:sp>
        <p:nvSpPr>
          <p:cNvPr id="54" name="text-1207"/>
          <p:cNvSpPr txBox="1"/>
          <p:nvPr/>
        </p:nvSpPr>
        <p:spPr>
          <a:xfrm>
            <a:off x="3492500" y="5791200"/>
            <a:ext cx="260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средний чек: заказ, потом среднее</a:t>
            </a:r>
            <a:endParaRPr lang="en-US" sz="1000" dirty="0"/>
          </a:p>
        </p:txBody>
      </p:sp>
      <p:sp>
        <p:nvSpPr>
          <p:cNvPr id="55" name="text-1208"/>
          <p:cNvSpPr txBox="1"/>
          <p:nvPr/>
        </p:nvSpPr>
        <p:spPr>
          <a:xfrm>
            <a:off x="6223000" y="5372100"/>
            <a:ext cx="260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96 096 · 3,12%</a:t>
            </a:r>
            <a:endParaRPr lang="en-US" sz="2300" dirty="0"/>
          </a:p>
        </p:txBody>
      </p:sp>
      <p:sp>
        <p:nvSpPr>
          <p:cNvPr id="56" name="text-1209"/>
          <p:cNvSpPr txBox="1"/>
          <p:nvPr/>
        </p:nvSpPr>
        <p:spPr>
          <a:xfrm>
            <a:off x="6223000" y="5791200"/>
            <a:ext cx="260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покупателей по customer_unique_id</a:t>
            </a:r>
            <a:endParaRPr lang="en-US" sz="1000" dirty="0"/>
          </a:p>
        </p:txBody>
      </p:sp>
      <p:sp>
        <p:nvSpPr>
          <p:cNvPr id="57" name="text-1210"/>
          <p:cNvSpPr txBox="1"/>
          <p:nvPr/>
        </p:nvSpPr>
        <p:spPr>
          <a:xfrm>
            <a:off x="8953500" y="5372100"/>
            <a:ext cx="260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2300" dirty="0"/>
          </a:p>
        </p:txBody>
      </p:sp>
      <p:sp>
        <p:nvSpPr>
          <p:cNvPr id="58" name="text-1211"/>
          <p:cNvSpPr txBox="1"/>
          <p:nvPr/>
        </p:nvSpPr>
        <p:spPr>
          <a:xfrm>
            <a:off x="8953500" y="5791200"/>
            <a:ext cx="260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категории с «(без категории)»</a:t>
            </a:r>
            <a:endParaRPr lang="en-US" sz="10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3500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8A9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32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6" presetClass="emph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37" dur="800" repeatCount="indefinite" accel="50000" decel="5000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3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3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3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255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380 -0.0132 L 0.0761 0.0000 L 0.1141 0.0000 L 0.1522 -0.0366 L 0.1902 -0.0768 L 0.2283 -0.1178 L 0.2663 -0.1117 L 0.3043 -0.1605 L 0.3424 -0.1384 L 0.3804 -0.1580 L 0.4185 -0.1819 L 0.4565 -0.1992 L 0.4946 -0.2126 L 0.5326 -0.3240 L 0.5707 -0.2382 L 0.6087 -0.3033 L 0.6467 -0.2711 L 0.6848 -0.3127 L 0.7228 -0.3194 L 0.7609 -0.3207 L 0.7989 -0.2808 L 0.8370 -0.2847 L 0.8750 -0.2751 E" pathEditMode="relative" ptsTypes="">
                                      <p:cBhvr>
                                        <p:cTn id="74" dur="6000" repeatCount="indefinite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8" grpId="1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rb-raw" descr="W:\Projects\hacks\rwb-new\presentation\pptx\assets\st-raw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4" name="!!row-raw-0" descr="W:\Projects\hacks\rwb-new\presentation\pptx\assets\st-raw-row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5" name="!!row-raw-1" descr="W:\Projects\hacks\rwb-new\presentation\pptx\assets\st-raw-row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6" name="!!row-raw-2" descr="W:\Projects\hacks\rwb-new\presentation\pptx\assets\st-raw-row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7" name="!!row-raw-3" descr="W:\Projects\hacks\rwb-new\presentation\pptx\assets\st-raw-row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8" name="!!row-raw-4" descr="W:\Projects\hacks\rwb-new\presentation\pptx\assets\st-raw-row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9" name="!!row-raw-5" descr="W:\Projects\hacks\rwb-new\presentation\pptx\assets\st-raw-row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10" name="!!row-raw-6" descr="W:\Projects\hacks\rwb-new\presentation\pptx\assets\st-raw-row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11" name="!!row-raw-7" descr="W:\Projects\hacks\rwb-new\presentation\pptx\assets\st-raw-row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12" name="!!row-raw-8" descr="W:\Projects\hacks\rwb-new\presentation\pptx\assets\st-raw-row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13" name="!!row-raw-9" descr="W:\Projects\hacks\rwb-new\presentation\pptx\assets\st-raw-row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14" name="!!rb-core" descr="W:\Projects\hacks\rwb-new\presentation\pptx\assets\st-core-b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15" name="!!row-core-0" descr="W:\Projects\hacks\rwb-new\presentation\pptx\assets\st-core-row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16" name="!!row-core-1" descr="W:\Projects\hacks\rwb-new\presentation\pptx\assets\st-core-row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17" name="!!row-core-2" descr="W:\Projects\hacks\rwb-new\presentation\pptx\assets\st-core-row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18" name="!!row-core-3" descr="W:\Projects\hacks\rwb-new\presentation\pptx\assets\st-core-row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19" name="!!row-core-4" descr="W:\Projects\hacks\rwb-new\presentation\pptx\assets\st-core-row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20" name="!!row-core-5" descr="W:\Projects\hacks\rwb-new\presentation\pptx\assets\st-core-row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21" name="!!row-core-6" descr="W:\Projects\hacks\rwb-new\presentation\pptx\assets\st-core-row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22" name="!!row-core-7" descr="W:\Projects\hacks\rwb-new\presentation\pptx\assets\st-core-row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23" name="!!row-core-8" descr="W:\Projects\hacks\rwb-new\presentation\pptx\assets\st-core-row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24" name="!!row-core-9" descr="W:\Projects\hacks\rwb-new\presentation\pptx\assets\st-core-row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25" name="!!rb-mart" descr="W:\Projects\hacks\rwb-new\presentation\pptx\assets\st-mart-bas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26" name="!!row-mart-0" descr="W:\Projects\hacks\rwb-new\presentation\pptx\assets\st-mart-row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27" name="!!row-mart-1" descr="W:\Projects\hacks\rwb-new\presentation\pptx\assets\st-mart-row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28" name="!!row-mart-2" descr="W:\Projects\hacks\rwb-new\presentation\pptx\assets\st-mart-row2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29" name="!!row-mart-3" descr="W:\Projects\hacks\rwb-new\presentation\pptx\assets\st-mart-row3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30" name="!!row-mart-4" descr="W:\Projects\hacks\rwb-new\presentation\pptx\assets\st-mart-row4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31" name="!!row-mart-5" descr="W:\Projects\hacks\rwb-new\presentation\pptx\assets\st-mart-row5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32" name="!!row-mart-6" descr="W:\Projects\hacks\rwb-new\presentation\pptx\assets\st-mart-row6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33" name="!!row-mart-7" descr="W:\Projects\hacks\rwb-new\presentation\pptx\assets\st-mart-row7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34" name="!!row-mart-8" descr="W:\Projects\hacks\rwb-new\presentation\pptx\assets\st-mart-row8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35" name="!!row-mart-9" descr="W:\Projects\hacks\rwb-new\presentation\pptx\assets\st-mart-row9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36" name="!!rshadow" descr="W:\Projects\hacks\rwb-new\presentation\pptx\assets\st-shadow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37" name="!!rcube" descr="W:\Projects\hacks\rwb-new\presentation\pptx\assets\st-cub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064000" y="127000"/>
            <a:ext cx="4064000" cy="4064000"/>
          </a:xfrm>
          <a:prstGeom prst="rect">
            <a:avLst/>
          </a:prstGeom>
        </p:spPr>
      </p:pic>
      <p:pic>
        <p:nvPicPr>
          <p:cNvPr id="38" name="pic-1247" descr="W:\Projects\hacks\rwb-new\presentation\pptx\assets\wm-0-ink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62000" y="444500"/>
            <a:ext cx="2933311" cy="571500"/>
          </a:xfrm>
          <a:prstGeom prst="rect">
            <a:avLst/>
          </a:prstGeom>
        </p:spPr>
      </p:pic>
      <p:pic>
        <p:nvPicPr>
          <p:cNvPr id="39" name="pic-1248" descr="W:\Projects\hacks\rwb-new\presentation\pptx\assets\wm-1-ink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62000" y="444500"/>
            <a:ext cx="2933311" cy="571500"/>
          </a:xfrm>
          <a:prstGeom prst="rect">
            <a:avLst/>
          </a:prstGeom>
        </p:spPr>
      </p:pic>
      <p:pic>
        <p:nvPicPr>
          <p:cNvPr id="40" name="pic-1249" descr="W:\Projects\hacks\rwb-new\presentation\pptx\assets\wm-2-ink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62000" y="444500"/>
            <a:ext cx="2933311" cy="571500"/>
          </a:xfrm>
          <a:prstGeom prst="rect">
            <a:avLst/>
          </a:prstGeom>
        </p:spPr>
      </p:pic>
      <p:pic>
        <p:nvPicPr>
          <p:cNvPr id="41" name="pic-1250" descr="W:\Projects\hacks\rwb-new\presentation\pptx\assets\wm-3-ink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62000" y="444500"/>
            <a:ext cx="2933311" cy="571500"/>
          </a:xfrm>
          <a:prstGeom prst="rect">
            <a:avLst/>
          </a:prstGeom>
        </p:spPr>
      </p:pic>
      <p:pic>
        <p:nvPicPr>
          <p:cNvPr id="42" name="pic-1251" descr="W:\Projects\hacks\rwb-new\presentation\pptx\assets\wm-4-ink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62000" y="444500"/>
            <a:ext cx="2933311" cy="571500"/>
          </a:xfrm>
          <a:prstGeom prst="rect">
            <a:avLst/>
          </a:prstGeom>
        </p:spPr>
      </p:pic>
      <p:sp>
        <p:nvSpPr>
          <p:cNvPr id="43" name="text-1252"/>
          <p:cNvSpPr txBox="1"/>
          <p:nvPr/>
        </p:nvSpPr>
        <p:spPr>
          <a:xfrm>
            <a:off x="762000" y="4318000"/>
            <a:ext cx="1066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Готовы к вашим </a:t>
            </a:r>
            <a:r>
              <a:rPr lang="en-US" sz="6600" i="1" dirty="0">
                <a:solidFill>
                  <a:srgbClr val="328EF9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вопросам</a:t>
            </a:r>
            <a:endParaRPr lang="en-US" sz="5800" dirty="0"/>
          </a:p>
        </p:txBody>
      </p:sp>
      <p:sp>
        <p:nvSpPr>
          <p:cNvPr id="44" name="text-1253"/>
          <p:cNvSpPr txBox="1"/>
          <p:nvPr/>
        </p:nvSpPr>
        <p:spPr>
          <a:xfrm>
            <a:off x="762000" y="5461000"/>
            <a:ext cx="1066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8A8A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</a:t>
            </a:r>
            <a:r>
              <a:rPr lang="en-US" sz="1600" b="1" dirty="0">
                <a:solidFill>
                  <a:srgbClr val="1D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GoatWhistle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98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9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w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2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82000">
                                          <p:val>
                                            <p:strVal val="#ppt_h*0.9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0" presetClass="pat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 -0.012 L 0 0 E" pathEditMode="relative" ptsTypes="">
                                      <p:cBhvr>
                                        <p:cTn id="35" dur="2600" repeatCount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1835</Words>
  <Application>Microsoft Office PowerPoint</Application>
  <PresentationFormat>Widescreen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Inter</vt:lpstr>
      <vt:lpstr>Consolas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Datum: модель данных Capibara</dc:title>
  <dc:subject>PptxGenJS Presentation</dc:subject>
  <dc:creator>Команда RWB</dc:creator>
  <cp:lastModifiedBy>MIkhail Khorokhorin</cp:lastModifiedBy>
  <cp:revision>2</cp:revision>
  <dcterms:created xsi:type="dcterms:W3CDTF">2026-10-28T12:50:53Z</dcterms:created>
  <dcterms:modified xsi:type="dcterms:W3CDTF">2026-10-28T12:50:56Z</dcterms:modified>
</cp:coreProperties>
</file>