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embeddedFontLst>
    <p:embeddedFont>
      <p:font typeface="Consolas" panose="020B0609020204030204" pitchFamily="49" charset="0"/>
      <p:regular r:id="rId16"/>
      <p:bold r:id="rId17"/>
      <p:italic r:id="rId18"/>
      <p:boldItalic r:id="rId19"/>
    </p:embeddedFont>
    <p:embeddedFont>
      <p:font typeface="Inter" panose="02000503000000020004" pitchFamily="2" charset="0"/>
      <p:regular r:id="rId20"/>
      <p:bold r:id="rId21"/>
    </p:embeddedFont>
    <p:embeddedFont>
      <p:font typeface="PT Serif" panose="020A0603040505090204" pitchFamily="18" charset="0"/>
      <p:italic r:id="rId2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263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Привет, мы команда RWB. Capibara, маркетплейс из Сан-Паулу: два года работы, почти сто тысяч заказов и восемь выгрузок, которые никто не приводил в порядок. Каждый отчёт аналитики собирают заново и каждый раз получают разные цифры. Мы построили модель, на которую можно опереться. Расскажем, что нашли в данных, как построили модель и почему каждое решение именно такое.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таблиц, около 550 тысяч строк. Заказы с хронологией, позиции, платежи, отзывы, товары, продавцы, покупатели и справочник переводов. Важно: каждая колонка приехала текстом, даже даты и деньги. Это нормально для raw-слоя: грузим как есть, чтобы загрузка не падала на мусоре. А вот типизация и чистка уже наша работа. Прежде чем проектировать схему, мы прошлись скриптами по каждой колонке. Вот что нашли.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Первое: в данных врут идентификаторы. У покупателя два id. customer_id это учётка одного заказа, их 99 441, на каждый заказ новая. Человек это customer_unique_id, их 96 096. Если считать по customer_id, повторных покупок не будет вовсе. Второе: review_id неуникален, 789 отзывов висят сразу на нескольких заказах. Третье: order_item_id вообще не идентификатор, это порядковый номер позиции внутри заказа.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Дальше дыры. 610 товаров без категории, и на них 170 тысяч выручки: выбросишь, и сумма по категориям не сойдётся с общей. В товарах 73 категории, в файле переводов 71: соберёшь справочник из переводов, и две категории молча исчезнут из отчётов. 775 заказов вообще без позиций, почти все unavailable и canceled. И в ноябре 2016 ни одного заказа: если строить отчёт только от фактов, месяц молча пропадёт.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 просто грязь. 1 359 заказов отгружены раньше подтверждения оплаты, 23 вручены раньше отгрузки, у шести отменённых стоит дата вручения. Города продавцов записаны 611 способами, один вместо города вписал почтовый индекс. Платежи не бьются с суммой позиций в тысяче с лишним заказов. Вывод простой: источникам доверять нельзя, проверки должны жить в модели, а не в голове аналитика.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Наши правила переноса. Типы приводим жёстко: если в дате мусор, сборка падает, и это хорошо, мы видим грязь, а не прячем её в отчёте. Пустые строки превращаем в NULL. На каждой таблице первичный ключ, между таблицами внешние ключи, плюс CHECK: статус только из списка, оценка 1–5, цена не отрицательная. База сама не даёт записать мусор. И всё это собирается одним скриптом с нуля, в одной транзакции: наполовину собранной модели не бывает.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классическая, три слоя. raw не трогаем вообще, только читаем. core это наша модель: типы, ключи, связи, дедупликация; именно отсюда считаются ответы. mart это витрины под конкретную задачу, у нас это исполнение заказа. Каждый слой пересобирается из предыдущего одним скриптом.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таблиц. Ключевые решения видны по первичным ключам: покупатель по customer_unique_id, позиции по паре заказ плюс номер, отзывы по паре review_id плюс order_id, потому что один отзыв бывает на нескольких заказах. Деньги numeric, даты timestamp. Любой дубль или провисшая связь не запишется.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Самые спорные решения с аргументами. Человек равен customer_unique_id: иначе 99 441 «покупатель» и ноль повторных, а у нас 96 096 и 3,12%, сходится с контролем организаторов. География хранится снимком в заказе: если брать из справочника, старые заказы получат новый адрес человека и исторические отчёты по регионам поедут. Справочник категорий собран из товаров, а не из файла переводов, перевод просто опционален. Товары без категории не выбрасываем, а показываем отдельной строкой. И везде, где пары может не быть, LEFT JOIN: 775 заказов без позиций остаются в отчётах.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мы убедились, что ничего не потеряли: сверка. Счётчики raw против core совпадают по всем таблицам, вот они на слайде. В витринах проверяются число строк, пары заказ-продавец и сумма денег, и при расхождении скрипт падает с ошибкой, а не молчит. 96 096 против 99 441 в customers это не потеря, а дедупликация, в ней смысл таблицы.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Две витрины. order_fulfillment: одна строка, один заказ, все 99 441. Этапы в днях, флаг on_time, суммы, последний отзыв. Этапы с нарушенной хронологией становятся NULL, чтобы не портить медианы. seller_shipment: строка на пару заказ-продавец, срок отгрузки и флаг «успел ли». Тонкость: дата отгрузки в источнике одна на весь заказ, поэтому рейтинг продавца честно считается только по заказам с одним продавцом, для этого флаг is_single_seller. Зачем всё это: вопрос про исполнение заказа становится одним SELECT без join, ошибиться уровнем просто негде.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Ответы. Все пять контрольных цифр сошлись: 24 месяца с итогом 13 221 498.11; топ-продавец из Гуарибы с 226 987.93; средний чек 159.88; 96 096 покупателей и 3,12% повторных; 74 категории. В каждом вопросе своя ловушка, и у нас на неё приём: календарь через generate_series, выручка продавца от позиций, чек в две ступени. Выручка везде определена одинаково: сумма цен по доставленным заказам. Поэтому цифры сходятся между отчётами.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Готовы к вашим вопросам.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TUM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:\Projects\hacks\rwb-new\presentation\pptx\assets\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17500"/>
            <a:ext cx="254000" cy="25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2200" y="304800"/>
            <a:ext cx="127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R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5.png"/><Relationship Id="rId5" Type="http://schemas.openxmlformats.org/officeDocument/2006/relationships/image" Target="../media/image4.png"/><Relationship Id="rId15" Type="http://schemas.openxmlformats.org/officeDocument/2006/relationships/image" Target="../media/image19.png"/><Relationship Id="rId10" Type="http://schemas.openxmlformats.org/officeDocument/2006/relationships/image" Target="../media/image14.png"/><Relationship Id="rId4" Type="http://schemas.openxmlformats.org/officeDocument/2006/relationships/image" Target="../media/image3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4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5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6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7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1000" y="889000"/>
            <a:ext cx="5334000" cy="5334000"/>
          </a:xfrm>
          <a:prstGeom prst="rect">
            <a:avLst/>
          </a:prstGeom>
        </p:spPr>
      </p:pic>
      <p:pic>
        <p:nvPicPr>
          <p:cNvPr id="8" name="pic-6" descr="W:\Projects\hacks\rwb-new\presentation\pptx\assets\wm-0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9" name="pic-7" descr="W:\Projects\hacks\rwb-new\presentation\pptx\assets\wm-1-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10" name="pic-8" descr="W:\Projects\hacks\rwb-new\presentation\pptx\assets\wm-2-in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11" name="pic-9" descr="W:\Projects\hacks\rwb-new\presentation\pptx\assets\wm-3-in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pic>
        <p:nvPicPr>
          <p:cNvPr id="12" name="pic-10" descr="W:\Projects\hacks\rwb-new\presentation\pptx\assets\wm-4-in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1816100"/>
            <a:ext cx="5736253" cy="1117600"/>
          </a:xfrm>
          <a:prstGeom prst="rect">
            <a:avLst/>
          </a:prstGeom>
        </p:spPr>
      </p:pic>
      <p:sp>
        <p:nvSpPr>
          <p:cNvPr id="13" name="text-11"/>
          <p:cNvSpPr txBox="1"/>
          <p:nvPr/>
        </p:nvSpPr>
        <p:spPr>
          <a:xfrm>
            <a:off x="762000" y="3810000"/>
            <a:ext cx="571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3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 данных Capibara:</a:t>
            </a:r>
            <a:endParaRPr lang="en-US" sz="3200" dirty="0"/>
          </a:p>
          <a:p>
            <a:pPr marL="0" indent="0" algn="l">
              <a:lnSpc>
                <a:spcPct val="95000"/>
              </a:lnSpc>
              <a:buNone/>
            </a:pPr>
            <a:r>
              <a:rPr lang="en-US" sz="3600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от корзины до выкупа</a:t>
            </a:r>
            <a:endParaRPr lang="en-US" sz="3200" dirty="0"/>
          </a:p>
        </p:txBody>
      </p:sp>
      <p:sp>
        <p:nvSpPr>
          <p:cNvPr id="14" name="shape-12"/>
          <p:cNvSpPr/>
          <p:nvPr/>
        </p:nvSpPr>
        <p:spPr>
          <a:xfrm>
            <a:off x="762000" y="6191250"/>
            <a:ext cx="101600" cy="1016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5" name="text-13"/>
          <p:cNvSpPr txBox="1"/>
          <p:nvPr/>
        </p:nvSpPr>
        <p:spPr>
          <a:xfrm>
            <a:off x="952500" y="6108700"/>
            <a:ext cx="44450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GoatWhistle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48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92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nodeType="withEffect">
                                  <p:stCondLst>
                                    <p:cond delay="192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92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nodeType="withEffect">
                                  <p:stCondLst>
                                    <p:cond delay="228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92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ntr" presetSubtype="0" fill="hold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6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7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262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92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294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92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9" presetClass="entr" presetSubtype="0" fill="hold" nodeType="withEffect">
                                  <p:stCondLst>
                                    <p:cond delay="367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0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7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27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2" presetClass="entr" presetSubtype="1" fill="hold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554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1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" presetClass="entr" presetSubtype="8" fill="hold" grpId="0" nodeType="withEffect">
                                  <p:stCondLst>
                                    <p:cond delay="651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1" dur="42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2" presetID="0" presetClass="path" presetSubtype="0" fill="hold" nodeType="withEffect">
                                  <p:stCondLst>
                                    <p:cond delay="957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63" dur="2600" repeatCount="indefinite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64" presetID="6" presetClass="emph" presetSubtype="0" fill="hold" grpId="1" nodeType="withEffect">
                                  <p:stCondLst>
                                    <p:cond delay="1135"/>
                                  </p:stCondLst>
                                  <p:childTnLst>
                                    <p:animScale>
                                      <p:cBhvr>
                                        <p:cTn id="65" dur="900" repeatCount="indefinite" accel="50000" decel="50000" autoRev="1" fill="hold"/>
                                        <p:tgtEl>
                                          <p:spTgt spid="14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4" grpId="1" animBg="1"/>
      <p:bldP spid="15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4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5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6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7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sp>
        <p:nvSpPr>
          <p:cNvPr id="8" name="text-19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550 759 строк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все текстом</a:t>
            </a:r>
            <a:endParaRPr lang="en-US" sz="3400" dirty="0"/>
          </a:p>
        </p:txBody>
      </p:sp>
      <p:pic>
        <p:nvPicPr>
          <p:cNvPr id="9" name="pic-20" descr="W:\Projects\hacks\rwb-new\presentation\pptx\assets\wf-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0" name="pic-21" descr="W:\Projects\hacks\rwb-new\presentation\pptx\assets\wf-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1" name="pic-22" descr="W:\Projects\hacks\rwb-new\presentation\pptx\assets\wf-2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2" name="pic-23" descr="W:\Projects\hacks\rwb-new\presentation\pptx\assets\wf-3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3" name="pic-24" descr="W:\Projects\hacks\rwb-new\presentation\pptx\assets\wf-4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4" name="pic-25" descr="W:\Projects\hacks\rwb-new\presentation\pptx\assets\wf-5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5" name="pic-26" descr="W:\Projects\hacks\rwb-new\presentation\pptx\assets\wf-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pic>
        <p:nvPicPr>
          <p:cNvPr id="16" name="pic-27" descr="W:\Projects\hacks\rwb-new\presentation\pptx\assets\wf-7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000" y="1841500"/>
            <a:ext cx="5815263" cy="3810000"/>
          </a:xfrm>
          <a:prstGeom prst="rect">
            <a:avLst/>
          </a:prstGeom>
        </p:spPr>
      </p:pic>
      <p:sp>
        <p:nvSpPr>
          <p:cNvPr id="17" name="shape-28"/>
          <p:cNvSpPr/>
          <p:nvPr/>
        </p:nvSpPr>
        <p:spPr>
          <a:xfrm>
            <a:off x="7620000" y="20320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2348FF"/>
          </a:solidFill>
          <a:ln/>
        </p:spPr>
      </p:sp>
      <p:sp>
        <p:nvSpPr>
          <p:cNvPr id="18" name="text-29"/>
          <p:cNvSpPr txBox="1"/>
          <p:nvPr/>
        </p:nvSpPr>
        <p:spPr>
          <a:xfrm>
            <a:off x="7937500" y="19685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order_items</a:t>
            </a:r>
            <a:endParaRPr lang="en-US" sz="1200" dirty="0"/>
          </a:p>
        </p:txBody>
      </p:sp>
      <p:sp>
        <p:nvSpPr>
          <p:cNvPr id="19" name="text-30"/>
          <p:cNvSpPr txBox="1"/>
          <p:nvPr/>
        </p:nvSpPr>
        <p:spPr>
          <a:xfrm>
            <a:off x="10287000" y="19685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400" dirty="0"/>
          </a:p>
        </p:txBody>
      </p:sp>
      <p:sp>
        <p:nvSpPr>
          <p:cNvPr id="20" name="shape-31"/>
          <p:cNvSpPr/>
          <p:nvPr/>
        </p:nvSpPr>
        <p:spPr>
          <a:xfrm>
            <a:off x="7620000" y="24384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328EF9"/>
          </a:solidFill>
          <a:ln/>
        </p:spPr>
      </p:sp>
      <p:sp>
        <p:nvSpPr>
          <p:cNvPr id="21" name="text-32"/>
          <p:cNvSpPr txBox="1"/>
          <p:nvPr/>
        </p:nvSpPr>
        <p:spPr>
          <a:xfrm>
            <a:off x="7937500" y="23749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order_payments</a:t>
            </a:r>
            <a:endParaRPr lang="en-US" sz="1200" dirty="0"/>
          </a:p>
        </p:txBody>
      </p:sp>
      <p:sp>
        <p:nvSpPr>
          <p:cNvPr id="22" name="text-33"/>
          <p:cNvSpPr txBox="1"/>
          <p:nvPr/>
        </p:nvSpPr>
        <p:spPr>
          <a:xfrm>
            <a:off x="10287000" y="23749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400" dirty="0"/>
          </a:p>
        </p:txBody>
      </p:sp>
      <p:sp>
        <p:nvSpPr>
          <p:cNvPr id="23" name="shape-34"/>
          <p:cNvSpPr/>
          <p:nvPr/>
        </p:nvSpPr>
        <p:spPr>
          <a:xfrm>
            <a:off x="7620000" y="28448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3BC4EE"/>
          </a:solidFill>
          <a:ln/>
        </p:spPr>
      </p:sp>
      <p:sp>
        <p:nvSpPr>
          <p:cNvPr id="24" name="text-35"/>
          <p:cNvSpPr txBox="1"/>
          <p:nvPr/>
        </p:nvSpPr>
        <p:spPr>
          <a:xfrm>
            <a:off x="7937500" y="27813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orders</a:t>
            </a:r>
            <a:endParaRPr lang="en-US" sz="1200" dirty="0"/>
          </a:p>
        </p:txBody>
      </p:sp>
      <p:sp>
        <p:nvSpPr>
          <p:cNvPr id="25" name="text-36"/>
          <p:cNvSpPr txBox="1"/>
          <p:nvPr/>
        </p:nvSpPr>
        <p:spPr>
          <a:xfrm>
            <a:off x="10287000" y="27813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400" dirty="0"/>
          </a:p>
        </p:txBody>
      </p:sp>
      <p:sp>
        <p:nvSpPr>
          <p:cNvPr id="26" name="shape-37"/>
          <p:cNvSpPr/>
          <p:nvPr/>
        </p:nvSpPr>
        <p:spPr>
          <a:xfrm>
            <a:off x="7620000" y="32512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518FF2"/>
          </a:solidFill>
          <a:ln/>
        </p:spPr>
      </p:sp>
      <p:sp>
        <p:nvSpPr>
          <p:cNvPr id="27" name="text-38"/>
          <p:cNvSpPr txBox="1"/>
          <p:nvPr/>
        </p:nvSpPr>
        <p:spPr>
          <a:xfrm>
            <a:off x="7937500" y="31877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order_reviews</a:t>
            </a:r>
            <a:endParaRPr lang="en-US" sz="1200" dirty="0"/>
          </a:p>
        </p:txBody>
      </p:sp>
      <p:sp>
        <p:nvSpPr>
          <p:cNvPr id="28" name="text-39"/>
          <p:cNvSpPr txBox="1"/>
          <p:nvPr/>
        </p:nvSpPr>
        <p:spPr>
          <a:xfrm>
            <a:off x="10287000" y="31877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400" dirty="0"/>
          </a:p>
        </p:txBody>
      </p:sp>
      <p:sp>
        <p:nvSpPr>
          <p:cNvPr id="29" name="shape-40"/>
          <p:cNvSpPr/>
          <p:nvPr/>
        </p:nvSpPr>
        <p:spPr>
          <a:xfrm>
            <a:off x="7620000" y="36576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7F57EB"/>
          </a:solidFill>
          <a:ln/>
        </p:spPr>
      </p:sp>
      <p:sp>
        <p:nvSpPr>
          <p:cNvPr id="30" name="text-41"/>
          <p:cNvSpPr txBox="1"/>
          <p:nvPr/>
        </p:nvSpPr>
        <p:spPr>
          <a:xfrm>
            <a:off x="7937500" y="35941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customers</a:t>
            </a:r>
            <a:endParaRPr lang="en-US" sz="1200" dirty="0"/>
          </a:p>
        </p:txBody>
      </p:sp>
      <p:sp>
        <p:nvSpPr>
          <p:cNvPr id="31" name="text-42"/>
          <p:cNvSpPr txBox="1"/>
          <p:nvPr/>
        </p:nvSpPr>
        <p:spPr>
          <a:xfrm>
            <a:off x="10287000" y="35941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400" dirty="0"/>
          </a:p>
        </p:txBody>
      </p:sp>
      <p:sp>
        <p:nvSpPr>
          <p:cNvPr id="32" name="shape-43"/>
          <p:cNvSpPr/>
          <p:nvPr/>
        </p:nvSpPr>
        <p:spPr>
          <a:xfrm>
            <a:off x="7620000" y="40640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1A36CC"/>
          </a:solidFill>
          <a:ln/>
        </p:spPr>
      </p:sp>
      <p:sp>
        <p:nvSpPr>
          <p:cNvPr id="33" name="text-44"/>
          <p:cNvSpPr txBox="1"/>
          <p:nvPr/>
        </p:nvSpPr>
        <p:spPr>
          <a:xfrm>
            <a:off x="7937500" y="40005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products</a:t>
            </a:r>
            <a:endParaRPr lang="en-US" sz="1200" dirty="0"/>
          </a:p>
        </p:txBody>
      </p:sp>
      <p:sp>
        <p:nvSpPr>
          <p:cNvPr id="34" name="text-45"/>
          <p:cNvSpPr txBox="1"/>
          <p:nvPr/>
        </p:nvSpPr>
        <p:spPr>
          <a:xfrm>
            <a:off x="10287000" y="40005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400" dirty="0"/>
          </a:p>
        </p:txBody>
      </p:sp>
      <p:sp>
        <p:nvSpPr>
          <p:cNvPr id="35" name="shape-46"/>
          <p:cNvSpPr/>
          <p:nvPr/>
        </p:nvSpPr>
        <p:spPr>
          <a:xfrm>
            <a:off x="7620000" y="44704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78E9FF"/>
          </a:solidFill>
          <a:ln/>
        </p:spPr>
      </p:sp>
      <p:sp>
        <p:nvSpPr>
          <p:cNvPr id="36" name="text-47"/>
          <p:cNvSpPr txBox="1"/>
          <p:nvPr/>
        </p:nvSpPr>
        <p:spPr>
          <a:xfrm>
            <a:off x="7937500" y="44069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sellers</a:t>
            </a:r>
            <a:endParaRPr lang="en-US" sz="1200" dirty="0"/>
          </a:p>
        </p:txBody>
      </p:sp>
      <p:sp>
        <p:nvSpPr>
          <p:cNvPr id="37" name="text-48"/>
          <p:cNvSpPr txBox="1"/>
          <p:nvPr/>
        </p:nvSpPr>
        <p:spPr>
          <a:xfrm>
            <a:off x="10287000" y="44069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400" dirty="0"/>
          </a:p>
        </p:txBody>
      </p:sp>
      <p:sp>
        <p:nvSpPr>
          <p:cNvPr id="38" name="shape-49"/>
          <p:cNvSpPr/>
          <p:nvPr/>
        </p:nvSpPr>
        <p:spPr>
          <a:xfrm>
            <a:off x="7620000" y="4876800"/>
            <a:ext cx="177800" cy="177800"/>
          </a:xfrm>
          <a:prstGeom prst="roundRect">
            <a:avLst>
              <a:gd name="adj" fmla="val 28571"/>
            </a:avLst>
          </a:prstGeom>
          <a:solidFill>
            <a:srgbClr val="8A8A93"/>
          </a:solidFill>
          <a:ln/>
        </p:spPr>
      </p:sp>
      <p:sp>
        <p:nvSpPr>
          <p:cNvPr id="39" name="text-50"/>
          <p:cNvSpPr txBox="1"/>
          <p:nvPr/>
        </p:nvSpPr>
        <p:spPr>
          <a:xfrm>
            <a:off x="7937500" y="4813300"/>
            <a:ext cx="241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category_translation</a:t>
            </a:r>
            <a:endParaRPr lang="en-US" sz="1200" dirty="0"/>
          </a:p>
        </p:txBody>
      </p:sp>
      <p:sp>
        <p:nvSpPr>
          <p:cNvPr id="40" name="text-51"/>
          <p:cNvSpPr txBox="1"/>
          <p:nvPr/>
        </p:nvSpPr>
        <p:spPr>
          <a:xfrm>
            <a:off x="10287000" y="4813300"/>
            <a:ext cx="1143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400" dirty="0"/>
          </a:p>
        </p:txBody>
      </p:sp>
      <p:sp>
        <p:nvSpPr>
          <p:cNvPr id="41" name="text-52"/>
          <p:cNvSpPr txBox="1"/>
          <p:nvPr/>
        </p:nvSpPr>
        <p:spPr>
          <a:xfrm>
            <a:off x="762000" y="5873750"/>
            <a:ext cx="1066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клетка = 1 000 строк. Даты, суммы и оценки приехали строками, каждую колонку проверили скриптами.</a:t>
            </a:r>
            <a:endParaRPr lang="en-US" sz="11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2</a:t>
            </a:fld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28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7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" presetClass="entr" presetSubtype="2" fill="hold" grpId="0" nodeType="withEffect">
                                  <p:stCondLst>
                                    <p:cond delay="177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" dur="3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203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228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1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21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224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" presetClass="entr" presetSubtype="2" fill="hold" grpId="0" nodeType="withEffect">
                                  <p:stCondLst>
                                    <p:cond delay="224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3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2" presetClass="entr" presetSubtype="8" fill="hold" nodeType="withEffect">
                                  <p:stCondLst>
                                    <p:cond delay="248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8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grpId="0" nodeType="withEffect">
                                  <p:stCondLst>
                                    <p:cond delay="264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1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21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68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2" fill="hold" grpId="0" nodeType="withEffect">
                                  <p:stCondLst>
                                    <p:cond delay="268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3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2" presetClass="entr" presetSubtype="8" fill="hold" nodeType="withEffect">
                                  <p:stCondLst>
                                    <p:cond delay="29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28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42" presetClass="entr" presetSubtype="0" fill="hold" grpId="0" nodeType="withEffect">
                                  <p:stCondLst>
                                    <p:cond delay="304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1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21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53" presetClass="entr" presetSubtype="16" fill="hold" grpId="0" nodeType="withEffect">
                                  <p:stCondLst>
                                    <p:cond delay="308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0" dur="1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2" fill="hold" grpId="0" nodeType="withEffect">
                                  <p:stCondLst>
                                    <p:cond delay="308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3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328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22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42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1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1" dur="21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53" presetClass="entr" presetSubtype="16" fill="hold" grpId="0" nodeType="withEffect">
                                  <p:stCondLst>
                                    <p:cond delay="345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4" dur="3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5" dur="3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12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2" presetClass="entr" presetSubtype="2" fill="hold" grpId="0" nodeType="withEffect">
                                  <p:stCondLst>
                                    <p:cond delay="345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0" dur="3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nodeType="withEffect">
                                  <p:stCondLst>
                                    <p:cond delay="364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22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42" presetClass="entr" presetSubtype="0" fill="hold" grpId="0" nodeType="withEffect">
                                  <p:stCondLst>
                                    <p:cond delay="376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21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7" dur="21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53" presetClass="entr" presetSubtype="16" fill="hold" grpId="0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3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3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2" dur="1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2" presetClass="entr" presetSubtype="2" fill="hold" grpId="0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6" dur="30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2" presetClass="entr" presetSubtype="8" fill="hold" nodeType="withEffect">
                                  <p:stCondLst>
                                    <p:cond delay="397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9" dur="228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1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21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411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3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3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2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2" presetClass="entr" presetSubtype="2" fill="hold" grpId="0" nodeType="withEffect">
                                  <p:stCondLst>
                                    <p:cond delay="411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2" dur="30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2" presetClass="entr" presetSubtype="8" fill="hold" nodeType="withEffect">
                                  <p:stCondLst>
                                    <p:cond delay="427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228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438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21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21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3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3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12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2" presetClass="entr" presetSubtype="2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8" dur="30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465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21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2" dur="21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506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53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Анкета не равна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человеку</a:t>
            </a:r>
            <a:endParaRPr lang="en-US" sz="3400" dirty="0"/>
          </a:p>
        </p:txBody>
      </p:sp>
      <p:sp>
        <p:nvSpPr>
          <p:cNvPr id="4" name="shape-54"/>
          <p:cNvSpPr/>
          <p:nvPr/>
        </p:nvSpPr>
        <p:spPr>
          <a:xfrm>
            <a:off x="1270000" y="2286000"/>
            <a:ext cx="3175000" cy="3175000"/>
          </a:xfrm>
          <a:prstGeom prst="ellipse">
            <a:avLst/>
          </a:prstGeom>
          <a:ln w="19050">
            <a:solidFill>
              <a:srgbClr val="E2E2E7"/>
            </a:solidFill>
            <a:prstDash val="dash"/>
          </a:ln>
        </p:spPr>
      </p:sp>
      <p:sp>
        <p:nvSpPr>
          <p:cNvPr id="5" name="line-55"/>
          <p:cNvSpPr/>
          <p:nvPr/>
        </p:nvSpPr>
        <p:spPr>
          <a:xfrm>
            <a:off x="2857500" y="2286000"/>
            <a:ext cx="0" cy="1587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6" name="shape-56"/>
          <p:cNvSpPr/>
          <p:nvPr/>
        </p:nvSpPr>
        <p:spPr>
          <a:xfrm>
            <a:off x="2679700" y="21653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7" name="line-57"/>
          <p:cNvSpPr/>
          <p:nvPr/>
        </p:nvSpPr>
        <p:spPr>
          <a:xfrm flipH="1">
            <a:off x="2857500" y="2393200"/>
            <a:ext cx="573471" cy="14803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8" name="shape-58"/>
          <p:cNvSpPr/>
          <p:nvPr/>
        </p:nvSpPr>
        <p:spPr>
          <a:xfrm>
            <a:off x="3253171" y="22725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9" name="line-59"/>
          <p:cNvSpPr/>
          <p:nvPr/>
        </p:nvSpPr>
        <p:spPr>
          <a:xfrm flipH="1">
            <a:off x="2857500" y="2700323"/>
            <a:ext cx="1069492" cy="1173177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0" name="shape-60"/>
          <p:cNvSpPr/>
          <p:nvPr/>
        </p:nvSpPr>
        <p:spPr>
          <a:xfrm>
            <a:off x="3749192" y="2579673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1" name="line-61"/>
          <p:cNvSpPr/>
          <p:nvPr/>
        </p:nvSpPr>
        <p:spPr>
          <a:xfrm flipH="1">
            <a:off x="2857500" y="3165890"/>
            <a:ext cx="1421072" cy="70761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2" name="shape-62"/>
          <p:cNvSpPr/>
          <p:nvPr/>
        </p:nvSpPr>
        <p:spPr>
          <a:xfrm>
            <a:off x="4100772" y="304524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3" name="line-63"/>
          <p:cNvSpPr/>
          <p:nvPr/>
        </p:nvSpPr>
        <p:spPr>
          <a:xfrm flipH="1">
            <a:off x="2857500" y="3727024"/>
            <a:ext cx="1580728" cy="146476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4" name="shape-64"/>
          <p:cNvSpPr/>
          <p:nvPr/>
        </p:nvSpPr>
        <p:spPr>
          <a:xfrm>
            <a:off x="4260428" y="3606374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5" name="line-65"/>
          <p:cNvSpPr/>
          <p:nvPr/>
        </p:nvSpPr>
        <p:spPr>
          <a:xfrm>
            <a:off x="2857500" y="3873500"/>
            <a:ext cx="1526898" cy="43444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6" name="shape-66"/>
          <p:cNvSpPr/>
          <p:nvPr/>
        </p:nvSpPr>
        <p:spPr>
          <a:xfrm>
            <a:off x="4206598" y="418729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7" name="line-67"/>
          <p:cNvSpPr/>
          <p:nvPr/>
        </p:nvSpPr>
        <p:spPr>
          <a:xfrm>
            <a:off x="2857500" y="3873500"/>
            <a:ext cx="1266852" cy="956682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8" name="shape-68"/>
          <p:cNvSpPr/>
          <p:nvPr/>
        </p:nvSpPr>
        <p:spPr>
          <a:xfrm>
            <a:off x="3946552" y="4709532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19" name="line-69"/>
          <p:cNvSpPr/>
          <p:nvPr/>
        </p:nvSpPr>
        <p:spPr>
          <a:xfrm>
            <a:off x="2857500" y="3873500"/>
            <a:ext cx="835711" cy="134972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0" name="shape-70"/>
          <p:cNvSpPr/>
          <p:nvPr/>
        </p:nvSpPr>
        <p:spPr>
          <a:xfrm>
            <a:off x="3515411" y="510257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1" name="line-71"/>
          <p:cNvSpPr/>
          <p:nvPr/>
        </p:nvSpPr>
        <p:spPr>
          <a:xfrm>
            <a:off x="2857500" y="3873500"/>
            <a:ext cx="291702" cy="156047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2" name="shape-72"/>
          <p:cNvSpPr/>
          <p:nvPr/>
        </p:nvSpPr>
        <p:spPr>
          <a:xfrm>
            <a:off x="2971402" y="531332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3" name="line-73"/>
          <p:cNvSpPr/>
          <p:nvPr/>
        </p:nvSpPr>
        <p:spPr>
          <a:xfrm flipH="1">
            <a:off x="2565798" y="3873500"/>
            <a:ext cx="291702" cy="156047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4" name="shape-74"/>
          <p:cNvSpPr/>
          <p:nvPr/>
        </p:nvSpPr>
        <p:spPr>
          <a:xfrm>
            <a:off x="2387998" y="531332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5" name="line-75"/>
          <p:cNvSpPr/>
          <p:nvPr/>
        </p:nvSpPr>
        <p:spPr>
          <a:xfrm flipH="1">
            <a:off x="2021789" y="3873500"/>
            <a:ext cx="835711" cy="134972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6" name="shape-76"/>
          <p:cNvSpPr/>
          <p:nvPr/>
        </p:nvSpPr>
        <p:spPr>
          <a:xfrm>
            <a:off x="1843989" y="510257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7" name="line-77"/>
          <p:cNvSpPr/>
          <p:nvPr/>
        </p:nvSpPr>
        <p:spPr>
          <a:xfrm flipH="1">
            <a:off x="1590648" y="3873500"/>
            <a:ext cx="1266852" cy="956682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28" name="shape-78"/>
          <p:cNvSpPr/>
          <p:nvPr/>
        </p:nvSpPr>
        <p:spPr>
          <a:xfrm>
            <a:off x="1412848" y="4709532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29" name="line-79"/>
          <p:cNvSpPr/>
          <p:nvPr/>
        </p:nvSpPr>
        <p:spPr>
          <a:xfrm flipH="1">
            <a:off x="1330602" y="3873500"/>
            <a:ext cx="1526898" cy="43444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0" name="shape-80"/>
          <p:cNvSpPr/>
          <p:nvPr/>
        </p:nvSpPr>
        <p:spPr>
          <a:xfrm>
            <a:off x="1152802" y="418729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1" name="line-81"/>
          <p:cNvSpPr/>
          <p:nvPr/>
        </p:nvSpPr>
        <p:spPr>
          <a:xfrm>
            <a:off x="1276772" y="3727024"/>
            <a:ext cx="1580728" cy="146476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2" name="shape-82"/>
          <p:cNvSpPr/>
          <p:nvPr/>
        </p:nvSpPr>
        <p:spPr>
          <a:xfrm>
            <a:off x="1098972" y="3606374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3" name="line-83"/>
          <p:cNvSpPr/>
          <p:nvPr/>
        </p:nvSpPr>
        <p:spPr>
          <a:xfrm>
            <a:off x="1436428" y="3165890"/>
            <a:ext cx="1421072" cy="70761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4" name="shape-84"/>
          <p:cNvSpPr/>
          <p:nvPr/>
        </p:nvSpPr>
        <p:spPr>
          <a:xfrm>
            <a:off x="1258628" y="304524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5" name="line-85"/>
          <p:cNvSpPr/>
          <p:nvPr/>
        </p:nvSpPr>
        <p:spPr>
          <a:xfrm>
            <a:off x="1788008" y="2700323"/>
            <a:ext cx="1069492" cy="1173177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6" name="shape-86"/>
          <p:cNvSpPr/>
          <p:nvPr/>
        </p:nvSpPr>
        <p:spPr>
          <a:xfrm>
            <a:off x="1610208" y="2579673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7" name="line-87"/>
          <p:cNvSpPr/>
          <p:nvPr/>
        </p:nvSpPr>
        <p:spPr>
          <a:xfrm>
            <a:off x="2284029" y="2393200"/>
            <a:ext cx="573471" cy="14803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38" name="shape-88"/>
          <p:cNvSpPr/>
          <p:nvPr/>
        </p:nvSpPr>
        <p:spPr>
          <a:xfrm>
            <a:off x="2106229" y="2272550"/>
            <a:ext cx="3556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5875">
            <a:solidFill>
              <a:srgbClr val="C9C9D1"/>
            </a:solidFill>
            <a:prstDash val="solid"/>
          </a:ln>
        </p:spPr>
      </p:sp>
      <p:sp>
        <p:nvSpPr>
          <p:cNvPr id="39" name="shape-89"/>
          <p:cNvSpPr/>
          <p:nvPr/>
        </p:nvSpPr>
        <p:spPr>
          <a:xfrm>
            <a:off x="2273300" y="3289300"/>
            <a:ext cx="1168400" cy="1168400"/>
          </a:xfrm>
          <a:prstGeom prst="ellipse">
            <a:avLst/>
          </a:prstGeom>
          <a:solidFill>
            <a:srgbClr val="2348FF"/>
          </a:solidFill>
          <a:ln/>
        </p:spPr>
      </p:sp>
      <p:pic>
        <p:nvPicPr>
          <p:cNvPr id="40" name="pic-90" descr="W:\Projects\hacks\rwb-new\presentation\pptx\assets\ico-user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0800" y="3606800"/>
            <a:ext cx="533400" cy="533400"/>
          </a:xfrm>
          <a:prstGeom prst="rect">
            <a:avLst/>
          </a:prstGeom>
        </p:spPr>
      </p:pic>
      <p:sp>
        <p:nvSpPr>
          <p:cNvPr id="41" name="text-91"/>
          <p:cNvSpPr txBox="1"/>
          <p:nvPr/>
        </p:nvSpPr>
        <p:spPr>
          <a:xfrm>
            <a:off x="952500" y="5588000"/>
            <a:ext cx="381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до 17 анкет у одного человека</a:t>
            </a:r>
            <a:endParaRPr lang="en-US" sz="1100" dirty="0"/>
          </a:p>
        </p:txBody>
      </p:sp>
      <p:sp>
        <p:nvSpPr>
          <p:cNvPr id="42" name="shape-92"/>
          <p:cNvSpPr/>
          <p:nvPr/>
        </p:nvSpPr>
        <p:spPr>
          <a:xfrm>
            <a:off x="5461000" y="1905000"/>
            <a:ext cx="5969000" cy="1206500"/>
          </a:xfrm>
          <a:prstGeom prst="roundRect">
            <a:avLst>
              <a:gd name="adj" fmla="val 15789"/>
            </a:avLst>
          </a:prstGeom>
          <a:solidFill>
            <a:srgbClr val="F1F1F3"/>
          </a:solidFill>
          <a:ln/>
        </p:spPr>
      </p:sp>
      <p:sp>
        <p:nvSpPr>
          <p:cNvPr id="43" name="text-93"/>
          <p:cNvSpPr txBox="1"/>
          <p:nvPr/>
        </p:nvSpPr>
        <p:spPr>
          <a:xfrm>
            <a:off x="5715000" y="2032000"/>
            <a:ext cx="20955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strike="sngStrike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4200" dirty="0"/>
          </a:p>
        </p:txBody>
      </p:sp>
      <p:pic>
        <p:nvPicPr>
          <p:cNvPr id="44" name="pic-94" descr="W:\Projects\hacks\rwb-new\presentation\pptx\assets\ico-arrow-right-coba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4000" y="2190750"/>
            <a:ext cx="355600" cy="355600"/>
          </a:xfrm>
          <a:prstGeom prst="rect">
            <a:avLst/>
          </a:prstGeom>
        </p:spPr>
      </p:pic>
      <p:sp>
        <p:nvSpPr>
          <p:cNvPr id="45" name="text-95"/>
          <p:cNvSpPr txBox="1"/>
          <p:nvPr/>
        </p:nvSpPr>
        <p:spPr>
          <a:xfrm>
            <a:off x="8382000" y="2032000"/>
            <a:ext cx="2921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2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4200" dirty="0"/>
          </a:p>
        </p:txBody>
      </p:sp>
      <p:sp>
        <p:nvSpPr>
          <p:cNvPr id="46" name="text-96"/>
          <p:cNvSpPr txBox="1"/>
          <p:nvPr/>
        </p:nvSpPr>
        <p:spPr>
          <a:xfrm>
            <a:off x="5715000" y="2698750"/>
            <a:ext cx="2667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customer_id: анкета на каждый заказ</a:t>
            </a:r>
            <a:endParaRPr lang="en-US" sz="950" dirty="0"/>
          </a:p>
        </p:txBody>
      </p:sp>
      <p:sp>
        <p:nvSpPr>
          <p:cNvPr id="47" name="text-97"/>
          <p:cNvSpPr txBox="1"/>
          <p:nvPr/>
        </p:nvSpPr>
        <p:spPr>
          <a:xfrm>
            <a:off x="8382000" y="2698750"/>
            <a:ext cx="2921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customer_unique_id: человек</a:t>
            </a:r>
            <a:endParaRPr lang="en-US" sz="950" dirty="0"/>
          </a:p>
        </p:txBody>
      </p:sp>
      <p:sp>
        <p:nvSpPr>
          <p:cNvPr id="48" name="shape-98"/>
          <p:cNvSpPr/>
          <p:nvPr/>
        </p:nvSpPr>
        <p:spPr>
          <a:xfrm>
            <a:off x="5588000" y="3797300"/>
            <a:ext cx="762000" cy="292100"/>
          </a:xfrm>
          <a:prstGeom prst="roundRect">
            <a:avLst>
              <a:gd name="adj" fmla="val 30435"/>
            </a:avLst>
          </a:prstGeom>
          <a:solidFill>
            <a:srgbClr val="7F57EB"/>
          </a:solidFill>
          <a:ln/>
        </p:spPr>
      </p:sp>
      <p:sp>
        <p:nvSpPr>
          <p:cNvPr id="49" name="text-99"/>
          <p:cNvSpPr txBox="1"/>
          <p:nvPr/>
        </p:nvSpPr>
        <p:spPr>
          <a:xfrm>
            <a:off x="5588000" y="3797300"/>
            <a:ext cx="762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</a:t>
            </a:r>
            <a:endParaRPr lang="en-US" sz="950" dirty="0"/>
          </a:p>
        </p:txBody>
      </p:sp>
      <p:sp>
        <p:nvSpPr>
          <p:cNvPr id="50" name="line-100"/>
          <p:cNvSpPr/>
          <p:nvPr/>
        </p:nvSpPr>
        <p:spPr>
          <a:xfrm flipH="1">
            <a:off x="6350000" y="3670300"/>
            <a:ext cx="508000" cy="273050"/>
          </a:xfrm>
          <a:prstGeom prst="line">
            <a:avLst/>
          </a:prstGeom>
          <a:noFill/>
          <a:ln w="31750">
            <a:solidFill>
              <a:srgbClr val="7F57EB"/>
            </a:solidFill>
            <a:prstDash val="solid"/>
          </a:ln>
        </p:spPr>
      </p:sp>
      <p:sp>
        <p:nvSpPr>
          <p:cNvPr id="51" name="line-101"/>
          <p:cNvSpPr/>
          <p:nvPr/>
        </p:nvSpPr>
        <p:spPr>
          <a:xfrm>
            <a:off x="6350000" y="3943350"/>
            <a:ext cx="508000" cy="273050"/>
          </a:xfrm>
          <a:prstGeom prst="line">
            <a:avLst/>
          </a:prstGeom>
          <a:noFill/>
          <a:ln w="31750">
            <a:solidFill>
              <a:srgbClr val="7F57EB"/>
            </a:solidFill>
            <a:prstDash val="solid"/>
          </a:ln>
        </p:spPr>
      </p:sp>
      <p:sp>
        <p:nvSpPr>
          <p:cNvPr id="52" name="shape-102"/>
          <p:cNvSpPr/>
          <p:nvPr/>
        </p:nvSpPr>
        <p:spPr>
          <a:xfrm>
            <a:off x="6858000" y="3556000"/>
            <a:ext cx="6985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9050">
            <a:solidFill>
              <a:srgbClr val="C9C9D1"/>
            </a:solidFill>
            <a:prstDash val="solid"/>
          </a:ln>
        </p:spPr>
      </p:sp>
      <p:sp>
        <p:nvSpPr>
          <p:cNvPr id="53" name="shape-103"/>
          <p:cNvSpPr/>
          <p:nvPr/>
        </p:nvSpPr>
        <p:spPr>
          <a:xfrm>
            <a:off x="6858000" y="4102100"/>
            <a:ext cx="698500" cy="241300"/>
          </a:xfrm>
          <a:prstGeom prst="roundRect">
            <a:avLst>
              <a:gd name="adj" fmla="val 28947"/>
            </a:avLst>
          </a:prstGeom>
          <a:solidFill>
            <a:srgbClr val="F1F1F3"/>
          </a:solidFill>
          <a:ln w="19050">
            <a:solidFill>
              <a:srgbClr val="C9C9D1"/>
            </a:solidFill>
            <a:prstDash val="solid"/>
          </a:ln>
        </p:spPr>
      </p:sp>
      <p:sp>
        <p:nvSpPr>
          <p:cNvPr id="54" name="text-104"/>
          <p:cNvSpPr txBox="1"/>
          <p:nvPr/>
        </p:nvSpPr>
        <p:spPr>
          <a:xfrm>
            <a:off x="7874000" y="3619500"/>
            <a:ext cx="127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2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789</a:t>
            </a:r>
            <a:endParaRPr lang="en-US" sz="3200" dirty="0"/>
          </a:p>
        </p:txBody>
      </p:sp>
      <p:sp>
        <p:nvSpPr>
          <p:cNvPr id="55" name="text-105"/>
          <p:cNvSpPr txBox="1"/>
          <p:nvPr/>
        </p:nvSpPr>
        <p:spPr>
          <a:xfrm>
            <a:off x="7874000" y="40767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отзывов висят сразу на нескольких заказах</a:t>
            </a:r>
            <a:endParaRPr lang="en-US" sz="1050" dirty="0"/>
          </a:p>
        </p:txBody>
      </p:sp>
      <p:sp>
        <p:nvSpPr>
          <p:cNvPr id="56" name="shape-106"/>
          <p:cNvSpPr/>
          <p:nvPr/>
        </p:nvSpPr>
        <p:spPr>
          <a:xfrm>
            <a:off x="5588000" y="4826000"/>
            <a:ext cx="92075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57" name="text-107"/>
          <p:cNvSpPr txBox="1"/>
          <p:nvPr/>
        </p:nvSpPr>
        <p:spPr>
          <a:xfrm>
            <a:off x="5588000" y="4826000"/>
            <a:ext cx="9207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order_id</a:t>
            </a:r>
            <a:endParaRPr lang="en-US" sz="1050" dirty="0"/>
          </a:p>
        </p:txBody>
      </p:sp>
      <p:sp>
        <p:nvSpPr>
          <p:cNvPr id="58" name="shape-108"/>
          <p:cNvSpPr/>
          <p:nvPr/>
        </p:nvSpPr>
        <p:spPr>
          <a:xfrm>
            <a:off x="6572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9" name="text-109"/>
          <p:cNvSpPr txBox="1"/>
          <p:nvPr/>
        </p:nvSpPr>
        <p:spPr>
          <a:xfrm>
            <a:off x="6572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050" dirty="0"/>
          </a:p>
        </p:txBody>
      </p:sp>
      <p:sp>
        <p:nvSpPr>
          <p:cNvPr id="60" name="shape-110"/>
          <p:cNvSpPr/>
          <p:nvPr/>
        </p:nvSpPr>
        <p:spPr>
          <a:xfrm>
            <a:off x="6953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1" name="text-111"/>
          <p:cNvSpPr txBox="1"/>
          <p:nvPr/>
        </p:nvSpPr>
        <p:spPr>
          <a:xfrm>
            <a:off x="6953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050" dirty="0"/>
          </a:p>
        </p:txBody>
      </p:sp>
      <p:sp>
        <p:nvSpPr>
          <p:cNvPr id="62" name="shape-112"/>
          <p:cNvSpPr/>
          <p:nvPr/>
        </p:nvSpPr>
        <p:spPr>
          <a:xfrm>
            <a:off x="7334250" y="4826000"/>
            <a:ext cx="3175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3" name="text-113"/>
          <p:cNvSpPr txBox="1"/>
          <p:nvPr/>
        </p:nvSpPr>
        <p:spPr>
          <a:xfrm>
            <a:off x="7334250" y="4826000"/>
            <a:ext cx="31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050" dirty="0"/>
          </a:p>
        </p:txBody>
      </p:sp>
      <p:sp>
        <p:nvSpPr>
          <p:cNvPr id="64" name="text-114"/>
          <p:cNvSpPr txBox="1"/>
          <p:nvPr/>
        </p:nvSpPr>
        <p:spPr>
          <a:xfrm>
            <a:off x="7874000" y="4711700"/>
            <a:ext cx="355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order_item_id</a:t>
            </a:r>
            <a:endParaRPr lang="en-US" sz="2000" dirty="0"/>
          </a:p>
        </p:txBody>
      </p:sp>
      <p:sp>
        <p:nvSpPr>
          <p:cNvPr id="65" name="text-115"/>
          <p:cNvSpPr txBox="1"/>
          <p:nvPr/>
        </p:nvSpPr>
        <p:spPr>
          <a:xfrm>
            <a:off x="7874000" y="509270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номер строки внутри заказа, а не ключ</a:t>
            </a:r>
            <a:endParaRPr lang="en-US" sz="10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81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4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4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4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31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24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24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24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43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24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24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24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24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24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66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24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24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2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77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24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24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24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88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24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24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24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99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24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24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24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" presetClass="entr" presetSubtype="2" fill="hold" grpId="0" nodeType="withEffect">
                                  <p:stCondLst>
                                    <p:cond delay="199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8" dur="42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209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24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24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2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24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24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24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23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24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24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24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24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24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2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24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24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24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24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24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24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269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24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24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24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53" presetClass="entr" presetSubtype="16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24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24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24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42" presetClass="entr" presetSubtype="0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228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2" dur="228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53" presetClass="entr" presetSubtype="16" fill="hold" grpId="0" nodeType="withEffect">
                                  <p:stCondLst>
                                    <p:cond delay="288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24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24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7" dur="24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297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24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24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24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348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24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21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384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21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388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21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39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21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397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21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401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21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406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21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2" presetClass="entr" presetSubtype="8" fill="hold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0" dur="30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41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21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21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418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1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422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21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53" presetClass="entr" presetSubtype="16" fill="hold" grpId="0" nodeType="withEffect">
                                  <p:stCondLst>
                                    <p:cond delay="422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42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168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426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21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21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434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21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438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21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442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21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44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21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42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168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36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36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144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24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53" presetClass="entr" presetSubtype="16" fill="hold" grpId="0" nodeType="withEffect">
                                  <p:stCondLst>
                                    <p:cond delay="506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1" dur="3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2" dur="3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3" dur="12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3" presetClass="entr" presetSubtype="16" fill="hold" grpId="0" nodeType="withEffect">
                                  <p:stCondLst>
                                    <p:cond delay="506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3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3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12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22" presetClass="entr" presetSubtype="8" fill="hold" grpId="0" nodeType="withEffect">
                                  <p:stCondLst>
                                    <p:cond delay="545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1" dur="21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22" presetClass="entr" presetSubtype="8" fill="hold" grpId="0" nodeType="withEffect">
                                  <p:stCondLst>
                                    <p:cond delay="554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4" dur="21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42" presetClass="entr" presetSubtype="0" fill="hold" grpId="0" nodeType="withEffect">
                                  <p:stCondLst>
                                    <p:cond delay="562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228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8" dur="228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9" presetID="53" presetClass="entr" presetSubtype="16" fill="hold" grpId="0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1" dur="27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2" dur="27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3" dur="108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4" presetID="53" presetClass="entr" presetSubtype="16" fill="hold" grpId="0" nodeType="withEffect">
                                  <p:stCondLst>
                                    <p:cond delay="591"/>
                                  </p:stCondLst>
                                  <p:childTnLst>
                                    <p:set>
                                      <p:cBhvr>
                                        <p:cTn id="2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6" dur="27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7" dur="27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8" dur="108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53" presetClass="entr" presetSubtype="16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4" dur="3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5" dur="3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6" dur="1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53" presetClass="entr" presetSubtype="16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9" dur="3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0" dur="3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1" dur="1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3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53" presetClass="entr" presetSubtype="16" fill="hold" grpId="0" nodeType="withEffect">
                                  <p:stCondLst>
                                    <p:cond delay="633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8" dur="27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9" dur="27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0" dur="108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1" presetID="53" presetClass="entr" presetSubtype="16" fill="hold" grpId="0" nodeType="withEffect">
                                  <p:stCondLst>
                                    <p:cond delay="633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3" dur="27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4" dur="27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5" dur="108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42" presetClass="entr" presetSubtype="0" fill="hold" grpId="0" nodeType="withEffect">
                                  <p:stCondLst>
                                    <p:cond delay="634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18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18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643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2" dur="27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3" dur="27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108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grpId="0" nodeType="withEffect">
                                  <p:stCondLst>
                                    <p:cond delay="643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7" dur="27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8" dur="27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108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27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27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108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53" presetClass="entr" presetSubtype="16" fill="hold" grpId="0" nodeType="withEffect">
                                  <p:stCondLst>
                                    <p:cond delay="653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7" dur="27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8" dur="27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9" dur="108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grpId="0" nodeType="withEffect">
                                  <p:stCondLst>
                                    <p:cond delay="666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3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6" presetClass="emph" presetSubtype="0" fill="hold" grpId="1" nodeType="withEffect">
                                  <p:stCondLst>
                                    <p:cond delay="1060"/>
                                  </p:stCondLst>
                                  <p:childTnLst>
                                    <p:animScale>
                                      <p:cBhvr>
                                        <p:cTn id="264" dur="1300" repeatCount="indefinite" accel="50000" decel="50000" autoRev="1" fill="hold"/>
                                        <p:tgtEl>
                                          <p:spTgt spid="39"/>
                                        </p:tgtEl>
                                      </p:cBhvr>
                                      <p:by x="103000" y="103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39" grpId="1" animBg="1"/>
      <p:bldP spid="41" grpId="0" animBg="1"/>
      <p:bldP spid="42" grpId="0" animBg="1"/>
      <p:bldP spid="43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16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Пропуски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потери</a:t>
            </a:r>
            <a:endParaRPr lang="en-US" sz="3400" dirty="0"/>
          </a:p>
        </p:txBody>
      </p:sp>
      <p:sp>
        <p:nvSpPr>
          <p:cNvPr id="4" name="line-117"/>
          <p:cNvSpPr/>
          <p:nvPr/>
        </p:nvSpPr>
        <p:spPr>
          <a:xfrm>
            <a:off x="762000" y="4635500"/>
            <a:ext cx="10668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5" name="shape-118"/>
          <p:cNvSpPr/>
          <p:nvPr/>
        </p:nvSpPr>
        <p:spPr>
          <a:xfrm>
            <a:off x="812800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6" name="text-119"/>
          <p:cNvSpPr txBox="1"/>
          <p:nvPr/>
        </p:nvSpPr>
        <p:spPr>
          <a:xfrm>
            <a:off x="812800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7" name="text-120"/>
          <p:cNvSpPr txBox="1"/>
          <p:nvPr/>
        </p:nvSpPr>
        <p:spPr>
          <a:xfrm>
            <a:off x="812800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2016</a:t>
            </a:r>
            <a:endParaRPr lang="en-US" sz="900" dirty="0"/>
          </a:p>
        </p:txBody>
      </p:sp>
      <p:sp>
        <p:nvSpPr>
          <p:cNvPr id="8" name="shape-121"/>
          <p:cNvSpPr/>
          <p:nvPr/>
        </p:nvSpPr>
        <p:spPr>
          <a:xfrm>
            <a:off x="1223108" y="4526412"/>
            <a:ext cx="308708" cy="109088"/>
          </a:xfrm>
          <a:prstGeom prst="roundRect">
            <a:avLst>
              <a:gd name="adj" fmla="val 34926"/>
            </a:avLst>
          </a:prstGeom>
          <a:solidFill>
            <a:srgbClr val="328EF9"/>
          </a:solidFill>
          <a:ln/>
        </p:spPr>
      </p:sp>
      <p:sp>
        <p:nvSpPr>
          <p:cNvPr id="9" name="text-122"/>
          <p:cNvSpPr txBox="1"/>
          <p:nvPr/>
        </p:nvSpPr>
        <p:spPr>
          <a:xfrm>
            <a:off x="122310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10" name="text-123"/>
          <p:cNvSpPr txBox="1"/>
          <p:nvPr/>
        </p:nvSpPr>
        <p:spPr>
          <a:xfrm>
            <a:off x="163341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</a:t>
            </a:r>
            <a:endParaRPr lang="en-US" sz="900" dirty="0"/>
          </a:p>
        </p:txBody>
      </p:sp>
      <p:sp>
        <p:nvSpPr>
          <p:cNvPr id="11" name="shape-124"/>
          <p:cNvSpPr/>
          <p:nvPr/>
        </p:nvSpPr>
        <p:spPr>
          <a:xfrm>
            <a:off x="2043723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12" name="text-125"/>
          <p:cNvSpPr txBox="1"/>
          <p:nvPr/>
        </p:nvSpPr>
        <p:spPr>
          <a:xfrm>
            <a:off x="2043723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</a:t>
            </a:r>
            <a:endParaRPr lang="en-US" sz="900" dirty="0"/>
          </a:p>
        </p:txBody>
      </p:sp>
      <p:sp>
        <p:nvSpPr>
          <p:cNvPr id="13" name="shape-126"/>
          <p:cNvSpPr/>
          <p:nvPr/>
        </p:nvSpPr>
        <p:spPr>
          <a:xfrm>
            <a:off x="2454031" y="4366147"/>
            <a:ext cx="308708" cy="269353"/>
          </a:xfrm>
          <a:prstGeom prst="roundRect">
            <a:avLst>
              <a:gd name="adj" fmla="val 14145"/>
            </a:avLst>
          </a:prstGeom>
          <a:solidFill>
            <a:srgbClr val="328EF9"/>
          </a:solidFill>
          <a:ln/>
        </p:spPr>
      </p:sp>
      <p:sp>
        <p:nvSpPr>
          <p:cNvPr id="14" name="text-127"/>
          <p:cNvSpPr txBox="1"/>
          <p:nvPr/>
        </p:nvSpPr>
        <p:spPr>
          <a:xfrm>
            <a:off x="2454031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</a:t>
            </a:r>
            <a:endParaRPr lang="en-US" sz="900" dirty="0"/>
          </a:p>
        </p:txBody>
      </p:sp>
      <p:sp>
        <p:nvSpPr>
          <p:cNvPr id="15" name="text-128"/>
          <p:cNvSpPr txBox="1"/>
          <p:nvPr/>
        </p:nvSpPr>
        <p:spPr>
          <a:xfrm>
            <a:off x="2454031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2017</a:t>
            </a:r>
            <a:endParaRPr lang="en-US" sz="900" dirty="0"/>
          </a:p>
        </p:txBody>
      </p:sp>
      <p:sp>
        <p:nvSpPr>
          <p:cNvPr id="16" name="shape-129"/>
          <p:cNvSpPr/>
          <p:nvPr/>
        </p:nvSpPr>
        <p:spPr>
          <a:xfrm>
            <a:off x="2864338" y="4036189"/>
            <a:ext cx="308708" cy="599311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17" name="text-130"/>
          <p:cNvSpPr txBox="1"/>
          <p:nvPr/>
        </p:nvSpPr>
        <p:spPr>
          <a:xfrm>
            <a:off x="286433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</a:t>
            </a:r>
            <a:endParaRPr lang="en-US" sz="900" dirty="0"/>
          </a:p>
        </p:txBody>
      </p:sp>
      <p:sp>
        <p:nvSpPr>
          <p:cNvPr id="18" name="shape-131"/>
          <p:cNvSpPr/>
          <p:nvPr/>
        </p:nvSpPr>
        <p:spPr>
          <a:xfrm>
            <a:off x="3274646" y="3732494"/>
            <a:ext cx="308708" cy="90300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19" name="text-132"/>
          <p:cNvSpPr txBox="1"/>
          <p:nvPr/>
        </p:nvSpPr>
        <p:spPr>
          <a:xfrm>
            <a:off x="3274646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20" name="shape-133"/>
          <p:cNvSpPr/>
          <p:nvPr/>
        </p:nvSpPr>
        <p:spPr>
          <a:xfrm>
            <a:off x="3684954" y="3826094"/>
            <a:ext cx="308708" cy="80940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1" name="text-134"/>
          <p:cNvSpPr txBox="1"/>
          <p:nvPr/>
        </p:nvSpPr>
        <p:spPr>
          <a:xfrm>
            <a:off x="3684954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22" name="shape-135"/>
          <p:cNvSpPr/>
          <p:nvPr/>
        </p:nvSpPr>
        <p:spPr>
          <a:xfrm>
            <a:off x="4095262" y="3389742"/>
            <a:ext cx="308708" cy="1245758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3" name="text-136"/>
          <p:cNvSpPr txBox="1"/>
          <p:nvPr/>
        </p:nvSpPr>
        <p:spPr>
          <a:xfrm>
            <a:off x="409526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24" name="shape-137"/>
          <p:cNvSpPr/>
          <p:nvPr/>
        </p:nvSpPr>
        <p:spPr>
          <a:xfrm>
            <a:off x="4505569" y="3542936"/>
            <a:ext cx="308708" cy="1092564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5" name="text-138"/>
          <p:cNvSpPr txBox="1"/>
          <p:nvPr/>
        </p:nvSpPr>
        <p:spPr>
          <a:xfrm>
            <a:off x="4505569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26" name="shape-139"/>
          <p:cNvSpPr/>
          <p:nvPr/>
        </p:nvSpPr>
        <p:spPr>
          <a:xfrm>
            <a:off x="4915877" y="3279980"/>
            <a:ext cx="308708" cy="135552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7" name="text-140"/>
          <p:cNvSpPr txBox="1"/>
          <p:nvPr/>
        </p:nvSpPr>
        <p:spPr>
          <a:xfrm>
            <a:off x="4915877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28" name="shape-141"/>
          <p:cNvSpPr/>
          <p:nvPr/>
        </p:nvSpPr>
        <p:spPr>
          <a:xfrm>
            <a:off x="5326185" y="3177290"/>
            <a:ext cx="308708" cy="145821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29" name="text-142"/>
          <p:cNvSpPr txBox="1"/>
          <p:nvPr/>
        </p:nvSpPr>
        <p:spPr>
          <a:xfrm>
            <a:off x="532618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30" name="shape-143"/>
          <p:cNvSpPr/>
          <p:nvPr/>
        </p:nvSpPr>
        <p:spPr>
          <a:xfrm>
            <a:off x="5736492" y="3192777"/>
            <a:ext cx="308708" cy="1442723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1" name="text-144"/>
          <p:cNvSpPr txBox="1"/>
          <p:nvPr/>
        </p:nvSpPr>
        <p:spPr>
          <a:xfrm>
            <a:off x="573649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32" name="shape-145"/>
          <p:cNvSpPr/>
          <p:nvPr/>
        </p:nvSpPr>
        <p:spPr>
          <a:xfrm>
            <a:off x="6146800" y="3076282"/>
            <a:ext cx="308708" cy="1559218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3" name="text-146"/>
          <p:cNvSpPr txBox="1"/>
          <p:nvPr/>
        </p:nvSpPr>
        <p:spPr>
          <a:xfrm>
            <a:off x="6146800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34" name="shape-147"/>
          <p:cNvSpPr/>
          <p:nvPr/>
        </p:nvSpPr>
        <p:spPr>
          <a:xfrm>
            <a:off x="6557108" y="2095500"/>
            <a:ext cx="308708" cy="254000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5" name="text-148"/>
          <p:cNvSpPr txBox="1"/>
          <p:nvPr/>
        </p:nvSpPr>
        <p:spPr>
          <a:xfrm>
            <a:off x="655710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</a:t>
            </a:r>
            <a:endParaRPr lang="en-US" sz="900" dirty="0"/>
          </a:p>
        </p:txBody>
      </p:sp>
      <p:sp>
        <p:nvSpPr>
          <p:cNvPr id="36" name="shape-149"/>
          <p:cNvSpPr/>
          <p:nvPr/>
        </p:nvSpPr>
        <p:spPr>
          <a:xfrm>
            <a:off x="6967415" y="2725450"/>
            <a:ext cx="308708" cy="191005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7" name="text-150"/>
          <p:cNvSpPr txBox="1"/>
          <p:nvPr/>
        </p:nvSpPr>
        <p:spPr>
          <a:xfrm>
            <a:off x="696741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</a:t>
            </a:r>
            <a:endParaRPr lang="en-US" sz="900" dirty="0"/>
          </a:p>
        </p:txBody>
      </p:sp>
      <p:sp>
        <p:nvSpPr>
          <p:cNvPr id="38" name="shape-151"/>
          <p:cNvSpPr/>
          <p:nvPr/>
        </p:nvSpPr>
        <p:spPr>
          <a:xfrm>
            <a:off x="7377723" y="2188090"/>
            <a:ext cx="308708" cy="244741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39" name="text-152"/>
          <p:cNvSpPr txBox="1"/>
          <p:nvPr/>
        </p:nvSpPr>
        <p:spPr>
          <a:xfrm>
            <a:off x="7377723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</a:t>
            </a:r>
            <a:endParaRPr lang="en-US" sz="900" dirty="0"/>
          </a:p>
        </p:txBody>
      </p:sp>
      <p:sp>
        <p:nvSpPr>
          <p:cNvPr id="40" name="text-153"/>
          <p:cNvSpPr txBox="1"/>
          <p:nvPr/>
        </p:nvSpPr>
        <p:spPr>
          <a:xfrm>
            <a:off x="7377723" y="4876800"/>
            <a:ext cx="508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2018</a:t>
            </a:r>
            <a:endParaRPr lang="en-US" sz="900" dirty="0"/>
          </a:p>
        </p:txBody>
      </p:sp>
      <p:sp>
        <p:nvSpPr>
          <p:cNvPr id="41" name="shape-154"/>
          <p:cNvSpPr/>
          <p:nvPr/>
        </p:nvSpPr>
        <p:spPr>
          <a:xfrm>
            <a:off x="7788031" y="2370240"/>
            <a:ext cx="308708" cy="226526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2" name="text-155"/>
          <p:cNvSpPr txBox="1"/>
          <p:nvPr/>
        </p:nvSpPr>
        <p:spPr>
          <a:xfrm>
            <a:off x="7788031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Ф</a:t>
            </a:r>
            <a:endParaRPr lang="en-US" sz="900" dirty="0"/>
          </a:p>
        </p:txBody>
      </p:sp>
      <p:sp>
        <p:nvSpPr>
          <p:cNvPr id="43" name="shape-156"/>
          <p:cNvSpPr/>
          <p:nvPr/>
        </p:nvSpPr>
        <p:spPr>
          <a:xfrm>
            <a:off x="8198338" y="2207618"/>
            <a:ext cx="308708" cy="242788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4" name="text-157"/>
          <p:cNvSpPr txBox="1"/>
          <p:nvPr/>
        </p:nvSpPr>
        <p:spPr>
          <a:xfrm>
            <a:off x="8198338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45" name="shape-158"/>
          <p:cNvSpPr/>
          <p:nvPr/>
        </p:nvSpPr>
        <p:spPr>
          <a:xfrm>
            <a:off x="8608646" y="2299198"/>
            <a:ext cx="308708" cy="233630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6" name="text-159"/>
          <p:cNvSpPr txBox="1"/>
          <p:nvPr/>
        </p:nvSpPr>
        <p:spPr>
          <a:xfrm>
            <a:off x="8608646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47" name="shape-160"/>
          <p:cNvSpPr/>
          <p:nvPr/>
        </p:nvSpPr>
        <p:spPr>
          <a:xfrm>
            <a:off x="9018954" y="2321420"/>
            <a:ext cx="308708" cy="2314080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48" name="text-161"/>
          <p:cNvSpPr txBox="1"/>
          <p:nvPr/>
        </p:nvSpPr>
        <p:spPr>
          <a:xfrm>
            <a:off x="9018954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</a:t>
            </a:r>
            <a:endParaRPr lang="en-US" sz="900" dirty="0"/>
          </a:p>
        </p:txBody>
      </p:sp>
      <p:sp>
        <p:nvSpPr>
          <p:cNvPr id="49" name="shape-162"/>
          <p:cNvSpPr/>
          <p:nvPr/>
        </p:nvSpPr>
        <p:spPr>
          <a:xfrm>
            <a:off x="9429262" y="2559124"/>
            <a:ext cx="308708" cy="2076376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0" name="text-163"/>
          <p:cNvSpPr txBox="1"/>
          <p:nvPr/>
        </p:nvSpPr>
        <p:spPr>
          <a:xfrm>
            <a:off x="942926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51" name="shape-164"/>
          <p:cNvSpPr/>
          <p:nvPr/>
        </p:nvSpPr>
        <p:spPr>
          <a:xfrm>
            <a:off x="9839569" y="2517038"/>
            <a:ext cx="308708" cy="2118462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2" name="text-165"/>
          <p:cNvSpPr txBox="1"/>
          <p:nvPr/>
        </p:nvSpPr>
        <p:spPr>
          <a:xfrm>
            <a:off x="9839569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</a:t>
            </a:r>
            <a:endParaRPr lang="en-US" sz="900" dirty="0"/>
          </a:p>
        </p:txBody>
      </p:sp>
      <p:sp>
        <p:nvSpPr>
          <p:cNvPr id="53" name="shape-166"/>
          <p:cNvSpPr/>
          <p:nvPr/>
        </p:nvSpPr>
        <p:spPr>
          <a:xfrm>
            <a:off x="10249877" y="2442966"/>
            <a:ext cx="308708" cy="2192534"/>
          </a:xfrm>
          <a:prstGeom prst="roundRect">
            <a:avLst>
              <a:gd name="adj" fmla="val 12342"/>
            </a:avLst>
          </a:prstGeom>
          <a:solidFill>
            <a:srgbClr val="328EF9"/>
          </a:solidFill>
          <a:ln/>
        </p:spPr>
      </p:sp>
      <p:sp>
        <p:nvSpPr>
          <p:cNvPr id="54" name="text-167"/>
          <p:cNvSpPr txBox="1"/>
          <p:nvPr/>
        </p:nvSpPr>
        <p:spPr>
          <a:xfrm>
            <a:off x="10249877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</a:t>
            </a:r>
            <a:endParaRPr lang="en-US" sz="900" dirty="0"/>
          </a:p>
        </p:txBody>
      </p:sp>
      <p:sp>
        <p:nvSpPr>
          <p:cNvPr id="55" name="shape-168"/>
          <p:cNvSpPr/>
          <p:nvPr/>
        </p:nvSpPr>
        <p:spPr>
          <a:xfrm>
            <a:off x="10660185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56" name="text-169"/>
          <p:cNvSpPr txBox="1"/>
          <p:nvPr/>
        </p:nvSpPr>
        <p:spPr>
          <a:xfrm>
            <a:off x="10660185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</a:t>
            </a:r>
            <a:endParaRPr lang="en-US" sz="900" dirty="0"/>
          </a:p>
        </p:txBody>
      </p:sp>
      <p:sp>
        <p:nvSpPr>
          <p:cNvPr id="57" name="shape-170"/>
          <p:cNvSpPr/>
          <p:nvPr/>
        </p:nvSpPr>
        <p:spPr>
          <a:xfrm>
            <a:off x="11070492" y="4610100"/>
            <a:ext cx="308708" cy="25400"/>
          </a:xfrm>
          <a:prstGeom prst="roundRect">
            <a:avLst>
              <a:gd name="adj" fmla="val 50000"/>
            </a:avLst>
          </a:prstGeom>
          <a:solidFill>
            <a:srgbClr val="D3263A"/>
          </a:solidFill>
          <a:ln/>
        </p:spPr>
      </p:sp>
      <p:sp>
        <p:nvSpPr>
          <p:cNvPr id="58" name="text-171"/>
          <p:cNvSpPr txBox="1"/>
          <p:nvPr/>
        </p:nvSpPr>
        <p:spPr>
          <a:xfrm>
            <a:off x="11070492" y="4699000"/>
            <a:ext cx="30870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</a:t>
            </a:r>
            <a:endParaRPr lang="en-US" sz="900" dirty="0"/>
          </a:p>
        </p:txBody>
      </p:sp>
      <p:sp>
        <p:nvSpPr>
          <p:cNvPr id="59" name="shape-172"/>
          <p:cNvSpPr/>
          <p:nvPr/>
        </p:nvSpPr>
        <p:spPr>
          <a:xfrm>
            <a:off x="1508369" y="4165600"/>
            <a:ext cx="558800" cy="558800"/>
          </a:xfrm>
          <a:prstGeom prst="ellipse">
            <a:avLst/>
          </a:prstGeom>
          <a:ln w="38100">
            <a:solidFill>
              <a:srgbClr val="D3263A"/>
            </a:solidFill>
            <a:prstDash val="dash"/>
          </a:ln>
        </p:spPr>
      </p:sp>
      <p:sp>
        <p:nvSpPr>
          <p:cNvPr id="60" name="shape-173"/>
          <p:cNvSpPr/>
          <p:nvPr/>
        </p:nvSpPr>
        <p:spPr>
          <a:xfrm>
            <a:off x="2232269" y="2540000"/>
            <a:ext cx="2984500" cy="635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9050">
            <a:solidFill>
              <a:srgbClr val="E2E2E7"/>
            </a:solidFill>
            <a:prstDash val="solid"/>
          </a:ln>
          <a:effectLst>
            <a:outerShdw blurRad="228600" dist="76200" dir="5400000" algn="bl" rotWithShape="0">
              <a:srgbClr val="000000">
                <a:alpha val="16000"/>
              </a:srgbClr>
            </a:outerShdw>
          </a:effectLst>
        </p:spPr>
      </p:sp>
      <p:sp>
        <p:nvSpPr>
          <p:cNvPr id="61" name="text-174"/>
          <p:cNvSpPr txBox="1"/>
          <p:nvPr/>
        </p:nvSpPr>
        <p:spPr>
          <a:xfrm>
            <a:off x="2397369" y="2590800"/>
            <a:ext cx="203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 заказов</a:t>
            </a:r>
            <a:endParaRPr lang="en-US" sz="2000" dirty="0"/>
          </a:p>
        </p:txBody>
      </p:sp>
      <p:sp>
        <p:nvSpPr>
          <p:cNvPr id="62" name="text-175"/>
          <p:cNvSpPr txBox="1"/>
          <p:nvPr/>
        </p:nvSpPr>
        <p:spPr>
          <a:xfrm>
            <a:off x="2397369" y="2921000"/>
            <a:ext cx="2730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ноябрь 2016 молча выпадет из отчёта</a:t>
            </a:r>
            <a:endParaRPr lang="en-US" sz="950" dirty="0"/>
          </a:p>
        </p:txBody>
      </p:sp>
      <p:sp>
        <p:nvSpPr>
          <p:cNvPr id="63" name="line-176"/>
          <p:cNvSpPr/>
          <p:nvPr/>
        </p:nvSpPr>
        <p:spPr>
          <a:xfrm>
            <a:off x="762000" y="5207000"/>
            <a:ext cx="10668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64" name="text-177"/>
          <p:cNvSpPr txBox="1"/>
          <p:nvPr/>
        </p:nvSpPr>
        <p:spPr>
          <a:xfrm>
            <a:off x="7620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610</a:t>
            </a:r>
            <a:endParaRPr lang="en-US" sz="2800" dirty="0"/>
          </a:p>
        </p:txBody>
      </p:sp>
      <p:sp>
        <p:nvSpPr>
          <p:cNvPr id="65" name="text-178"/>
          <p:cNvSpPr txBox="1"/>
          <p:nvPr/>
        </p:nvSpPr>
        <p:spPr>
          <a:xfrm>
            <a:off x="7620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товаров без категории</a:t>
            </a:r>
            <a:endParaRPr lang="en-US" sz="1000" dirty="0"/>
          </a:p>
        </p:txBody>
      </p:sp>
      <p:sp>
        <p:nvSpPr>
          <p:cNvPr id="66" name="text-179"/>
          <p:cNvSpPr txBox="1"/>
          <p:nvPr/>
        </p:nvSpPr>
        <p:spPr>
          <a:xfrm>
            <a:off x="34925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775</a:t>
            </a:r>
            <a:endParaRPr lang="en-US" sz="2800" dirty="0"/>
          </a:p>
        </p:txBody>
      </p:sp>
      <p:sp>
        <p:nvSpPr>
          <p:cNvPr id="67" name="text-180"/>
          <p:cNvSpPr txBox="1"/>
          <p:nvPr/>
        </p:nvSpPr>
        <p:spPr>
          <a:xfrm>
            <a:off x="34925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заказов без позиций: unavailable и canceled</a:t>
            </a:r>
            <a:endParaRPr lang="en-US" sz="1000" dirty="0"/>
          </a:p>
        </p:txBody>
      </p:sp>
      <p:sp>
        <p:nvSpPr>
          <p:cNvPr id="68" name="text-181"/>
          <p:cNvSpPr txBox="1"/>
          <p:nvPr/>
        </p:nvSpPr>
        <p:spPr>
          <a:xfrm>
            <a:off x="62230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170 726,63</a:t>
            </a:r>
            <a:endParaRPr lang="en-US" sz="2800" dirty="0"/>
          </a:p>
        </p:txBody>
      </p:sp>
      <p:sp>
        <p:nvSpPr>
          <p:cNvPr id="69" name="text-182"/>
          <p:cNvSpPr txBox="1"/>
          <p:nvPr/>
        </p:nvSpPr>
        <p:spPr>
          <a:xfrm>
            <a:off x="62230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R$ выручки на товарах без категории</a:t>
            </a:r>
            <a:endParaRPr lang="en-US" sz="1000" dirty="0"/>
          </a:p>
        </p:txBody>
      </p:sp>
      <p:sp>
        <p:nvSpPr>
          <p:cNvPr id="70" name="text-183"/>
          <p:cNvSpPr txBox="1"/>
          <p:nvPr/>
        </p:nvSpPr>
        <p:spPr>
          <a:xfrm>
            <a:off x="8953500" y="5270500"/>
            <a:ext cx="2540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 ≠ 71</a:t>
            </a:r>
            <a:endParaRPr lang="en-US" sz="2800" dirty="0"/>
          </a:p>
        </p:txBody>
      </p:sp>
      <p:sp>
        <p:nvSpPr>
          <p:cNvPr id="71" name="text-184"/>
          <p:cNvSpPr txBox="1"/>
          <p:nvPr/>
        </p:nvSpPr>
        <p:spPr>
          <a:xfrm>
            <a:off x="8953500" y="5753100"/>
            <a:ext cx="254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категорий в товарах и в переводах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81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177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77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97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4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97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199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8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16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8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grpId="0" nodeType="with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4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34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8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18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53" presetClass="entr" presetSubtype="16" fill="hold" grpId="0" nodeType="withEffect">
                                  <p:stCondLst>
                                    <p:cond delay="269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4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269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8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71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86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4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286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1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302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302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53" presetClass="entr" presetSubtype="16" fill="hold" grpId="0" nodeType="withEffect">
                                  <p:stCondLst>
                                    <p:cond delay="33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45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333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348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45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348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363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6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1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376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45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376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18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53" presetClass="entr" presetSubtype="16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3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4" dur="45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18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53" presetClass="entr" presetSubtype="16" fill="hold" grpId="0" nodeType="withEffect">
                                  <p:stCondLst>
                                    <p:cond delay="403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45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403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18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415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45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415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1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53" presetClass="entr" presetSubtype="16" fill="hold" grpId="0" nodeType="withEffect">
                                  <p:stCondLst>
                                    <p:cond delay="427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4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5" dur="45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427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1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439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4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439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18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18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53" presetClass="entr" presetSubtype="16" fill="hold" grpId="0" nodeType="withEffect">
                                  <p:stCondLst>
                                    <p:cond delay="451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45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451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18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53" presetClass="entr" presetSubtype="16" fill="hold" grpId="0" nodeType="withEffect">
                                  <p:stCondLst>
                                    <p:cond delay="462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8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9" dur="45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462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18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53" presetClass="entr" presetSubtype="16" fill="hold" grpId="0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45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18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483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45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483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8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53" presetClass="entr" presetSubtype="16" fill="hold" grpId="0" nodeType="withEffect">
                                  <p:stCondLst>
                                    <p:cond delay="493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9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0" dur="45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493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18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53" presetClass="entr" presetSubtype="16" fill="hold" grpId="0" nodeType="withEffect">
                                  <p:stCondLst>
                                    <p:cond delay="503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6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7" dur="45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10" presetClass="entr" presetSubtype="0" fill="hold" grpId="0" nodeType="withEffect">
                                  <p:stCondLst>
                                    <p:cond delay="503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18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53" presetClass="entr" presetSubtype="16" fill="hold" grpId="0" nodeType="withEffect">
                                  <p:stCondLst>
                                    <p:cond delay="512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45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512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18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53" presetClass="entr" presetSubtype="16" fill="hold" grpId="0" nodeType="withEffect">
                                  <p:stCondLst>
                                    <p:cond delay="521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0" dur="4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0000">
                                          <p:val>
                                            <p:strVal val="#ppt_h*1.0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1" dur="45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/2"/>
                                          </p:val>
                                        </p:tav>
                                        <p:tav tm="70000">
                                          <p:val>
                                            <p:strVal val="#ppt_y-#ppt_h*0.035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521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18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53" presetClass="entr" presetSubtype="16" fill="hold" grpId="0" nodeType="withEffect">
                                  <p:stCondLst>
                                    <p:cond delay="545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36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36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144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36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36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144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grpId="0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36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36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144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36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36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144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22" presetClass="entr" presetSubtype="8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7" dur="42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entr" presetSubtype="0" fill="hold" grpId="0" nodeType="withEffect">
                                  <p:stCondLst>
                                    <p:cond delay="615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21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1" dur="210" decel="1000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2" presetID="42" presetClass="entr" presetSubtype="0" fill="hold" grpId="0" nodeType="withEffect">
                                  <p:stCondLst>
                                    <p:cond delay="633"/>
                                  </p:stCondLst>
                                  <p:childTnLst>
                                    <p:set>
                                      <p:cBhvr>
                                        <p:cTn id="2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4" dur="21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5" dur="210" decel="1000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6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2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8" dur="3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9" presetID="42" presetClass="entr" presetSubtype="0" fill="hold" grpId="0" nodeType="withEffect">
                                  <p:stCondLst>
                                    <p:cond delay="64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21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2" dur="210" decel="100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0" nodeType="withEffect">
                                  <p:stCondLst>
                                    <p:cond delay="655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3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42" presetClass="entr" presetSubtype="0" fill="hold" grpId="0" nodeType="withEffect">
                                  <p:stCondLst>
                                    <p:cond delay="663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21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9" dur="210" decel="100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669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3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0" nodeType="withEffect">
                                  <p:stCondLst>
                                    <p:cond delay="681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3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6" presetClass="emph" presetSubtype="0" fill="hold" grpId="1" nodeType="withEffect">
                                  <p:stCondLst>
                                    <p:cond delay="1045"/>
                                  </p:stCondLst>
                                  <p:childTnLst>
                                    <p:animScale>
                                      <p:cBhvr>
                                        <p:cTn id="247" dur="800" repeatCount="indefinite" accel="50000" decel="50000" autoRev="1" fill="hold"/>
                                        <p:tgtEl>
                                          <p:spTgt spid="59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59" grpId="1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185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Хронология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 грязь</a:t>
            </a:r>
            <a:endParaRPr lang="en-US" sz="3400" dirty="0"/>
          </a:p>
        </p:txBody>
      </p:sp>
      <p:sp>
        <p:nvSpPr>
          <p:cNvPr id="4" name="text-186"/>
          <p:cNvSpPr txBox="1"/>
          <p:nvPr/>
        </p:nvSpPr>
        <p:spPr>
          <a:xfrm>
            <a:off x="762000" y="1828800"/>
            <a:ext cx="381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должно быть</a:t>
            </a:r>
            <a:endParaRPr lang="en-US" sz="1050" dirty="0"/>
          </a:p>
        </p:txBody>
      </p:sp>
      <p:sp>
        <p:nvSpPr>
          <p:cNvPr id="5" name="text-187"/>
          <p:cNvSpPr txBox="1"/>
          <p:nvPr/>
        </p:nvSpPr>
        <p:spPr>
          <a:xfrm>
            <a:off x="762000" y="4775200"/>
            <a:ext cx="571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в данных у </a:t>
            </a:r>
            <a:r>
              <a:rPr lang="en-US" sz="115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1 359</a:t>
            </a:r>
            <a:r>
              <a:rPr lang="en-US" sz="1150" b="1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заказов</a:t>
            </a:r>
            <a:endParaRPr lang="en-US" sz="1150" dirty="0"/>
          </a:p>
        </p:txBody>
      </p:sp>
      <p:sp>
        <p:nvSpPr>
          <p:cNvPr id="6" name="line-188"/>
          <p:cNvSpPr/>
          <p:nvPr/>
        </p:nvSpPr>
        <p:spPr>
          <a:xfrm>
            <a:off x="1016000" y="2413000"/>
            <a:ext cx="6477000" cy="0"/>
          </a:xfrm>
          <a:prstGeom prst="line">
            <a:avLst/>
          </a:prstGeom>
          <a:noFill/>
          <a:ln w="31750">
            <a:solidFill>
              <a:srgbClr val="C9C9D1"/>
            </a:solidFill>
            <a:prstDash val="solid"/>
          </a:ln>
        </p:spPr>
      </p:sp>
      <p:sp>
        <p:nvSpPr>
          <p:cNvPr id="7" name="line-189"/>
          <p:cNvSpPr/>
          <p:nvPr/>
        </p:nvSpPr>
        <p:spPr>
          <a:xfrm>
            <a:off x="1016000" y="4381500"/>
            <a:ext cx="6477000" cy="0"/>
          </a:xfrm>
          <a:prstGeom prst="line">
            <a:avLst/>
          </a:prstGeom>
          <a:noFill/>
          <a:ln w="31750">
            <a:solidFill>
              <a:srgbClr val="C9C9D1"/>
            </a:solidFill>
            <a:prstDash val="solid"/>
          </a:ln>
        </p:spPr>
      </p:sp>
      <p:sp>
        <p:nvSpPr>
          <p:cNvPr id="8" name="shape-190"/>
          <p:cNvSpPr/>
          <p:nvPr/>
        </p:nvSpPr>
        <p:spPr>
          <a:xfrm>
            <a:off x="1295400" y="2311400"/>
            <a:ext cx="203200" cy="20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9" name="text-191"/>
          <p:cNvSpPr txBox="1"/>
          <p:nvPr/>
        </p:nvSpPr>
        <p:spPr>
          <a:xfrm>
            <a:off x="698500" y="20447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оформлен</a:t>
            </a:r>
            <a:endParaRPr lang="en-US" sz="1100" dirty="0"/>
          </a:p>
        </p:txBody>
      </p:sp>
      <p:sp>
        <p:nvSpPr>
          <p:cNvPr id="10" name="shape-192"/>
          <p:cNvSpPr/>
          <p:nvPr/>
        </p:nvSpPr>
        <p:spPr>
          <a:xfrm>
            <a:off x="3200400" y="2311400"/>
            <a:ext cx="203200" cy="20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11" name="text-193"/>
          <p:cNvSpPr txBox="1"/>
          <p:nvPr/>
        </p:nvSpPr>
        <p:spPr>
          <a:xfrm>
            <a:off x="2603500" y="20447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оплачен</a:t>
            </a:r>
            <a:endParaRPr lang="en-US" sz="1100" dirty="0"/>
          </a:p>
        </p:txBody>
      </p:sp>
      <p:sp>
        <p:nvSpPr>
          <p:cNvPr id="12" name="shape-194"/>
          <p:cNvSpPr/>
          <p:nvPr/>
        </p:nvSpPr>
        <p:spPr>
          <a:xfrm>
            <a:off x="5105400" y="2311400"/>
            <a:ext cx="203200" cy="20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13" name="text-195"/>
          <p:cNvSpPr txBox="1"/>
          <p:nvPr/>
        </p:nvSpPr>
        <p:spPr>
          <a:xfrm>
            <a:off x="4508500" y="20447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передан</a:t>
            </a:r>
            <a:endParaRPr lang="en-US" sz="1100" dirty="0"/>
          </a:p>
        </p:txBody>
      </p:sp>
      <p:sp>
        <p:nvSpPr>
          <p:cNvPr id="14" name="shape-196"/>
          <p:cNvSpPr/>
          <p:nvPr/>
        </p:nvSpPr>
        <p:spPr>
          <a:xfrm>
            <a:off x="7010400" y="2311400"/>
            <a:ext cx="203200" cy="20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15" name="text-197"/>
          <p:cNvSpPr txBox="1"/>
          <p:nvPr/>
        </p:nvSpPr>
        <p:spPr>
          <a:xfrm>
            <a:off x="6413500" y="20447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вручён</a:t>
            </a:r>
            <a:endParaRPr lang="en-US" sz="1100" dirty="0"/>
          </a:p>
        </p:txBody>
      </p:sp>
      <p:sp>
        <p:nvSpPr>
          <p:cNvPr id="16" name="line-198"/>
          <p:cNvSpPr/>
          <p:nvPr/>
        </p:nvSpPr>
        <p:spPr>
          <a:xfrm>
            <a:off x="1397000" y="2514600"/>
            <a:ext cx="0" cy="1765300"/>
          </a:xfrm>
          <a:prstGeom prst="line">
            <a:avLst/>
          </a:prstGeom>
          <a:noFill/>
          <a:ln w="25400">
            <a:solidFill>
              <a:srgbClr val="C9C9D1"/>
            </a:solidFill>
            <a:prstDash val="dash"/>
          </a:ln>
        </p:spPr>
      </p:sp>
      <p:sp>
        <p:nvSpPr>
          <p:cNvPr id="17" name="line-199"/>
          <p:cNvSpPr/>
          <p:nvPr/>
        </p:nvSpPr>
        <p:spPr>
          <a:xfrm flipH="1">
            <a:off x="3302000" y="2514600"/>
            <a:ext cx="1905000" cy="1765300"/>
          </a:xfrm>
          <a:prstGeom prst="line">
            <a:avLst/>
          </a:prstGeom>
          <a:noFill/>
          <a:ln w="63500">
            <a:solidFill>
              <a:srgbClr val="D3263A"/>
            </a:solidFill>
            <a:prstDash val="solid"/>
          </a:ln>
        </p:spPr>
      </p:sp>
      <p:sp>
        <p:nvSpPr>
          <p:cNvPr id="18" name="line-200"/>
          <p:cNvSpPr/>
          <p:nvPr/>
        </p:nvSpPr>
        <p:spPr>
          <a:xfrm>
            <a:off x="3302000" y="2514600"/>
            <a:ext cx="1905000" cy="1765300"/>
          </a:xfrm>
          <a:prstGeom prst="line">
            <a:avLst/>
          </a:prstGeom>
          <a:noFill/>
          <a:ln w="63500">
            <a:solidFill>
              <a:srgbClr val="D3263A"/>
            </a:solidFill>
            <a:prstDash val="solid"/>
          </a:ln>
        </p:spPr>
      </p:sp>
      <p:sp>
        <p:nvSpPr>
          <p:cNvPr id="19" name="line-201"/>
          <p:cNvSpPr/>
          <p:nvPr/>
        </p:nvSpPr>
        <p:spPr>
          <a:xfrm>
            <a:off x="7112000" y="2514600"/>
            <a:ext cx="0" cy="1765300"/>
          </a:xfrm>
          <a:prstGeom prst="line">
            <a:avLst/>
          </a:prstGeom>
          <a:noFill/>
          <a:ln w="25400">
            <a:solidFill>
              <a:srgbClr val="C9C9D1"/>
            </a:solidFill>
            <a:prstDash val="dash"/>
          </a:ln>
        </p:spPr>
      </p:sp>
      <p:sp>
        <p:nvSpPr>
          <p:cNvPr id="20" name="shape-202"/>
          <p:cNvSpPr/>
          <p:nvPr/>
        </p:nvSpPr>
        <p:spPr>
          <a:xfrm>
            <a:off x="1295400" y="4279900"/>
            <a:ext cx="203200" cy="20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21" name="text-203"/>
          <p:cNvSpPr txBox="1"/>
          <p:nvPr/>
        </p:nvSpPr>
        <p:spPr>
          <a:xfrm>
            <a:off x="698500" y="4521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оформлен</a:t>
            </a:r>
            <a:endParaRPr lang="en-US" sz="1100" dirty="0"/>
          </a:p>
        </p:txBody>
      </p:sp>
      <p:sp>
        <p:nvSpPr>
          <p:cNvPr id="22" name="shape-204"/>
          <p:cNvSpPr/>
          <p:nvPr/>
        </p:nvSpPr>
        <p:spPr>
          <a:xfrm>
            <a:off x="3200400" y="4279900"/>
            <a:ext cx="203200" cy="203200"/>
          </a:xfrm>
          <a:prstGeom prst="ellipse">
            <a:avLst/>
          </a:prstGeom>
          <a:solidFill>
            <a:srgbClr val="D3263A"/>
          </a:solidFill>
          <a:ln w="38100">
            <a:solidFill>
              <a:srgbClr val="D3263A"/>
            </a:solidFill>
            <a:prstDash val="solid"/>
          </a:ln>
        </p:spPr>
      </p:sp>
      <p:sp>
        <p:nvSpPr>
          <p:cNvPr id="23" name="text-205"/>
          <p:cNvSpPr txBox="1"/>
          <p:nvPr/>
        </p:nvSpPr>
        <p:spPr>
          <a:xfrm>
            <a:off x="2603500" y="4521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передан</a:t>
            </a:r>
            <a:endParaRPr lang="en-US" sz="1100" dirty="0"/>
          </a:p>
        </p:txBody>
      </p:sp>
      <p:sp>
        <p:nvSpPr>
          <p:cNvPr id="24" name="shape-206"/>
          <p:cNvSpPr/>
          <p:nvPr/>
        </p:nvSpPr>
        <p:spPr>
          <a:xfrm>
            <a:off x="5105400" y="4279900"/>
            <a:ext cx="203200" cy="203200"/>
          </a:xfrm>
          <a:prstGeom prst="ellipse">
            <a:avLst/>
          </a:prstGeom>
          <a:solidFill>
            <a:srgbClr val="D3263A"/>
          </a:solidFill>
          <a:ln w="38100">
            <a:solidFill>
              <a:srgbClr val="D3263A"/>
            </a:solidFill>
            <a:prstDash val="solid"/>
          </a:ln>
        </p:spPr>
      </p:sp>
      <p:sp>
        <p:nvSpPr>
          <p:cNvPr id="25" name="text-207"/>
          <p:cNvSpPr txBox="1"/>
          <p:nvPr/>
        </p:nvSpPr>
        <p:spPr>
          <a:xfrm>
            <a:off x="4508500" y="4521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оплачен</a:t>
            </a:r>
            <a:endParaRPr lang="en-US" sz="1100" dirty="0"/>
          </a:p>
        </p:txBody>
      </p:sp>
      <p:sp>
        <p:nvSpPr>
          <p:cNvPr id="26" name="shape-208"/>
          <p:cNvSpPr/>
          <p:nvPr/>
        </p:nvSpPr>
        <p:spPr>
          <a:xfrm>
            <a:off x="7010400" y="4279900"/>
            <a:ext cx="203200" cy="2032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2348FF"/>
            </a:solidFill>
            <a:prstDash val="solid"/>
          </a:ln>
        </p:spPr>
      </p:sp>
      <p:sp>
        <p:nvSpPr>
          <p:cNvPr id="27" name="text-209"/>
          <p:cNvSpPr txBox="1"/>
          <p:nvPr/>
        </p:nvSpPr>
        <p:spPr>
          <a:xfrm>
            <a:off x="6413500" y="4521200"/>
            <a:ext cx="1397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вручён</a:t>
            </a:r>
            <a:endParaRPr lang="en-US" sz="1100" dirty="0"/>
          </a:p>
        </p:txBody>
      </p:sp>
      <p:sp>
        <p:nvSpPr>
          <p:cNvPr id="28" name="shape-210"/>
          <p:cNvSpPr/>
          <p:nvPr/>
        </p:nvSpPr>
        <p:spPr>
          <a:xfrm>
            <a:off x="3810000" y="2952750"/>
            <a:ext cx="889000" cy="889000"/>
          </a:xfrm>
          <a:prstGeom prst="ellipse">
            <a:avLst/>
          </a:prstGeom>
          <a:ln w="25400">
            <a:solidFill>
              <a:srgbClr val="D3263A"/>
            </a:solidFill>
            <a:prstDash val="dash"/>
          </a:ln>
        </p:spPr>
      </p:sp>
      <p:sp>
        <p:nvSpPr>
          <p:cNvPr id="29" name="text-211"/>
          <p:cNvSpPr txBox="1"/>
          <p:nvPr/>
        </p:nvSpPr>
        <p:spPr>
          <a:xfrm>
            <a:off x="8255000" y="1905000"/>
            <a:ext cx="1016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2600" dirty="0"/>
          </a:p>
        </p:txBody>
      </p:sp>
      <p:sp>
        <p:nvSpPr>
          <p:cNvPr id="30" name="text-212"/>
          <p:cNvSpPr txBox="1"/>
          <p:nvPr/>
        </p:nvSpPr>
        <p:spPr>
          <a:xfrm>
            <a:off x="9398000" y="19939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отгружены раньше оформления</a:t>
            </a:r>
            <a:endParaRPr lang="en-US" sz="1050" dirty="0"/>
          </a:p>
        </p:txBody>
      </p:sp>
      <p:sp>
        <p:nvSpPr>
          <p:cNvPr id="31" name="text-213"/>
          <p:cNvSpPr txBox="1"/>
          <p:nvPr/>
        </p:nvSpPr>
        <p:spPr>
          <a:xfrm>
            <a:off x="8255000" y="2654300"/>
            <a:ext cx="1016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2600" dirty="0"/>
          </a:p>
        </p:txBody>
      </p:sp>
      <p:sp>
        <p:nvSpPr>
          <p:cNvPr id="32" name="text-214"/>
          <p:cNvSpPr txBox="1"/>
          <p:nvPr/>
        </p:nvSpPr>
        <p:spPr>
          <a:xfrm>
            <a:off x="9398000" y="27432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вручены раньше отгрузки</a:t>
            </a:r>
            <a:endParaRPr lang="en-US" sz="1050" dirty="0"/>
          </a:p>
        </p:txBody>
      </p:sp>
      <p:sp>
        <p:nvSpPr>
          <p:cNvPr id="33" name="text-215"/>
          <p:cNvSpPr txBox="1"/>
          <p:nvPr/>
        </p:nvSpPr>
        <p:spPr>
          <a:xfrm>
            <a:off x="8255000" y="3403600"/>
            <a:ext cx="1016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600" dirty="0"/>
          </a:p>
        </p:txBody>
      </p:sp>
      <p:sp>
        <p:nvSpPr>
          <p:cNvPr id="34" name="text-216"/>
          <p:cNvSpPr txBox="1"/>
          <p:nvPr/>
        </p:nvSpPr>
        <p:spPr>
          <a:xfrm>
            <a:off x="9398000" y="34925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отменённых с датой вручения</a:t>
            </a:r>
            <a:endParaRPr lang="en-US" sz="1050" dirty="0"/>
          </a:p>
        </p:txBody>
      </p:sp>
      <p:sp>
        <p:nvSpPr>
          <p:cNvPr id="35" name="line-217"/>
          <p:cNvSpPr/>
          <p:nvPr/>
        </p:nvSpPr>
        <p:spPr>
          <a:xfrm>
            <a:off x="8255000" y="4191000"/>
            <a:ext cx="3175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36" name="text-218"/>
          <p:cNvSpPr txBox="1"/>
          <p:nvPr/>
        </p:nvSpPr>
        <p:spPr>
          <a:xfrm>
            <a:off x="8255000" y="4292600"/>
            <a:ext cx="1016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611</a:t>
            </a:r>
            <a:endParaRPr lang="en-US" sz="2600" dirty="0"/>
          </a:p>
        </p:txBody>
      </p:sp>
      <p:sp>
        <p:nvSpPr>
          <p:cNvPr id="37" name="text-219"/>
          <p:cNvSpPr txBox="1"/>
          <p:nvPr/>
        </p:nvSpPr>
        <p:spPr>
          <a:xfrm>
            <a:off x="9398000" y="43815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написаний городов, индекс вместо города</a:t>
            </a:r>
            <a:endParaRPr lang="en-US" sz="1050" dirty="0"/>
          </a:p>
        </p:txBody>
      </p:sp>
      <p:sp>
        <p:nvSpPr>
          <p:cNvPr id="38" name="text-220"/>
          <p:cNvSpPr txBox="1"/>
          <p:nvPr/>
        </p:nvSpPr>
        <p:spPr>
          <a:xfrm>
            <a:off x="8255000" y="4940300"/>
            <a:ext cx="10160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1 139</a:t>
            </a:r>
            <a:endParaRPr lang="en-US" sz="2600" dirty="0"/>
          </a:p>
        </p:txBody>
      </p:sp>
      <p:sp>
        <p:nvSpPr>
          <p:cNvPr id="39" name="text-221"/>
          <p:cNvSpPr txBox="1"/>
          <p:nvPr/>
        </p:nvSpPr>
        <p:spPr>
          <a:xfrm>
            <a:off x="9398000" y="5029200"/>
            <a:ext cx="2095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заказов: платежи не бьются с позициями</a:t>
            </a:r>
            <a:endParaRPr lang="en-US" sz="1050" dirty="0"/>
          </a:p>
        </p:txBody>
      </p:sp>
      <p:sp>
        <p:nvSpPr>
          <p:cNvPr id="40" name="shape-222"/>
          <p:cNvSpPr/>
          <p:nvPr/>
        </p:nvSpPr>
        <p:spPr>
          <a:xfrm>
            <a:off x="762000" y="5715000"/>
            <a:ext cx="10668000" cy="508000"/>
          </a:xfrm>
          <a:prstGeom prst="roundRect">
            <a:avLst>
              <a:gd name="adj" fmla="val 32500"/>
            </a:avLst>
          </a:prstGeom>
          <a:solidFill>
            <a:srgbClr val="F0E4FF"/>
          </a:solidFill>
          <a:ln/>
        </p:spPr>
      </p:sp>
      <p:pic>
        <p:nvPicPr>
          <p:cNvPr id="41" name="pic-223" descr="W:\Projects\hacks\rwb-new\presentation\pptx\assets\ico-shield-vio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854700"/>
            <a:ext cx="228600" cy="228600"/>
          </a:xfrm>
          <a:prstGeom prst="rect">
            <a:avLst/>
          </a:prstGeom>
        </p:spPr>
      </p:pic>
      <p:sp>
        <p:nvSpPr>
          <p:cNvPr id="42" name="text-224"/>
          <p:cNvSpPr txBox="1"/>
          <p:nvPr/>
        </p:nvSpPr>
        <p:spPr>
          <a:xfrm>
            <a:off x="1308100" y="5715000"/>
            <a:ext cx="993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Вывод: </a:t>
            </a:r>
            <a:r>
              <a:rPr lang="en-US" sz="1200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источникам доверять нельзя. Проверки живут в модели, а не в голове аналитика.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4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53" presetClass="entr" presetSubtype="16" fill="hold" grpId="0" nodeType="withEffect">
                                  <p:stCondLst>
                                    <p:cond delay="55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24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24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96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55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102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24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24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96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102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145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24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24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96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145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grpId="0" nodeType="withEffect">
                                  <p:stCondLst>
                                    <p:cond delay="186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0" dur="24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1" dur="24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96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86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8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22" presetClass="entr" presetSubtype="1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3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2" presetClass="entr" presetSubtype="1" fill="hold" grpId="0" nodeType="withEffect">
                                  <p:stCondLst>
                                    <p:cond delay="252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3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79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4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2" presetClass="entr" presetSubtype="1" fill="hold" grpId="0" nodeType="withEffect">
                                  <p:stCondLst>
                                    <p:cond delay="283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7" dur="3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1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3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24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24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5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24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24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355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4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2" dur="24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73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24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6" dur="24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53" presetClass="entr" presetSubtype="16" fill="hold" grpId="0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27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27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1" dur="10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42" presetClass="entr" presetSubtype="0" fill="hold" grpId="0" nodeType="withEffect">
                                  <p:stCondLst>
                                    <p:cond delay="391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24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5" dur="24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394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53" presetClass="entr" presetSubtype="16" fill="hold" grpId="0" nodeType="withEffect">
                                  <p:stCondLst>
                                    <p:cond delay="397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27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27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3" dur="108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4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7" dur="24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22" presetClass="entr" presetSubtype="8" fill="hold" grpId="0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0" dur="24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411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27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27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08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427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27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27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6" dur="108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42" presetClass="entr" presetSubtype="0" fill="hold" grpId="0" nodeType="withEffect">
                                  <p:stCondLst>
                                    <p:cond delay="435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24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0" dur="24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44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24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7" dur="24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24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1" dur="24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1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4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24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42" presetClass="entr" presetSubtype="0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4" dur="30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8" dur="30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2" dur="30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6" presetClass="emph" presetSubtype="0" fill="hold" grpId="1" nodeType="withEffect">
                                  <p:stCondLst>
                                    <p:cond delay="925"/>
                                  </p:stCondLst>
                                  <p:childTnLst>
                                    <p:animScale>
                                      <p:cBhvr>
                                        <p:cTn id="154" dur="900" repeatCount="indefinite" accel="50000" decel="50000" autoRev="1" fill="hold"/>
                                        <p:tgtEl>
                                          <p:spTgt spid="28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8" grpId="1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25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решили: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правила переноса</a:t>
            </a:r>
            <a:endParaRPr lang="en-US" sz="3400" dirty="0"/>
          </a:p>
        </p:txBody>
      </p:sp>
      <p:sp>
        <p:nvSpPr>
          <p:cNvPr id="4" name="shape-226"/>
          <p:cNvSpPr/>
          <p:nvPr/>
        </p:nvSpPr>
        <p:spPr>
          <a:xfrm>
            <a:off x="762000" y="1619250"/>
            <a:ext cx="1320800" cy="292100"/>
          </a:xfrm>
          <a:prstGeom prst="roundRect">
            <a:avLst>
              <a:gd name="adj" fmla="val 50000"/>
            </a:avLst>
          </a:prstGeom>
          <a:solidFill>
            <a:srgbClr val="F0E4FF"/>
          </a:solidFill>
          <a:ln/>
        </p:spPr>
      </p:sp>
      <p:sp>
        <p:nvSpPr>
          <p:cNvPr id="5" name="text-227"/>
          <p:cNvSpPr txBox="1"/>
          <p:nvPr/>
        </p:nvSpPr>
        <p:spPr>
          <a:xfrm>
            <a:off x="762000" y="1619250"/>
            <a:ext cx="13208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raw: всё text</a:t>
            </a:r>
            <a:endParaRPr lang="en-US" sz="1050" dirty="0"/>
          </a:p>
        </p:txBody>
      </p:sp>
      <p:sp>
        <p:nvSpPr>
          <p:cNvPr id="6" name="shape-228"/>
          <p:cNvSpPr/>
          <p:nvPr/>
        </p:nvSpPr>
        <p:spPr>
          <a:xfrm>
            <a:off x="8667750" y="1619250"/>
            <a:ext cx="276225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7" name="text-229"/>
          <p:cNvSpPr txBox="1"/>
          <p:nvPr/>
        </p:nvSpPr>
        <p:spPr>
          <a:xfrm>
            <a:off x="8667750" y="1619250"/>
            <a:ext cx="27622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core: типы, NULL, PK, FK, CHECK</a:t>
            </a:r>
            <a:endParaRPr lang="en-US" sz="1050" dirty="0"/>
          </a:p>
        </p:txBody>
      </p:sp>
      <p:sp>
        <p:nvSpPr>
          <p:cNvPr id="8" name="text-230"/>
          <p:cNvSpPr txBox="1"/>
          <p:nvPr/>
        </p:nvSpPr>
        <p:spPr>
          <a:xfrm>
            <a:off x="762000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purchase_ts</a:t>
            </a:r>
            <a:endParaRPr lang="en-US" sz="950" dirty="0"/>
          </a:p>
        </p:txBody>
      </p:sp>
      <p:sp>
        <p:nvSpPr>
          <p:cNvPr id="9" name="shape-231"/>
          <p:cNvSpPr/>
          <p:nvPr/>
        </p:nvSpPr>
        <p:spPr>
          <a:xfrm>
            <a:off x="762000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10" name="text-232"/>
          <p:cNvSpPr txBox="1"/>
          <p:nvPr/>
        </p:nvSpPr>
        <p:spPr>
          <a:xfrm>
            <a:off x="850900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'2017-10-02 10:56'</a:t>
            </a:r>
            <a:endParaRPr lang="en-US" sz="950" dirty="0"/>
          </a:p>
        </p:txBody>
      </p:sp>
      <p:sp>
        <p:nvSpPr>
          <p:cNvPr id="11" name="shape-233"/>
          <p:cNvSpPr/>
          <p:nvPr/>
        </p:nvSpPr>
        <p:spPr>
          <a:xfrm>
            <a:off x="1580092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12" name="run-234"/>
          <p:cNvSpPr/>
          <p:nvPr/>
        </p:nvSpPr>
        <p:spPr>
          <a:xfrm>
            <a:off x="1554692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3" name="shape-235"/>
          <p:cNvSpPr/>
          <p:nvPr/>
        </p:nvSpPr>
        <p:spPr>
          <a:xfrm>
            <a:off x="1067075" y="3251200"/>
            <a:ext cx="1051433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14" name="text-236"/>
          <p:cNvSpPr txBox="1"/>
          <p:nvPr/>
        </p:nvSpPr>
        <p:spPr>
          <a:xfrm>
            <a:off x="1067075" y="3251200"/>
            <a:ext cx="1051433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::timestamp</a:t>
            </a:r>
            <a:endParaRPr lang="en-US" sz="950" dirty="0"/>
          </a:p>
        </p:txBody>
      </p:sp>
      <p:sp>
        <p:nvSpPr>
          <p:cNvPr id="15" name="shape-237"/>
          <p:cNvSpPr/>
          <p:nvPr/>
        </p:nvSpPr>
        <p:spPr>
          <a:xfrm>
            <a:off x="762000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16" name="text-238"/>
          <p:cNvSpPr txBox="1"/>
          <p:nvPr/>
        </p:nvSpPr>
        <p:spPr>
          <a:xfrm>
            <a:off x="863600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2017-10-02 10:56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timestamp</a:t>
            </a:r>
            <a:endParaRPr lang="en-US" sz="1100" dirty="0"/>
          </a:p>
        </p:txBody>
      </p:sp>
      <p:sp>
        <p:nvSpPr>
          <p:cNvPr id="17" name="text-239"/>
          <p:cNvSpPr txBox="1"/>
          <p:nvPr/>
        </p:nvSpPr>
        <p:spPr>
          <a:xfrm>
            <a:off x="2563283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approved_at</a:t>
            </a:r>
            <a:endParaRPr lang="en-US" sz="950" dirty="0"/>
          </a:p>
        </p:txBody>
      </p:sp>
      <p:sp>
        <p:nvSpPr>
          <p:cNvPr id="18" name="shape-240"/>
          <p:cNvSpPr/>
          <p:nvPr/>
        </p:nvSpPr>
        <p:spPr>
          <a:xfrm>
            <a:off x="2563283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19" name="text-241"/>
          <p:cNvSpPr txBox="1"/>
          <p:nvPr/>
        </p:nvSpPr>
        <p:spPr>
          <a:xfrm>
            <a:off x="2652183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''</a:t>
            </a:r>
            <a:endParaRPr lang="en-US" sz="950" dirty="0"/>
          </a:p>
        </p:txBody>
      </p:sp>
      <p:sp>
        <p:nvSpPr>
          <p:cNvPr id="20" name="shape-242"/>
          <p:cNvSpPr/>
          <p:nvPr/>
        </p:nvSpPr>
        <p:spPr>
          <a:xfrm>
            <a:off x="3381375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21" name="run-243"/>
          <p:cNvSpPr/>
          <p:nvPr/>
        </p:nvSpPr>
        <p:spPr>
          <a:xfrm>
            <a:off x="3355975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22" name="shape-244"/>
          <p:cNvSpPr/>
          <p:nvPr/>
        </p:nvSpPr>
        <p:spPr>
          <a:xfrm>
            <a:off x="2830957" y="3251200"/>
            <a:ext cx="1126236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23" name="text-245"/>
          <p:cNvSpPr txBox="1"/>
          <p:nvPr/>
        </p:nvSpPr>
        <p:spPr>
          <a:xfrm>
            <a:off x="2830957" y="3251200"/>
            <a:ext cx="1126236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NULLIF(trim)</a:t>
            </a:r>
            <a:endParaRPr lang="en-US" sz="950" dirty="0"/>
          </a:p>
        </p:txBody>
      </p:sp>
      <p:sp>
        <p:nvSpPr>
          <p:cNvPr id="24" name="shape-246"/>
          <p:cNvSpPr/>
          <p:nvPr/>
        </p:nvSpPr>
        <p:spPr>
          <a:xfrm>
            <a:off x="2563283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25" name="text-247"/>
          <p:cNvSpPr txBox="1"/>
          <p:nvPr/>
        </p:nvSpPr>
        <p:spPr>
          <a:xfrm>
            <a:off x="2664883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NULL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данных нет</a:t>
            </a:r>
            <a:endParaRPr lang="en-US" sz="1100" dirty="0"/>
          </a:p>
        </p:txBody>
      </p:sp>
      <p:sp>
        <p:nvSpPr>
          <p:cNvPr id="26" name="text-248"/>
          <p:cNvSpPr txBox="1"/>
          <p:nvPr/>
        </p:nvSpPr>
        <p:spPr>
          <a:xfrm>
            <a:off x="4364567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950" dirty="0"/>
          </a:p>
        </p:txBody>
      </p:sp>
      <p:sp>
        <p:nvSpPr>
          <p:cNvPr id="27" name="shape-249"/>
          <p:cNvSpPr/>
          <p:nvPr/>
        </p:nvSpPr>
        <p:spPr>
          <a:xfrm>
            <a:off x="4364567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28" name="text-250"/>
          <p:cNvSpPr txBox="1"/>
          <p:nvPr/>
        </p:nvSpPr>
        <p:spPr>
          <a:xfrm>
            <a:off x="4453467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'29.99'</a:t>
            </a:r>
            <a:endParaRPr lang="en-US" sz="950" dirty="0"/>
          </a:p>
        </p:txBody>
      </p:sp>
      <p:sp>
        <p:nvSpPr>
          <p:cNvPr id="29" name="shape-251"/>
          <p:cNvSpPr/>
          <p:nvPr/>
        </p:nvSpPr>
        <p:spPr>
          <a:xfrm>
            <a:off x="5182658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30" name="run-252"/>
          <p:cNvSpPr/>
          <p:nvPr/>
        </p:nvSpPr>
        <p:spPr>
          <a:xfrm>
            <a:off x="5157258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31" name="shape-253"/>
          <p:cNvSpPr/>
          <p:nvPr/>
        </p:nvSpPr>
        <p:spPr>
          <a:xfrm>
            <a:off x="4594839" y="3251200"/>
            <a:ext cx="1201039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32" name="text-254"/>
          <p:cNvSpPr txBox="1"/>
          <p:nvPr/>
        </p:nvSpPr>
        <p:spPr>
          <a:xfrm>
            <a:off x="4594839" y="3251200"/>
            <a:ext cx="1201039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::numeric ≥ 0</a:t>
            </a:r>
            <a:endParaRPr lang="en-US" sz="950" dirty="0"/>
          </a:p>
        </p:txBody>
      </p:sp>
      <p:sp>
        <p:nvSpPr>
          <p:cNvPr id="33" name="shape-255"/>
          <p:cNvSpPr/>
          <p:nvPr/>
        </p:nvSpPr>
        <p:spPr>
          <a:xfrm>
            <a:off x="4364567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34" name="text-256"/>
          <p:cNvSpPr txBox="1"/>
          <p:nvPr/>
        </p:nvSpPr>
        <p:spPr>
          <a:xfrm>
            <a:off x="4466167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29.99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numeric</a:t>
            </a:r>
            <a:endParaRPr lang="en-US" sz="1100" dirty="0"/>
          </a:p>
        </p:txBody>
      </p:sp>
      <p:sp>
        <p:nvSpPr>
          <p:cNvPr id="35" name="text-257"/>
          <p:cNvSpPr txBox="1"/>
          <p:nvPr/>
        </p:nvSpPr>
        <p:spPr>
          <a:xfrm>
            <a:off x="6165850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order_status</a:t>
            </a:r>
            <a:endParaRPr lang="en-US" sz="950" dirty="0"/>
          </a:p>
        </p:txBody>
      </p:sp>
      <p:sp>
        <p:nvSpPr>
          <p:cNvPr id="36" name="shape-258"/>
          <p:cNvSpPr/>
          <p:nvPr/>
        </p:nvSpPr>
        <p:spPr>
          <a:xfrm>
            <a:off x="6165850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37" name="text-259"/>
          <p:cNvSpPr txBox="1"/>
          <p:nvPr/>
        </p:nvSpPr>
        <p:spPr>
          <a:xfrm>
            <a:off x="6254750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'delivered'</a:t>
            </a:r>
            <a:endParaRPr lang="en-US" sz="950" dirty="0"/>
          </a:p>
        </p:txBody>
      </p:sp>
      <p:sp>
        <p:nvSpPr>
          <p:cNvPr id="38" name="shape-260"/>
          <p:cNvSpPr/>
          <p:nvPr/>
        </p:nvSpPr>
        <p:spPr>
          <a:xfrm>
            <a:off x="6983942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39" name="run-261"/>
          <p:cNvSpPr/>
          <p:nvPr/>
        </p:nvSpPr>
        <p:spPr>
          <a:xfrm>
            <a:off x="6958542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0" name="shape-262"/>
          <p:cNvSpPr/>
          <p:nvPr/>
        </p:nvSpPr>
        <p:spPr>
          <a:xfrm>
            <a:off x="6321319" y="3251200"/>
            <a:ext cx="1350645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41" name="text-263"/>
          <p:cNvSpPr txBox="1"/>
          <p:nvPr/>
        </p:nvSpPr>
        <p:spPr>
          <a:xfrm>
            <a:off x="6321319" y="3251200"/>
            <a:ext cx="1350645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из списка</a:t>
            </a:r>
            <a:endParaRPr lang="en-US" sz="950" dirty="0"/>
          </a:p>
        </p:txBody>
      </p:sp>
      <p:sp>
        <p:nvSpPr>
          <p:cNvPr id="42" name="shape-264"/>
          <p:cNvSpPr/>
          <p:nvPr/>
        </p:nvSpPr>
        <p:spPr>
          <a:xfrm>
            <a:off x="6165850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43" name="text-265"/>
          <p:cNvSpPr txBox="1"/>
          <p:nvPr/>
        </p:nvSpPr>
        <p:spPr>
          <a:xfrm>
            <a:off x="6267450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delivered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статус есть</a:t>
            </a:r>
            <a:endParaRPr lang="en-US" sz="1100" dirty="0"/>
          </a:p>
        </p:txBody>
      </p:sp>
      <p:sp>
        <p:nvSpPr>
          <p:cNvPr id="44" name="text-266"/>
          <p:cNvSpPr txBox="1"/>
          <p:nvPr/>
        </p:nvSpPr>
        <p:spPr>
          <a:xfrm>
            <a:off x="7967133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seller_id</a:t>
            </a:r>
            <a:endParaRPr lang="en-US" sz="950" dirty="0"/>
          </a:p>
        </p:txBody>
      </p:sp>
      <p:sp>
        <p:nvSpPr>
          <p:cNvPr id="45" name="shape-267"/>
          <p:cNvSpPr/>
          <p:nvPr/>
        </p:nvSpPr>
        <p:spPr>
          <a:xfrm>
            <a:off x="7967133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46" name="text-268"/>
          <p:cNvSpPr txBox="1"/>
          <p:nvPr/>
        </p:nvSpPr>
        <p:spPr>
          <a:xfrm>
            <a:off x="8056033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'3504c0cb…'</a:t>
            </a:r>
            <a:endParaRPr lang="en-US" sz="950" dirty="0"/>
          </a:p>
        </p:txBody>
      </p:sp>
      <p:sp>
        <p:nvSpPr>
          <p:cNvPr id="47" name="shape-269"/>
          <p:cNvSpPr/>
          <p:nvPr/>
        </p:nvSpPr>
        <p:spPr>
          <a:xfrm>
            <a:off x="8785225" y="2768600"/>
            <a:ext cx="25400" cy="1270000"/>
          </a:xfrm>
          <a:prstGeom prst="rect">
            <a:avLst/>
          </a:prstGeom>
          <a:solidFill>
            <a:srgbClr val="518FF2"/>
          </a:solidFill>
          <a:ln/>
        </p:spPr>
      </p:sp>
      <p:sp>
        <p:nvSpPr>
          <p:cNvPr id="48" name="run-270"/>
          <p:cNvSpPr/>
          <p:nvPr/>
        </p:nvSpPr>
        <p:spPr>
          <a:xfrm>
            <a:off x="8759825" y="2755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9" name="shape-271"/>
          <p:cNvSpPr/>
          <p:nvPr/>
        </p:nvSpPr>
        <p:spPr>
          <a:xfrm>
            <a:off x="8309610" y="3251200"/>
            <a:ext cx="976630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2348FF"/>
            </a:solidFill>
            <a:prstDash val="solid"/>
          </a:ln>
        </p:spPr>
      </p:sp>
      <p:sp>
        <p:nvSpPr>
          <p:cNvPr id="50" name="text-272"/>
          <p:cNvSpPr txBox="1"/>
          <p:nvPr/>
        </p:nvSpPr>
        <p:spPr>
          <a:xfrm>
            <a:off x="8309610" y="3251200"/>
            <a:ext cx="97663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REFERENCES</a:t>
            </a:r>
            <a:endParaRPr lang="en-US" sz="950" dirty="0"/>
          </a:p>
        </p:txBody>
      </p:sp>
      <p:sp>
        <p:nvSpPr>
          <p:cNvPr id="51" name="shape-273"/>
          <p:cNvSpPr/>
          <p:nvPr/>
        </p:nvSpPr>
        <p:spPr>
          <a:xfrm>
            <a:off x="7967133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2348FF"/>
          </a:solidFill>
          <a:ln/>
        </p:spPr>
      </p:sp>
      <p:sp>
        <p:nvSpPr>
          <p:cNvPr id="52" name="text-274"/>
          <p:cNvSpPr txBox="1"/>
          <p:nvPr/>
        </p:nvSpPr>
        <p:spPr>
          <a:xfrm>
            <a:off x="8068733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3504c0cb…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FK найден</a:t>
            </a:r>
            <a:endParaRPr lang="en-US" sz="1100" dirty="0"/>
          </a:p>
        </p:txBody>
      </p:sp>
      <p:sp>
        <p:nvSpPr>
          <p:cNvPr id="53" name="text-275"/>
          <p:cNvSpPr txBox="1"/>
          <p:nvPr/>
        </p:nvSpPr>
        <p:spPr>
          <a:xfrm>
            <a:off x="9768417" y="2095500"/>
            <a:ext cx="166158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</a:t>
            </a:r>
            <a:endParaRPr lang="en-US" sz="950" dirty="0"/>
          </a:p>
        </p:txBody>
      </p:sp>
      <p:sp>
        <p:nvSpPr>
          <p:cNvPr id="54" name="shape-276"/>
          <p:cNvSpPr/>
          <p:nvPr/>
        </p:nvSpPr>
        <p:spPr>
          <a:xfrm>
            <a:off x="9768417" y="2324100"/>
            <a:ext cx="1661583" cy="419100"/>
          </a:xfrm>
          <a:prstGeom prst="roundRect">
            <a:avLst>
              <a:gd name="adj" fmla="val 24242"/>
            </a:avLst>
          </a:prstGeom>
          <a:solidFill>
            <a:srgbClr val="F1F1F3"/>
          </a:solidFill>
          <a:ln/>
        </p:spPr>
      </p:sp>
      <p:sp>
        <p:nvSpPr>
          <p:cNvPr id="55" name="text-277"/>
          <p:cNvSpPr txBox="1"/>
          <p:nvPr/>
        </p:nvSpPr>
        <p:spPr>
          <a:xfrm>
            <a:off x="9857317" y="2324100"/>
            <a:ext cx="148378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'7'</a:t>
            </a:r>
            <a:endParaRPr lang="en-US" sz="950" dirty="0"/>
          </a:p>
        </p:txBody>
      </p:sp>
      <p:sp>
        <p:nvSpPr>
          <p:cNvPr id="56" name="shape-278"/>
          <p:cNvSpPr/>
          <p:nvPr/>
        </p:nvSpPr>
        <p:spPr>
          <a:xfrm>
            <a:off x="10586508" y="2768600"/>
            <a:ext cx="25400" cy="1270000"/>
          </a:xfrm>
          <a:prstGeom prst="rect">
            <a:avLst/>
          </a:prstGeom>
          <a:solidFill>
            <a:srgbClr val="D3263A"/>
          </a:solidFill>
          <a:ln/>
        </p:spPr>
      </p:sp>
      <p:sp>
        <p:nvSpPr>
          <p:cNvPr id="57" name="run-279"/>
          <p:cNvSpPr/>
          <p:nvPr/>
        </p:nvSpPr>
        <p:spPr>
          <a:xfrm>
            <a:off x="10561108" y="2755900"/>
            <a:ext cx="76200" cy="76200"/>
          </a:xfrm>
          <a:prstGeom prst="ellipse">
            <a:avLst/>
          </a:prstGeom>
          <a:solidFill>
            <a:srgbClr val="D3263A"/>
          </a:solidFill>
          <a:ln/>
        </p:spPr>
      </p:sp>
      <p:sp>
        <p:nvSpPr>
          <p:cNvPr id="58" name="shape-280"/>
          <p:cNvSpPr/>
          <p:nvPr/>
        </p:nvSpPr>
        <p:spPr>
          <a:xfrm>
            <a:off x="10148295" y="3251200"/>
            <a:ext cx="901827" cy="2921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D3263A"/>
            </a:solidFill>
            <a:prstDash val="solid"/>
          </a:ln>
        </p:spPr>
      </p:sp>
      <p:sp>
        <p:nvSpPr>
          <p:cNvPr id="59" name="text-281"/>
          <p:cNvSpPr txBox="1"/>
          <p:nvPr/>
        </p:nvSpPr>
        <p:spPr>
          <a:xfrm>
            <a:off x="10148295" y="3251200"/>
            <a:ext cx="901827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 1–5</a:t>
            </a:r>
            <a:endParaRPr lang="en-US" sz="950" dirty="0"/>
          </a:p>
        </p:txBody>
      </p:sp>
      <p:sp>
        <p:nvSpPr>
          <p:cNvPr id="60" name="shape-282"/>
          <p:cNvSpPr/>
          <p:nvPr/>
        </p:nvSpPr>
        <p:spPr>
          <a:xfrm>
            <a:off x="9768417" y="4064000"/>
            <a:ext cx="1661583" cy="635000"/>
          </a:xfrm>
          <a:prstGeom prst="roundRect">
            <a:avLst>
              <a:gd name="adj" fmla="val 18000"/>
            </a:avLst>
          </a:prstGeom>
          <a:solidFill>
            <a:srgbClr val="D3263A"/>
          </a:solidFill>
          <a:ln/>
        </p:spPr>
      </p:sp>
      <p:sp>
        <p:nvSpPr>
          <p:cNvPr id="61" name="text-283"/>
          <p:cNvSpPr txBox="1"/>
          <p:nvPr/>
        </p:nvSpPr>
        <p:spPr>
          <a:xfrm>
            <a:off x="9870017" y="4064000"/>
            <a:ext cx="1458383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отказ</a:t>
            </a:r>
            <a:endParaRPr lang="en-US" sz="11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сборка падает</a:t>
            </a:r>
            <a:endParaRPr lang="en-US" sz="1100" dirty="0"/>
          </a:p>
        </p:txBody>
      </p:sp>
      <p:pic>
        <p:nvPicPr>
          <p:cNvPr id="62" name="pic-284" descr="W:\Projects\hacks\rwb-new\presentation\pptx\assets\ico-refresh-cobal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5156200"/>
            <a:ext cx="215900" cy="215900"/>
          </a:xfrm>
          <a:prstGeom prst="rect">
            <a:avLst/>
          </a:prstGeom>
        </p:spPr>
      </p:pic>
      <p:sp>
        <p:nvSpPr>
          <p:cNvPr id="63" name="text-285"/>
          <p:cNvSpPr txBox="1"/>
          <p:nvPr/>
        </p:nvSpPr>
        <p:spPr>
          <a:xfrm>
            <a:off x="1079500" y="5118100"/>
            <a:ext cx="10350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скрипт </a:t>
            </a:r>
            <a:r>
              <a:rPr lang="en-US" sz="120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build_core.sql</a:t>
            </a:r>
            <a:r>
              <a:rPr lang="en-US" sz="12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с нуля, DROP SCHEMA и BEGIN … COMMIT: наполовину собранной модели не бывает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8" fill="hold" grpId="0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4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" presetClass="entr" presetSubtype="1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4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" dur="48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1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" dur="48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" presetClass="entr" presetSubtype="1" fill="hold" grpId="0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24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0" dur="48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1" fill="hold" grpId="0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4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48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264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2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" presetClass="entr" presetSubtype="1" fill="hold" grpId="0" nodeType="withEffect">
                                  <p:stCondLst>
                                    <p:cond delay="264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24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1" dur="48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2" presetClass="entr" presetSubtype="1" fill="hold" grpId="0" nodeType="withEffect">
                                  <p:stCondLst>
                                    <p:cond delay="264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4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48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24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2" presetClass="entr" presetSubtype="1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24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2" dur="48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1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4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48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355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24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2" presetClass="entr" presetSubtype="1" fill="hold" grpId="0" nodeType="withEffect">
                                  <p:stCondLst>
                                    <p:cond delay="355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24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48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1" fill="hold" grpId="0" nodeType="withEffect">
                                  <p:stCondLst>
                                    <p:cond delay="35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24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48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22" presetClass="entr" presetSubtype="1" fill="hold" grpId="0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0" dur="3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394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4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" presetClass="entr" presetSubtype="1" fill="hold" grpId="0" nodeType="withEffect">
                                  <p:stCondLst>
                                    <p:cond delay="394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24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480" decel="100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2" presetClass="entr" presetSubtype="1" fill="hold" grpId="0" nodeType="withEffect">
                                  <p:stCondLst>
                                    <p:cond delay="394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24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480" decel="1000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22" presetClass="entr" presetSubtype="1" fill="hold" grpId="0" nodeType="withEffect">
                                  <p:stCondLst>
                                    <p:cond delay="417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4" dur="3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33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33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32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448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33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33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132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2" presetClass="entr" presetSubtype="1" fill="hold" grpId="0" nodeType="withEffect">
                                  <p:stCondLst>
                                    <p:cond delay="451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7" dur="3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53" presetClass="entr" presetSubtype="16" fill="hold" grpId="0" nodeType="withEffect">
                                  <p:stCondLst>
                                    <p:cond delay="479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0" dur="33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1" dur="33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2" dur="132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grpId="0" nodeType="withEffect">
                                  <p:stCondLst>
                                    <p:cond delay="479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33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33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132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22" presetClass="entr" presetSubtype="1" fill="hold" grpId="0" nodeType="withEffect">
                                  <p:stCondLst>
                                    <p:cond delay="482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0" dur="36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53" presetClass="entr" presetSubtype="16" fill="hold" grpId="0" nodeType="withEffect">
                                  <p:stCondLst>
                                    <p:cond delay="508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3" dur="33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4" dur="33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5" dur="132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53" presetClass="entr" presetSubtype="16" fill="hold" grpId="0" nodeType="withEffect">
                                  <p:stCondLst>
                                    <p:cond delay="508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8" dur="33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9" dur="33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0" dur="132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22" presetClass="entr" presetSubtype="1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3" dur="36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516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39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39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156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516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39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39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156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2" presetClass="entr" presetSubtype="2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7" dur="3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2" presetClass="entr" presetSubtype="2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1" dur="3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2" presetID="53" presetClass="entr" presetSubtype="16" fill="hold" grpId="0" nodeType="withEffect">
                                  <p:stCondLst>
                                    <p:cond delay="534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4" dur="33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5" dur="33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6" dur="132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53" presetClass="entr" presetSubtype="16" fill="hold" grpId="0" nodeType="withEffect">
                                  <p:stCondLst>
                                    <p:cond delay="534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9" dur="33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0" dur="33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1" dur="132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22" presetClass="entr" presetSubtype="1" fill="hold" grpId="0" nodeType="withEffect">
                                  <p:stCondLst>
                                    <p:cond delay="536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4" dur="36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grpId="0" nodeType="withEffect">
                                  <p:stCondLst>
                                    <p:cond delay="541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39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39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156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541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39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39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156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53" presetClass="entr" presetSubtype="16" fill="hold" grpId="0" nodeType="withEffect">
                                  <p:stCondLst>
                                    <p:cond delay="557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33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33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9" dur="132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53" presetClass="entr" presetSubtype="16" fill="hold" grpId="0" nodeType="withEffect">
                                  <p:stCondLst>
                                    <p:cond delay="557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2" dur="33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3" dur="33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4" dur="132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5" presetID="53" presetClass="entr" presetSubtype="16" fill="hold" grpId="0" nodeType="withEffect">
                                  <p:stCondLst>
                                    <p:cond delay="564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7" dur="39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8" dur="39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9" dur="156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53" presetClass="entr" presetSubtype="16" fill="hold" grpId="0" nodeType="withEffect">
                                  <p:stCondLst>
                                    <p:cond delay="564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2" dur="39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3" dur="39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4" dur="156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53" presetClass="entr" presetSubtype="16" fill="hold" grpId="0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33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33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9" dur="132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53" presetClass="entr" presetSubtype="16" fill="hold" grpId="0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2" dur="33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3" dur="33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4" dur="132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53" presetClass="entr" presetSubtype="16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39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39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156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585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39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39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156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grpId="0" nodeType="withEffect">
                                  <p:stCondLst>
                                    <p:cond delay="604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39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39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156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604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39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39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156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53" presetClass="entr" presetSubtype="16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39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39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156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53" presetClass="entr" presetSubtype="16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39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39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4" dur="156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53" presetClass="entr" presetSubtype="16" fill="hold" nodeType="withEffect">
                                  <p:stCondLst>
                                    <p:cond delay="656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7" dur="3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8" dur="3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12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2" presetClass="entr" presetSubtype="8" fill="hold" grpId="0" nodeType="withEffect">
                                  <p:stCondLst>
                                    <p:cond delay="661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36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3" dur="360" decel="1000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4" presetID="0" presetClass="entr" presetSubtype="0" fill="hold" grpId="0" nodeType="withEffect">
                                  <p:stCondLst>
                                    <p:cond delay="970"/>
                                  </p:stCondLst>
                                  <p:childTnLst>
                                    <p:set>
                                      <p:cBhvr>
                                        <p:cTn id="2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36" dur="1600" repeatCount="indefinite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37" presetID="0" presetClass="entr" presetSubtype="0" fill="hold" grpId="0" nodeType="withEffect">
                                  <p:stCondLst>
                                    <p:cond delay="99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39" dur="1600" repeatCount="indefinite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0" presetClass="entr" presetSubtype="0" fill="hold" grpId="0" nodeType="withEffect">
                                  <p:stCondLst>
                                    <p:cond delay="1009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42" dur="1600" repeatCount="indefinite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3" presetID="0" presetClass="entr" presetSubtype="0" fill="hold" grpId="0" nodeType="withEffect">
                                  <p:stCondLst>
                                    <p:cond delay="1029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45" dur="1600" repeatCount="indefinite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6" presetID="0" presetClass="entr" presetSubtype="0" fill="hold" grpId="0" nodeType="withEffect">
                                  <p:stCondLst>
                                    <p:cond delay="1048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48" dur="1600" repeatCount="indefinite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49" presetID="0" presetClass="entr" presetSubtype="0" fill="hold" grpId="0" nodeType="withEffect">
                                  <p:stCondLst>
                                    <p:cond delay="1068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1778 E" pathEditMode="relative" ptsTypes="">
                                      <p:cBhvr>
                                        <p:cTn id="251" dur="1600" repeatCount="indefinite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286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Три слоя,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как в нашем знаке</a:t>
            </a:r>
            <a:endParaRPr lang="en-US" sz="3400" dirty="0"/>
          </a:p>
        </p:txBody>
      </p:sp>
      <p:pic>
        <p:nvPicPr>
          <p:cNvPr id="4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5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6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7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pic>
        <p:nvPicPr>
          <p:cNvPr id="8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1333500"/>
            <a:ext cx="4953000" cy="4953000"/>
          </a:xfrm>
          <a:prstGeom prst="rect">
            <a:avLst/>
          </a:prstGeom>
        </p:spPr>
      </p:pic>
      <p:sp>
        <p:nvSpPr>
          <p:cNvPr id="9" name="shape-292"/>
          <p:cNvSpPr/>
          <p:nvPr/>
        </p:nvSpPr>
        <p:spPr>
          <a:xfrm>
            <a:off x="5842000" y="2019300"/>
            <a:ext cx="152400" cy="1524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0" name="text-293"/>
          <p:cNvSpPr txBox="1"/>
          <p:nvPr/>
        </p:nvSpPr>
        <p:spPr>
          <a:xfrm>
            <a:off x="6127750" y="19050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ответы</a:t>
            </a:r>
            <a:endParaRPr lang="en-US" sz="2100" dirty="0"/>
          </a:p>
        </p:txBody>
      </p:sp>
      <p:sp>
        <p:nvSpPr>
          <p:cNvPr id="11" name="text-294"/>
          <p:cNvSpPr txBox="1"/>
          <p:nvPr/>
        </p:nvSpPr>
        <p:spPr>
          <a:xfrm>
            <a:off x="7366000" y="19050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считаются из core</a:t>
            </a:r>
            <a:endParaRPr lang="en-US" sz="1350" dirty="0"/>
          </a:p>
        </p:txBody>
      </p:sp>
      <p:sp>
        <p:nvSpPr>
          <p:cNvPr id="12" name="shape-295"/>
          <p:cNvSpPr/>
          <p:nvPr/>
        </p:nvSpPr>
        <p:spPr>
          <a:xfrm>
            <a:off x="5842000" y="2844800"/>
            <a:ext cx="152400" cy="152400"/>
          </a:xfrm>
          <a:prstGeom prst="ellipse">
            <a:avLst/>
          </a:prstGeom>
          <a:solidFill>
            <a:srgbClr val="3BC4EE"/>
          </a:solidFill>
          <a:ln/>
        </p:spPr>
      </p:sp>
      <p:sp>
        <p:nvSpPr>
          <p:cNvPr id="13" name="text-296"/>
          <p:cNvSpPr txBox="1"/>
          <p:nvPr/>
        </p:nvSpPr>
        <p:spPr>
          <a:xfrm>
            <a:off x="6127750" y="27305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mart</a:t>
            </a:r>
            <a:endParaRPr lang="en-US" sz="2100" dirty="0"/>
          </a:p>
        </p:txBody>
      </p:sp>
      <p:sp>
        <p:nvSpPr>
          <p:cNvPr id="14" name="text-297"/>
          <p:cNvSpPr txBox="1"/>
          <p:nvPr/>
        </p:nvSpPr>
        <p:spPr>
          <a:xfrm>
            <a:off x="7366000" y="2730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 под задачу: исполнение заказа</a:t>
            </a:r>
            <a:endParaRPr lang="en-US" sz="1350" dirty="0"/>
          </a:p>
        </p:txBody>
      </p:sp>
      <p:sp>
        <p:nvSpPr>
          <p:cNvPr id="15" name="shape-298"/>
          <p:cNvSpPr/>
          <p:nvPr/>
        </p:nvSpPr>
        <p:spPr>
          <a:xfrm>
            <a:off x="5842000" y="3670300"/>
            <a:ext cx="152400" cy="152400"/>
          </a:xfrm>
          <a:prstGeom prst="ellipse">
            <a:avLst/>
          </a:prstGeom>
          <a:solidFill>
            <a:srgbClr val="518FF2"/>
          </a:solidFill>
          <a:ln/>
        </p:spPr>
      </p:sp>
      <p:sp>
        <p:nvSpPr>
          <p:cNvPr id="16" name="text-299"/>
          <p:cNvSpPr txBox="1"/>
          <p:nvPr/>
        </p:nvSpPr>
        <p:spPr>
          <a:xfrm>
            <a:off x="6127750" y="35560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</a:t>
            </a:r>
            <a:endParaRPr lang="en-US" sz="2100" dirty="0"/>
          </a:p>
        </p:txBody>
      </p:sp>
      <p:sp>
        <p:nvSpPr>
          <p:cNvPr id="17" name="text-300"/>
          <p:cNvSpPr txBox="1"/>
          <p:nvPr/>
        </p:nvSpPr>
        <p:spPr>
          <a:xfrm>
            <a:off x="7366000" y="35560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модель: типы, ключи, связи, дедупликация</a:t>
            </a:r>
            <a:endParaRPr lang="en-US" sz="1350" dirty="0"/>
          </a:p>
        </p:txBody>
      </p:sp>
      <p:sp>
        <p:nvSpPr>
          <p:cNvPr id="18" name="shape-301"/>
          <p:cNvSpPr/>
          <p:nvPr/>
        </p:nvSpPr>
        <p:spPr>
          <a:xfrm>
            <a:off x="5842000" y="4495800"/>
            <a:ext cx="152400" cy="152400"/>
          </a:xfrm>
          <a:prstGeom prst="ellipse">
            <a:avLst/>
          </a:prstGeom>
          <a:solidFill>
            <a:srgbClr val="7F57EB"/>
          </a:solidFill>
          <a:ln/>
        </p:spPr>
      </p:sp>
      <p:sp>
        <p:nvSpPr>
          <p:cNvPr id="19" name="text-302"/>
          <p:cNvSpPr txBox="1"/>
          <p:nvPr/>
        </p:nvSpPr>
        <p:spPr>
          <a:xfrm>
            <a:off x="6127750" y="4381500"/>
            <a:ext cx="139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</a:t>
            </a:r>
            <a:endParaRPr lang="en-US" sz="2100" dirty="0"/>
          </a:p>
        </p:txBody>
      </p:sp>
      <p:sp>
        <p:nvSpPr>
          <p:cNvPr id="20" name="text-303"/>
          <p:cNvSpPr txBox="1"/>
          <p:nvPr/>
        </p:nvSpPr>
        <p:spPr>
          <a:xfrm>
            <a:off x="7366000" y="4381500"/>
            <a:ext cx="4064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как приехало, только читаем</a:t>
            </a:r>
            <a:endParaRPr lang="en-US" sz="1350" dirty="0"/>
          </a:p>
        </p:txBody>
      </p:sp>
      <p:sp>
        <p:nvSpPr>
          <p:cNvPr id="21" name="shape-304"/>
          <p:cNvSpPr/>
          <p:nvPr/>
        </p:nvSpPr>
        <p:spPr>
          <a:xfrm>
            <a:off x="6127750" y="5461000"/>
            <a:ext cx="13462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22" name="text-305"/>
          <p:cNvSpPr txBox="1"/>
          <p:nvPr/>
        </p:nvSpPr>
        <p:spPr>
          <a:xfrm>
            <a:off x="6127750" y="5461000"/>
            <a:ext cx="1346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build_core.sql</a:t>
            </a:r>
            <a:endParaRPr lang="en-US" sz="1000" dirty="0"/>
          </a:p>
        </p:txBody>
      </p:sp>
      <p:pic>
        <p:nvPicPr>
          <p:cNvPr id="23" name="pic-306" descr="W:\Projects\hacks\rwb-new\presentation\pptx\assets\ico-arrow-right-mu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37450" y="5518150"/>
            <a:ext cx="177800" cy="177800"/>
          </a:xfrm>
          <a:prstGeom prst="rect">
            <a:avLst/>
          </a:prstGeom>
        </p:spPr>
      </p:pic>
      <p:sp>
        <p:nvSpPr>
          <p:cNvPr id="24" name="shape-307"/>
          <p:cNvSpPr/>
          <p:nvPr/>
        </p:nvSpPr>
        <p:spPr>
          <a:xfrm>
            <a:off x="7778750" y="5461000"/>
            <a:ext cx="13462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25" name="text-308"/>
          <p:cNvSpPr txBox="1"/>
          <p:nvPr/>
        </p:nvSpPr>
        <p:spPr>
          <a:xfrm>
            <a:off x="7778750" y="5461000"/>
            <a:ext cx="13462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build_mart.sql</a:t>
            </a:r>
            <a:endParaRPr lang="en-US" sz="1000" dirty="0"/>
          </a:p>
        </p:txBody>
      </p:sp>
      <p:pic>
        <p:nvPicPr>
          <p:cNvPr id="26" name="pic-309" descr="W:\Projects\hacks\rwb-new\presentation\pptx\assets\ico-arrow-right-mu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88450" y="5518150"/>
            <a:ext cx="177800" cy="177800"/>
          </a:xfrm>
          <a:prstGeom prst="rect">
            <a:avLst/>
          </a:prstGeom>
        </p:spPr>
      </p:pic>
      <p:sp>
        <p:nvSpPr>
          <p:cNvPr id="27" name="shape-310"/>
          <p:cNvSpPr/>
          <p:nvPr/>
        </p:nvSpPr>
        <p:spPr>
          <a:xfrm>
            <a:off x="9429750" y="5461000"/>
            <a:ext cx="1651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28" name="text-311"/>
          <p:cNvSpPr txBox="1"/>
          <p:nvPr/>
        </p:nvSpPr>
        <p:spPr>
          <a:xfrm>
            <a:off x="9429750" y="546100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build_dashboard.py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nodeType="withEffect">
                                  <p:stCondLst>
                                    <p:cond delay="81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48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199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1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" presetClass="entr" presetSubtype="2" fill="hold" grpId="0" nodeType="withEffect">
                                  <p:stCondLst>
                                    <p:cond delay="199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6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" dur="36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9" presetClass="entr" presetSubtype="0" fill="hold" nodeType="withEffect">
                                  <p:stCondLst>
                                    <p:cond delay="232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0" dur="48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1" dur="6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2" fill="hold" grpId="0" nodeType="withEffect">
                                  <p:stCondLst>
                                    <p:cond delay="248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6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" dur="36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53" presetClass="entr" presetSubtype="16" fill="hold" grpId="0" nodeType="withEffect">
                                  <p:stCondLst>
                                    <p:cond delay="271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1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" presetClass="entr" presetSubtype="2" fill="hold" grpId="0" nodeType="withEffect">
                                  <p:stCondLst>
                                    <p:cond delay="271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6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4" dur="36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2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8" dur="36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332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1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2" fill="hold" grpId="0" nodeType="withEffect">
                                  <p:stCondLst>
                                    <p:cond delay="332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7" dur="36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9" presetClass="entr" presetSubtype="0" fill="hold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0" dur="48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1" dur="6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07"/>
                                          </p:val>
                                        </p:tav>
                                        <p:tav tm="75000">
                                          <p:val>
                                            <p:strVal val="#ppt_y+0.0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2" presetClass="entr" presetSubtype="2" fill="hold" grpId="0" nodeType="withEffect">
                                  <p:stCondLst>
                                    <p:cond delay="37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3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5" dur="36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2" presetClass="entr" presetSubtype="1" fill="hold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0.28"/>
                                          </p:val>
                                        </p:tav>
                                        <p:tav tm="70000">
                                          <p:val>
                                            <p:strVal val="#ppt_y+0.008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36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545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2" fill="hold" grpId="0" nodeType="withEffect">
                                  <p:stCondLst>
                                    <p:cond delay="548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36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53" presetClass="entr" presetSubtype="16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8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9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0" dur="1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53" presetClass="entr" presetSubtype="16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5" dur="1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2" presetClass="entr" presetSubtype="8" fill="hold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4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9" dur="24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1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1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" presetClass="entr" presetSubtype="8" fill="hold" nodeType="withEffect">
                                  <p:stCondLst>
                                    <p:cond delay="634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2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3" dur="24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3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3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2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53" presetClass="entr" presetSubtype="16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3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3" dur="12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0" presetClass="path" presetSubtype="0" fill="hold" nodeType="withEffect">
                                  <p:stCondLst>
                                    <p:cond delay="952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115" dur="2600" repeatCount="indefinite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312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Схема core: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ключ это решение</a:t>
            </a:r>
            <a:endParaRPr lang="en-US" sz="3400" dirty="0"/>
          </a:p>
        </p:txBody>
      </p:sp>
      <p:sp>
        <p:nvSpPr>
          <p:cNvPr id="4" name="line-313"/>
          <p:cNvSpPr/>
          <p:nvPr/>
        </p:nvSpPr>
        <p:spPr>
          <a:xfrm>
            <a:off x="3429000" y="2222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5" name="line-314"/>
          <p:cNvSpPr/>
          <p:nvPr/>
        </p:nvSpPr>
        <p:spPr>
          <a:xfrm>
            <a:off x="7429500" y="2222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6" name="line-315"/>
          <p:cNvSpPr/>
          <p:nvPr/>
        </p:nvSpPr>
        <p:spPr>
          <a:xfrm>
            <a:off x="6096000" y="2730500"/>
            <a:ext cx="0" cy="571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7" name="line-316"/>
          <p:cNvSpPr/>
          <p:nvPr/>
        </p:nvSpPr>
        <p:spPr>
          <a:xfrm>
            <a:off x="3429000" y="38100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8" name="line-317"/>
          <p:cNvSpPr/>
          <p:nvPr/>
        </p:nvSpPr>
        <p:spPr>
          <a:xfrm>
            <a:off x="6096000" y="4318000"/>
            <a:ext cx="0" cy="57150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9" name="line-318"/>
          <p:cNvSpPr/>
          <p:nvPr/>
        </p:nvSpPr>
        <p:spPr>
          <a:xfrm>
            <a:off x="3429000" y="5397500"/>
            <a:ext cx="1333500" cy="0"/>
          </a:xfrm>
          <a:prstGeom prst="line">
            <a:avLst/>
          </a:prstGeom>
          <a:noFill/>
          <a:ln w="28575">
            <a:solidFill>
              <a:srgbClr val="2348FF"/>
            </a:solidFill>
            <a:prstDash val="solid"/>
          </a:ln>
        </p:spPr>
      </p:sp>
      <p:sp>
        <p:nvSpPr>
          <p:cNvPr id="10" name="geom-319"/>
          <p:cNvSpPr/>
          <p:nvPr/>
        </p:nvSpPr>
        <p:spPr>
          <a:xfrm>
            <a:off x="7429500" y="2476500"/>
            <a:ext cx="1333500" cy="1333500"/>
          </a:xfrm>
          <a:custGeom>
            <a:avLst/>
            <a:gdLst/>
            <a:ahLst/>
            <a:cxnLst/>
            <a:rect l="l" t="t" r="r" b="b"/>
            <a:pathLst>
              <a:path w="1333500" h="1333500">
                <a:moveTo>
                  <a:pt x="0" y="0"/>
                </a:moveTo>
                <a:lnTo>
                  <a:pt x="666750" y="0"/>
                </a:lnTo>
                <a:lnTo>
                  <a:pt x="666750" y="1333500"/>
                </a:lnTo>
                <a:lnTo>
                  <a:pt x="1333500" y="1333500"/>
                </a:lnTo>
              </a:path>
            </a:pathLst>
          </a:custGeom>
          <a:ln w="28575">
            <a:solidFill>
              <a:srgbClr val="2348FF"/>
            </a:solidFill>
            <a:prstDash val="solid"/>
          </a:ln>
        </p:spPr>
      </p:sp>
      <p:sp>
        <p:nvSpPr>
          <p:cNvPr id="11" name="shape-320"/>
          <p:cNvSpPr/>
          <p:nvPr/>
        </p:nvSpPr>
        <p:spPr>
          <a:xfrm>
            <a:off x="723900" y="16764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12" name="shape-321"/>
          <p:cNvSpPr/>
          <p:nvPr/>
        </p:nvSpPr>
        <p:spPr>
          <a:xfrm>
            <a:off x="7620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13" name="text-322"/>
          <p:cNvSpPr txBox="1"/>
          <p:nvPr/>
        </p:nvSpPr>
        <p:spPr>
          <a:xfrm>
            <a:off x="9525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</a:t>
            </a:r>
            <a:endParaRPr lang="en-US" sz="1500" dirty="0"/>
          </a:p>
        </p:txBody>
      </p:sp>
      <p:sp>
        <p:nvSpPr>
          <p:cNvPr id="14" name="text-323"/>
          <p:cNvSpPr txBox="1"/>
          <p:nvPr/>
        </p:nvSpPr>
        <p:spPr>
          <a:xfrm>
            <a:off x="9525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customer_unique_id</a:t>
            </a:r>
            <a:endParaRPr lang="en-US" sz="1050" dirty="0"/>
          </a:p>
        </p:txBody>
      </p:sp>
      <p:sp>
        <p:nvSpPr>
          <p:cNvPr id="15" name="text-324"/>
          <p:cNvSpPr txBox="1"/>
          <p:nvPr/>
        </p:nvSpPr>
        <p:spPr>
          <a:xfrm>
            <a:off x="9525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человек, а не учётка заказа</a:t>
            </a:r>
            <a:endParaRPr lang="en-US" sz="950" dirty="0"/>
          </a:p>
        </p:txBody>
      </p:sp>
      <p:sp>
        <p:nvSpPr>
          <p:cNvPr id="16" name="shape-325"/>
          <p:cNvSpPr/>
          <p:nvPr/>
        </p:nvSpPr>
        <p:spPr>
          <a:xfrm>
            <a:off x="47625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17" name="text-326"/>
          <p:cNvSpPr txBox="1"/>
          <p:nvPr/>
        </p:nvSpPr>
        <p:spPr>
          <a:xfrm>
            <a:off x="49530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</a:t>
            </a:r>
            <a:endParaRPr lang="en-US" sz="1500" dirty="0"/>
          </a:p>
        </p:txBody>
      </p:sp>
      <p:sp>
        <p:nvSpPr>
          <p:cNvPr id="18" name="text-327"/>
          <p:cNvSpPr txBox="1"/>
          <p:nvPr/>
        </p:nvSpPr>
        <p:spPr>
          <a:xfrm>
            <a:off x="49530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</a:t>
            </a:r>
            <a:endParaRPr lang="en-US" sz="1050" dirty="0"/>
          </a:p>
        </p:txBody>
      </p:sp>
      <p:sp>
        <p:nvSpPr>
          <p:cNvPr id="19" name="text-328"/>
          <p:cNvSpPr txBox="1"/>
          <p:nvPr/>
        </p:nvSpPr>
        <p:spPr>
          <a:xfrm>
            <a:off x="49530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 по статусам, гео снимком</a:t>
            </a:r>
            <a:endParaRPr lang="en-US" sz="950" dirty="0"/>
          </a:p>
        </p:txBody>
      </p:sp>
      <p:sp>
        <p:nvSpPr>
          <p:cNvPr id="20" name="shape-329"/>
          <p:cNvSpPr/>
          <p:nvPr/>
        </p:nvSpPr>
        <p:spPr>
          <a:xfrm>
            <a:off x="8724900" y="16764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21" name="shape-330"/>
          <p:cNvSpPr/>
          <p:nvPr/>
        </p:nvSpPr>
        <p:spPr>
          <a:xfrm>
            <a:off x="8763000" y="1714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22" name="text-331"/>
          <p:cNvSpPr txBox="1"/>
          <p:nvPr/>
        </p:nvSpPr>
        <p:spPr>
          <a:xfrm>
            <a:off x="8953500" y="1854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order_reviews</a:t>
            </a:r>
            <a:endParaRPr lang="en-US" sz="1500" dirty="0"/>
          </a:p>
        </p:txBody>
      </p:sp>
      <p:sp>
        <p:nvSpPr>
          <p:cNvPr id="23" name="text-332"/>
          <p:cNvSpPr txBox="1"/>
          <p:nvPr/>
        </p:nvSpPr>
        <p:spPr>
          <a:xfrm>
            <a:off x="8953500" y="2146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review_id + order_id</a:t>
            </a:r>
            <a:endParaRPr lang="en-US" sz="1050" dirty="0"/>
          </a:p>
        </p:txBody>
      </p:sp>
      <p:sp>
        <p:nvSpPr>
          <p:cNvPr id="24" name="text-333"/>
          <p:cNvSpPr txBox="1"/>
          <p:nvPr/>
        </p:nvSpPr>
        <p:spPr>
          <a:xfrm>
            <a:off x="8953500" y="2387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один отзыв на нескольких заказах</a:t>
            </a:r>
            <a:endParaRPr lang="en-US" sz="950" dirty="0"/>
          </a:p>
        </p:txBody>
      </p:sp>
      <p:sp>
        <p:nvSpPr>
          <p:cNvPr id="25" name="shape-334"/>
          <p:cNvSpPr/>
          <p:nvPr/>
        </p:nvSpPr>
        <p:spPr>
          <a:xfrm>
            <a:off x="7620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26" name="text-335"/>
          <p:cNvSpPr txBox="1"/>
          <p:nvPr/>
        </p:nvSpPr>
        <p:spPr>
          <a:xfrm>
            <a:off x="9525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sellers</a:t>
            </a:r>
            <a:endParaRPr lang="en-US" sz="1500" dirty="0"/>
          </a:p>
        </p:txBody>
      </p:sp>
      <p:sp>
        <p:nvSpPr>
          <p:cNvPr id="27" name="text-336"/>
          <p:cNvSpPr txBox="1"/>
          <p:nvPr/>
        </p:nvSpPr>
        <p:spPr>
          <a:xfrm>
            <a:off x="9525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seller_id</a:t>
            </a:r>
            <a:endParaRPr lang="en-US" sz="1050" dirty="0"/>
          </a:p>
        </p:txBody>
      </p:sp>
      <p:sp>
        <p:nvSpPr>
          <p:cNvPr id="28" name="text-337"/>
          <p:cNvSpPr txBox="1"/>
          <p:nvPr/>
        </p:nvSpPr>
        <p:spPr>
          <a:xfrm>
            <a:off x="9525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город и штат как в источнике</a:t>
            </a:r>
            <a:endParaRPr lang="en-US" sz="950" dirty="0"/>
          </a:p>
        </p:txBody>
      </p:sp>
      <p:sp>
        <p:nvSpPr>
          <p:cNvPr id="29" name="shape-338"/>
          <p:cNvSpPr/>
          <p:nvPr/>
        </p:nvSpPr>
        <p:spPr>
          <a:xfrm>
            <a:off x="4724400" y="3263900"/>
            <a:ext cx="2743200" cy="1092200"/>
          </a:xfrm>
          <a:prstGeom prst="roundRect">
            <a:avLst>
              <a:gd name="adj" fmla="val 17442"/>
            </a:avLst>
          </a:prstGeom>
          <a:ln w="19050">
            <a:solidFill>
              <a:srgbClr val="2348FF"/>
            </a:solidFill>
            <a:prstDash val="solid"/>
          </a:ln>
        </p:spPr>
      </p:sp>
      <p:sp>
        <p:nvSpPr>
          <p:cNvPr id="30" name="shape-339"/>
          <p:cNvSpPr/>
          <p:nvPr/>
        </p:nvSpPr>
        <p:spPr>
          <a:xfrm>
            <a:off x="47625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FFFFF"/>
          </a:solidFill>
          <a:ln w="31750">
            <a:solidFill>
              <a:srgbClr val="2348FF"/>
            </a:solidFill>
            <a:prstDash val="solid"/>
          </a:ln>
        </p:spPr>
      </p:sp>
      <p:sp>
        <p:nvSpPr>
          <p:cNvPr id="31" name="text-340"/>
          <p:cNvSpPr txBox="1"/>
          <p:nvPr/>
        </p:nvSpPr>
        <p:spPr>
          <a:xfrm>
            <a:off x="49530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order_items</a:t>
            </a:r>
            <a:endParaRPr lang="en-US" sz="1500" dirty="0"/>
          </a:p>
        </p:txBody>
      </p:sp>
      <p:sp>
        <p:nvSpPr>
          <p:cNvPr id="32" name="text-341"/>
          <p:cNvSpPr txBox="1"/>
          <p:nvPr/>
        </p:nvSpPr>
        <p:spPr>
          <a:xfrm>
            <a:off x="49530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 + item_no</a:t>
            </a:r>
            <a:endParaRPr lang="en-US" sz="1050" dirty="0"/>
          </a:p>
        </p:txBody>
      </p:sp>
      <p:sp>
        <p:nvSpPr>
          <p:cNvPr id="33" name="text-342"/>
          <p:cNvSpPr txBox="1"/>
          <p:nvPr/>
        </p:nvSpPr>
        <p:spPr>
          <a:xfrm>
            <a:off x="49530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номер позиции стал частью ключа</a:t>
            </a:r>
            <a:endParaRPr lang="en-US" sz="950" dirty="0"/>
          </a:p>
        </p:txBody>
      </p:sp>
      <p:sp>
        <p:nvSpPr>
          <p:cNvPr id="34" name="shape-343"/>
          <p:cNvSpPr/>
          <p:nvPr/>
        </p:nvSpPr>
        <p:spPr>
          <a:xfrm>
            <a:off x="8763000" y="33020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35" name="text-344"/>
          <p:cNvSpPr txBox="1"/>
          <p:nvPr/>
        </p:nvSpPr>
        <p:spPr>
          <a:xfrm>
            <a:off x="8953500" y="34417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order_payments</a:t>
            </a:r>
            <a:endParaRPr lang="en-US" sz="1500" dirty="0"/>
          </a:p>
        </p:txBody>
      </p:sp>
      <p:sp>
        <p:nvSpPr>
          <p:cNvPr id="36" name="text-345"/>
          <p:cNvSpPr txBox="1"/>
          <p:nvPr/>
        </p:nvSpPr>
        <p:spPr>
          <a:xfrm>
            <a:off x="8953500" y="37338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order_id + payment_no</a:t>
            </a:r>
            <a:endParaRPr lang="en-US" sz="1050" dirty="0"/>
          </a:p>
        </p:txBody>
      </p:sp>
      <p:sp>
        <p:nvSpPr>
          <p:cNvPr id="37" name="text-346"/>
          <p:cNvSpPr txBox="1"/>
          <p:nvPr/>
        </p:nvSpPr>
        <p:spPr>
          <a:xfrm>
            <a:off x="8953500" y="39751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несколько платежей легально</a:t>
            </a:r>
            <a:endParaRPr lang="en-US" sz="950" dirty="0"/>
          </a:p>
        </p:txBody>
      </p:sp>
      <p:sp>
        <p:nvSpPr>
          <p:cNvPr id="38" name="shape-347"/>
          <p:cNvSpPr/>
          <p:nvPr/>
        </p:nvSpPr>
        <p:spPr>
          <a:xfrm>
            <a:off x="762000" y="4889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39" name="text-348"/>
          <p:cNvSpPr txBox="1"/>
          <p:nvPr/>
        </p:nvSpPr>
        <p:spPr>
          <a:xfrm>
            <a:off x="952500" y="5029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product_categories</a:t>
            </a:r>
            <a:endParaRPr lang="en-US" sz="1500" dirty="0"/>
          </a:p>
        </p:txBody>
      </p:sp>
      <p:sp>
        <p:nvSpPr>
          <p:cNvPr id="40" name="text-349"/>
          <p:cNvSpPr txBox="1"/>
          <p:nvPr/>
        </p:nvSpPr>
        <p:spPr>
          <a:xfrm>
            <a:off x="952500" y="5321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category_name</a:t>
            </a:r>
            <a:endParaRPr lang="en-US" sz="1050" dirty="0"/>
          </a:p>
        </p:txBody>
      </p:sp>
      <p:sp>
        <p:nvSpPr>
          <p:cNvPr id="41" name="text-350"/>
          <p:cNvSpPr txBox="1"/>
          <p:nvPr/>
        </p:nvSpPr>
        <p:spPr>
          <a:xfrm>
            <a:off x="952500" y="5562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из товаров, перевод опционален</a:t>
            </a:r>
            <a:endParaRPr lang="en-US" sz="950" dirty="0"/>
          </a:p>
        </p:txBody>
      </p:sp>
      <p:sp>
        <p:nvSpPr>
          <p:cNvPr id="42" name="shape-351"/>
          <p:cNvSpPr/>
          <p:nvPr/>
        </p:nvSpPr>
        <p:spPr>
          <a:xfrm>
            <a:off x="4762500" y="4889500"/>
            <a:ext cx="2667000" cy="1016000"/>
          </a:xfrm>
          <a:prstGeom prst="roundRect">
            <a:avLst>
              <a:gd name="adj" fmla="val 16250"/>
            </a:avLst>
          </a:prstGeom>
          <a:solidFill>
            <a:srgbClr val="F1F1F3"/>
          </a:solidFill>
          <a:ln/>
        </p:spPr>
      </p:sp>
      <p:sp>
        <p:nvSpPr>
          <p:cNvPr id="43" name="text-352"/>
          <p:cNvSpPr txBox="1"/>
          <p:nvPr/>
        </p:nvSpPr>
        <p:spPr>
          <a:xfrm>
            <a:off x="4953000" y="5029200"/>
            <a:ext cx="2349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products</a:t>
            </a:r>
            <a:endParaRPr lang="en-US" sz="1500" dirty="0"/>
          </a:p>
        </p:txBody>
      </p:sp>
      <p:sp>
        <p:nvSpPr>
          <p:cNvPr id="44" name="text-353"/>
          <p:cNvSpPr txBox="1"/>
          <p:nvPr/>
        </p:nvSpPr>
        <p:spPr>
          <a:xfrm>
            <a:off x="4953000" y="5321300"/>
            <a:ext cx="23495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5E5E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 product_id</a:t>
            </a:r>
            <a:endParaRPr lang="en-US" sz="1050" dirty="0"/>
          </a:p>
        </p:txBody>
      </p:sp>
      <p:sp>
        <p:nvSpPr>
          <p:cNvPr id="45" name="text-354"/>
          <p:cNvSpPr txBox="1"/>
          <p:nvPr/>
        </p:nvSpPr>
        <p:spPr>
          <a:xfrm>
            <a:off x="4953000" y="5562600"/>
            <a:ext cx="23495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категория: nullable FK</a:t>
            </a:r>
            <a:endParaRPr lang="en-US" sz="950" dirty="0"/>
          </a:p>
        </p:txBody>
      </p:sp>
      <p:sp>
        <p:nvSpPr>
          <p:cNvPr id="46" name="shape-355"/>
          <p:cNvSpPr/>
          <p:nvPr/>
        </p:nvSpPr>
        <p:spPr>
          <a:xfrm>
            <a:off x="4705350" y="2165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7" name="shape-356"/>
          <p:cNvSpPr/>
          <p:nvPr/>
        </p:nvSpPr>
        <p:spPr>
          <a:xfrm>
            <a:off x="8705850" y="2165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8" name="shape-357"/>
          <p:cNvSpPr/>
          <p:nvPr/>
        </p:nvSpPr>
        <p:spPr>
          <a:xfrm>
            <a:off x="6038850" y="3244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49" name="shape-358"/>
          <p:cNvSpPr/>
          <p:nvPr/>
        </p:nvSpPr>
        <p:spPr>
          <a:xfrm>
            <a:off x="3371850" y="3752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0" name="shape-359"/>
          <p:cNvSpPr/>
          <p:nvPr/>
        </p:nvSpPr>
        <p:spPr>
          <a:xfrm>
            <a:off x="6038850" y="4832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1" name="shape-360"/>
          <p:cNvSpPr/>
          <p:nvPr/>
        </p:nvSpPr>
        <p:spPr>
          <a:xfrm>
            <a:off x="3371850" y="53403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2" name="shape-361"/>
          <p:cNvSpPr/>
          <p:nvPr/>
        </p:nvSpPr>
        <p:spPr>
          <a:xfrm>
            <a:off x="8705850" y="3752850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3" name="run-362"/>
          <p:cNvSpPr/>
          <p:nvPr/>
        </p:nvSpPr>
        <p:spPr>
          <a:xfrm>
            <a:off x="6057900" y="2692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4" name="run-363"/>
          <p:cNvSpPr/>
          <p:nvPr/>
        </p:nvSpPr>
        <p:spPr>
          <a:xfrm>
            <a:off x="6057900" y="42799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5" name="run-364"/>
          <p:cNvSpPr/>
          <p:nvPr/>
        </p:nvSpPr>
        <p:spPr>
          <a:xfrm>
            <a:off x="4724400" y="2184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6" name="run-365"/>
          <p:cNvSpPr/>
          <p:nvPr/>
        </p:nvSpPr>
        <p:spPr>
          <a:xfrm>
            <a:off x="7391400" y="2438400"/>
            <a:ext cx="76200" cy="762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57" name="shape-366"/>
          <p:cNvSpPr/>
          <p:nvPr/>
        </p:nvSpPr>
        <p:spPr>
          <a:xfrm>
            <a:off x="8763000" y="4921250"/>
            <a:ext cx="1397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58" name="text-367"/>
          <p:cNvSpPr txBox="1"/>
          <p:nvPr/>
        </p:nvSpPr>
        <p:spPr>
          <a:xfrm>
            <a:off x="8763000" y="4921250"/>
            <a:ext cx="139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деньги numeric</a:t>
            </a:r>
            <a:endParaRPr lang="en-US" sz="1050" dirty="0"/>
          </a:p>
        </p:txBody>
      </p:sp>
      <p:sp>
        <p:nvSpPr>
          <p:cNvPr id="59" name="shape-368"/>
          <p:cNvSpPr/>
          <p:nvPr/>
        </p:nvSpPr>
        <p:spPr>
          <a:xfrm>
            <a:off x="8763000" y="5289550"/>
            <a:ext cx="1397000" cy="292100"/>
          </a:xfrm>
          <a:prstGeom prst="roundRect">
            <a:avLst>
              <a:gd name="adj" fmla="val 50000"/>
            </a:avLst>
          </a:prstGeom>
          <a:solidFill>
            <a:srgbClr val="F1F1F3"/>
          </a:solidFill>
          <a:ln/>
        </p:spPr>
      </p:sp>
      <p:sp>
        <p:nvSpPr>
          <p:cNvPr id="60" name="text-369"/>
          <p:cNvSpPr txBox="1"/>
          <p:nvPr/>
        </p:nvSpPr>
        <p:spPr>
          <a:xfrm>
            <a:off x="8763000" y="5289550"/>
            <a:ext cx="139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даты timestamp</a:t>
            </a:r>
            <a:endParaRPr lang="en-US" sz="1050" dirty="0"/>
          </a:p>
        </p:txBody>
      </p:sp>
      <p:sp>
        <p:nvSpPr>
          <p:cNvPr id="61" name="shape-370"/>
          <p:cNvSpPr/>
          <p:nvPr/>
        </p:nvSpPr>
        <p:spPr>
          <a:xfrm>
            <a:off x="7493000" y="5657850"/>
            <a:ext cx="3937000" cy="292100"/>
          </a:xfrm>
          <a:prstGeom prst="roundRect">
            <a:avLst>
              <a:gd name="adj" fmla="val 50000"/>
            </a:avLst>
          </a:prstGeom>
          <a:solidFill>
            <a:srgbClr val="2348FF"/>
          </a:solidFill>
          <a:ln/>
        </p:spPr>
      </p:sp>
      <p:sp>
        <p:nvSpPr>
          <p:cNvPr id="62" name="text-371"/>
          <p:cNvSpPr txBox="1"/>
          <p:nvPr/>
        </p:nvSpPr>
        <p:spPr>
          <a:xfrm>
            <a:off x="7493000" y="5657850"/>
            <a:ext cx="3937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дубль или провисшая связь не запишется</a:t>
            </a:r>
            <a:endParaRPr lang="en-US" sz="10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9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9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56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39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39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56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39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39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56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39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39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56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39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39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56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ntr" presetSubtype="16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39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39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56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53" presetClass="entr" presetSubtype="16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39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39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9" dur="156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19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39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39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156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53" presetClass="entr" presetSubtype="16" fill="hold" grpId="0" nodeType="withEffect">
                                  <p:stCondLst>
                                    <p:cond delay="224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39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39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9" dur="156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53" presetClass="entr" presetSubtype="16" fill="hold" grpId="0" nodeType="withEffect">
                                  <p:stCondLst>
                                    <p:cond delay="224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2" dur="39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3" dur="39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156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53" presetClass="entr" presetSubtype="16" fill="hold" grpId="0" nodeType="withEffect">
                                  <p:stCondLst>
                                    <p:cond delay="224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39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39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9" dur="156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224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39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39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156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53" presetClass="entr" presetSubtype="16" fill="hold" grpId="0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39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39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9" dur="156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39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39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156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39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39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9" dur="156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53" presetClass="entr" presetSubtype="16" fill="hold" grpId="0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39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39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156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53" presetClass="entr" presetSubtype="16" fill="hold" grpId="0" nodeType="withEffect">
                                  <p:stCondLst>
                                    <p:cond delay="286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7" dur="39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8" dur="39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9" dur="156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53" presetClass="entr" presetSubtype="16" fill="hold" grpId="0" nodeType="withEffect">
                                  <p:stCondLst>
                                    <p:cond delay="286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2" dur="39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3" dur="39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4" dur="156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53" presetClass="entr" presetSubtype="16" fill="hold" grpId="0" nodeType="withEffect">
                                  <p:stCondLst>
                                    <p:cond delay="286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39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39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156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53" presetClass="entr" presetSubtype="16" fill="hold" grpId="0" nodeType="withEffect">
                                  <p:stCondLst>
                                    <p:cond delay="286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39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39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156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39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39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9" dur="156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2" dur="39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3" dur="39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156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7" dur="39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8" dur="39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9" dur="156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2" dur="39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3" dur="39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4" dur="156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53" presetClass="entr" presetSubtype="16" fill="hold" grpId="0" nodeType="withEffect">
                                  <p:stCondLst>
                                    <p:cond delay="342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39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39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9" dur="156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53" presetClass="entr" presetSubtype="16" fill="hold" grpId="0" nodeType="withEffect">
                                  <p:stCondLst>
                                    <p:cond delay="342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2" dur="39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3" dur="39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4" dur="156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53" presetClass="entr" presetSubtype="16" fill="hold" grpId="0" nodeType="withEffect">
                                  <p:stCondLst>
                                    <p:cond delay="342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39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39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156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53" presetClass="entr" presetSubtype="16" fill="hold" grpId="0" nodeType="withEffect">
                                  <p:stCondLst>
                                    <p:cond delay="342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2" dur="39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3" dur="39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4" dur="156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53" presetClass="entr" presetSubtype="16" fill="hold" grpId="0" nodeType="withEffect">
                                  <p:stCondLst>
                                    <p:cond delay="367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39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39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9" dur="156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367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39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39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156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53" presetClass="entr" presetSubtype="16" fill="hold" grpId="0" nodeType="withEffect">
                                  <p:stCondLst>
                                    <p:cond delay="367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7" dur="39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8" dur="39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9" dur="156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53" presetClass="entr" presetSubtype="16" fill="hold" grpId="0" nodeType="withEffect">
                                  <p:stCondLst>
                                    <p:cond delay="367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2" dur="39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3" dur="39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4" dur="156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22" presetClass="entr" presetSubtype="2" fill="hold" grpId="0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67" dur="27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22" presetClass="entr" presetSubtype="8" fill="hold" grpId="0" nodeType="withEffect">
                                  <p:stCondLst>
                                    <p:cond delay="433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0" dur="27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22" presetClass="entr" presetSubtype="1" fill="hold" grpId="0" nodeType="withEffect">
                                  <p:stCondLst>
                                    <p:cond delay="456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3" dur="27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4" presetID="22" presetClass="entr" presetSubtype="2" fill="hold" grpId="0" nodeType="withEffect">
                                  <p:stCondLst>
                                    <p:cond delay="477"/>
                                  </p:stCondLst>
                                  <p:childTnLst>
                                    <p:set>
                                      <p:cBhvr>
                                        <p:cTn id="1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76" dur="27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7" presetID="22" presetClass="entr" presetSubtype="1" fill="hold" grpId="0" nodeType="withEffect">
                                  <p:stCondLst>
                                    <p:cond delay="497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9" dur="27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0" presetID="22" presetClass="entr" presetSubtype="2" fill="hold" grpId="0" nodeType="withEffect">
                                  <p:stCondLst>
                                    <p:cond delay="516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82" dur="27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53" presetClass="entr" presetSubtype="16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5" dur="24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6" dur="24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7" dur="96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22" presetClass="entr" presetSubtype="8" fill="hold" grpId="0" nodeType="withEffect">
                                  <p:stCondLst>
                                    <p:cond delay="536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0" dur="36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53" presetClass="entr" presetSubtype="16" fill="hold" grpId="0" nodeType="withEffect">
                                  <p:stCondLst>
                                    <p:cond delay="537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3" dur="24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4" dur="24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5" dur="96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53" presetClass="entr" presetSubtype="16" fill="hold" grpId="0" nodeType="withEffect">
                                  <p:stCondLst>
                                    <p:cond delay="548"/>
                                  </p:stCondLst>
                                  <p:childTnLst>
                                    <p:set>
                                      <p:cBhvr>
                                        <p:cTn id="1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8" dur="24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9" dur="24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0" dur="96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1" presetID="53" presetClass="entr" presetSubtype="16" fill="hold" grpId="0" nodeType="withEffect">
                                  <p:stCondLst>
                                    <p:cond delay="559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24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24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5" dur="96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53" presetClass="entr" presetSubtype="16" fill="hold" grpId="0" nodeType="withEffect">
                                  <p:stCondLst>
                                    <p:cond delay="569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8" dur="24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9" dur="24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0" dur="96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1" presetID="53" presetClass="entr" presetSubtype="16" fill="hold" grpId="0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3" dur="24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4" dur="24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5" dur="96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6" presetID="53" presetClass="entr" presetSubtype="16" fill="hold" grpId="0" nodeType="withEffect">
                                  <p:stCondLst>
                                    <p:cond delay="588"/>
                                  </p:stCondLst>
                                  <p:childTnLst>
                                    <p:set>
                                      <p:cBhvr>
                                        <p:cTn id="2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8" dur="24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9" dur="24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0" dur="96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2" presetClass="entr" presetSubtype="2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4" dur="300" decel="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5" presetID="2" presetClass="entr" presetSubtype="2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3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28" dur="300" decel="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9" presetID="2" presetClass="entr" presetSubtype="2" fill="hold" grpId="0" nodeType="withEffect">
                                  <p:stCondLst>
                                    <p:cond delay="624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2" dur="300" decel="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3" presetID="2" presetClass="entr" presetSubtype="2" fill="hold" grpId="0" nodeType="withEffect">
                                  <p:stCondLst>
                                    <p:cond delay="624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36" dur="30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7" presetID="10" presetClass="entr" presetSubtype="0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9" dur="24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24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10" presetClass="entr" presetSubtype="0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5" dur="24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6" presetID="53" presetClass="entr" presetSubtype="16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8" dur="36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9" dur="36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0" dur="144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53" presetClass="entr" presetSubtype="16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3" dur="36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4" dur="36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5" dur="144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0" presetClass="entr" presetSubtype="0" fill="hold" grpId="0" nodeType="withEffect">
                                  <p:stCondLst>
                                    <p:cond delay="1030"/>
                                  </p:stCondLst>
                                  <p:childTnLst>
                                    <p:set>
                                      <p:cBhvr>
                                        <p:cTn id="2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0833 E" pathEditMode="relative" ptsTypes="">
                                      <p:cBhvr>
                                        <p:cTn id="258" dur="1400" repeatCount="indefinite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59" presetID="0" presetClass="entr" presetSubtype="0" fill="hold" grpId="0" nodeType="withEffect">
                                  <p:stCondLst>
                                    <p:cond delay="1053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-0.1094 0.0000 E" pathEditMode="relative" ptsTypes="">
                                      <p:cBhvr>
                                        <p:cTn id="261" dur="1700" repeatCount="indefinite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62" presetID="6" presetClass="emph" presetSubtype="0" fill="hold" grpId="1" nodeType="withEffect">
                                  <p:stCondLst>
                                    <p:cond delay="1060"/>
                                  </p:stCondLst>
                                  <p:childTnLst>
                                    <p:animScale>
                                      <p:cBhvr>
                                        <p:cTn id="263" dur="1100" repeatCount="indefinite" accel="50000" decel="50000" autoRev="1" fill="hold"/>
                                        <p:tgtEl>
                                          <p:spTgt spid="11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4" presetID="6" presetClass="emph" presetSubtype="0" fill="hold" grpId="1" nodeType="withEffect">
                                  <p:stCondLst>
                                    <p:cond delay="1060"/>
                                  </p:stCondLst>
                                  <p:childTnLst>
                                    <p:animScale>
                                      <p:cBhvr>
                                        <p:cTn id="265" dur="1100" repeatCount="indefinite" accel="50000" decel="50000" autoRev="1" fill="hold"/>
                                        <p:tgtEl>
                                          <p:spTgt spid="20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6" presetID="6" presetClass="emph" presetSubtype="0" fill="hold" grpId="1" nodeType="withEffect">
                                  <p:stCondLst>
                                    <p:cond delay="1060"/>
                                  </p:stCondLst>
                                  <p:childTnLst>
                                    <p:animScale>
                                      <p:cBhvr>
                                        <p:cTn id="267" dur="1100" repeatCount="indefinite" accel="50000" decel="50000" autoRev="1" fill="hold"/>
                                        <p:tgtEl>
                                          <p:spTgt spid="29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268" presetID="0" presetClass="entr" presetSubtype="0" fill="hold" grpId="0" nodeType="withEffect">
                                  <p:stCondLst>
                                    <p:cond delay="1075"/>
                                  </p:stCondLst>
                                  <p:childTnLst>
                                    <p:set>
                                      <p:cBhvr>
                                        <p:cTn id="2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000 0.0833 E" pathEditMode="relative" ptsTypes="">
                                      <p:cBhvr>
                                        <p:cTn id="270" dur="1400" repeatCount="indefinite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271" presetID="0" presetClass="entr" presetSubtype="0" fill="hold" grpId="0" nodeType="withEffect">
                                  <p:stCondLst>
                                    <p:cond delay="1098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547 0.0000 L 0.0547 0.1944 L 0.1094 0.1944 E" pathEditMode="relative" ptsTypes="">
                                      <p:cBhvr>
                                        <p:cTn id="273" dur="2400" repeatCount="indefinite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1" grpId="1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0" grpId="1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29" grpId="1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372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Почему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именно так</a:t>
            </a:r>
            <a:endParaRPr lang="en-US" sz="3400" dirty="0"/>
          </a:p>
        </p:txBody>
      </p:sp>
      <p:sp>
        <p:nvSpPr>
          <p:cNvPr id="4" name="text-373"/>
          <p:cNvSpPr txBox="1"/>
          <p:nvPr/>
        </p:nvSpPr>
        <p:spPr>
          <a:xfrm>
            <a:off x="2730500" y="1638300"/>
            <a:ext cx="1778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наивно</a:t>
            </a:r>
            <a:endParaRPr lang="en-US" sz="1000" dirty="0"/>
          </a:p>
        </p:txBody>
      </p:sp>
      <p:sp>
        <p:nvSpPr>
          <p:cNvPr id="5" name="text-374"/>
          <p:cNvSpPr txBox="1"/>
          <p:nvPr/>
        </p:nvSpPr>
        <p:spPr>
          <a:xfrm>
            <a:off x="4889500" y="1638300"/>
            <a:ext cx="1905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 модели</a:t>
            </a:r>
            <a:endParaRPr lang="en-US" sz="1000" dirty="0"/>
          </a:p>
        </p:txBody>
      </p:sp>
      <p:sp>
        <p:nvSpPr>
          <p:cNvPr id="6" name="text-375"/>
          <p:cNvSpPr txBox="1"/>
          <p:nvPr/>
        </p:nvSpPr>
        <p:spPr>
          <a:xfrm>
            <a:off x="6921500" y="1638300"/>
            <a:ext cx="1651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потеря</a:t>
            </a:r>
            <a:endParaRPr lang="en-US" sz="1000" dirty="0"/>
          </a:p>
        </p:txBody>
      </p:sp>
      <p:sp>
        <p:nvSpPr>
          <p:cNvPr id="7" name="text-376"/>
          <p:cNvSpPr txBox="1"/>
          <p:nvPr/>
        </p:nvSpPr>
        <p:spPr>
          <a:xfrm>
            <a:off x="8763000" y="1638300"/>
            <a:ext cx="2540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решение</a:t>
            </a:r>
            <a:endParaRPr lang="en-US" sz="1000" dirty="0"/>
          </a:p>
        </p:txBody>
      </p:sp>
      <p:sp>
        <p:nvSpPr>
          <p:cNvPr id="8" name="shape-377"/>
          <p:cNvSpPr/>
          <p:nvPr/>
        </p:nvSpPr>
        <p:spPr>
          <a:xfrm>
            <a:off x="762000" y="19050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9" name="text-378"/>
          <p:cNvSpPr txBox="1"/>
          <p:nvPr/>
        </p:nvSpPr>
        <p:spPr>
          <a:xfrm>
            <a:off x="939800" y="19050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Покупатель</a:t>
            </a:r>
            <a:endParaRPr lang="en-US" sz="1350" dirty="0"/>
          </a:p>
        </p:txBody>
      </p:sp>
      <p:sp>
        <p:nvSpPr>
          <p:cNvPr id="10" name="text-379"/>
          <p:cNvSpPr txBox="1"/>
          <p:nvPr/>
        </p:nvSpPr>
        <p:spPr>
          <a:xfrm>
            <a:off x="2730500" y="19050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600" dirty="0"/>
          </a:p>
        </p:txBody>
      </p:sp>
      <p:sp>
        <p:nvSpPr>
          <p:cNvPr id="11" name="shape-380"/>
          <p:cNvSpPr/>
          <p:nvPr/>
        </p:nvSpPr>
        <p:spPr>
          <a:xfrm>
            <a:off x="2730500" y="2235200"/>
            <a:ext cx="707136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12" name="pic-381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146300"/>
            <a:ext cx="203200" cy="203200"/>
          </a:xfrm>
          <a:prstGeom prst="rect">
            <a:avLst/>
          </a:prstGeom>
        </p:spPr>
      </p:pic>
      <p:sp>
        <p:nvSpPr>
          <p:cNvPr id="13" name="text-382"/>
          <p:cNvSpPr txBox="1"/>
          <p:nvPr/>
        </p:nvSpPr>
        <p:spPr>
          <a:xfrm>
            <a:off x="4889500" y="19050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1700" dirty="0"/>
          </a:p>
        </p:txBody>
      </p:sp>
      <p:sp>
        <p:nvSpPr>
          <p:cNvPr id="14" name="shape-383"/>
          <p:cNvSpPr/>
          <p:nvPr/>
        </p:nvSpPr>
        <p:spPr>
          <a:xfrm>
            <a:off x="6921500" y="21018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15" name="text-384"/>
          <p:cNvSpPr txBox="1"/>
          <p:nvPr/>
        </p:nvSpPr>
        <p:spPr>
          <a:xfrm>
            <a:off x="6921500" y="21018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3 345 дублей</a:t>
            </a:r>
            <a:endParaRPr lang="en-US" sz="1000" dirty="0"/>
          </a:p>
        </p:txBody>
      </p:sp>
      <p:sp>
        <p:nvSpPr>
          <p:cNvPr id="16" name="text-385"/>
          <p:cNvSpPr txBox="1"/>
          <p:nvPr/>
        </p:nvSpPr>
        <p:spPr>
          <a:xfrm>
            <a:off x="8763000" y="19050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customer_unique_id, повторных 3,12% вместо 0</a:t>
            </a:r>
            <a:endParaRPr lang="en-US" sz="1000" dirty="0"/>
          </a:p>
        </p:txBody>
      </p:sp>
      <p:sp>
        <p:nvSpPr>
          <p:cNvPr id="17" name="shape-386"/>
          <p:cNvSpPr/>
          <p:nvPr/>
        </p:nvSpPr>
        <p:spPr>
          <a:xfrm>
            <a:off x="762000" y="26924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18" name="text-387"/>
          <p:cNvSpPr txBox="1"/>
          <p:nvPr/>
        </p:nvSpPr>
        <p:spPr>
          <a:xfrm>
            <a:off x="939800" y="26924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География</a:t>
            </a:r>
            <a:endParaRPr lang="en-US" sz="1350" dirty="0"/>
          </a:p>
        </p:txBody>
      </p:sp>
      <p:sp>
        <p:nvSpPr>
          <p:cNvPr id="19" name="text-388"/>
          <p:cNvSpPr txBox="1"/>
          <p:nvPr/>
        </p:nvSpPr>
        <p:spPr>
          <a:xfrm>
            <a:off x="2730500" y="26924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адрес сейчас</a:t>
            </a:r>
            <a:endParaRPr lang="en-US" sz="1600" dirty="0"/>
          </a:p>
        </p:txBody>
      </p:sp>
      <p:sp>
        <p:nvSpPr>
          <p:cNvPr id="20" name="shape-389"/>
          <p:cNvSpPr/>
          <p:nvPr/>
        </p:nvSpPr>
        <p:spPr>
          <a:xfrm>
            <a:off x="2730500" y="3022600"/>
            <a:ext cx="1414272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21" name="pic-390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2933700"/>
            <a:ext cx="203200" cy="203200"/>
          </a:xfrm>
          <a:prstGeom prst="rect">
            <a:avLst/>
          </a:prstGeom>
        </p:spPr>
      </p:pic>
      <p:sp>
        <p:nvSpPr>
          <p:cNvPr id="22" name="text-391"/>
          <p:cNvSpPr txBox="1"/>
          <p:nvPr/>
        </p:nvSpPr>
        <p:spPr>
          <a:xfrm>
            <a:off x="4889500" y="26924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адрес в заказе</a:t>
            </a:r>
            <a:endParaRPr lang="en-US" sz="1700" dirty="0"/>
          </a:p>
        </p:txBody>
      </p:sp>
      <p:sp>
        <p:nvSpPr>
          <p:cNvPr id="23" name="shape-392"/>
          <p:cNvSpPr/>
          <p:nvPr/>
        </p:nvSpPr>
        <p:spPr>
          <a:xfrm>
            <a:off x="6921500" y="28892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24" name="text-393"/>
          <p:cNvSpPr txBox="1"/>
          <p:nvPr/>
        </p:nvSpPr>
        <p:spPr>
          <a:xfrm>
            <a:off x="6921500" y="28892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250 переездов</a:t>
            </a:r>
            <a:endParaRPr lang="en-US" sz="1000" dirty="0"/>
          </a:p>
        </p:txBody>
      </p:sp>
      <p:sp>
        <p:nvSpPr>
          <p:cNvPr id="25" name="text-394"/>
          <p:cNvSpPr txBox="1"/>
          <p:nvPr/>
        </p:nvSpPr>
        <p:spPr>
          <a:xfrm>
            <a:off x="8763000" y="26924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снимок в заказе, регионы не плывут</a:t>
            </a:r>
            <a:endParaRPr lang="en-US" sz="1000" dirty="0"/>
          </a:p>
        </p:txBody>
      </p:sp>
      <p:sp>
        <p:nvSpPr>
          <p:cNvPr id="26" name="shape-395"/>
          <p:cNvSpPr/>
          <p:nvPr/>
        </p:nvSpPr>
        <p:spPr>
          <a:xfrm>
            <a:off x="762000" y="34798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27" name="text-396"/>
          <p:cNvSpPr txBox="1"/>
          <p:nvPr/>
        </p:nvSpPr>
        <p:spPr>
          <a:xfrm>
            <a:off x="939800" y="34798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Категории</a:t>
            </a:r>
            <a:endParaRPr lang="en-US" sz="1350" dirty="0"/>
          </a:p>
        </p:txBody>
      </p:sp>
      <p:sp>
        <p:nvSpPr>
          <p:cNvPr id="28" name="text-397"/>
          <p:cNvSpPr txBox="1"/>
          <p:nvPr/>
        </p:nvSpPr>
        <p:spPr>
          <a:xfrm>
            <a:off x="2730500" y="34798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</a:t>
            </a:r>
            <a:endParaRPr lang="en-US" sz="1600" dirty="0"/>
          </a:p>
        </p:txBody>
      </p:sp>
      <p:sp>
        <p:nvSpPr>
          <p:cNvPr id="29" name="shape-398"/>
          <p:cNvSpPr/>
          <p:nvPr/>
        </p:nvSpPr>
        <p:spPr>
          <a:xfrm>
            <a:off x="2730500" y="3810000"/>
            <a:ext cx="235712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30" name="pic-399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3721100"/>
            <a:ext cx="203200" cy="203200"/>
          </a:xfrm>
          <a:prstGeom prst="rect">
            <a:avLst/>
          </a:prstGeom>
        </p:spPr>
      </p:pic>
      <p:sp>
        <p:nvSpPr>
          <p:cNvPr id="31" name="text-400"/>
          <p:cNvSpPr txBox="1"/>
          <p:nvPr/>
        </p:nvSpPr>
        <p:spPr>
          <a:xfrm>
            <a:off x="4889500" y="34798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1700" dirty="0"/>
          </a:p>
        </p:txBody>
      </p:sp>
      <p:sp>
        <p:nvSpPr>
          <p:cNvPr id="32" name="shape-401"/>
          <p:cNvSpPr/>
          <p:nvPr/>
        </p:nvSpPr>
        <p:spPr>
          <a:xfrm>
            <a:off x="6921500" y="36766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33" name="text-402"/>
          <p:cNvSpPr txBox="1"/>
          <p:nvPr/>
        </p:nvSpPr>
        <p:spPr>
          <a:xfrm>
            <a:off x="6921500" y="36766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 категории</a:t>
            </a:r>
            <a:endParaRPr lang="en-US" sz="1000" dirty="0"/>
          </a:p>
        </p:txBody>
      </p:sp>
      <p:sp>
        <p:nvSpPr>
          <p:cNvPr id="34" name="text-403"/>
          <p:cNvSpPr txBox="1"/>
          <p:nvPr/>
        </p:nvSpPr>
        <p:spPr>
          <a:xfrm>
            <a:off x="8763000" y="34798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справочник из товаров, перевод опционален</a:t>
            </a:r>
            <a:endParaRPr lang="en-US" sz="1000" dirty="0"/>
          </a:p>
        </p:txBody>
      </p:sp>
      <p:sp>
        <p:nvSpPr>
          <p:cNvPr id="35" name="shape-404"/>
          <p:cNvSpPr/>
          <p:nvPr/>
        </p:nvSpPr>
        <p:spPr>
          <a:xfrm>
            <a:off x="762000" y="42672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36" name="text-405"/>
          <p:cNvSpPr txBox="1"/>
          <p:nvPr/>
        </p:nvSpPr>
        <p:spPr>
          <a:xfrm>
            <a:off x="939800" y="42672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Без категории</a:t>
            </a:r>
            <a:endParaRPr lang="en-US" sz="1350" dirty="0"/>
          </a:p>
        </p:txBody>
      </p:sp>
      <p:sp>
        <p:nvSpPr>
          <p:cNvPr id="37" name="text-406"/>
          <p:cNvSpPr txBox="1"/>
          <p:nvPr/>
        </p:nvSpPr>
        <p:spPr>
          <a:xfrm>
            <a:off x="2730500" y="42672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13 050 771,48</a:t>
            </a:r>
            <a:endParaRPr lang="en-US" sz="1600" dirty="0"/>
          </a:p>
        </p:txBody>
      </p:sp>
      <p:sp>
        <p:nvSpPr>
          <p:cNvPr id="38" name="shape-407"/>
          <p:cNvSpPr/>
          <p:nvPr/>
        </p:nvSpPr>
        <p:spPr>
          <a:xfrm>
            <a:off x="2730500" y="4597400"/>
            <a:ext cx="1532128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39" name="pic-408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4508500"/>
            <a:ext cx="203200" cy="203200"/>
          </a:xfrm>
          <a:prstGeom prst="rect">
            <a:avLst/>
          </a:prstGeom>
        </p:spPr>
      </p:pic>
      <p:sp>
        <p:nvSpPr>
          <p:cNvPr id="40" name="text-409"/>
          <p:cNvSpPr txBox="1"/>
          <p:nvPr/>
        </p:nvSpPr>
        <p:spPr>
          <a:xfrm>
            <a:off x="4889500" y="42672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13 221 498,11</a:t>
            </a:r>
            <a:endParaRPr lang="en-US" sz="1700" dirty="0"/>
          </a:p>
        </p:txBody>
      </p:sp>
      <p:sp>
        <p:nvSpPr>
          <p:cNvPr id="41" name="shape-410"/>
          <p:cNvSpPr/>
          <p:nvPr/>
        </p:nvSpPr>
        <p:spPr>
          <a:xfrm>
            <a:off x="6921500" y="44640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42" name="text-411"/>
          <p:cNvSpPr txBox="1"/>
          <p:nvPr/>
        </p:nvSpPr>
        <p:spPr>
          <a:xfrm>
            <a:off x="6921500" y="44640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−170 726,63</a:t>
            </a:r>
            <a:endParaRPr lang="en-US" sz="1000" dirty="0"/>
          </a:p>
        </p:txBody>
      </p:sp>
      <p:sp>
        <p:nvSpPr>
          <p:cNvPr id="43" name="text-412"/>
          <p:cNvSpPr txBox="1"/>
          <p:nvPr/>
        </p:nvSpPr>
        <p:spPr>
          <a:xfrm>
            <a:off x="8763000" y="42672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отдельная строка, сумма сходится</a:t>
            </a:r>
            <a:endParaRPr lang="en-US" sz="1000" dirty="0"/>
          </a:p>
        </p:txBody>
      </p:sp>
      <p:sp>
        <p:nvSpPr>
          <p:cNvPr id="44" name="shape-413"/>
          <p:cNvSpPr/>
          <p:nvPr/>
        </p:nvSpPr>
        <p:spPr>
          <a:xfrm>
            <a:off x="762000" y="5054600"/>
            <a:ext cx="10668000" cy="685800"/>
          </a:xfrm>
          <a:prstGeom prst="roundRect">
            <a:avLst>
              <a:gd name="adj" fmla="val 20370"/>
            </a:avLst>
          </a:prstGeom>
          <a:solidFill>
            <a:srgbClr val="F1F1F3"/>
          </a:solidFill>
          <a:ln/>
        </p:spPr>
      </p:sp>
      <p:sp>
        <p:nvSpPr>
          <p:cNvPr id="45" name="text-414"/>
          <p:cNvSpPr txBox="1"/>
          <p:nvPr/>
        </p:nvSpPr>
        <p:spPr>
          <a:xfrm>
            <a:off x="939800" y="5054600"/>
            <a:ext cx="1714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Заказы в отчётах</a:t>
            </a:r>
            <a:endParaRPr lang="en-US" sz="1350" dirty="0"/>
          </a:p>
        </p:txBody>
      </p:sp>
      <p:sp>
        <p:nvSpPr>
          <p:cNvPr id="46" name="text-415"/>
          <p:cNvSpPr txBox="1"/>
          <p:nvPr/>
        </p:nvSpPr>
        <p:spPr>
          <a:xfrm>
            <a:off x="2730500" y="5054600"/>
            <a:ext cx="1841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98 666</a:t>
            </a:r>
            <a:endParaRPr lang="en-US" sz="1600" dirty="0"/>
          </a:p>
        </p:txBody>
      </p:sp>
      <p:sp>
        <p:nvSpPr>
          <p:cNvPr id="47" name="shape-416"/>
          <p:cNvSpPr/>
          <p:nvPr/>
        </p:nvSpPr>
        <p:spPr>
          <a:xfrm>
            <a:off x="2730500" y="5384800"/>
            <a:ext cx="707136" cy="25400"/>
          </a:xfrm>
          <a:prstGeom prst="rect">
            <a:avLst/>
          </a:prstGeom>
          <a:solidFill>
            <a:srgbClr val="D3263A"/>
          </a:solidFill>
          <a:ln/>
        </p:spPr>
      </p:sp>
      <p:pic>
        <p:nvPicPr>
          <p:cNvPr id="48" name="pic-417" descr="W:\Projects\hacks\rwb-new\presentation\pptx\assets\ico-arrow-right-mu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9300" y="5295900"/>
            <a:ext cx="203200" cy="203200"/>
          </a:xfrm>
          <a:prstGeom prst="rect">
            <a:avLst/>
          </a:prstGeom>
        </p:spPr>
      </p:pic>
      <p:sp>
        <p:nvSpPr>
          <p:cNvPr id="49" name="text-418"/>
          <p:cNvSpPr txBox="1"/>
          <p:nvPr/>
        </p:nvSpPr>
        <p:spPr>
          <a:xfrm>
            <a:off x="4889500" y="5054600"/>
            <a:ext cx="1968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7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700" dirty="0"/>
          </a:p>
        </p:txBody>
      </p:sp>
      <p:sp>
        <p:nvSpPr>
          <p:cNvPr id="50" name="shape-419"/>
          <p:cNvSpPr/>
          <p:nvPr/>
        </p:nvSpPr>
        <p:spPr>
          <a:xfrm>
            <a:off x="6921500" y="5251450"/>
            <a:ext cx="15875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1" name="text-420"/>
          <p:cNvSpPr txBox="1"/>
          <p:nvPr/>
        </p:nvSpPr>
        <p:spPr>
          <a:xfrm>
            <a:off x="6921500" y="5251450"/>
            <a:ext cx="15875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−775 заказов</a:t>
            </a:r>
            <a:endParaRPr lang="en-US" sz="1000" dirty="0"/>
          </a:p>
        </p:txBody>
      </p:sp>
      <p:sp>
        <p:nvSpPr>
          <p:cNvPr id="52" name="text-421"/>
          <p:cNvSpPr txBox="1"/>
          <p:nvPr/>
        </p:nvSpPr>
        <p:spPr>
          <a:xfrm>
            <a:off x="8763000" y="5054600"/>
            <a:ext cx="254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LEFT JOIN, где пары может не быть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4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4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4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4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" presetClass="entr" presetSubtype="8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6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0" dur="36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8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6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4" dur="36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8" fill="hold" grpId="0" nodeType="withEffect">
                                  <p:stCondLst>
                                    <p:cond delay="228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6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8" dur="36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8" fill="hold" grpId="0" nodeType="withEffect">
                                  <p:stCondLst>
                                    <p:cond delay="228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6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2" dur="36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24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" presetClass="entr" presetSubtype="8" fill="hold" grpId="0" nodeType="withEffect">
                                  <p:stCondLst>
                                    <p:cond delay="294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6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9" dur="36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ntr" presetSubtype="8" fill="hold" grpId="0" nodeType="withEffect">
                                  <p:stCondLst>
                                    <p:cond delay="294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6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3" dur="36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304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24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" presetClass="entr" presetSubtype="8" fill="hold" grpId="0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6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0" dur="36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2" presetClass="entr" presetSubtype="8" fill="hold" grpId="0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6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4" dur="36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361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24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22" presetClass="entr" presetSubtype="8" fill="hold" grpId="0" nodeType="withEffect">
                                  <p:stCondLst>
                                    <p:cond delay="394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21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2" presetClass="entr" presetSubtype="8" fill="hold" grpId="0" nodeType="withEffect">
                                  <p:stCondLst>
                                    <p:cond delay="403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6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4" dur="36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8" fill="hold" grpId="0" nodeType="withEffect">
                                  <p:stCondLst>
                                    <p:cond delay="403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6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8" dur="360" decel="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411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24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2" presetClass="entr" presetSubtype="8" fill="hold" nodeType="withEffect">
                                  <p:stCondLst>
                                    <p:cond delay="435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2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5" dur="24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6" presetID="22" presetClass="entr" presetSubtype="8" fill="hold" grpId="0" nodeType="withEffect">
                                  <p:stCondLst>
                                    <p:cond delay="441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21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456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24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461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3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36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144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" presetClass="entr" presetSubtype="8" fill="hold" nodeType="withEffect">
                                  <p:stCondLst>
                                    <p:cond delay="477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4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0" dur="24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2" presetClass="entr" presetSubtype="8" fill="hold" grpId="0" nodeType="withEffect">
                                  <p:stCondLst>
                                    <p:cond delay="482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21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53" presetClass="entr" presetSubtype="16" fill="hold" grpId="0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6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7" dur="3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8" dur="12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" presetID="53" presetClass="entr" presetSubtype="16" fill="hold" grpId="0" nodeType="withEffect">
                                  <p:stCondLst>
                                    <p:cond delay="495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3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3" dur="12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53" presetClass="entr" presetSubtype="16" fill="hold" grpId="0" nodeType="withEffect">
                                  <p:stCondLst>
                                    <p:cond delay="499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6" dur="36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7" dur="36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8" dur="144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506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" presetClass="entr" presetSubtype="8" fill="hold" nodeType="withEffect">
                                  <p:stCondLst>
                                    <p:cond delay="514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24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5" dur="24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22" presetClass="entr" presetSubtype="8" fill="hold" grpId="0" nodeType="withEffect">
                                  <p:stCondLst>
                                    <p:cond delay="518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8" dur="21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53" presetClass="entr" presetSubtype="16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2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3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8" dur="1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53" presetClass="entr" presetSubtype="16" fill="hold" grpId="0" nodeType="withEffect">
                                  <p:stCondLst>
                                    <p:cond delay="534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36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36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3" dur="144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539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2" presetClass="entr" presetSubtype="8" fill="hold" nodeType="withEffect">
                                  <p:stCondLst>
                                    <p:cond delay="547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24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24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2" presetClass="entr" presetSubtype="8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3" dur="21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53" presetClass="entr" presetSubtype="16" fill="hold" grpId="0" nodeType="withEffect">
                                  <p:stCondLst>
                                    <p:cond delay="561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6" dur="3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7" dur="3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8" dur="12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53" presetClass="entr" presetSubtype="16" fill="hold" grpId="0" nodeType="withEffect">
                                  <p:stCondLst>
                                    <p:cond delay="561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3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3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3" dur="1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53" presetClass="entr" presetSubtype="16" fill="hold" grpId="0" nodeType="withEffect">
                                  <p:stCondLst>
                                    <p:cond delay="564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6" dur="36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7" dur="36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8" dur="144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569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2" presetClass="entr" presetSubtype="8" fill="hold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24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5" dur="240" decel="1000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6" presetID="53" presetClass="entr" presetSubtype="16" fill="hold" grpId="0" nodeType="withEffect">
                                  <p:stCondLst>
                                    <p:cond delay="588"/>
                                  </p:stCondLst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8" dur="3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9" dur="3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0" dur="12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" presetID="53" presetClass="entr" presetSubtype="16" fill="hold" grpId="0" nodeType="withEffect">
                                  <p:stCondLst>
                                    <p:cond delay="588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3" dur="3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4" dur="3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5" dur="12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53" presetClass="entr" presetSubtype="16" fill="hold" grpId="0" nodeType="withEffect">
                                  <p:stCondLst>
                                    <p:cond delay="591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8" dur="36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9" dur="36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0" dur="144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0" nodeType="withEffect">
                                  <p:stCondLst>
                                    <p:cond delay="596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53" presetClass="entr" presetSubtype="16" fill="hold" grpId="0" nodeType="withEffect">
                                  <p:stCondLst>
                                    <p:cond delay="612"/>
                                  </p:stCondLst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6" dur="3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7" dur="3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12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53" presetClass="entr" presetSubtype="16" fill="hold" grpId="0" nodeType="withEffect">
                                  <p:stCondLst>
                                    <p:cond delay="612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3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3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3" dur="12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619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422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Ничего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не потеряли</a:t>
            </a:r>
            <a:endParaRPr lang="en-US" sz="3400" dirty="0"/>
          </a:p>
        </p:txBody>
      </p:sp>
      <p:sp>
        <p:nvSpPr>
          <p:cNvPr id="4" name="text-423"/>
          <p:cNvSpPr txBox="1"/>
          <p:nvPr/>
        </p:nvSpPr>
        <p:spPr>
          <a:xfrm>
            <a:off x="762000" y="16637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</a:t>
            </a:r>
            <a:endParaRPr lang="en-US" sz="1300" dirty="0"/>
          </a:p>
        </p:txBody>
      </p:sp>
      <p:sp>
        <p:nvSpPr>
          <p:cNvPr id="5" name="text-424"/>
          <p:cNvSpPr txBox="1"/>
          <p:nvPr/>
        </p:nvSpPr>
        <p:spPr>
          <a:xfrm>
            <a:off x="4826000" y="1625600"/>
            <a:ext cx="2540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0E7C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потерь: </a:t>
            </a:r>
            <a:r>
              <a:rPr lang="en-US" sz="1700" b="1" dirty="0">
                <a:solidFill>
                  <a:srgbClr val="0E7C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1300" dirty="0"/>
          </a:p>
        </p:txBody>
      </p:sp>
      <p:sp>
        <p:nvSpPr>
          <p:cNvPr id="6" name="text-425"/>
          <p:cNvSpPr txBox="1"/>
          <p:nvPr/>
        </p:nvSpPr>
        <p:spPr>
          <a:xfrm>
            <a:off x="10160000" y="16637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</a:t>
            </a:r>
            <a:endParaRPr lang="en-US" sz="1300" dirty="0"/>
          </a:p>
        </p:txBody>
      </p:sp>
      <p:sp>
        <p:nvSpPr>
          <p:cNvPr id="7" name="text-426"/>
          <p:cNvSpPr txBox="1"/>
          <p:nvPr/>
        </p:nvSpPr>
        <p:spPr>
          <a:xfrm>
            <a:off x="5334000" y="20320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заказы</a:t>
            </a:r>
            <a:endParaRPr lang="en-US" sz="1250" dirty="0"/>
          </a:p>
        </p:txBody>
      </p:sp>
      <p:sp>
        <p:nvSpPr>
          <p:cNvPr id="8" name="shape-427"/>
          <p:cNvSpPr/>
          <p:nvPr/>
        </p:nvSpPr>
        <p:spPr>
          <a:xfrm>
            <a:off x="2579899" y="20574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9" name="text-428"/>
          <p:cNvSpPr txBox="1"/>
          <p:nvPr/>
        </p:nvSpPr>
        <p:spPr>
          <a:xfrm>
            <a:off x="762000" y="20320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10" name="shape-429"/>
          <p:cNvSpPr/>
          <p:nvPr/>
        </p:nvSpPr>
        <p:spPr>
          <a:xfrm>
            <a:off x="6921500" y="20574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11" name="text-430"/>
          <p:cNvSpPr txBox="1"/>
          <p:nvPr/>
        </p:nvSpPr>
        <p:spPr>
          <a:xfrm>
            <a:off x="9713701" y="20320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12" name="shape-431"/>
          <p:cNvSpPr/>
          <p:nvPr/>
        </p:nvSpPr>
        <p:spPr>
          <a:xfrm>
            <a:off x="6540500" y="20637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13" name="pic-432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2101850"/>
            <a:ext cx="139700" cy="139700"/>
          </a:xfrm>
          <a:prstGeom prst="rect">
            <a:avLst/>
          </a:prstGeom>
        </p:spPr>
      </p:pic>
      <p:sp>
        <p:nvSpPr>
          <p:cNvPr id="14" name="text-433"/>
          <p:cNvSpPr txBox="1"/>
          <p:nvPr/>
        </p:nvSpPr>
        <p:spPr>
          <a:xfrm>
            <a:off x="5334000" y="25019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позиции</a:t>
            </a:r>
            <a:endParaRPr lang="en-US" sz="1250" dirty="0"/>
          </a:p>
        </p:txBody>
      </p:sp>
      <p:sp>
        <p:nvSpPr>
          <p:cNvPr id="15" name="shape-434"/>
          <p:cNvSpPr/>
          <p:nvPr/>
        </p:nvSpPr>
        <p:spPr>
          <a:xfrm>
            <a:off x="2222500" y="2527300"/>
            <a:ext cx="3048000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16" name="text-435"/>
          <p:cNvSpPr txBox="1"/>
          <p:nvPr/>
        </p:nvSpPr>
        <p:spPr>
          <a:xfrm>
            <a:off x="762000" y="25019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200" dirty="0"/>
          </a:p>
        </p:txBody>
      </p:sp>
      <p:sp>
        <p:nvSpPr>
          <p:cNvPr id="17" name="shape-436"/>
          <p:cNvSpPr/>
          <p:nvPr/>
        </p:nvSpPr>
        <p:spPr>
          <a:xfrm>
            <a:off x="6921500" y="2527300"/>
            <a:ext cx="3048000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18" name="text-437"/>
          <p:cNvSpPr txBox="1"/>
          <p:nvPr/>
        </p:nvSpPr>
        <p:spPr>
          <a:xfrm>
            <a:off x="10071100" y="25019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112 650</a:t>
            </a:r>
            <a:endParaRPr lang="en-US" sz="1200" dirty="0"/>
          </a:p>
        </p:txBody>
      </p:sp>
      <p:sp>
        <p:nvSpPr>
          <p:cNvPr id="19" name="shape-438"/>
          <p:cNvSpPr/>
          <p:nvPr/>
        </p:nvSpPr>
        <p:spPr>
          <a:xfrm>
            <a:off x="6540500" y="25336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20" name="pic-439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2571750"/>
            <a:ext cx="139700" cy="139700"/>
          </a:xfrm>
          <a:prstGeom prst="rect">
            <a:avLst/>
          </a:prstGeom>
        </p:spPr>
      </p:pic>
      <p:sp>
        <p:nvSpPr>
          <p:cNvPr id="21" name="text-440"/>
          <p:cNvSpPr txBox="1"/>
          <p:nvPr/>
        </p:nvSpPr>
        <p:spPr>
          <a:xfrm>
            <a:off x="5334000" y="29718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платежи</a:t>
            </a:r>
            <a:endParaRPr lang="en-US" sz="1250" dirty="0"/>
          </a:p>
        </p:txBody>
      </p:sp>
      <p:sp>
        <p:nvSpPr>
          <p:cNvPr id="22" name="shape-441"/>
          <p:cNvSpPr/>
          <p:nvPr/>
        </p:nvSpPr>
        <p:spPr>
          <a:xfrm>
            <a:off x="2459630" y="2997200"/>
            <a:ext cx="2810870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23" name="text-442"/>
          <p:cNvSpPr txBox="1"/>
          <p:nvPr/>
        </p:nvSpPr>
        <p:spPr>
          <a:xfrm>
            <a:off x="762000" y="29718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200" dirty="0"/>
          </a:p>
        </p:txBody>
      </p:sp>
      <p:sp>
        <p:nvSpPr>
          <p:cNvPr id="24" name="shape-443"/>
          <p:cNvSpPr/>
          <p:nvPr/>
        </p:nvSpPr>
        <p:spPr>
          <a:xfrm>
            <a:off x="6921500" y="2997200"/>
            <a:ext cx="2810870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25" name="text-444"/>
          <p:cNvSpPr txBox="1"/>
          <p:nvPr/>
        </p:nvSpPr>
        <p:spPr>
          <a:xfrm>
            <a:off x="9833970" y="29718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103 886</a:t>
            </a:r>
            <a:endParaRPr lang="en-US" sz="1200" dirty="0"/>
          </a:p>
        </p:txBody>
      </p:sp>
      <p:sp>
        <p:nvSpPr>
          <p:cNvPr id="26" name="shape-445"/>
          <p:cNvSpPr/>
          <p:nvPr/>
        </p:nvSpPr>
        <p:spPr>
          <a:xfrm>
            <a:off x="6540500" y="30035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27" name="pic-446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041650"/>
            <a:ext cx="139700" cy="139700"/>
          </a:xfrm>
          <a:prstGeom prst="rect">
            <a:avLst/>
          </a:prstGeom>
        </p:spPr>
      </p:pic>
      <p:sp>
        <p:nvSpPr>
          <p:cNvPr id="28" name="text-447"/>
          <p:cNvSpPr txBox="1"/>
          <p:nvPr/>
        </p:nvSpPr>
        <p:spPr>
          <a:xfrm>
            <a:off x="5334000" y="34417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отзывы</a:t>
            </a:r>
            <a:endParaRPr lang="en-US" sz="1250" dirty="0"/>
          </a:p>
        </p:txBody>
      </p:sp>
      <p:sp>
        <p:nvSpPr>
          <p:cNvPr id="29" name="shape-448"/>
          <p:cNvSpPr/>
          <p:nvPr/>
        </p:nvSpPr>
        <p:spPr>
          <a:xfrm>
            <a:off x="2585771" y="3467100"/>
            <a:ext cx="2684729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30" name="text-449"/>
          <p:cNvSpPr txBox="1"/>
          <p:nvPr/>
        </p:nvSpPr>
        <p:spPr>
          <a:xfrm>
            <a:off x="762000" y="34417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200" dirty="0"/>
          </a:p>
        </p:txBody>
      </p:sp>
      <p:sp>
        <p:nvSpPr>
          <p:cNvPr id="31" name="shape-450"/>
          <p:cNvSpPr/>
          <p:nvPr/>
        </p:nvSpPr>
        <p:spPr>
          <a:xfrm>
            <a:off x="6921500" y="3467100"/>
            <a:ext cx="2684729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32" name="text-451"/>
          <p:cNvSpPr txBox="1"/>
          <p:nvPr/>
        </p:nvSpPr>
        <p:spPr>
          <a:xfrm>
            <a:off x="9707829" y="34417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99 224</a:t>
            </a:r>
            <a:endParaRPr lang="en-US" sz="1200" dirty="0"/>
          </a:p>
        </p:txBody>
      </p:sp>
      <p:sp>
        <p:nvSpPr>
          <p:cNvPr id="33" name="shape-452"/>
          <p:cNvSpPr/>
          <p:nvPr/>
        </p:nvSpPr>
        <p:spPr>
          <a:xfrm>
            <a:off x="6540500" y="34734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34" name="pic-453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511550"/>
            <a:ext cx="139700" cy="139700"/>
          </a:xfrm>
          <a:prstGeom prst="rect">
            <a:avLst/>
          </a:prstGeom>
        </p:spPr>
      </p:pic>
      <p:sp>
        <p:nvSpPr>
          <p:cNvPr id="35" name="text-454"/>
          <p:cNvSpPr txBox="1"/>
          <p:nvPr/>
        </p:nvSpPr>
        <p:spPr>
          <a:xfrm>
            <a:off x="5334000" y="39116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товары</a:t>
            </a:r>
            <a:endParaRPr lang="en-US" sz="1250" dirty="0"/>
          </a:p>
        </p:txBody>
      </p:sp>
      <p:sp>
        <p:nvSpPr>
          <p:cNvPr id="36" name="shape-455"/>
          <p:cNvSpPr/>
          <p:nvPr/>
        </p:nvSpPr>
        <p:spPr>
          <a:xfrm>
            <a:off x="4378936" y="3937000"/>
            <a:ext cx="891564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37" name="text-456"/>
          <p:cNvSpPr txBox="1"/>
          <p:nvPr/>
        </p:nvSpPr>
        <p:spPr>
          <a:xfrm>
            <a:off x="762000" y="39116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200" dirty="0"/>
          </a:p>
        </p:txBody>
      </p:sp>
      <p:sp>
        <p:nvSpPr>
          <p:cNvPr id="38" name="shape-457"/>
          <p:cNvSpPr/>
          <p:nvPr/>
        </p:nvSpPr>
        <p:spPr>
          <a:xfrm>
            <a:off x="6921500" y="3937000"/>
            <a:ext cx="891564" cy="228600"/>
          </a:xfrm>
          <a:prstGeom prst="roundRect">
            <a:avLst>
              <a:gd name="adj" fmla="val 25000"/>
            </a:avLst>
          </a:prstGeom>
          <a:solidFill>
            <a:srgbClr val="328EF9"/>
          </a:solidFill>
          <a:ln/>
        </p:spPr>
      </p:sp>
      <p:sp>
        <p:nvSpPr>
          <p:cNvPr id="39" name="text-458"/>
          <p:cNvSpPr txBox="1"/>
          <p:nvPr/>
        </p:nvSpPr>
        <p:spPr>
          <a:xfrm>
            <a:off x="7914664" y="39116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32 951</a:t>
            </a:r>
            <a:endParaRPr lang="en-US" sz="1200" dirty="0"/>
          </a:p>
        </p:txBody>
      </p:sp>
      <p:sp>
        <p:nvSpPr>
          <p:cNvPr id="40" name="shape-459"/>
          <p:cNvSpPr/>
          <p:nvPr/>
        </p:nvSpPr>
        <p:spPr>
          <a:xfrm>
            <a:off x="6540500" y="39433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41" name="pic-460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3981450"/>
            <a:ext cx="139700" cy="139700"/>
          </a:xfrm>
          <a:prstGeom prst="rect">
            <a:avLst/>
          </a:prstGeom>
        </p:spPr>
      </p:pic>
      <p:sp>
        <p:nvSpPr>
          <p:cNvPr id="42" name="text-461"/>
          <p:cNvSpPr txBox="1"/>
          <p:nvPr/>
        </p:nvSpPr>
        <p:spPr>
          <a:xfrm>
            <a:off x="5334000" y="43815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продавцы</a:t>
            </a:r>
            <a:endParaRPr lang="en-US" sz="1250" dirty="0"/>
          </a:p>
        </p:txBody>
      </p:sp>
      <p:sp>
        <p:nvSpPr>
          <p:cNvPr id="43" name="shape-462"/>
          <p:cNvSpPr/>
          <p:nvPr/>
        </p:nvSpPr>
        <p:spPr>
          <a:xfrm>
            <a:off x="5181600" y="4406900"/>
            <a:ext cx="88900" cy="228600"/>
          </a:xfrm>
          <a:prstGeom prst="roundRect">
            <a:avLst>
              <a:gd name="adj" fmla="val 50000"/>
            </a:avLst>
          </a:prstGeom>
          <a:solidFill>
            <a:srgbClr val="C9C9D1"/>
          </a:solidFill>
          <a:ln/>
        </p:spPr>
      </p:sp>
      <p:sp>
        <p:nvSpPr>
          <p:cNvPr id="44" name="text-463"/>
          <p:cNvSpPr txBox="1"/>
          <p:nvPr/>
        </p:nvSpPr>
        <p:spPr>
          <a:xfrm>
            <a:off x="762000" y="43815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200" dirty="0"/>
          </a:p>
        </p:txBody>
      </p:sp>
      <p:sp>
        <p:nvSpPr>
          <p:cNvPr id="45" name="shape-464"/>
          <p:cNvSpPr/>
          <p:nvPr/>
        </p:nvSpPr>
        <p:spPr>
          <a:xfrm>
            <a:off x="6921500" y="4406900"/>
            <a:ext cx="88900" cy="228600"/>
          </a:xfrm>
          <a:prstGeom prst="roundRect">
            <a:avLst>
              <a:gd name="adj" fmla="val 50000"/>
            </a:avLst>
          </a:prstGeom>
          <a:solidFill>
            <a:srgbClr val="328EF9"/>
          </a:solidFill>
          <a:ln/>
        </p:spPr>
      </p:sp>
      <p:sp>
        <p:nvSpPr>
          <p:cNvPr id="46" name="text-465"/>
          <p:cNvSpPr txBox="1"/>
          <p:nvPr/>
        </p:nvSpPr>
        <p:spPr>
          <a:xfrm>
            <a:off x="7112000" y="43815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3 095</a:t>
            </a:r>
            <a:endParaRPr lang="en-US" sz="1200" dirty="0"/>
          </a:p>
        </p:txBody>
      </p:sp>
      <p:sp>
        <p:nvSpPr>
          <p:cNvPr id="47" name="shape-466"/>
          <p:cNvSpPr/>
          <p:nvPr/>
        </p:nvSpPr>
        <p:spPr>
          <a:xfrm>
            <a:off x="6540500" y="4413250"/>
            <a:ext cx="215900" cy="215900"/>
          </a:xfrm>
          <a:prstGeom prst="ellipse">
            <a:avLst/>
          </a:prstGeom>
          <a:solidFill>
            <a:srgbClr val="0E7C55"/>
          </a:solidFill>
          <a:ln/>
        </p:spPr>
      </p:sp>
      <p:pic>
        <p:nvPicPr>
          <p:cNvPr id="48" name="pic-467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4451350"/>
            <a:ext cx="139700" cy="139700"/>
          </a:xfrm>
          <a:prstGeom prst="rect">
            <a:avLst/>
          </a:prstGeom>
        </p:spPr>
      </p:pic>
      <p:sp>
        <p:nvSpPr>
          <p:cNvPr id="49" name="text-468"/>
          <p:cNvSpPr txBox="1"/>
          <p:nvPr/>
        </p:nvSpPr>
        <p:spPr>
          <a:xfrm>
            <a:off x="5334000" y="4851400"/>
            <a:ext cx="1206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покупатели</a:t>
            </a:r>
            <a:endParaRPr lang="en-US" sz="1250" dirty="0"/>
          </a:p>
        </p:txBody>
      </p:sp>
      <p:sp>
        <p:nvSpPr>
          <p:cNvPr id="50" name="shape-469"/>
          <p:cNvSpPr/>
          <p:nvPr/>
        </p:nvSpPr>
        <p:spPr>
          <a:xfrm>
            <a:off x="2579899" y="4876800"/>
            <a:ext cx="2690601" cy="228600"/>
          </a:xfrm>
          <a:prstGeom prst="roundRect">
            <a:avLst>
              <a:gd name="adj" fmla="val 25000"/>
            </a:avLst>
          </a:prstGeom>
          <a:solidFill>
            <a:srgbClr val="C9C9D1"/>
          </a:solidFill>
          <a:ln/>
        </p:spPr>
      </p:sp>
      <p:sp>
        <p:nvSpPr>
          <p:cNvPr id="51" name="text-470"/>
          <p:cNvSpPr txBox="1"/>
          <p:nvPr/>
        </p:nvSpPr>
        <p:spPr>
          <a:xfrm>
            <a:off x="762000" y="4851400"/>
            <a:ext cx="825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1200" dirty="0"/>
          </a:p>
        </p:txBody>
      </p:sp>
      <p:sp>
        <p:nvSpPr>
          <p:cNvPr id="52" name="shape-471"/>
          <p:cNvSpPr/>
          <p:nvPr/>
        </p:nvSpPr>
        <p:spPr>
          <a:xfrm>
            <a:off x="6921500" y="4876800"/>
            <a:ext cx="2600094" cy="228600"/>
          </a:xfrm>
          <a:prstGeom prst="roundRect">
            <a:avLst>
              <a:gd name="adj" fmla="val 25000"/>
            </a:avLst>
          </a:prstGeom>
          <a:solidFill>
            <a:srgbClr val="7F57EB"/>
          </a:solidFill>
          <a:ln/>
        </p:spPr>
      </p:sp>
      <p:sp>
        <p:nvSpPr>
          <p:cNvPr id="53" name="text-472"/>
          <p:cNvSpPr txBox="1"/>
          <p:nvPr/>
        </p:nvSpPr>
        <p:spPr>
          <a:xfrm>
            <a:off x="9623194" y="4851400"/>
            <a:ext cx="889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</a:t>
            </a:r>
            <a:endParaRPr lang="en-US" sz="1200" dirty="0"/>
          </a:p>
        </p:txBody>
      </p:sp>
      <p:sp>
        <p:nvSpPr>
          <p:cNvPr id="54" name="shape-473"/>
          <p:cNvSpPr/>
          <p:nvPr/>
        </p:nvSpPr>
        <p:spPr>
          <a:xfrm>
            <a:off x="6540500" y="4883150"/>
            <a:ext cx="215900" cy="215900"/>
          </a:xfrm>
          <a:prstGeom prst="ellipse">
            <a:avLst/>
          </a:prstGeom>
          <a:solidFill>
            <a:srgbClr val="7F57EB"/>
          </a:solidFill>
          <a:ln/>
        </p:spPr>
      </p:sp>
      <p:pic>
        <p:nvPicPr>
          <p:cNvPr id="55" name="pic-474" descr="W:\Projects\hacks\rwb-new\presentation\pptx\assets\ico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600" y="4921250"/>
            <a:ext cx="139700" cy="139700"/>
          </a:xfrm>
          <a:prstGeom prst="rect">
            <a:avLst/>
          </a:prstGeom>
        </p:spPr>
      </p:pic>
      <p:sp>
        <p:nvSpPr>
          <p:cNvPr id="56" name="shape-475"/>
          <p:cNvSpPr/>
          <p:nvPr/>
        </p:nvSpPr>
        <p:spPr>
          <a:xfrm>
            <a:off x="10347094" y="4870450"/>
            <a:ext cx="1079500" cy="241300"/>
          </a:xfrm>
          <a:prstGeom prst="roundRect">
            <a:avLst>
              <a:gd name="adj" fmla="val 50000"/>
            </a:avLst>
          </a:prstGeom>
          <a:solidFill>
            <a:srgbClr val="F1ECFD"/>
          </a:solidFill>
          <a:ln/>
        </p:spPr>
      </p:sp>
      <p:sp>
        <p:nvSpPr>
          <p:cNvPr id="57" name="text-476"/>
          <p:cNvSpPr txBox="1"/>
          <p:nvPr/>
        </p:nvSpPr>
        <p:spPr>
          <a:xfrm>
            <a:off x="10347094" y="4870450"/>
            <a:ext cx="107950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дедупликация</a:t>
            </a:r>
            <a:endParaRPr lang="en-US" sz="850" dirty="0"/>
          </a:p>
        </p:txBody>
      </p:sp>
      <p:sp>
        <p:nvSpPr>
          <p:cNvPr id="58" name="shape-477"/>
          <p:cNvSpPr/>
          <p:nvPr/>
        </p:nvSpPr>
        <p:spPr>
          <a:xfrm>
            <a:off x="762000" y="5461000"/>
            <a:ext cx="1651000" cy="292100"/>
          </a:xfrm>
          <a:prstGeom prst="roundRect">
            <a:avLst>
              <a:gd name="adj" fmla="val 50000"/>
            </a:avLst>
          </a:prstGeom>
          <a:solidFill>
            <a:srgbClr val="FBE9EB"/>
          </a:solidFill>
          <a:ln/>
        </p:spPr>
      </p:sp>
      <p:sp>
        <p:nvSpPr>
          <p:cNvPr id="59" name="text-478"/>
          <p:cNvSpPr txBox="1"/>
          <p:nvPr/>
        </p:nvSpPr>
        <p:spPr>
          <a:xfrm>
            <a:off x="762000" y="5461000"/>
            <a:ext cx="1651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D326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 EXCEPTION</a:t>
            </a:r>
            <a:endParaRPr lang="en-US" sz="1050" dirty="0"/>
          </a:p>
        </p:txBody>
      </p:sp>
      <p:sp>
        <p:nvSpPr>
          <p:cNvPr id="60" name="text-479"/>
          <p:cNvSpPr txBox="1"/>
          <p:nvPr/>
        </p:nvSpPr>
        <p:spPr>
          <a:xfrm>
            <a:off x="2540000" y="5461000"/>
            <a:ext cx="88900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витрины: число строк, пары заказ и продавец, сумма денег. Расхождение валит сборку, а не молчит</a:t>
            </a:r>
            <a:endParaRPr lang="en-US" sz="115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3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grpId="0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" dur="3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53" presetClass="entr" presetSubtype="16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27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27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" dur="108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3" presetClass="entr" presetSubtype="16" fill="hold" grpId="0" nodeType="withEffect">
                                  <p:stCondLst>
                                    <p:cond delay="212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7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7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" dur="108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53" presetClass="entr" presetSubtype="16" fill="hold" grpId="0" nodeType="withEffect">
                                  <p:stCondLst>
                                    <p:cond delay="264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27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27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5" dur="108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3" presetClass="entr" presetSubtype="16" fill="hold" grpId="0" nodeType="withEffect">
                                  <p:stCondLst>
                                    <p:cond delay="271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8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53" presetClass="entr" presetSubtype="16" fill="hold" grpId="0" nodeType="withEffect">
                                  <p:stCondLst>
                                    <p:cond delay="271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48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311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27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27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108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8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53" presetClass="entr" presetSubtype="16" fill="hold" grpId="0" nodeType="withEffect">
                                  <p:stCondLst>
                                    <p:cond delay="318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8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42" presetClass="entr" presetSubtype="0" fill="hold" grpId="0" nodeType="withEffect">
                                  <p:stCondLst>
                                    <p:cond delay="348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18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0" dur="18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53" presetClass="entr" presetSubtype="16" fill="hold" grpId="0" nodeType="withEffect">
                                  <p:stCondLst>
                                    <p:cond delay="355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27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27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5" dur="108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53" presetClass="entr" presetSubtype="16" fill="hold" grpId="0" nodeType="withEffect">
                                  <p:stCondLst>
                                    <p:cond delay="361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8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9" dur="48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361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2" dur="4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3" dur="48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18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77" dur="18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88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1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1" dur="18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2" presetID="53" presetClass="entr" presetSubtype="16" fill="hold" grpId="0" nodeType="withEffect">
                                  <p:stCondLst>
                                    <p:cond delay="394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4" dur="27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5" dur="27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108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8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8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53" presetClass="entr" presetSubtype="16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48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48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417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18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8" dur="18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425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2" dur="18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53" presetClass="entr" presetSubtype="16" fill="hold" grpId="0" nodeType="withEffect">
                                  <p:stCondLst>
                                    <p:cond delay="43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27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27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7" dur="108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53" presetClass="entr" presetSubtype="16" fill="hold" grpId="0" nodeType="withEffect">
                                  <p:stCondLst>
                                    <p:cond delay="435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48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48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2" presetID="53" presetClass="entr" presetSubtype="16" fill="hold" grpId="0" nodeType="withEffect">
                                  <p:stCondLst>
                                    <p:cond delay="435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48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48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6" presetID="42" presetClass="entr" presetSubtype="0" fill="hold" grpId="0" nodeType="withEffect">
                                  <p:stCondLst>
                                    <p:cond delay="451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19" dur="18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458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18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23" dur="18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53" presetClass="entr" presetSubtype="16" fill="hold" grpId="0" nodeType="withEffect">
                                  <p:stCondLst>
                                    <p:cond delay="468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6" dur="48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7" dur="48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-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53" presetClass="entr" presetSubtype="16" fill="hold" grpId="0" nodeType="withEffect">
                                  <p:stCondLst>
                                    <p:cond delay="468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48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48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2" presetID="53" presetClass="entr" presetSubtype="16" fill="hold" grpId="0" nodeType="withEffect">
                                  <p:stCondLst>
                                    <p:cond delay="472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4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5" dur="3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6" dur="12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42" presetClass="entr" presetSubtype="0" fill="hold" grpId="0" nodeType="withEffect">
                                  <p:stCondLst>
                                    <p:cond delay="482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18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0" dur="18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53" presetClass="entr" presetSubtype="16" fill="hold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27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27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108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42" presetClass="entr" presetSubtype="0" fill="hold" grpId="0" nodeType="withEffect">
                                  <p:stCondLst>
                                    <p:cond delay="488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18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49" dur="18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0" presetID="53" presetClass="entr" presetSubtype="16" fill="hold" grpId="0" nodeType="withEffect">
                                  <p:stCondLst>
                                    <p:cond delay="501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2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3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4" dur="1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18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58" dur="18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9" presetID="53" presetClass="entr" presetSubtype="16" fill="hold" nodeType="withEffect">
                                  <p:stCondLst>
                                    <p:cond delay="512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1" dur="27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2" dur="27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108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42" presetClass="entr" presetSubtype="0" fill="hold" grpId="0" nodeType="withEffect">
                                  <p:stCondLst>
                                    <p:cond delay="516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18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67" dur="18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53" presetClass="entr" presetSubtype="16" fill="hold" grpId="0" nodeType="withEffect">
                                  <p:stCondLst>
                                    <p:cond delay="528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0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1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2" dur="12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536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18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76" dur="180" decel="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53" presetClass="entr" presetSubtype="16" fill="hold" nodeType="withEffect">
                                  <p:stCondLst>
                                    <p:cond delay="537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27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27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1" dur="108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42" presetClass="entr" presetSubtype="0" fill="hold" grpId="0" nodeType="withEffect">
                                  <p:stCondLst>
                                    <p:cond delay="541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18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85" dur="180" decel="100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6" presetID="53" presetClass="entr" presetSubtype="16" fill="hold" grpId="0" nodeType="withEffect">
                                  <p:stCondLst>
                                    <p:cond delay="552"/>
                                  </p:stCondLst>
                                  <p:childTnLst>
                                    <p:set>
                                      <p:cBhvr>
                                        <p:cTn id="1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8" dur="3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9" dur="3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0" dur="12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42" presetClass="entr" presetSubtype="0" fill="hold" grpId="0" nodeType="withEffect">
                                  <p:stCondLst>
                                    <p:cond delay="559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18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94" dur="180" decel="1000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5" presetID="53" presetClass="entr" presetSubtype="16" fill="hold" nodeType="withEffect">
                                  <p:stCondLst>
                                    <p:cond delay="561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7" dur="27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8" dur="27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9" dur="108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53" presetClass="entr" presetSubtype="16" fill="hold" grpId="0" nodeType="withEffect">
                                  <p:stCondLst>
                                    <p:cond delay="574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2" dur="3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3" dur="3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4" dur="12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53" presetClass="entr" presetSubtype="16" fill="hold" nodeType="withEffect">
                                  <p:stCondLst>
                                    <p:cond delay="582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27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27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108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53" presetClass="entr" presetSubtype="16" fill="hold" grpId="0" nodeType="withEffect">
                                  <p:stCondLst>
                                    <p:cond delay="594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2" dur="3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3" dur="3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4" dur="12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53" presetClass="entr" presetSubtype="16" fill="hold" nodeType="withEffect">
                                  <p:stCondLst>
                                    <p:cond delay="601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7" dur="27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8" dur="27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108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53" presetClass="entr" presetSubtype="16" fill="hold" grpId="0" nodeType="withEffect">
                                  <p:stCondLst>
                                    <p:cond delay="612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2" dur="3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3" dur="3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4" dur="12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5" presetID="53" presetClass="entr" presetSubtype="16" fill="hold" nodeType="withEffect">
                                  <p:stCondLst>
                                    <p:cond delay="619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7" dur="27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8" dur="27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108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53" presetClass="entr" presetSubtype="16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2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3" dur="42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4" dur="168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5" presetID="53" presetClass="entr" presetSubtype="16" fill="hold" grpId="0" nodeType="withEffect">
                                  <p:stCondLst>
                                    <p:cond delay="637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7" dur="3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8" dur="3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9" dur="12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0" presetID="53" presetClass="entr" presetSubtype="16" fill="hold" grpId="0" nodeType="withEffect">
                                  <p:stCondLst>
                                    <p:cond delay="637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2" dur="3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3" dur="3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4" dur="12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53" presetClass="entr" presetSubtype="16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7" dur="36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8" dur="36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9" dur="144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53" presetClass="entr" presetSubtype="16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2" dur="36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3" dur="36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4" dur="144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5" presetID="2" presetClass="entr" presetSubtype="8" fill="hold" grpId="0" nodeType="withEffect">
                                  <p:stCondLst>
                                    <p:cond delay="656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36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258" dur="360" decel="100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9" presetID="6" presetClass="emph" presetSubtype="0" fill="hold" grpId="1" nodeType="withEffect">
                                  <p:stCondLst>
                                    <p:cond delay="1135"/>
                                  </p:stCondLst>
                                  <p:childTnLst>
                                    <p:animScale>
                                      <p:cBhvr>
                                        <p:cTn id="260" dur="1200" repeatCount="indefinite" accel="50000" decel="500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3000" y="103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5" grpId="1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6" grpId="0" animBg="1"/>
      <p:bldP spid="57" grpId="0" animBg="1"/>
      <p:bldP spid="58" grpId="0" animBg="1"/>
      <p:bldP spid="59" grpId="0" animBg="1"/>
      <p:bldP spid="6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-480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Витрины: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один SELECT без join</a:t>
            </a:r>
            <a:endParaRPr lang="en-US" sz="3400" dirty="0"/>
          </a:p>
        </p:txBody>
      </p:sp>
      <p:sp>
        <p:nvSpPr>
          <p:cNvPr id="4" name="shape-481"/>
          <p:cNvSpPr/>
          <p:nvPr/>
        </p:nvSpPr>
        <p:spPr>
          <a:xfrm>
            <a:off x="762000" y="2730500"/>
            <a:ext cx="2413000" cy="1460500"/>
          </a:xfrm>
          <a:prstGeom prst="roundRect">
            <a:avLst>
              <a:gd name="adj" fmla="val 13913"/>
            </a:avLst>
          </a:prstGeom>
          <a:solidFill>
            <a:srgbClr val="2348FF"/>
          </a:solidFill>
          <a:ln/>
        </p:spPr>
      </p:sp>
      <p:sp>
        <p:nvSpPr>
          <p:cNvPr id="5" name="text-482"/>
          <p:cNvSpPr txBox="1"/>
          <p:nvPr/>
        </p:nvSpPr>
        <p:spPr>
          <a:xfrm>
            <a:off x="990600" y="2895600"/>
            <a:ext cx="2032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заказ</a:t>
            </a:r>
            <a:endParaRPr lang="en-US" sz="2400" dirty="0"/>
          </a:p>
        </p:txBody>
      </p:sp>
      <p:sp>
        <p:nvSpPr>
          <p:cNvPr id="6" name="shape-483"/>
          <p:cNvSpPr/>
          <p:nvPr/>
        </p:nvSpPr>
        <p:spPr>
          <a:xfrm>
            <a:off x="9906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7" name="text-484"/>
          <p:cNvSpPr txBox="1"/>
          <p:nvPr/>
        </p:nvSpPr>
        <p:spPr>
          <a:xfrm>
            <a:off x="9906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П1</a:t>
            </a:r>
            <a:endParaRPr lang="en-US" sz="1050" dirty="0"/>
          </a:p>
        </p:txBody>
      </p:sp>
      <p:sp>
        <p:nvSpPr>
          <p:cNvPr id="8" name="shape-485"/>
          <p:cNvSpPr/>
          <p:nvPr/>
        </p:nvSpPr>
        <p:spPr>
          <a:xfrm>
            <a:off x="14478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9" name="text-486"/>
          <p:cNvSpPr txBox="1"/>
          <p:nvPr/>
        </p:nvSpPr>
        <p:spPr>
          <a:xfrm>
            <a:off x="14478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П2</a:t>
            </a:r>
            <a:endParaRPr lang="en-US" sz="1050" dirty="0"/>
          </a:p>
        </p:txBody>
      </p:sp>
      <p:sp>
        <p:nvSpPr>
          <p:cNvPr id="10" name="shape-487"/>
          <p:cNvSpPr/>
          <p:nvPr/>
        </p:nvSpPr>
        <p:spPr>
          <a:xfrm>
            <a:off x="1905000" y="3403600"/>
            <a:ext cx="381000" cy="3810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/>
        </p:spPr>
      </p:sp>
      <p:sp>
        <p:nvSpPr>
          <p:cNvPr id="11" name="text-488"/>
          <p:cNvSpPr txBox="1"/>
          <p:nvPr/>
        </p:nvSpPr>
        <p:spPr>
          <a:xfrm>
            <a:off x="1905000" y="3403600"/>
            <a:ext cx="38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П3</a:t>
            </a:r>
            <a:endParaRPr lang="en-US" sz="1050" dirty="0"/>
          </a:p>
        </p:txBody>
      </p:sp>
      <p:sp>
        <p:nvSpPr>
          <p:cNvPr id="12" name="text-489"/>
          <p:cNvSpPr txBox="1"/>
          <p:nvPr/>
        </p:nvSpPr>
        <p:spPr>
          <a:xfrm>
            <a:off x="990600" y="3848100"/>
            <a:ext cx="2032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продавца</a:t>
            </a:r>
            <a:endParaRPr lang="en-US" sz="1050" dirty="0"/>
          </a:p>
        </p:txBody>
      </p:sp>
      <p:sp>
        <p:nvSpPr>
          <p:cNvPr id="13" name="geom-490"/>
          <p:cNvSpPr/>
          <p:nvPr/>
        </p:nvSpPr>
        <p:spPr>
          <a:xfrm>
            <a:off x="3175000" y="2476500"/>
            <a:ext cx="1905000" cy="698500"/>
          </a:xfrm>
          <a:custGeom>
            <a:avLst/>
            <a:gdLst/>
            <a:ahLst/>
            <a:cxnLst/>
            <a:rect l="l" t="t" r="r" b="b"/>
            <a:pathLst>
              <a:path w="1905000" h="698500">
                <a:moveTo>
                  <a:pt x="0" y="698500"/>
                </a:moveTo>
                <a:lnTo>
                  <a:pt x="889000" y="698500"/>
                </a:lnTo>
                <a:lnTo>
                  <a:pt x="889000" y="0"/>
                </a:lnTo>
                <a:lnTo>
                  <a:pt x="1905000" y="0"/>
                </a:lnTo>
              </a:path>
            </a:pathLst>
          </a:custGeom>
          <a:ln w="38100">
            <a:solidFill>
              <a:srgbClr val="2348FF"/>
            </a:solidFill>
            <a:prstDash val="solid"/>
          </a:ln>
        </p:spPr>
      </p:sp>
      <p:sp>
        <p:nvSpPr>
          <p:cNvPr id="14" name="geom-491"/>
          <p:cNvSpPr/>
          <p:nvPr/>
        </p:nvSpPr>
        <p:spPr>
          <a:xfrm>
            <a:off x="3175000" y="3746500"/>
            <a:ext cx="1905000" cy="571500"/>
          </a:xfrm>
          <a:custGeom>
            <a:avLst/>
            <a:gdLst/>
            <a:ahLst/>
            <a:cxnLst/>
            <a:rect l="l" t="t" r="r" b="b"/>
            <a:pathLst>
              <a:path w="1905000" h="571500">
                <a:moveTo>
                  <a:pt x="0" y="0"/>
                </a:moveTo>
                <a:lnTo>
                  <a:pt x="889000" y="0"/>
                </a:lnTo>
                <a:lnTo>
                  <a:pt x="889000" y="571500"/>
                </a:lnTo>
                <a:lnTo>
                  <a:pt x="1905000" y="571500"/>
                </a:lnTo>
              </a:path>
            </a:pathLst>
          </a:custGeom>
          <a:ln w="38100">
            <a:solidFill>
              <a:srgbClr val="7F57EB"/>
            </a:solidFill>
            <a:prstDash val="solid"/>
          </a:ln>
        </p:spPr>
      </p:sp>
      <p:sp>
        <p:nvSpPr>
          <p:cNvPr id="15" name="run-492"/>
          <p:cNvSpPr/>
          <p:nvPr/>
        </p:nvSpPr>
        <p:spPr>
          <a:xfrm>
            <a:off x="3130550" y="3130550"/>
            <a:ext cx="88900" cy="889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6" name="run-493"/>
          <p:cNvSpPr/>
          <p:nvPr/>
        </p:nvSpPr>
        <p:spPr>
          <a:xfrm>
            <a:off x="3130550" y="3702050"/>
            <a:ext cx="88900" cy="88900"/>
          </a:xfrm>
          <a:prstGeom prst="ellipse">
            <a:avLst/>
          </a:prstGeom>
          <a:solidFill>
            <a:srgbClr val="7F57EB"/>
          </a:solidFill>
          <a:ln/>
        </p:spPr>
      </p:sp>
      <p:sp>
        <p:nvSpPr>
          <p:cNvPr id="17" name="text-494"/>
          <p:cNvSpPr txBox="1"/>
          <p:nvPr/>
        </p:nvSpPr>
        <p:spPr>
          <a:xfrm>
            <a:off x="5080000" y="17018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34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order_fulfillment</a:t>
            </a:r>
            <a:endParaRPr lang="en-US" sz="1400" dirty="0"/>
          </a:p>
        </p:txBody>
      </p:sp>
      <p:sp>
        <p:nvSpPr>
          <p:cNvPr id="18" name="text-495"/>
          <p:cNvSpPr txBox="1"/>
          <p:nvPr/>
        </p:nvSpPr>
        <p:spPr>
          <a:xfrm>
            <a:off x="5080000" y="1955800"/>
            <a:ext cx="3556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этапы в днях, on_time, суммы, последний отзыв; сломанная хронология в NULL</a:t>
            </a:r>
            <a:endParaRPr lang="en-US" sz="950" dirty="0"/>
          </a:p>
        </p:txBody>
      </p:sp>
      <p:sp>
        <p:nvSpPr>
          <p:cNvPr id="19" name="shape-496"/>
          <p:cNvSpPr/>
          <p:nvPr/>
        </p:nvSpPr>
        <p:spPr>
          <a:xfrm>
            <a:off x="5080000" y="2298700"/>
            <a:ext cx="3556000" cy="381000"/>
          </a:xfrm>
          <a:prstGeom prst="roundRect">
            <a:avLst>
              <a:gd name="adj" fmla="val 26667"/>
            </a:avLst>
          </a:prstGeom>
          <a:solidFill>
            <a:srgbClr val="E9EDFF"/>
          </a:solidFill>
          <a:ln w="28575">
            <a:solidFill>
              <a:srgbClr val="2348FF"/>
            </a:solidFill>
            <a:prstDash val="solid"/>
          </a:ln>
        </p:spPr>
      </p:sp>
      <p:sp>
        <p:nvSpPr>
          <p:cNvPr id="20" name="text-497"/>
          <p:cNvSpPr txBox="1"/>
          <p:nvPr/>
        </p:nvSpPr>
        <p:spPr>
          <a:xfrm>
            <a:off x="5080000" y="35560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7F5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seller_shipment</a:t>
            </a:r>
            <a:endParaRPr lang="en-US" sz="1400" dirty="0"/>
          </a:p>
        </p:txBody>
      </p:sp>
      <p:sp>
        <p:nvSpPr>
          <p:cNvPr id="21" name="text-498"/>
          <p:cNvSpPr txBox="1"/>
          <p:nvPr/>
        </p:nvSpPr>
        <p:spPr>
          <a:xfrm>
            <a:off x="5080000" y="3810000"/>
            <a:ext cx="3556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5E5E6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срок отгрузки пары и флаг «успел ли»</a:t>
            </a:r>
            <a:endParaRPr lang="en-US" sz="950" dirty="0"/>
          </a:p>
        </p:txBody>
      </p:sp>
      <p:sp>
        <p:nvSpPr>
          <p:cNvPr id="22" name="shape-499"/>
          <p:cNvSpPr/>
          <p:nvPr/>
        </p:nvSpPr>
        <p:spPr>
          <a:xfrm>
            <a:off x="5080000" y="40640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3" name="shape-500"/>
          <p:cNvSpPr/>
          <p:nvPr/>
        </p:nvSpPr>
        <p:spPr>
          <a:xfrm>
            <a:off x="5080000" y="44577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4" name="shape-501"/>
          <p:cNvSpPr/>
          <p:nvPr/>
        </p:nvSpPr>
        <p:spPr>
          <a:xfrm>
            <a:off x="5080000" y="4851400"/>
            <a:ext cx="3556000" cy="330200"/>
          </a:xfrm>
          <a:prstGeom prst="roundRect">
            <a:avLst>
              <a:gd name="adj" fmla="val 26923"/>
            </a:avLst>
          </a:prstGeom>
          <a:solidFill>
            <a:srgbClr val="F1ECFD"/>
          </a:solidFill>
          <a:ln w="28575">
            <a:solidFill>
              <a:srgbClr val="7F57EB"/>
            </a:solidFill>
            <a:prstDash val="solid"/>
          </a:ln>
        </p:spPr>
      </p:sp>
      <p:sp>
        <p:nvSpPr>
          <p:cNvPr id="25" name="text-502"/>
          <p:cNvSpPr txBox="1"/>
          <p:nvPr/>
        </p:nvSpPr>
        <p:spPr>
          <a:xfrm>
            <a:off x="9017000" y="2095500"/>
            <a:ext cx="241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99 441</a:t>
            </a:r>
            <a:endParaRPr lang="en-US" sz="3800" dirty="0"/>
          </a:p>
        </p:txBody>
      </p:sp>
      <p:sp>
        <p:nvSpPr>
          <p:cNvPr id="26" name="text-503"/>
          <p:cNvSpPr txBox="1"/>
          <p:nvPr/>
        </p:nvSpPr>
        <p:spPr>
          <a:xfrm>
            <a:off x="9017000" y="26670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строка = 1 заказ</a:t>
            </a:r>
            <a:endParaRPr lang="en-US" sz="1050" dirty="0"/>
          </a:p>
        </p:txBody>
      </p:sp>
      <p:sp>
        <p:nvSpPr>
          <p:cNvPr id="27" name="text-504"/>
          <p:cNvSpPr txBox="1"/>
          <p:nvPr/>
        </p:nvSpPr>
        <p:spPr>
          <a:xfrm>
            <a:off x="9017000" y="4064000"/>
            <a:ext cx="241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800" b="1" dirty="0">
                <a:solidFill>
                  <a:srgbClr val="7F57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100 010</a:t>
            </a:r>
            <a:endParaRPr lang="en-US" sz="3800" dirty="0"/>
          </a:p>
        </p:txBody>
      </p:sp>
      <p:sp>
        <p:nvSpPr>
          <p:cNvPr id="28" name="text-505"/>
          <p:cNvSpPr txBox="1"/>
          <p:nvPr/>
        </p:nvSpPr>
        <p:spPr>
          <a:xfrm>
            <a:off x="9017000" y="4635500"/>
            <a:ext cx="241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строка = заказ × продавец</a:t>
            </a:r>
            <a:endParaRPr lang="en-US" sz="1050" dirty="0"/>
          </a:p>
        </p:txBody>
      </p:sp>
      <p:sp>
        <p:nvSpPr>
          <p:cNvPr id="29" name="shape-506"/>
          <p:cNvSpPr/>
          <p:nvPr/>
        </p:nvSpPr>
        <p:spPr>
          <a:xfrm>
            <a:off x="762000" y="5588000"/>
            <a:ext cx="10668000" cy="571500"/>
          </a:xfrm>
          <a:prstGeom prst="roundRect">
            <a:avLst>
              <a:gd name="adj" fmla="val 28889"/>
            </a:avLst>
          </a:prstGeom>
          <a:solidFill>
            <a:srgbClr val="F0E4FF"/>
          </a:solidFill>
          <a:ln/>
        </p:spPr>
      </p:sp>
      <p:pic>
        <p:nvPicPr>
          <p:cNvPr id="30" name="pic-507" descr="W:\Projects\hacks\rwb-new\presentation\pptx\assets\ico-alert-vio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5759450"/>
            <a:ext cx="228600" cy="228600"/>
          </a:xfrm>
          <a:prstGeom prst="rect">
            <a:avLst/>
          </a:prstGeom>
        </p:spPr>
      </p:pic>
      <p:sp>
        <p:nvSpPr>
          <p:cNvPr id="31" name="text-508"/>
          <p:cNvSpPr txBox="1"/>
          <p:nvPr/>
        </p:nvSpPr>
        <p:spPr>
          <a:xfrm>
            <a:off x="1308100" y="5588000"/>
            <a:ext cx="9931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is_single_seller: </a:t>
            </a:r>
            <a:r>
              <a:rPr lang="en-US" sz="1200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дата отгрузки в источнике одна на заказ, поэтому рейтинг продавца честен только для заказов с одним продавцом</a:t>
            </a:r>
            <a:endParaRPr lang="en-US" sz="12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68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4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3" dur="24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1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53" presetClass="entr" presetSubtype="16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3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1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53" presetClass="entr" presetSubtype="16" fill="hold" grpId="0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3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1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53" presetClass="entr" presetSubtype="16" fill="hold" grpId="0" nodeType="withEffect">
                                  <p:stCondLst>
                                    <p:cond delay="351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3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3" dur="12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12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385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12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grpId="0" nodeType="withEffect">
                                  <p:stCondLst>
                                    <p:cond delay="408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3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22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4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8" fill="hold" grpId="0" nodeType="withEffect">
                                  <p:stCondLst>
                                    <p:cond delay="43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36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" presetClass="entr" presetSubtype="2" fill="hold" grpId="0" nodeType="withEffect">
                                  <p:stCondLst>
                                    <p:cond delay="461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3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3" presetClass="entr" presetSubtype="16" fill="hold" grpId="0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42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2" presetClass="entr" presetSubtype="2" fill="hold" grpId="0" nodeType="withEffect">
                                  <p:stCondLst>
                                    <p:cond delay="506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7" dur="3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53" presetClass="entr" presetSubtype="16" fill="hold" grpId="0" nodeType="withEffect">
                                  <p:stCondLst>
                                    <p:cond delay="526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2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53" presetClass="entr" presetSubtype="16" fill="hold" grpId="0" nodeType="withEffect">
                                  <p:stCondLst>
                                    <p:cond delay="552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2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576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72000">
                                          <p:val>
                                            <p:strVal val="#ppt_w*1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2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#ppt_w/2"/>
                                          </p:val>
                                        </p:tav>
                                        <p:tav tm="72000">
                                          <p:val>
                                            <p:strVal val="#ppt_x+#ppt_w*0.0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6" dur="18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24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18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634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24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42" presetClass="entr" presetSubtype="0" fill="hold" grpId="0" nodeType="withEffect">
                                  <p:stCondLst>
                                    <p:cond delay="656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6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0" dur="36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" presetID="42" presetClass="entr" presetSubtype="0" fill="hold" nodeType="withEffect">
                                  <p:stCondLst>
                                    <p:cond delay="656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6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4" dur="36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656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6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108" dur="36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0" presetClass="entr" presetSubtype="0" fill="hold" grpId="0" nodeType="withEffect">
                                  <p:stCondLst>
                                    <p:cond delay="1045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729 0.0000 L 0.0729 -0.1019 L 0.1563 -0.1019 E" pathEditMode="relative" ptsTypes="">
                                      <p:cBhvr>
                                        <p:cTn id="111" dur="1800" repeatCount="indefinite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12" presetID="0" presetClass="entr" presetSubtype="0" fill="hold" grpId="0" nodeType="withEffect">
                                  <p:stCondLst>
                                    <p:cond delay="1075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729 0.0000 L 0.0729 0.0833 L 0.1563 0.0833 E" pathEditMode="relative" ptsTypes="">
                                      <p:cBhvr>
                                        <p:cTn id="114" dur="1800" repeatCount="indefinite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4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5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6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pic>
        <p:nvPicPr>
          <p:cNvPr id="7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1365" y="279400"/>
            <a:ext cx="255270" cy="255270"/>
          </a:xfrm>
          <a:prstGeom prst="rect">
            <a:avLst/>
          </a:prstGeom>
        </p:spPr>
      </p:pic>
      <p:sp>
        <p:nvSpPr>
          <p:cNvPr id="8" name="text-514"/>
          <p:cNvSpPr txBox="1"/>
          <p:nvPr/>
        </p:nvSpPr>
        <p:spPr>
          <a:xfrm>
            <a:off x="762000" y="749300"/>
            <a:ext cx="10668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4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Блок А: </a:t>
            </a:r>
            <a:r>
              <a:rPr lang="en-US" sz="3800" b="1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все пять контролей сошлись</a:t>
            </a:r>
            <a:endParaRPr lang="en-US" sz="3400" dirty="0"/>
          </a:p>
        </p:txBody>
      </p:sp>
      <p:sp>
        <p:nvSpPr>
          <p:cNvPr id="9" name="text-515"/>
          <p:cNvSpPr txBox="1"/>
          <p:nvPr/>
        </p:nvSpPr>
        <p:spPr>
          <a:xfrm>
            <a:off x="762000" y="1524000"/>
            <a:ext cx="5715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2348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13 221 498,11</a:t>
            </a:r>
            <a:endParaRPr lang="en-US" sz="4800" dirty="0"/>
          </a:p>
        </p:txBody>
      </p:sp>
      <p:sp>
        <p:nvSpPr>
          <p:cNvPr id="10" name="text-516"/>
          <p:cNvSpPr txBox="1"/>
          <p:nvPr/>
        </p:nvSpPr>
        <p:spPr>
          <a:xfrm>
            <a:off x="762000" y="2235200"/>
            <a:ext cx="7620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выручка за 24 месяца, R$, товары без доставки по доставленным заказам</a:t>
            </a:r>
            <a:endParaRPr lang="en-US" sz="1050" dirty="0"/>
          </a:p>
        </p:txBody>
      </p:sp>
      <p:sp>
        <p:nvSpPr>
          <p:cNvPr id="11" name="line-517"/>
          <p:cNvSpPr/>
          <p:nvPr/>
        </p:nvSpPr>
        <p:spPr>
          <a:xfrm>
            <a:off x="762000" y="4826000"/>
            <a:ext cx="10668000" cy="0"/>
          </a:xfrm>
          <a:prstGeom prst="line">
            <a:avLst/>
          </a:prstGeom>
          <a:noFill/>
          <a:ln w="19050">
            <a:solidFill>
              <a:srgbClr val="C9C9D1"/>
            </a:solidFill>
            <a:prstDash val="solid"/>
          </a:ln>
        </p:spPr>
      </p:sp>
      <p:sp>
        <p:nvSpPr>
          <p:cNvPr id="12" name="geom-518"/>
          <p:cNvSpPr/>
          <p:nvPr/>
        </p:nvSpPr>
        <p:spPr>
          <a:xfrm>
            <a:off x="762000" y="2603500"/>
            <a:ext cx="10668000" cy="2222500"/>
          </a:xfrm>
          <a:custGeom>
            <a:avLst/>
            <a:gdLst/>
            <a:ahLst/>
            <a:cxnLst/>
            <a:rect l="l" t="t" r="r" b="b"/>
            <a:pathLst>
              <a:path w="10668000" h="2222500">
                <a:moveTo>
                  <a:pt x="0" y="2222196"/>
                </a:moveTo>
                <a:lnTo>
                  <a:pt x="463826" y="2131767"/>
                </a:lnTo>
                <a:lnTo>
                  <a:pt x="927652" y="2222500"/>
                </a:lnTo>
                <a:lnTo>
                  <a:pt x="1391478" y="2222475"/>
                </a:lnTo>
                <a:lnTo>
                  <a:pt x="1855304" y="1970951"/>
                </a:lnTo>
                <a:lnTo>
                  <a:pt x="2319130" y="1695491"/>
                </a:lnTo>
                <a:lnTo>
                  <a:pt x="2782957" y="1414292"/>
                </a:lnTo>
                <a:lnTo>
                  <a:pt x="3246783" y="1455984"/>
                </a:lnTo>
                <a:lnTo>
                  <a:pt x="3710609" y="1121475"/>
                </a:lnTo>
                <a:lnTo>
                  <a:pt x="4174435" y="1273160"/>
                </a:lnTo>
                <a:lnTo>
                  <a:pt x="4638261" y="1138876"/>
                </a:lnTo>
                <a:lnTo>
                  <a:pt x="5102087" y="974410"/>
                </a:lnTo>
                <a:lnTo>
                  <a:pt x="5565913" y="855834"/>
                </a:lnTo>
                <a:lnTo>
                  <a:pt x="6029739" y="763924"/>
                </a:lnTo>
                <a:lnTo>
                  <a:pt x="6493565" y="0"/>
                </a:lnTo>
                <a:lnTo>
                  <a:pt x="6957391" y="588905"/>
                </a:lnTo>
                <a:lnTo>
                  <a:pt x="7421217" y="142023"/>
                </a:lnTo>
                <a:lnTo>
                  <a:pt x="7885043" y="362993"/>
                </a:lnTo>
                <a:lnTo>
                  <a:pt x="8348870" y="77421"/>
                </a:lnTo>
                <a:lnTo>
                  <a:pt x="8812696" y="32021"/>
                </a:lnTo>
                <a:lnTo>
                  <a:pt x="9276522" y="22997"/>
                </a:lnTo>
                <a:lnTo>
                  <a:pt x="9740348" y="296301"/>
                </a:lnTo>
                <a:lnTo>
                  <a:pt x="10204174" y="269580"/>
                </a:lnTo>
                <a:lnTo>
                  <a:pt x="10668000" y="335679"/>
                </a:lnTo>
                <a:lnTo>
                  <a:pt x="10668000" y="2222500"/>
                </a:lnTo>
                <a:lnTo>
                  <a:pt x="0" y="2222500"/>
                </a:lnTo>
                <a:close/>
              </a:path>
            </a:pathLst>
          </a:custGeom>
          <a:solidFill>
            <a:srgbClr val="328EF9">
              <a:alpha val="22000"/>
            </a:srgbClr>
          </a:solidFill>
          <a:ln/>
        </p:spPr>
      </p:sp>
      <p:sp>
        <p:nvSpPr>
          <p:cNvPr id="13" name="geom-519"/>
          <p:cNvSpPr/>
          <p:nvPr/>
        </p:nvSpPr>
        <p:spPr>
          <a:xfrm>
            <a:off x="762000" y="2603500"/>
            <a:ext cx="10668000" cy="2222500"/>
          </a:xfrm>
          <a:custGeom>
            <a:avLst/>
            <a:gdLst/>
            <a:ahLst/>
            <a:cxnLst/>
            <a:rect l="l" t="t" r="r" b="b"/>
            <a:pathLst>
              <a:path w="10668000" h="2222500">
                <a:moveTo>
                  <a:pt x="0" y="2222196"/>
                </a:moveTo>
                <a:lnTo>
                  <a:pt x="463826" y="2131767"/>
                </a:lnTo>
                <a:lnTo>
                  <a:pt x="927652" y="2222500"/>
                </a:lnTo>
                <a:lnTo>
                  <a:pt x="1391478" y="2222475"/>
                </a:lnTo>
                <a:lnTo>
                  <a:pt x="1855304" y="1970951"/>
                </a:lnTo>
                <a:lnTo>
                  <a:pt x="2319130" y="1695491"/>
                </a:lnTo>
                <a:lnTo>
                  <a:pt x="2782957" y="1414292"/>
                </a:lnTo>
                <a:lnTo>
                  <a:pt x="3246783" y="1455984"/>
                </a:lnTo>
                <a:lnTo>
                  <a:pt x="3710609" y="1121475"/>
                </a:lnTo>
                <a:lnTo>
                  <a:pt x="4174435" y="1273160"/>
                </a:lnTo>
                <a:lnTo>
                  <a:pt x="4638261" y="1138876"/>
                </a:lnTo>
                <a:lnTo>
                  <a:pt x="5102087" y="974410"/>
                </a:lnTo>
                <a:lnTo>
                  <a:pt x="5565913" y="855834"/>
                </a:lnTo>
                <a:lnTo>
                  <a:pt x="6029739" y="763924"/>
                </a:lnTo>
                <a:lnTo>
                  <a:pt x="6493565" y="0"/>
                </a:lnTo>
                <a:lnTo>
                  <a:pt x="6957391" y="588905"/>
                </a:lnTo>
                <a:lnTo>
                  <a:pt x="7421217" y="142023"/>
                </a:lnTo>
                <a:lnTo>
                  <a:pt x="7885043" y="362993"/>
                </a:lnTo>
                <a:lnTo>
                  <a:pt x="8348870" y="77421"/>
                </a:lnTo>
                <a:lnTo>
                  <a:pt x="8812696" y="32021"/>
                </a:lnTo>
                <a:lnTo>
                  <a:pt x="9276522" y="22997"/>
                </a:lnTo>
                <a:lnTo>
                  <a:pt x="9740348" y="296301"/>
                </a:lnTo>
                <a:lnTo>
                  <a:pt x="10204174" y="269580"/>
                </a:lnTo>
                <a:lnTo>
                  <a:pt x="10668000" y="335679"/>
                </a:lnTo>
              </a:path>
            </a:pathLst>
          </a:custGeom>
          <a:ln w="44450">
            <a:solidFill>
              <a:srgbClr val="2348FF"/>
            </a:solidFill>
            <a:prstDash val="solid"/>
          </a:ln>
        </p:spPr>
      </p:sp>
      <p:sp>
        <p:nvSpPr>
          <p:cNvPr id="14" name="run-520"/>
          <p:cNvSpPr/>
          <p:nvPr/>
        </p:nvSpPr>
        <p:spPr>
          <a:xfrm>
            <a:off x="704850" y="4768546"/>
            <a:ext cx="114300" cy="114300"/>
          </a:xfrm>
          <a:prstGeom prst="ellipse">
            <a:avLst/>
          </a:prstGeom>
          <a:solidFill>
            <a:srgbClr val="2348FF"/>
          </a:solidFill>
          <a:ln/>
        </p:spPr>
      </p:sp>
      <p:sp>
        <p:nvSpPr>
          <p:cNvPr id="15" name="text-521"/>
          <p:cNvSpPr txBox="1"/>
          <p:nvPr/>
        </p:nvSpPr>
        <p:spPr>
          <a:xfrm>
            <a:off x="762000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сен 2016</a:t>
            </a:r>
            <a:endParaRPr lang="en-US" sz="950" dirty="0"/>
          </a:p>
        </p:txBody>
      </p:sp>
      <p:sp>
        <p:nvSpPr>
          <p:cNvPr id="16" name="text-522"/>
          <p:cNvSpPr txBox="1"/>
          <p:nvPr/>
        </p:nvSpPr>
        <p:spPr>
          <a:xfrm>
            <a:off x="2299804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янв 2017</a:t>
            </a:r>
            <a:endParaRPr lang="en-US" sz="950" dirty="0"/>
          </a:p>
        </p:txBody>
      </p:sp>
      <p:sp>
        <p:nvSpPr>
          <p:cNvPr id="17" name="text-523"/>
          <p:cNvSpPr txBox="1"/>
          <p:nvPr/>
        </p:nvSpPr>
        <p:spPr>
          <a:xfrm>
            <a:off x="7865717" y="4889500"/>
            <a:ext cx="889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янв 2018</a:t>
            </a:r>
            <a:endParaRPr lang="en-US" sz="950" dirty="0"/>
          </a:p>
        </p:txBody>
      </p:sp>
      <p:sp>
        <p:nvSpPr>
          <p:cNvPr id="18" name="shape-524"/>
          <p:cNvSpPr/>
          <p:nvPr/>
        </p:nvSpPr>
        <p:spPr>
          <a:xfrm>
            <a:off x="1619802" y="4756150"/>
            <a:ext cx="139700" cy="139700"/>
          </a:xfrm>
          <a:prstGeom prst="ellipse">
            <a:avLst/>
          </a:prstGeom>
          <a:solidFill>
            <a:srgbClr val="D3263A"/>
          </a:solidFill>
          <a:ln/>
        </p:spPr>
      </p:sp>
      <p:sp>
        <p:nvSpPr>
          <p:cNvPr id="19" name="text-525"/>
          <p:cNvSpPr txBox="1"/>
          <p:nvPr/>
        </p:nvSpPr>
        <p:spPr>
          <a:xfrm>
            <a:off x="1626152" y="4216400"/>
            <a:ext cx="3937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D326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generate_series: ноябрь 2016 = 0, строка есть</a:t>
            </a:r>
            <a:endParaRPr lang="en-US" sz="950" dirty="0"/>
          </a:p>
        </p:txBody>
      </p:sp>
      <p:sp>
        <p:nvSpPr>
          <p:cNvPr id="20" name="line-526"/>
          <p:cNvSpPr/>
          <p:nvPr/>
        </p:nvSpPr>
        <p:spPr>
          <a:xfrm>
            <a:off x="762000" y="5270500"/>
            <a:ext cx="10668000" cy="0"/>
          </a:xfrm>
          <a:prstGeom prst="line">
            <a:avLst/>
          </a:prstGeom>
          <a:noFill/>
          <a:ln w="19050">
            <a:solidFill>
              <a:srgbClr val="E2E2E7"/>
            </a:solidFill>
            <a:prstDash val="solid"/>
          </a:ln>
        </p:spPr>
      </p:sp>
      <p:sp>
        <p:nvSpPr>
          <p:cNvPr id="21" name="text-527"/>
          <p:cNvSpPr txBox="1"/>
          <p:nvPr/>
        </p:nvSpPr>
        <p:spPr>
          <a:xfrm>
            <a:off x="7620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226 987,93</a:t>
            </a:r>
            <a:endParaRPr lang="en-US" sz="2300" dirty="0"/>
          </a:p>
        </p:txBody>
      </p:sp>
      <p:sp>
        <p:nvSpPr>
          <p:cNvPr id="22" name="text-528"/>
          <p:cNvSpPr txBox="1"/>
          <p:nvPr/>
        </p:nvSpPr>
        <p:spPr>
          <a:xfrm>
            <a:off x="7620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топ-продавец из Гуарибы: выручка от позиций</a:t>
            </a:r>
            <a:endParaRPr lang="en-US" sz="1000" dirty="0"/>
          </a:p>
        </p:txBody>
      </p:sp>
      <p:sp>
        <p:nvSpPr>
          <p:cNvPr id="23" name="text-529"/>
          <p:cNvSpPr txBox="1"/>
          <p:nvPr/>
        </p:nvSpPr>
        <p:spPr>
          <a:xfrm>
            <a:off x="34925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159,88</a:t>
            </a:r>
            <a:endParaRPr lang="en-US" sz="2300" dirty="0"/>
          </a:p>
        </p:txBody>
      </p:sp>
      <p:sp>
        <p:nvSpPr>
          <p:cNvPr id="24" name="text-530"/>
          <p:cNvSpPr txBox="1"/>
          <p:nvPr/>
        </p:nvSpPr>
        <p:spPr>
          <a:xfrm>
            <a:off x="34925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средний чек: заказ, потом среднее</a:t>
            </a:r>
            <a:endParaRPr lang="en-US" sz="1000" dirty="0"/>
          </a:p>
        </p:txBody>
      </p:sp>
      <p:sp>
        <p:nvSpPr>
          <p:cNvPr id="25" name="text-531"/>
          <p:cNvSpPr txBox="1"/>
          <p:nvPr/>
        </p:nvSpPr>
        <p:spPr>
          <a:xfrm>
            <a:off x="62230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96 096 · 3,12%</a:t>
            </a:r>
            <a:endParaRPr lang="en-US" sz="2300" dirty="0"/>
          </a:p>
        </p:txBody>
      </p:sp>
      <p:sp>
        <p:nvSpPr>
          <p:cNvPr id="26" name="text-532"/>
          <p:cNvSpPr txBox="1"/>
          <p:nvPr/>
        </p:nvSpPr>
        <p:spPr>
          <a:xfrm>
            <a:off x="62230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покупателей по customer_unique_id</a:t>
            </a:r>
            <a:endParaRPr lang="en-US" sz="1000" dirty="0"/>
          </a:p>
        </p:txBody>
      </p:sp>
      <p:sp>
        <p:nvSpPr>
          <p:cNvPr id="27" name="text-533"/>
          <p:cNvSpPr txBox="1"/>
          <p:nvPr/>
        </p:nvSpPr>
        <p:spPr>
          <a:xfrm>
            <a:off x="8953500" y="53721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</a:t>
            </a:r>
            <a:endParaRPr lang="en-US" sz="2300" dirty="0"/>
          </a:p>
        </p:txBody>
      </p:sp>
      <p:sp>
        <p:nvSpPr>
          <p:cNvPr id="28" name="text-534"/>
          <p:cNvSpPr txBox="1"/>
          <p:nvPr/>
        </p:nvSpPr>
        <p:spPr>
          <a:xfrm>
            <a:off x="8953500" y="5791200"/>
            <a:ext cx="260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0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категории с «(без категории)»</a:t>
            </a:r>
            <a:endParaRPr lang="en-US" sz="1000" dirty="0"/>
          </a:p>
        </p:txBody>
      </p:sp>
      <p:sp>
        <p:nvSpPr>
          <p:cNvPr id="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76000" y="6350000"/>
            <a:ext cx="635000" cy="254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200">
                <a:solidFill>
                  <a:srgbClr val="8A8A93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lang="en-US" b="1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92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8" dur="192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36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22" presetClass="entr" presetSubtype="8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1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2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315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4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414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4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53" presetClass="entr" presetSubtype="16" fill="hold" grpId="0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1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8" fill="hold" grpId="0" nodeType="withEffect">
                                  <p:stCondLst>
                                    <p:cond delay="516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5" dur="3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606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4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608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4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621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5" dur="18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8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49" dur="18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645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656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1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56" dur="18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661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671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18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63" dur="18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675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688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6" presetClass="emph" presetSubtype="0" fill="hold" grpId="1" nodeType="withEffect">
                                  <p:stCondLst>
                                    <p:cond delay="985"/>
                                  </p:stCondLst>
                                  <p:childTnLst>
                                    <p:animScale>
                                      <p:cBhvr>
                                        <p:cTn id="71" dur="800" repeatCount="indefinite" accel="50000" decel="50000" autoRev="1" fill="hold"/>
                                        <p:tgtEl>
                                          <p:spTgt spid="18"/>
                                        </p:tgtEl>
                                      </p:cBhvr>
                                      <p:by x="107000" y="107000"/>
                                    </p:animScale>
                                  </p:childTnLst>
                                </p:cTn>
                              </p:par>
                              <p:par>
                                <p:cTn id="72" presetID="0" presetClass="entr" presetSubtype="0" fill="hold" grpId="0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Motion origin="layout" path="M 0 0 L 0.0380 -0.0132 L 0.0761 0.0000 L 0.1141 0.0000 L 0.1522 -0.0366 L 0.1902 -0.0768 L 0.2283 -0.1178 L 0.2663 -0.1117 L 0.3043 -0.1605 L 0.3424 -0.1384 L 0.3804 -0.1580 L 0.4185 -0.1819 L 0.4565 -0.1992 L 0.4946 -0.2126 L 0.5326 -0.3240 L 0.5707 -0.2382 L 0.6087 -0.3033 L 0.6467 -0.2711 L 0.6848 -0.3127 L 0.7228 -0.3194 L 0.7609 -0.3207 L 0.7989 -0.2808 L 0.8370 -0.2847 L 0.8750 -0.2751 E" pathEditMode="relative" ptsTypes="">
                                      <p:cBhvr>
                                        <p:cTn id="74" dur="6000" repeatCount="indefinite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8" grpId="1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plate-raw" descr="W:\Projects\hacks\rwb-new\presentation\pptx\assets\st-raw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00" y="762000"/>
            <a:ext cx="3556000" cy="3556000"/>
          </a:xfrm>
          <a:prstGeom prst="rect">
            <a:avLst/>
          </a:prstGeom>
        </p:spPr>
      </p:pic>
      <p:pic>
        <p:nvPicPr>
          <p:cNvPr id="4" name="!!plate-core" descr="W:\Projects\hacks\rwb-new\presentation\pptx\assets\st-core-fu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0500" y="762000"/>
            <a:ext cx="3556000" cy="3556000"/>
          </a:xfrm>
          <a:prstGeom prst="rect">
            <a:avLst/>
          </a:prstGeom>
        </p:spPr>
      </p:pic>
      <p:pic>
        <p:nvPicPr>
          <p:cNvPr id="5" name="!!plate-mart" descr="W:\Projects\hacks\rwb-new\presentation\pptx\assets\st-mart-ful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60500" y="762000"/>
            <a:ext cx="3556000" cy="3556000"/>
          </a:xfrm>
          <a:prstGeom prst="rect">
            <a:avLst/>
          </a:prstGeom>
        </p:spPr>
      </p:pic>
      <p:pic>
        <p:nvPicPr>
          <p:cNvPr id="6" name="!!shadow" descr="W:\Projects\hacks\rwb-new\presentation\pptx\assets\st-shad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60500" y="762000"/>
            <a:ext cx="3556000" cy="3556000"/>
          </a:xfrm>
          <a:prstGeom prst="rect">
            <a:avLst/>
          </a:prstGeom>
        </p:spPr>
      </p:pic>
      <p:pic>
        <p:nvPicPr>
          <p:cNvPr id="7" name="!!cube" descr="W:\Projects\hacks\rwb-new\presentation\pptx\assets\st-cub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60500" y="762000"/>
            <a:ext cx="3556000" cy="3556000"/>
          </a:xfrm>
          <a:prstGeom prst="rect">
            <a:avLst/>
          </a:prstGeom>
        </p:spPr>
      </p:pic>
      <p:pic>
        <p:nvPicPr>
          <p:cNvPr id="8" name="pic-540" descr="W:\Projects\hacks\rwb-new\presentation\pptx\assets\wm-0-in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2000" y="444500"/>
            <a:ext cx="2737757" cy="533400"/>
          </a:xfrm>
          <a:prstGeom prst="rect">
            <a:avLst/>
          </a:prstGeom>
        </p:spPr>
      </p:pic>
      <p:pic>
        <p:nvPicPr>
          <p:cNvPr id="9" name="pic-541" descr="W:\Projects\hacks\rwb-new\presentation\pptx\assets\wm-1-in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2000" y="444500"/>
            <a:ext cx="2737757" cy="533400"/>
          </a:xfrm>
          <a:prstGeom prst="rect">
            <a:avLst/>
          </a:prstGeom>
        </p:spPr>
      </p:pic>
      <p:pic>
        <p:nvPicPr>
          <p:cNvPr id="10" name="pic-542" descr="W:\Projects\hacks\rwb-new\presentation\pptx\assets\wm-2-in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44500"/>
            <a:ext cx="2737757" cy="533400"/>
          </a:xfrm>
          <a:prstGeom prst="rect">
            <a:avLst/>
          </a:prstGeom>
        </p:spPr>
      </p:pic>
      <p:pic>
        <p:nvPicPr>
          <p:cNvPr id="11" name="pic-543" descr="W:\Projects\hacks\rwb-new\presentation\pptx\assets\wm-3-in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2000" y="444500"/>
            <a:ext cx="2737757" cy="533400"/>
          </a:xfrm>
          <a:prstGeom prst="rect">
            <a:avLst/>
          </a:prstGeom>
        </p:spPr>
      </p:pic>
      <p:pic>
        <p:nvPicPr>
          <p:cNvPr id="12" name="pic-544" descr="W:\Projects\hacks\rwb-new\presentation\pptx\assets\wm-4-in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2000" y="444500"/>
            <a:ext cx="2737757" cy="533400"/>
          </a:xfrm>
          <a:prstGeom prst="rect">
            <a:avLst/>
          </a:prstGeom>
        </p:spPr>
      </p:pic>
      <p:sp>
        <p:nvSpPr>
          <p:cNvPr id="13" name="text-545"/>
          <p:cNvSpPr txBox="1"/>
          <p:nvPr/>
        </p:nvSpPr>
        <p:spPr>
          <a:xfrm>
            <a:off x="762000" y="4445000"/>
            <a:ext cx="793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43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Готовы к вашим </a:t>
            </a:r>
            <a:r>
              <a:rPr lang="en-US" sz="4900" i="1" dirty="0">
                <a:solidFill>
                  <a:srgbClr val="328EF9"/>
                </a:solidFill>
                <a:latin typeface="PT Serif" pitchFamily="34" charset="0"/>
                <a:ea typeface="PT Serif" pitchFamily="34" charset="-122"/>
                <a:cs typeface="PT Serif" pitchFamily="34" charset="-120"/>
              </a:rPr>
              <a:t>вопросам</a:t>
            </a:r>
            <a:endParaRPr lang="en-US" sz="4300" dirty="0"/>
          </a:p>
        </p:txBody>
      </p:sp>
      <p:sp>
        <p:nvSpPr>
          <p:cNvPr id="14" name="text-546"/>
          <p:cNvSpPr txBox="1"/>
          <p:nvPr/>
        </p:nvSpPr>
        <p:spPr>
          <a:xfrm>
            <a:off x="762000" y="5334000"/>
            <a:ext cx="57150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60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</a:t>
            </a:r>
            <a:r>
              <a:rPr lang="en-US" sz="1600" b="1" dirty="0">
                <a:solidFill>
                  <a:srgbClr val="1D1D1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GoatWhistle</a:t>
            </a:r>
            <a:endParaRPr lang="en-US" sz="1600" dirty="0"/>
          </a:p>
        </p:txBody>
      </p:sp>
      <p:sp>
        <p:nvSpPr>
          <p:cNvPr id="15" name="shape-547"/>
          <p:cNvSpPr/>
          <p:nvPr/>
        </p:nvSpPr>
        <p:spPr>
          <a:xfrm>
            <a:off x="8890000" y="1587500"/>
            <a:ext cx="2540000" cy="2540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9050">
            <a:solidFill>
              <a:srgbClr val="E2E2E7"/>
            </a:solidFill>
            <a:prstDash val="solid"/>
          </a:ln>
          <a:effectLst>
            <a:outerShdw blurRad="228600" dist="76200" dir="5400000" algn="bl" rotWithShape="0">
              <a:srgbClr val="000000">
                <a:alpha val="16000"/>
              </a:srgbClr>
            </a:outerShdw>
          </a:effectLst>
        </p:spPr>
      </p:sp>
      <p:pic>
        <p:nvPicPr>
          <p:cNvPr id="16" name="pic-548" descr="W:\Projects\hacks\rwb-new\presentation\pptx\assets\qr-data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12250" y="1809750"/>
            <a:ext cx="2095500" cy="2095500"/>
          </a:xfrm>
          <a:prstGeom prst="rect">
            <a:avLst/>
          </a:prstGeom>
        </p:spPr>
      </p:pic>
      <p:sp>
        <p:nvSpPr>
          <p:cNvPr id="17" name="shape-549"/>
          <p:cNvSpPr/>
          <p:nvPr/>
        </p:nvSpPr>
        <p:spPr>
          <a:xfrm>
            <a:off x="9112250" y="1809750"/>
            <a:ext cx="396446" cy="396446"/>
          </a:xfrm>
          <a:prstGeom prst="roundRect">
            <a:avLst>
              <a:gd name="adj" fmla="val 28571"/>
            </a:avLst>
          </a:prstGeom>
          <a:solidFill>
            <a:srgbClr val="1D1D1B"/>
          </a:solidFill>
          <a:ln/>
        </p:spPr>
      </p:sp>
      <p:sp>
        <p:nvSpPr>
          <p:cNvPr id="18" name="shape-550"/>
          <p:cNvSpPr/>
          <p:nvPr/>
        </p:nvSpPr>
        <p:spPr>
          <a:xfrm>
            <a:off x="9168885" y="1866385"/>
            <a:ext cx="283176" cy="28317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sp>
        <p:nvSpPr>
          <p:cNvPr id="19" name="shape-551"/>
          <p:cNvSpPr/>
          <p:nvPr/>
        </p:nvSpPr>
        <p:spPr>
          <a:xfrm>
            <a:off x="9225520" y="1923020"/>
            <a:ext cx="169905" cy="169905"/>
          </a:xfrm>
          <a:prstGeom prst="roundRect">
            <a:avLst>
              <a:gd name="adj" fmla="val 33333"/>
            </a:avLst>
          </a:prstGeom>
          <a:solidFill>
            <a:srgbClr val="1D1D1B"/>
          </a:solidFill>
          <a:ln/>
        </p:spPr>
      </p:sp>
      <p:sp>
        <p:nvSpPr>
          <p:cNvPr id="20" name="shape-552"/>
          <p:cNvSpPr/>
          <p:nvPr/>
        </p:nvSpPr>
        <p:spPr>
          <a:xfrm>
            <a:off x="10811304" y="1809750"/>
            <a:ext cx="396446" cy="396446"/>
          </a:xfrm>
          <a:prstGeom prst="roundRect">
            <a:avLst>
              <a:gd name="adj" fmla="val 28571"/>
            </a:avLst>
          </a:prstGeom>
          <a:solidFill>
            <a:srgbClr val="1D1D1B"/>
          </a:solidFill>
          <a:ln/>
        </p:spPr>
      </p:sp>
      <p:sp>
        <p:nvSpPr>
          <p:cNvPr id="21" name="shape-553"/>
          <p:cNvSpPr/>
          <p:nvPr/>
        </p:nvSpPr>
        <p:spPr>
          <a:xfrm>
            <a:off x="10867939" y="1866385"/>
            <a:ext cx="283176" cy="28317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sp>
        <p:nvSpPr>
          <p:cNvPr id="22" name="shape-554"/>
          <p:cNvSpPr/>
          <p:nvPr/>
        </p:nvSpPr>
        <p:spPr>
          <a:xfrm>
            <a:off x="10924574" y="1923020"/>
            <a:ext cx="169905" cy="169905"/>
          </a:xfrm>
          <a:prstGeom prst="roundRect">
            <a:avLst>
              <a:gd name="adj" fmla="val 33333"/>
            </a:avLst>
          </a:prstGeom>
          <a:solidFill>
            <a:srgbClr val="1D1D1B"/>
          </a:solidFill>
          <a:ln/>
        </p:spPr>
      </p:sp>
      <p:sp>
        <p:nvSpPr>
          <p:cNvPr id="23" name="shape-555"/>
          <p:cNvSpPr/>
          <p:nvPr/>
        </p:nvSpPr>
        <p:spPr>
          <a:xfrm>
            <a:off x="9112250" y="3508804"/>
            <a:ext cx="396446" cy="396446"/>
          </a:xfrm>
          <a:prstGeom prst="roundRect">
            <a:avLst>
              <a:gd name="adj" fmla="val 28571"/>
            </a:avLst>
          </a:prstGeom>
          <a:solidFill>
            <a:srgbClr val="1D1D1B"/>
          </a:solidFill>
          <a:ln/>
        </p:spPr>
      </p:sp>
      <p:sp>
        <p:nvSpPr>
          <p:cNvPr id="24" name="shape-556"/>
          <p:cNvSpPr/>
          <p:nvPr/>
        </p:nvSpPr>
        <p:spPr>
          <a:xfrm>
            <a:off x="9168885" y="3565439"/>
            <a:ext cx="283176" cy="283176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/>
        </p:spPr>
      </p:sp>
      <p:sp>
        <p:nvSpPr>
          <p:cNvPr id="25" name="shape-557"/>
          <p:cNvSpPr/>
          <p:nvPr/>
        </p:nvSpPr>
        <p:spPr>
          <a:xfrm>
            <a:off x="9225520" y="3622074"/>
            <a:ext cx="169905" cy="169905"/>
          </a:xfrm>
          <a:prstGeom prst="roundRect">
            <a:avLst>
              <a:gd name="adj" fmla="val 33333"/>
            </a:avLst>
          </a:prstGeom>
          <a:solidFill>
            <a:srgbClr val="1D1D1B"/>
          </a:solidFill>
          <a:ln/>
        </p:spPr>
      </p:sp>
      <p:sp>
        <p:nvSpPr>
          <p:cNvPr id="26" name="shape-558"/>
          <p:cNvSpPr/>
          <p:nvPr/>
        </p:nvSpPr>
        <p:spPr>
          <a:xfrm>
            <a:off x="9944786" y="2642286"/>
            <a:ext cx="430427" cy="430427"/>
          </a:xfrm>
          <a:prstGeom prst="roundRect">
            <a:avLst>
              <a:gd name="adj" fmla="val 26316"/>
            </a:avLst>
          </a:prstGeom>
          <a:solidFill>
            <a:srgbClr val="FFFFFF"/>
          </a:solidFill>
          <a:ln/>
        </p:spPr>
      </p:sp>
      <p:pic>
        <p:nvPicPr>
          <p:cNvPr id="27" name="pic-559" descr="W:\Projects\hacks\rwb-new\presentation\pptx\assets\mar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96438" y="2693938"/>
            <a:ext cx="327125" cy="327125"/>
          </a:xfrm>
          <a:prstGeom prst="rect">
            <a:avLst/>
          </a:prstGeom>
        </p:spPr>
      </p:pic>
      <p:sp>
        <p:nvSpPr>
          <p:cNvPr id="28" name="text-560"/>
          <p:cNvSpPr txBox="1"/>
          <p:nvPr/>
        </p:nvSpPr>
        <p:spPr>
          <a:xfrm>
            <a:off x="8636000" y="4292600"/>
            <a:ext cx="304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1D1D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github.com/GoatWhistle/russwb</a:t>
            </a:r>
            <a:endParaRPr lang="en-US" sz="1150" dirty="0"/>
          </a:p>
        </p:txBody>
      </p:sp>
      <p:sp>
        <p:nvSpPr>
          <p:cNvPr id="29" name="text-561"/>
          <p:cNvSpPr txBox="1"/>
          <p:nvPr/>
        </p:nvSpPr>
        <p:spPr>
          <a:xfrm>
            <a:off x="8636000" y="4546600"/>
            <a:ext cx="3048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50" dirty="0">
                <a:solidFill>
                  <a:srgbClr val="8A8A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код модели, ответы и презентация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9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106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8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92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147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48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92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154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3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36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44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186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48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92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222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48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92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6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33" dur="36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53" presetClass="entr" presetSubtype="16" fill="hold" nodeType="withEffect">
                                  <p:stCondLst>
                                    <p:cond delay="256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48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8" dur="192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12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3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12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53" presetClass="entr" presetSubtype="16" fill="hold" grpId="0" nodeType="withEffect">
                                  <p:stCondLst>
                                    <p:cond delay="26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3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12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53" presetClass="entr" presetSubtype="16" fill="hold" grpId="0" nodeType="withEffect">
                                  <p:stCondLst>
                                    <p:cond delay="304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3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12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53" presetClass="entr" presetSubtype="16" fill="hold" grpId="0" nodeType="withEffect">
                                  <p:stCondLst>
                                    <p:cond delay="304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3" dur="12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53" presetClass="entr" presetSubtype="16" fill="hold" grpId="0" nodeType="withEffect">
                                  <p:stCondLst>
                                    <p:cond delay="304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8" dur="12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53" presetClass="entr" presetSubtype="16" fill="hold" grpId="0" nodeType="withEffect">
                                  <p:stCondLst>
                                    <p:cond delay="345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3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3" dur="12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53" presetClass="entr" presetSubtype="16" fill="hold" grpId="0" nodeType="withEffect">
                                  <p:stCondLst>
                                    <p:cond delay="345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6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7" dur="3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8" dur="12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53" presetClass="entr" presetSubtype="16" fill="hold" grpId="0" nodeType="withEffect">
                                  <p:stCondLst>
                                    <p:cond delay="345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3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3" dur="12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9" presetClass="entr" presetSubtype="0" fill="hold" nodeType="withEffect">
                                  <p:stCondLst>
                                    <p:cond delay="379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9" dur="54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484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base">
                                        <p:cTn id="93" dur="3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506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53" presetClass="entr" presetSubtype="16" fill="hold" grpId="0" nodeType="withEffect">
                                  <p:stCondLst>
                                    <p:cond delay="562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9" dur="36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0" dur="36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1" dur="144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" presetID="53" presetClass="entr" presetSubtype="16" fill="hold" nodeType="withEffect">
                                  <p:stCondLst>
                                    <p:cond delay="579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4" dur="36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w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w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5" dur="36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62000">
                                          <p:val>
                                            <p:strVal val="#ppt_h*1.14"/>
                                          </p:val>
                                        </p:tav>
                                        <p:tav tm="82000">
                                          <p:val>
                                            <p:strVal val="#ppt_h*0.9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144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0" presetClass="path" presetSubtype="0" fill="hold" nodeType="withEffect">
                                  <p:stCondLst>
                                    <p:cond delay="835"/>
                                  </p:stCondLst>
                                  <p:childTnLst>
                                    <p:animMotion origin="layout" path="M 0 0 L 0 -0.012 L 0 0 E" pathEditMode="relative" ptsTypes="">
                                      <p:cBhvr>
                                        <p:cTn id="108" dur="2600" repeatCount="indefinite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109" presetID="6" presetClass="emph" presetSubtype="0" fill="hold" grpId="1" nodeType="withEffect">
                                  <p:stCondLst>
                                    <p:cond delay="1090"/>
                                  </p:stCondLst>
                                  <p:childTnLst>
                                    <p:animScale>
                                      <p:cBhvr>
                                        <p:cTn id="110" dur="1400" repeatCount="indefinite" accel="50000" decel="50000" autoRev="1" fill="hold"/>
                                        <p:tgtEl>
                                          <p:spTgt spid="26"/>
                                        </p:tgtEl>
                                      </p:cBhvr>
                                      <p:by x="103000" y="103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6" grpId="1" animBg="1"/>
      <p:bldP spid="28" grpId="0" animBg="1"/>
      <p:bldP spid="29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1847</Words>
  <Application>Microsoft Office PowerPoint</Application>
  <PresentationFormat>Widescreen</PresentationFormat>
  <Paragraphs>301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Inter</vt:lpstr>
      <vt:lpstr>Consolas</vt:lpstr>
      <vt:lpstr>Arial</vt:lpstr>
      <vt:lpstr>PT Serif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Datum: модель данных Capibara</dc:title>
  <dc:subject>PptxGenJS Presentation</dc:subject>
  <dc:creator>Команда RWB</dc:creator>
  <cp:lastModifiedBy>MIkhail Khorokhorin</cp:lastModifiedBy>
  <cp:revision>2</cp:revision>
  <dcterms:created xsi:type="dcterms:W3CDTF">2026-10-28T13:21:15Z</dcterms:created>
  <dcterms:modified xsi:type="dcterms:W3CDTF">2026-10-28T13:21:17Z</dcterms:modified>
</cp:coreProperties>
</file>