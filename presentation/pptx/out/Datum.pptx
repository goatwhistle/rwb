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Inter" panose="02000503000000020004" pitchFamily="2" charset="0"/>
      <p:regular r:id="rId20"/>
      <p:bold r:id="rId21"/>
    </p:embeddedFont>
    <p:embeddedFont>
      <p:font typeface="PT Serif" panose="020A0603040505090204" pitchFamily="18" charset="0"/>
      <p: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2452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Привет, мы команда RWB. Capibara, маркетплейс из Сан-Паулу: два года работы, почти сто тысяч заказов и восемь выгрузок, которые никто не приводил в порядок. Каждый отчёт аналитики собирают заново и каждый раз получают разные цифры. Мы построили модель, на которую можно опереться. Расскажем, что нашли в данных, как построили модель и почему каждое решение именно такое.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таблиц, около 550 тысяч строк. Заказы с хронологией, позиции, платежи, отзывы, товары, продавцы, покупатели и справочник переводов. Важно: каждая колонка приехала текстом, даже даты и деньги. Это нормально для raw-слоя: грузим как есть, чтобы загрузка не падала на мусоре. А вот типизация и чистка уже наша работа. Прежде чем проектировать схему, мы прошлись скриптами по каждой колонке. Вот что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Первое: в данных врут идентификаторы. У покупателя два id. customer_id это учётка одного заказа, их 99 441, на каждый заказ новая. Человек это customer_unique_id, их 96 096. Если считать по customer_id, повторных покупок не будет вовсе. Второе: review_id неуникален, 789 отзывов висят сразу на нескольких заказах. Третье: order_item_id вообще не идентификатор, это порядковый номер позиции внутри заказа.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дыры. 610 товаров без категории, и на них 170 тысяч выручки: выбросишь, и сумма по категориям не сойдётся с общей. В товарах 73 категории, в файле переводов 71: соберёшь справочник из переводов, и две категории молча исчезнут из отчётов. 775 заказов вообще без позиций, почти все unavailable и canceled. И в ноябре 2016 ни одного заказа: если строить отчёт только от фактов, месяц молча пропадёт.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просто грязь. 1 359 заказов отгружены раньше подтверждения оплаты, 23 вручены раньше отгрузки, у шести отменённых стоит дата вручения. Города продавцов записаны 611 способами, один вместо города вписал почтовый индекс. Платежи не бьются с суммой позиций в тысяче с лишним заказов. Вывод простой: источникам доверять нельзя, проверки должны жить в модели, а не в голове аналитика.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правила переноса. Типы приводим жёстко: если в дате мусор, сборка падает, и это хорошо, мы видим грязь, а не прячем её в отчёте. Пустые строки превращаем в NULL. На каждой таблице первичный ключ, между таблицами внешние ключи, плюс CHECK: статус только из списка, оценка 1–5, цена не отрицательная. База сама не даёт записать мусор. И всё это собирается одним скриптом с нуля, в одной транзакции: наполовину собранной модели не бывает.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классическая, три слоя. raw не трогаем вообще, только читаем. core это наша модель: типы, ключи, связи, дедупликация; именно отсюда считаются ответы. mart это витрины под конкретную задачу, у нас это исполнение заказа. Каждый слой пересобирается из предыдущего одним скриптом.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таблиц. Ключевые решения видны по первичным ключам: покупатель по customer_unique_id, позиции по паре заказ плюс номер, отзывы по паре review_id плюс order_id, потому что один отзыв бывает на нескольких заказах. Деньги numeric, даты timestamp. Любой дубль или провисшая связь не запишется.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Самые спорные решения с аргументами. Человек равен customer_unique_id: иначе 99 441 «покупатель» и ноль повторных, а у нас 96 096 и 3,12%, сходится с контролем организаторов. География хранится снимком в заказе: если брать из справочника, старые заказы получат новый адрес человека и исторические отчёты по регионам поедут. Справочник категорий собран из товаров, а не из файла переводов, перевод просто опционален. Товары без категории не выбрасываем, а показываем отдельной строкой. И везде, где пары может не быть, LEFT JOIN: 775 заказов без позиций остаются в отчётах.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мы убедились, что ничего не потеряли: сверка. Счётчики raw против core совпадают по всем таблицам, вот они на слайде. В витринах проверяются число строк, пары заказ-продавец и сумма денег, и при расхождении скрипт падает с ошибкой, а не молчит. 96 096 против 99 441 в customers это не потеря, а дедупликация, в ней смысл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витрины. order_fulfillment: одна строка, один заказ, все 99 441. Этапы в днях, флаг on_time, суммы, последний отзыв. Этапы с нарушенной хронологией становятся NULL, чтобы не портить медианы. seller_shipment: строка на пару заказ-продавец, срок отгрузки и флаг «успел ли». Тонкость: дата отгрузки в источнике одна на весь заказ, поэтому рейтинг продавца честно считается только по заказам с одним продавцом, для этого флаг is_single_seller. Зачем всё это: вопрос про исполнение заказа становится одним SELECT без join, ошибиться уровнем просто негде.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Ответы. Все пять контрольных цифр сошлись: 24 месяца с итогом 13 221 498.11; топ-продавец из Гуарибы с 226 987.93; средний чек 159.88; 96 096 покупателей и 3,12% повторных; 74 категории. В каждом вопросе своя ловушка, и у нас на неё приём: календарь через generate_series, выручка продавца от позиций, чек в две ступени. Выручка везде определена одинаково: сумма цен по доставленным заказам. Поэтому цифры сходятся между отчётами.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 к вашим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U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:\Projects\hacks\rwb-new\presentation\pptx\assets\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175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2200" y="304800"/>
            <a:ext cx="12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8" name="pic-6" descr="W:\Projects\hacks\rwb-new\presentation\pptx\assets\wm-0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9" name="pic-7" descr="W:\Projects\hacks\rwb-new\presentation\pptx\assets\wm-1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0" name="pic-8" descr="W:\Projects\hacks\rwb-new\presentation\pptx\assets\wm-2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1" name="pic-9" descr="W:\Projects\hacks\rwb-new\presentation\pptx\assets\wm-3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2" name="pic-10" descr="W:\Projects\hacks\rwb-new\presentation\pptx\assets\wm-4-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sp>
        <p:nvSpPr>
          <p:cNvPr id="13" name="text-11"/>
          <p:cNvSpPr txBox="1"/>
          <p:nvPr/>
        </p:nvSpPr>
        <p:spPr>
          <a:xfrm>
            <a:off x="762000" y="3810000"/>
            <a:ext cx="571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данных Capibara:</a:t>
            </a:r>
            <a:endParaRPr lang="en-US" sz="3200" dirty="0"/>
          </a:p>
          <a:p>
            <a:pPr marL="0" indent="0" algn="l">
              <a:lnSpc>
                <a:spcPct val="95000"/>
              </a:lnSpc>
              <a:buNone/>
            </a:pPr>
            <a:r>
              <a:rPr lang="en-US" sz="3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от корзины до выкупа</a:t>
            </a:r>
            <a:endParaRPr lang="en-US" sz="3200" dirty="0"/>
          </a:p>
        </p:txBody>
      </p:sp>
      <p:sp>
        <p:nvSpPr>
          <p:cNvPr id="14" name="shape-12"/>
          <p:cNvSpPr/>
          <p:nvPr/>
        </p:nvSpPr>
        <p:spPr>
          <a:xfrm>
            <a:off x="762000" y="6191250"/>
            <a:ext cx="101600" cy="1016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5" name="text-13"/>
          <p:cNvSpPr txBox="1"/>
          <p:nvPr/>
        </p:nvSpPr>
        <p:spPr>
          <a:xfrm>
            <a:off x="952500" y="6108700"/>
            <a:ext cx="444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36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44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173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3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3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44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44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239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3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44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44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38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36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3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203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2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678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51" dur="2600" repeatCount="indefinite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43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2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225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225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9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8" fill="hold" grpId="0" nodeType="withEffect">
                                  <p:stCondLst>
                                    <p:cond delay="1058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1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315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6" presetClass="emph" presetSubtype="0" fill="hold" grpId="1" nodeType="withEffect">
                                  <p:stCondLst>
                                    <p:cond delay="1305"/>
                                  </p:stCondLst>
                                  <p:childTnLst>
                                    <p:animScale>
                                      <p:cBhvr>
                                        <p:cTn id="65" dur="900" repeatCount="indefinite" accel="50000" decel="5000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8" name="text-1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550 759 строк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все текстом</a:t>
            </a:r>
            <a:endParaRPr lang="en-US" sz="3400" dirty="0"/>
          </a:p>
        </p:txBody>
      </p:sp>
      <p:pic>
        <p:nvPicPr>
          <p:cNvPr id="9" name="pic-20" descr="W:\Projects\hacks\rwb-new\presentation\pptx\assets\wf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0" name="pic-21" descr="W:\Projects\hacks\rwb-new\presentation\pptx\assets\wf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1" name="pic-22" descr="W:\Projects\hacks\rwb-new\presentation\pptx\assets\wf-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2" name="pic-23" descr="W:\Projects\hacks\rwb-new\presentation\pptx\assets\wf-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3" name="pic-24" descr="W:\Projects\hacks\rwb-new\presentation\pptx\assets\wf-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4" name="pic-25" descr="W:\Projects\hacks\rwb-new\presentation\pptx\assets\wf-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5" name="pic-26" descr="W:\Projects\hacks\rwb-new\presentation\pptx\assets\wf-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6" name="pic-27" descr="W:\Projects\hacks\rwb-new\presentation\pptx\assets\wf-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sp>
        <p:nvSpPr>
          <p:cNvPr id="17" name="shape-28"/>
          <p:cNvSpPr/>
          <p:nvPr/>
        </p:nvSpPr>
        <p:spPr>
          <a:xfrm>
            <a:off x="7620000" y="2032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2348FF"/>
          </a:solidFill>
          <a:ln/>
        </p:spPr>
      </p:sp>
      <p:sp>
        <p:nvSpPr>
          <p:cNvPr id="18" name="text-29"/>
          <p:cNvSpPr txBox="1"/>
          <p:nvPr/>
        </p:nvSpPr>
        <p:spPr>
          <a:xfrm>
            <a:off x="7937500" y="1968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19" name="text-30"/>
          <p:cNvSpPr txBox="1"/>
          <p:nvPr/>
        </p:nvSpPr>
        <p:spPr>
          <a:xfrm>
            <a:off x="10287000" y="1968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400" dirty="0"/>
          </a:p>
        </p:txBody>
      </p:sp>
      <p:sp>
        <p:nvSpPr>
          <p:cNvPr id="20" name="shape-31"/>
          <p:cNvSpPr/>
          <p:nvPr/>
        </p:nvSpPr>
        <p:spPr>
          <a:xfrm>
            <a:off x="7620000" y="2438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28EF9"/>
          </a:solidFill>
          <a:ln/>
        </p:spPr>
      </p:sp>
      <p:sp>
        <p:nvSpPr>
          <p:cNvPr id="21" name="text-32"/>
          <p:cNvSpPr txBox="1"/>
          <p:nvPr/>
        </p:nvSpPr>
        <p:spPr>
          <a:xfrm>
            <a:off x="7937500" y="2374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order_payments</a:t>
            </a:r>
            <a:endParaRPr lang="en-US" sz="1200" dirty="0"/>
          </a:p>
        </p:txBody>
      </p:sp>
      <p:sp>
        <p:nvSpPr>
          <p:cNvPr id="22" name="text-33"/>
          <p:cNvSpPr txBox="1"/>
          <p:nvPr/>
        </p:nvSpPr>
        <p:spPr>
          <a:xfrm>
            <a:off x="10287000" y="2374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400" dirty="0"/>
          </a:p>
        </p:txBody>
      </p:sp>
      <p:sp>
        <p:nvSpPr>
          <p:cNvPr id="23" name="shape-34"/>
          <p:cNvSpPr/>
          <p:nvPr/>
        </p:nvSpPr>
        <p:spPr>
          <a:xfrm>
            <a:off x="7620000" y="2844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BC4EE"/>
          </a:solidFill>
          <a:ln/>
        </p:spPr>
      </p:sp>
      <p:sp>
        <p:nvSpPr>
          <p:cNvPr id="24" name="text-35"/>
          <p:cNvSpPr txBox="1"/>
          <p:nvPr/>
        </p:nvSpPr>
        <p:spPr>
          <a:xfrm>
            <a:off x="7937500" y="2781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200" dirty="0"/>
          </a:p>
        </p:txBody>
      </p:sp>
      <p:sp>
        <p:nvSpPr>
          <p:cNvPr id="25" name="text-36"/>
          <p:cNvSpPr txBox="1"/>
          <p:nvPr/>
        </p:nvSpPr>
        <p:spPr>
          <a:xfrm>
            <a:off x="10287000" y="2781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26" name="shape-37"/>
          <p:cNvSpPr/>
          <p:nvPr/>
        </p:nvSpPr>
        <p:spPr>
          <a:xfrm>
            <a:off x="7620000" y="32512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518FF2"/>
          </a:solidFill>
          <a:ln/>
        </p:spPr>
      </p:sp>
      <p:sp>
        <p:nvSpPr>
          <p:cNvPr id="27" name="text-38"/>
          <p:cNvSpPr txBox="1"/>
          <p:nvPr/>
        </p:nvSpPr>
        <p:spPr>
          <a:xfrm>
            <a:off x="7937500" y="31877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order_reviews</a:t>
            </a:r>
            <a:endParaRPr lang="en-US" sz="1200" dirty="0"/>
          </a:p>
        </p:txBody>
      </p:sp>
      <p:sp>
        <p:nvSpPr>
          <p:cNvPr id="28" name="text-39"/>
          <p:cNvSpPr txBox="1"/>
          <p:nvPr/>
        </p:nvSpPr>
        <p:spPr>
          <a:xfrm>
            <a:off x="10287000" y="31877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400" dirty="0"/>
          </a:p>
        </p:txBody>
      </p:sp>
      <p:sp>
        <p:nvSpPr>
          <p:cNvPr id="29" name="shape-40"/>
          <p:cNvSpPr/>
          <p:nvPr/>
        </p:nvSpPr>
        <p:spPr>
          <a:xfrm>
            <a:off x="7620000" y="36576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F57EB"/>
          </a:solidFill>
          <a:ln/>
        </p:spPr>
      </p:sp>
      <p:sp>
        <p:nvSpPr>
          <p:cNvPr id="30" name="text-41"/>
          <p:cNvSpPr txBox="1"/>
          <p:nvPr/>
        </p:nvSpPr>
        <p:spPr>
          <a:xfrm>
            <a:off x="7937500" y="35941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31" name="text-42"/>
          <p:cNvSpPr txBox="1"/>
          <p:nvPr/>
        </p:nvSpPr>
        <p:spPr>
          <a:xfrm>
            <a:off x="10287000" y="3594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32" name="shape-43"/>
          <p:cNvSpPr/>
          <p:nvPr/>
        </p:nvSpPr>
        <p:spPr>
          <a:xfrm>
            <a:off x="7620000" y="4064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1A36CC"/>
          </a:solidFill>
          <a:ln/>
        </p:spPr>
      </p:sp>
      <p:sp>
        <p:nvSpPr>
          <p:cNvPr id="33" name="text-44"/>
          <p:cNvSpPr txBox="1"/>
          <p:nvPr/>
        </p:nvSpPr>
        <p:spPr>
          <a:xfrm>
            <a:off x="7937500" y="4000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34" name="text-45"/>
          <p:cNvSpPr txBox="1"/>
          <p:nvPr/>
        </p:nvSpPr>
        <p:spPr>
          <a:xfrm>
            <a:off x="10287000" y="4000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400" dirty="0"/>
          </a:p>
        </p:txBody>
      </p:sp>
      <p:sp>
        <p:nvSpPr>
          <p:cNvPr id="35" name="shape-46"/>
          <p:cNvSpPr/>
          <p:nvPr/>
        </p:nvSpPr>
        <p:spPr>
          <a:xfrm>
            <a:off x="7620000" y="4470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8E9FF"/>
          </a:solidFill>
          <a:ln/>
        </p:spPr>
      </p:sp>
      <p:sp>
        <p:nvSpPr>
          <p:cNvPr id="36" name="text-47"/>
          <p:cNvSpPr txBox="1"/>
          <p:nvPr/>
        </p:nvSpPr>
        <p:spPr>
          <a:xfrm>
            <a:off x="7937500" y="4406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sellers</a:t>
            </a:r>
            <a:endParaRPr lang="en-US" sz="1200" dirty="0"/>
          </a:p>
        </p:txBody>
      </p:sp>
      <p:sp>
        <p:nvSpPr>
          <p:cNvPr id="37" name="text-48"/>
          <p:cNvSpPr txBox="1"/>
          <p:nvPr/>
        </p:nvSpPr>
        <p:spPr>
          <a:xfrm>
            <a:off x="10287000" y="4406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400" dirty="0"/>
          </a:p>
        </p:txBody>
      </p:sp>
      <p:sp>
        <p:nvSpPr>
          <p:cNvPr id="38" name="shape-49"/>
          <p:cNvSpPr/>
          <p:nvPr/>
        </p:nvSpPr>
        <p:spPr>
          <a:xfrm>
            <a:off x="7620000" y="4876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8A8A93"/>
          </a:solidFill>
          <a:ln/>
        </p:spPr>
      </p:sp>
      <p:sp>
        <p:nvSpPr>
          <p:cNvPr id="39" name="text-50"/>
          <p:cNvSpPr txBox="1"/>
          <p:nvPr/>
        </p:nvSpPr>
        <p:spPr>
          <a:xfrm>
            <a:off x="7937500" y="4813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category_translation</a:t>
            </a:r>
            <a:endParaRPr lang="en-US" sz="1200" dirty="0"/>
          </a:p>
        </p:txBody>
      </p:sp>
      <p:sp>
        <p:nvSpPr>
          <p:cNvPr id="40" name="text-51"/>
          <p:cNvSpPr txBox="1"/>
          <p:nvPr/>
        </p:nvSpPr>
        <p:spPr>
          <a:xfrm>
            <a:off x="10287000" y="4813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400" dirty="0"/>
          </a:p>
        </p:txBody>
      </p:sp>
      <p:sp>
        <p:nvSpPr>
          <p:cNvPr id="41" name="text-52"/>
          <p:cNvSpPr txBox="1"/>
          <p:nvPr/>
        </p:nvSpPr>
        <p:spPr>
          <a:xfrm>
            <a:off x="762000" y="5873750"/>
            <a:ext cx="1066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клетка = 1 000 строк. Даты, суммы и оценки приехали строками, каждую колонку проверили скриптами.</a:t>
            </a:r>
            <a:endParaRPr lang="en-US" sz="11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7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8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25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25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9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15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2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225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185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7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03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158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225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225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9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2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225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17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52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158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9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2" fill="hold" grpId="0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2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225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8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17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2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5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158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306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225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225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9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30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2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225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333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17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51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5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158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356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225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225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9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2" fill="hold" grpId="0" nodeType="withEffect">
                                  <p:stCondLst>
                                    <p:cond delay="356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25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225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nodeType="withEffect">
                                  <p:stCondLst>
                                    <p:cond delay="383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17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401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58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158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22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22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9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2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225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225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17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58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158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225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225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9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2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2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225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5" dur="17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58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158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225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225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9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2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2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225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549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58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158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225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53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Анкета не равна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человеку</a:t>
            </a:r>
            <a:endParaRPr lang="en-US" sz="3400" dirty="0"/>
          </a:p>
        </p:txBody>
      </p:sp>
      <p:sp>
        <p:nvSpPr>
          <p:cNvPr id="4" name="shape-54"/>
          <p:cNvSpPr/>
          <p:nvPr/>
        </p:nvSpPr>
        <p:spPr>
          <a:xfrm>
            <a:off x="1270000" y="2286000"/>
            <a:ext cx="3175000" cy="3175000"/>
          </a:xfrm>
          <a:prstGeom prst="ellipse">
            <a:avLst/>
          </a:prstGeom>
          <a:ln w="19050">
            <a:solidFill>
              <a:srgbClr val="E2E2E7"/>
            </a:solidFill>
            <a:prstDash val="dash"/>
          </a:ln>
        </p:spPr>
      </p:sp>
      <p:sp>
        <p:nvSpPr>
          <p:cNvPr id="5" name="line-55"/>
          <p:cNvSpPr/>
          <p:nvPr/>
        </p:nvSpPr>
        <p:spPr>
          <a:xfrm>
            <a:off x="2857500" y="2286000"/>
            <a:ext cx="0" cy="1587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shape-56"/>
          <p:cNvSpPr/>
          <p:nvPr/>
        </p:nvSpPr>
        <p:spPr>
          <a:xfrm>
            <a:off x="2679700" y="21653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7" name="line-57"/>
          <p:cNvSpPr/>
          <p:nvPr/>
        </p:nvSpPr>
        <p:spPr>
          <a:xfrm flipH="1">
            <a:off x="2857500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shape-58"/>
          <p:cNvSpPr/>
          <p:nvPr/>
        </p:nvSpPr>
        <p:spPr>
          <a:xfrm>
            <a:off x="3253171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9" name="line-59"/>
          <p:cNvSpPr/>
          <p:nvPr/>
        </p:nvSpPr>
        <p:spPr>
          <a:xfrm flipH="1">
            <a:off x="2857500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shape-60"/>
          <p:cNvSpPr/>
          <p:nvPr/>
        </p:nvSpPr>
        <p:spPr>
          <a:xfrm>
            <a:off x="3749192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1" name="line-61"/>
          <p:cNvSpPr/>
          <p:nvPr/>
        </p:nvSpPr>
        <p:spPr>
          <a:xfrm flipH="1">
            <a:off x="2857500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2" name="shape-62"/>
          <p:cNvSpPr/>
          <p:nvPr/>
        </p:nvSpPr>
        <p:spPr>
          <a:xfrm>
            <a:off x="4100772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3" name="line-63"/>
          <p:cNvSpPr/>
          <p:nvPr/>
        </p:nvSpPr>
        <p:spPr>
          <a:xfrm flipH="1">
            <a:off x="2857500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4" name="shape-64"/>
          <p:cNvSpPr/>
          <p:nvPr/>
        </p:nvSpPr>
        <p:spPr>
          <a:xfrm>
            <a:off x="4260428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5" name="line-65"/>
          <p:cNvSpPr/>
          <p:nvPr/>
        </p:nvSpPr>
        <p:spPr>
          <a:xfrm>
            <a:off x="2857500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6" name="shape-66"/>
          <p:cNvSpPr/>
          <p:nvPr/>
        </p:nvSpPr>
        <p:spPr>
          <a:xfrm>
            <a:off x="4206598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7" name="line-67"/>
          <p:cNvSpPr/>
          <p:nvPr/>
        </p:nvSpPr>
        <p:spPr>
          <a:xfrm>
            <a:off x="2857500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8" name="shape-68"/>
          <p:cNvSpPr/>
          <p:nvPr/>
        </p:nvSpPr>
        <p:spPr>
          <a:xfrm>
            <a:off x="3946552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9" name="line-69"/>
          <p:cNvSpPr/>
          <p:nvPr/>
        </p:nvSpPr>
        <p:spPr>
          <a:xfrm>
            <a:off x="2857500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0" name="shape-70"/>
          <p:cNvSpPr/>
          <p:nvPr/>
        </p:nvSpPr>
        <p:spPr>
          <a:xfrm>
            <a:off x="3515411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1" name="line-71"/>
          <p:cNvSpPr/>
          <p:nvPr/>
        </p:nvSpPr>
        <p:spPr>
          <a:xfrm>
            <a:off x="2857500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2" name="shape-72"/>
          <p:cNvSpPr/>
          <p:nvPr/>
        </p:nvSpPr>
        <p:spPr>
          <a:xfrm>
            <a:off x="2971402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3" name="line-73"/>
          <p:cNvSpPr/>
          <p:nvPr/>
        </p:nvSpPr>
        <p:spPr>
          <a:xfrm flipH="1">
            <a:off x="2565798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4" name="shape-74"/>
          <p:cNvSpPr/>
          <p:nvPr/>
        </p:nvSpPr>
        <p:spPr>
          <a:xfrm>
            <a:off x="2387998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5" name="line-75"/>
          <p:cNvSpPr/>
          <p:nvPr/>
        </p:nvSpPr>
        <p:spPr>
          <a:xfrm flipH="1">
            <a:off x="2021789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6" name="shape-76"/>
          <p:cNvSpPr/>
          <p:nvPr/>
        </p:nvSpPr>
        <p:spPr>
          <a:xfrm>
            <a:off x="1843989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7" name="line-77"/>
          <p:cNvSpPr/>
          <p:nvPr/>
        </p:nvSpPr>
        <p:spPr>
          <a:xfrm flipH="1">
            <a:off x="1590648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8" name="shape-78"/>
          <p:cNvSpPr/>
          <p:nvPr/>
        </p:nvSpPr>
        <p:spPr>
          <a:xfrm>
            <a:off x="1412848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9" name="line-79"/>
          <p:cNvSpPr/>
          <p:nvPr/>
        </p:nvSpPr>
        <p:spPr>
          <a:xfrm flipH="1">
            <a:off x="1330602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0" name="shape-80"/>
          <p:cNvSpPr/>
          <p:nvPr/>
        </p:nvSpPr>
        <p:spPr>
          <a:xfrm>
            <a:off x="1152802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1" name="line-81"/>
          <p:cNvSpPr/>
          <p:nvPr/>
        </p:nvSpPr>
        <p:spPr>
          <a:xfrm>
            <a:off x="1276772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2" name="shape-82"/>
          <p:cNvSpPr/>
          <p:nvPr/>
        </p:nvSpPr>
        <p:spPr>
          <a:xfrm>
            <a:off x="1098972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3" name="line-83"/>
          <p:cNvSpPr/>
          <p:nvPr/>
        </p:nvSpPr>
        <p:spPr>
          <a:xfrm>
            <a:off x="1436428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4" name="shape-84"/>
          <p:cNvSpPr/>
          <p:nvPr/>
        </p:nvSpPr>
        <p:spPr>
          <a:xfrm>
            <a:off x="1258628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5" name="line-85"/>
          <p:cNvSpPr/>
          <p:nvPr/>
        </p:nvSpPr>
        <p:spPr>
          <a:xfrm>
            <a:off x="1788008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6" name="shape-86"/>
          <p:cNvSpPr/>
          <p:nvPr/>
        </p:nvSpPr>
        <p:spPr>
          <a:xfrm>
            <a:off x="1610208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7" name="line-87"/>
          <p:cNvSpPr/>
          <p:nvPr/>
        </p:nvSpPr>
        <p:spPr>
          <a:xfrm>
            <a:off x="2284029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8" name="shape-88"/>
          <p:cNvSpPr/>
          <p:nvPr/>
        </p:nvSpPr>
        <p:spPr>
          <a:xfrm>
            <a:off x="2106229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9" name="shape-89"/>
          <p:cNvSpPr/>
          <p:nvPr/>
        </p:nvSpPr>
        <p:spPr>
          <a:xfrm>
            <a:off x="2273300" y="3289300"/>
            <a:ext cx="1168400" cy="1168400"/>
          </a:xfrm>
          <a:prstGeom prst="ellipse">
            <a:avLst/>
          </a:prstGeom>
          <a:solidFill>
            <a:srgbClr val="2348FF"/>
          </a:solidFill>
          <a:ln/>
        </p:spPr>
      </p:sp>
      <p:pic>
        <p:nvPicPr>
          <p:cNvPr id="40" name="pic-90" descr="W:\Projects\hacks\rwb-new\presentation\pptx\assets\ico-use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3606800"/>
            <a:ext cx="533400" cy="533400"/>
          </a:xfrm>
          <a:prstGeom prst="rect">
            <a:avLst/>
          </a:prstGeom>
        </p:spPr>
      </p:pic>
      <p:sp>
        <p:nvSpPr>
          <p:cNvPr id="41" name="text-91"/>
          <p:cNvSpPr txBox="1"/>
          <p:nvPr/>
        </p:nvSpPr>
        <p:spPr>
          <a:xfrm>
            <a:off x="952500" y="558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17 анкет у одного человека</a:t>
            </a:r>
            <a:endParaRPr lang="en-US" sz="1100" dirty="0"/>
          </a:p>
        </p:txBody>
      </p:sp>
      <p:sp>
        <p:nvSpPr>
          <p:cNvPr id="42" name="shape-92"/>
          <p:cNvSpPr/>
          <p:nvPr/>
        </p:nvSpPr>
        <p:spPr>
          <a:xfrm>
            <a:off x="5461000" y="1905000"/>
            <a:ext cx="5969000" cy="1206500"/>
          </a:xfrm>
          <a:prstGeom prst="roundRect">
            <a:avLst>
              <a:gd name="adj" fmla="val 15789"/>
            </a:avLst>
          </a:prstGeom>
          <a:solidFill>
            <a:srgbClr val="F1F1F3"/>
          </a:solidFill>
          <a:ln/>
        </p:spPr>
      </p:sp>
      <p:sp>
        <p:nvSpPr>
          <p:cNvPr id="43" name="text-93"/>
          <p:cNvSpPr txBox="1"/>
          <p:nvPr/>
        </p:nvSpPr>
        <p:spPr>
          <a:xfrm>
            <a:off x="5715000" y="2032000"/>
            <a:ext cx="2095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strike="sngStrike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4200" dirty="0"/>
          </a:p>
        </p:txBody>
      </p:sp>
      <p:pic>
        <p:nvPicPr>
          <p:cNvPr id="44" name="pic-94" descr="W:\Projects\hacks\rwb-new\presentation\pptx\assets\ico-arrow-right-cob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2190750"/>
            <a:ext cx="355600" cy="355600"/>
          </a:xfrm>
          <a:prstGeom prst="rect">
            <a:avLst/>
          </a:prstGeom>
        </p:spPr>
      </p:pic>
      <p:sp>
        <p:nvSpPr>
          <p:cNvPr id="45" name="text-95"/>
          <p:cNvSpPr txBox="1"/>
          <p:nvPr/>
        </p:nvSpPr>
        <p:spPr>
          <a:xfrm>
            <a:off x="8382000" y="2032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4200" dirty="0"/>
          </a:p>
        </p:txBody>
      </p:sp>
      <p:sp>
        <p:nvSpPr>
          <p:cNvPr id="46" name="text-96"/>
          <p:cNvSpPr txBox="1"/>
          <p:nvPr/>
        </p:nvSpPr>
        <p:spPr>
          <a:xfrm>
            <a:off x="5715000" y="2698750"/>
            <a:ext cx="266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customer_id: анкета на каждый заказ</a:t>
            </a:r>
            <a:endParaRPr lang="en-US" sz="950" dirty="0"/>
          </a:p>
        </p:txBody>
      </p:sp>
      <p:sp>
        <p:nvSpPr>
          <p:cNvPr id="47" name="text-97"/>
          <p:cNvSpPr txBox="1"/>
          <p:nvPr/>
        </p:nvSpPr>
        <p:spPr>
          <a:xfrm>
            <a:off x="8382000" y="269875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customer_unique_id: человек</a:t>
            </a:r>
            <a:endParaRPr lang="en-US" sz="950" dirty="0"/>
          </a:p>
        </p:txBody>
      </p:sp>
      <p:sp>
        <p:nvSpPr>
          <p:cNvPr id="48" name="shape-98"/>
          <p:cNvSpPr/>
          <p:nvPr/>
        </p:nvSpPr>
        <p:spPr>
          <a:xfrm>
            <a:off x="5588000" y="3797300"/>
            <a:ext cx="762000" cy="292100"/>
          </a:xfrm>
          <a:prstGeom prst="roundRect">
            <a:avLst>
              <a:gd name="adj" fmla="val 30435"/>
            </a:avLst>
          </a:prstGeom>
          <a:solidFill>
            <a:srgbClr val="7F57EB"/>
          </a:solidFill>
          <a:ln/>
        </p:spPr>
      </p:sp>
      <p:sp>
        <p:nvSpPr>
          <p:cNvPr id="49" name="text-99"/>
          <p:cNvSpPr txBox="1"/>
          <p:nvPr/>
        </p:nvSpPr>
        <p:spPr>
          <a:xfrm>
            <a:off x="5588000" y="3797300"/>
            <a:ext cx="76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950" dirty="0"/>
          </a:p>
        </p:txBody>
      </p:sp>
      <p:sp>
        <p:nvSpPr>
          <p:cNvPr id="50" name="line-100"/>
          <p:cNvSpPr/>
          <p:nvPr/>
        </p:nvSpPr>
        <p:spPr>
          <a:xfrm flipH="1">
            <a:off x="6350000" y="367030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1" name="line-101"/>
          <p:cNvSpPr/>
          <p:nvPr/>
        </p:nvSpPr>
        <p:spPr>
          <a:xfrm>
            <a:off x="6350000" y="394335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2" name="shape-102"/>
          <p:cNvSpPr/>
          <p:nvPr/>
        </p:nvSpPr>
        <p:spPr>
          <a:xfrm>
            <a:off x="6858000" y="35560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3" name="shape-103"/>
          <p:cNvSpPr/>
          <p:nvPr/>
        </p:nvSpPr>
        <p:spPr>
          <a:xfrm>
            <a:off x="6858000" y="41021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4" name="text-104"/>
          <p:cNvSpPr txBox="1"/>
          <p:nvPr/>
        </p:nvSpPr>
        <p:spPr>
          <a:xfrm>
            <a:off x="7874000" y="36195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789</a:t>
            </a:r>
            <a:endParaRPr lang="en-US" sz="3200" dirty="0"/>
          </a:p>
        </p:txBody>
      </p:sp>
      <p:sp>
        <p:nvSpPr>
          <p:cNvPr id="55" name="text-105"/>
          <p:cNvSpPr txBox="1"/>
          <p:nvPr/>
        </p:nvSpPr>
        <p:spPr>
          <a:xfrm>
            <a:off x="7874000" y="4076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отзывов висят сразу на нескольких заказах</a:t>
            </a:r>
            <a:endParaRPr lang="en-US" sz="1050" dirty="0"/>
          </a:p>
        </p:txBody>
      </p:sp>
      <p:sp>
        <p:nvSpPr>
          <p:cNvPr id="56" name="shape-106"/>
          <p:cNvSpPr/>
          <p:nvPr/>
        </p:nvSpPr>
        <p:spPr>
          <a:xfrm>
            <a:off x="5588000" y="4826000"/>
            <a:ext cx="9207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57" name="text-107"/>
          <p:cNvSpPr txBox="1"/>
          <p:nvPr/>
        </p:nvSpPr>
        <p:spPr>
          <a:xfrm>
            <a:off x="5588000" y="4826000"/>
            <a:ext cx="9207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1050" dirty="0"/>
          </a:p>
        </p:txBody>
      </p:sp>
      <p:sp>
        <p:nvSpPr>
          <p:cNvPr id="58" name="shape-108"/>
          <p:cNvSpPr/>
          <p:nvPr/>
        </p:nvSpPr>
        <p:spPr>
          <a:xfrm>
            <a:off x="6572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9" name="text-109"/>
          <p:cNvSpPr txBox="1"/>
          <p:nvPr/>
        </p:nvSpPr>
        <p:spPr>
          <a:xfrm>
            <a:off x="6572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-110"/>
          <p:cNvSpPr/>
          <p:nvPr/>
        </p:nvSpPr>
        <p:spPr>
          <a:xfrm>
            <a:off x="6953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1" name="text-111"/>
          <p:cNvSpPr txBox="1"/>
          <p:nvPr/>
        </p:nvSpPr>
        <p:spPr>
          <a:xfrm>
            <a:off x="6953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-112"/>
          <p:cNvSpPr/>
          <p:nvPr/>
        </p:nvSpPr>
        <p:spPr>
          <a:xfrm>
            <a:off x="7334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3" name="text-113"/>
          <p:cNvSpPr txBox="1"/>
          <p:nvPr/>
        </p:nvSpPr>
        <p:spPr>
          <a:xfrm>
            <a:off x="7334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text-114"/>
          <p:cNvSpPr txBox="1"/>
          <p:nvPr/>
        </p:nvSpPr>
        <p:spPr>
          <a:xfrm>
            <a:off x="7874000" y="47117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order_item_id</a:t>
            </a:r>
            <a:endParaRPr lang="en-US" sz="2000" dirty="0"/>
          </a:p>
        </p:txBody>
      </p:sp>
      <p:sp>
        <p:nvSpPr>
          <p:cNvPr id="65" name="text-115"/>
          <p:cNvSpPr txBox="1"/>
          <p:nvPr/>
        </p:nvSpPr>
        <p:spPr>
          <a:xfrm>
            <a:off x="7874000" y="5092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строки внутри заказа, а не ключ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68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5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5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13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8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8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2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8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8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8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8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4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8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8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58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8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8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6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8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8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18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18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2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15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315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19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8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8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203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8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8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214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8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8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18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18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236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18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18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248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18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18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259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18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18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18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18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7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71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171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281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293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8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412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419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439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446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" presetClass="entr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2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225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52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1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459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466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473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5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53" presetClass="entr" presetSubtype="16" fill="hold" grpId="0" nodeType="withEffect">
                                  <p:stCondLst>
                                    <p:cond delay="473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315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315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126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479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15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48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158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493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158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158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158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51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158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518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315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315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26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27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27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108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18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53" presetClass="entr" presetSubtype="16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22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22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9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225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225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9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1" dur="158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8" fill="hold" grpId="0" nodeType="withEffect">
                                  <p:stCondLst>
                                    <p:cond delay="743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158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76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171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171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203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203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3" dur="81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53" presetClass="entr" presetSubtype="16" fill="hold" grpId="0" nodeType="withEffect">
                                  <p:stCondLst>
                                    <p:cond delay="846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6" dur="203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203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8" dur="81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225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" dur="225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5" dur="225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9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225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225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9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225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225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86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203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203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81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986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3" dur="203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203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81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135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135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1026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203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203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81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1026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203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203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81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203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203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81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grpId="0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7" dur="203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8" dur="203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81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6" presetClass="emph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animScale>
                                      <p:cBhvr>
                                        <p:cTn id="261" dur="1300" repeatCount="indefinite" accel="50000" decel="500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225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39" grpId="1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1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потери</a:t>
            </a:r>
            <a:endParaRPr lang="en-US" sz="3400" dirty="0"/>
          </a:p>
        </p:txBody>
      </p:sp>
      <p:sp>
        <p:nvSpPr>
          <p:cNvPr id="4" name="line-117"/>
          <p:cNvSpPr/>
          <p:nvPr/>
        </p:nvSpPr>
        <p:spPr>
          <a:xfrm>
            <a:off x="762000" y="46355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5" name="shape-118"/>
          <p:cNvSpPr/>
          <p:nvPr/>
        </p:nvSpPr>
        <p:spPr>
          <a:xfrm>
            <a:off x="812800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6" name="text-119"/>
          <p:cNvSpPr txBox="1"/>
          <p:nvPr/>
        </p:nvSpPr>
        <p:spPr>
          <a:xfrm>
            <a:off x="812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7" name="text-120"/>
          <p:cNvSpPr txBox="1"/>
          <p:nvPr/>
        </p:nvSpPr>
        <p:spPr>
          <a:xfrm>
            <a:off x="812800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2016</a:t>
            </a:r>
            <a:endParaRPr lang="en-US" sz="900" dirty="0"/>
          </a:p>
        </p:txBody>
      </p:sp>
      <p:sp>
        <p:nvSpPr>
          <p:cNvPr id="8" name="shape-121"/>
          <p:cNvSpPr/>
          <p:nvPr/>
        </p:nvSpPr>
        <p:spPr>
          <a:xfrm>
            <a:off x="1223108" y="4526412"/>
            <a:ext cx="308708" cy="109088"/>
          </a:xfrm>
          <a:prstGeom prst="roundRect">
            <a:avLst>
              <a:gd name="adj" fmla="val 34926"/>
            </a:avLst>
          </a:prstGeom>
          <a:solidFill>
            <a:srgbClr val="328EF9"/>
          </a:solidFill>
          <a:ln/>
        </p:spPr>
      </p:sp>
      <p:sp>
        <p:nvSpPr>
          <p:cNvPr id="9" name="text-122"/>
          <p:cNvSpPr txBox="1"/>
          <p:nvPr/>
        </p:nvSpPr>
        <p:spPr>
          <a:xfrm>
            <a:off x="1223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10" name="text-123"/>
          <p:cNvSpPr txBox="1"/>
          <p:nvPr/>
        </p:nvSpPr>
        <p:spPr>
          <a:xfrm>
            <a:off x="1633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11" name="shape-124"/>
          <p:cNvSpPr/>
          <p:nvPr/>
        </p:nvSpPr>
        <p:spPr>
          <a:xfrm>
            <a:off x="2043723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12" name="text-125"/>
          <p:cNvSpPr txBox="1"/>
          <p:nvPr/>
        </p:nvSpPr>
        <p:spPr>
          <a:xfrm>
            <a:off x="2043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13" name="shape-126"/>
          <p:cNvSpPr/>
          <p:nvPr/>
        </p:nvSpPr>
        <p:spPr>
          <a:xfrm>
            <a:off x="2454031" y="4366147"/>
            <a:ext cx="308708" cy="269353"/>
          </a:xfrm>
          <a:prstGeom prst="roundRect">
            <a:avLst>
              <a:gd name="adj" fmla="val 14145"/>
            </a:avLst>
          </a:prstGeom>
          <a:solidFill>
            <a:srgbClr val="328EF9"/>
          </a:solidFill>
          <a:ln/>
        </p:spPr>
      </p:sp>
      <p:sp>
        <p:nvSpPr>
          <p:cNvPr id="14" name="text-127"/>
          <p:cNvSpPr txBox="1"/>
          <p:nvPr/>
        </p:nvSpPr>
        <p:spPr>
          <a:xfrm>
            <a:off x="2454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15" name="text-128"/>
          <p:cNvSpPr txBox="1"/>
          <p:nvPr/>
        </p:nvSpPr>
        <p:spPr>
          <a:xfrm>
            <a:off x="2454031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2017</a:t>
            </a:r>
            <a:endParaRPr lang="en-US" sz="900" dirty="0"/>
          </a:p>
        </p:txBody>
      </p:sp>
      <p:sp>
        <p:nvSpPr>
          <p:cNvPr id="16" name="shape-129"/>
          <p:cNvSpPr/>
          <p:nvPr/>
        </p:nvSpPr>
        <p:spPr>
          <a:xfrm>
            <a:off x="2864338" y="4036189"/>
            <a:ext cx="308708" cy="599311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7" name="text-130"/>
          <p:cNvSpPr txBox="1"/>
          <p:nvPr/>
        </p:nvSpPr>
        <p:spPr>
          <a:xfrm>
            <a:off x="2864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18" name="shape-131"/>
          <p:cNvSpPr/>
          <p:nvPr/>
        </p:nvSpPr>
        <p:spPr>
          <a:xfrm>
            <a:off x="3274646" y="3732494"/>
            <a:ext cx="308708" cy="9030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9" name="text-132"/>
          <p:cNvSpPr txBox="1"/>
          <p:nvPr/>
        </p:nvSpPr>
        <p:spPr>
          <a:xfrm>
            <a:off x="3274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0" name="shape-133"/>
          <p:cNvSpPr/>
          <p:nvPr/>
        </p:nvSpPr>
        <p:spPr>
          <a:xfrm>
            <a:off x="3684954" y="3826094"/>
            <a:ext cx="308708" cy="8094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1" name="text-134"/>
          <p:cNvSpPr txBox="1"/>
          <p:nvPr/>
        </p:nvSpPr>
        <p:spPr>
          <a:xfrm>
            <a:off x="3684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22" name="shape-135"/>
          <p:cNvSpPr/>
          <p:nvPr/>
        </p:nvSpPr>
        <p:spPr>
          <a:xfrm>
            <a:off x="4095262" y="3389742"/>
            <a:ext cx="308708" cy="124575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3" name="text-136"/>
          <p:cNvSpPr txBox="1"/>
          <p:nvPr/>
        </p:nvSpPr>
        <p:spPr>
          <a:xfrm>
            <a:off x="4095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4" name="shape-137"/>
          <p:cNvSpPr/>
          <p:nvPr/>
        </p:nvSpPr>
        <p:spPr>
          <a:xfrm>
            <a:off x="4505569" y="3542936"/>
            <a:ext cx="308708" cy="109256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5" name="text-138"/>
          <p:cNvSpPr txBox="1"/>
          <p:nvPr/>
        </p:nvSpPr>
        <p:spPr>
          <a:xfrm>
            <a:off x="4505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6" name="shape-139"/>
          <p:cNvSpPr/>
          <p:nvPr/>
        </p:nvSpPr>
        <p:spPr>
          <a:xfrm>
            <a:off x="4915877" y="3279980"/>
            <a:ext cx="308708" cy="135552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7" name="text-140"/>
          <p:cNvSpPr txBox="1"/>
          <p:nvPr/>
        </p:nvSpPr>
        <p:spPr>
          <a:xfrm>
            <a:off x="4915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8" name="shape-141"/>
          <p:cNvSpPr/>
          <p:nvPr/>
        </p:nvSpPr>
        <p:spPr>
          <a:xfrm>
            <a:off x="5326185" y="3177290"/>
            <a:ext cx="308708" cy="14582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9" name="text-142"/>
          <p:cNvSpPr txBox="1"/>
          <p:nvPr/>
        </p:nvSpPr>
        <p:spPr>
          <a:xfrm>
            <a:off x="5326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30" name="shape-143"/>
          <p:cNvSpPr/>
          <p:nvPr/>
        </p:nvSpPr>
        <p:spPr>
          <a:xfrm>
            <a:off x="5736492" y="3192777"/>
            <a:ext cx="308708" cy="1442723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1" name="text-144"/>
          <p:cNvSpPr txBox="1"/>
          <p:nvPr/>
        </p:nvSpPr>
        <p:spPr>
          <a:xfrm>
            <a:off x="5736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32" name="shape-145"/>
          <p:cNvSpPr/>
          <p:nvPr/>
        </p:nvSpPr>
        <p:spPr>
          <a:xfrm>
            <a:off x="6146800" y="3076282"/>
            <a:ext cx="308708" cy="155921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3" name="text-146"/>
          <p:cNvSpPr txBox="1"/>
          <p:nvPr/>
        </p:nvSpPr>
        <p:spPr>
          <a:xfrm>
            <a:off x="6146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34" name="shape-147"/>
          <p:cNvSpPr/>
          <p:nvPr/>
        </p:nvSpPr>
        <p:spPr>
          <a:xfrm>
            <a:off x="6557108" y="2095500"/>
            <a:ext cx="308708" cy="254000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5" name="text-148"/>
          <p:cNvSpPr txBox="1"/>
          <p:nvPr/>
        </p:nvSpPr>
        <p:spPr>
          <a:xfrm>
            <a:off x="6557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36" name="shape-149"/>
          <p:cNvSpPr/>
          <p:nvPr/>
        </p:nvSpPr>
        <p:spPr>
          <a:xfrm>
            <a:off x="6967415" y="2725450"/>
            <a:ext cx="308708" cy="191005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7" name="text-150"/>
          <p:cNvSpPr txBox="1"/>
          <p:nvPr/>
        </p:nvSpPr>
        <p:spPr>
          <a:xfrm>
            <a:off x="6967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38" name="shape-151"/>
          <p:cNvSpPr/>
          <p:nvPr/>
        </p:nvSpPr>
        <p:spPr>
          <a:xfrm>
            <a:off x="7377723" y="2188090"/>
            <a:ext cx="308708" cy="24474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9" name="text-152"/>
          <p:cNvSpPr txBox="1"/>
          <p:nvPr/>
        </p:nvSpPr>
        <p:spPr>
          <a:xfrm>
            <a:off x="7377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40" name="text-153"/>
          <p:cNvSpPr txBox="1"/>
          <p:nvPr/>
        </p:nvSpPr>
        <p:spPr>
          <a:xfrm>
            <a:off x="7377723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2018</a:t>
            </a:r>
            <a:endParaRPr lang="en-US" sz="900" dirty="0"/>
          </a:p>
        </p:txBody>
      </p:sp>
      <p:sp>
        <p:nvSpPr>
          <p:cNvPr id="41" name="shape-154"/>
          <p:cNvSpPr/>
          <p:nvPr/>
        </p:nvSpPr>
        <p:spPr>
          <a:xfrm>
            <a:off x="7788031" y="2370240"/>
            <a:ext cx="308708" cy="226526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2" name="text-155"/>
          <p:cNvSpPr txBox="1"/>
          <p:nvPr/>
        </p:nvSpPr>
        <p:spPr>
          <a:xfrm>
            <a:off x="7788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43" name="shape-156"/>
          <p:cNvSpPr/>
          <p:nvPr/>
        </p:nvSpPr>
        <p:spPr>
          <a:xfrm>
            <a:off x="8198338" y="2207618"/>
            <a:ext cx="308708" cy="242788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4" name="text-157"/>
          <p:cNvSpPr txBox="1"/>
          <p:nvPr/>
        </p:nvSpPr>
        <p:spPr>
          <a:xfrm>
            <a:off x="8198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5" name="shape-158"/>
          <p:cNvSpPr/>
          <p:nvPr/>
        </p:nvSpPr>
        <p:spPr>
          <a:xfrm>
            <a:off x="8608646" y="2299198"/>
            <a:ext cx="308708" cy="233630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6" name="text-159"/>
          <p:cNvSpPr txBox="1"/>
          <p:nvPr/>
        </p:nvSpPr>
        <p:spPr>
          <a:xfrm>
            <a:off x="8608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47" name="shape-160"/>
          <p:cNvSpPr/>
          <p:nvPr/>
        </p:nvSpPr>
        <p:spPr>
          <a:xfrm>
            <a:off x="9018954" y="2321420"/>
            <a:ext cx="308708" cy="231408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8" name="text-161"/>
          <p:cNvSpPr txBox="1"/>
          <p:nvPr/>
        </p:nvSpPr>
        <p:spPr>
          <a:xfrm>
            <a:off x="9018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9" name="shape-162"/>
          <p:cNvSpPr/>
          <p:nvPr/>
        </p:nvSpPr>
        <p:spPr>
          <a:xfrm>
            <a:off x="9429262" y="2559124"/>
            <a:ext cx="308708" cy="207637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0" name="text-163"/>
          <p:cNvSpPr txBox="1"/>
          <p:nvPr/>
        </p:nvSpPr>
        <p:spPr>
          <a:xfrm>
            <a:off x="9429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1" name="shape-164"/>
          <p:cNvSpPr/>
          <p:nvPr/>
        </p:nvSpPr>
        <p:spPr>
          <a:xfrm>
            <a:off x="9839569" y="2517038"/>
            <a:ext cx="308708" cy="211846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2" name="text-165"/>
          <p:cNvSpPr txBox="1"/>
          <p:nvPr/>
        </p:nvSpPr>
        <p:spPr>
          <a:xfrm>
            <a:off x="9839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3" name="shape-166"/>
          <p:cNvSpPr/>
          <p:nvPr/>
        </p:nvSpPr>
        <p:spPr>
          <a:xfrm>
            <a:off x="10249877" y="2442966"/>
            <a:ext cx="308708" cy="219253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4" name="text-167"/>
          <p:cNvSpPr txBox="1"/>
          <p:nvPr/>
        </p:nvSpPr>
        <p:spPr>
          <a:xfrm>
            <a:off x="10249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55" name="shape-168"/>
          <p:cNvSpPr/>
          <p:nvPr/>
        </p:nvSpPr>
        <p:spPr>
          <a:xfrm>
            <a:off x="10660185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6" name="text-169"/>
          <p:cNvSpPr txBox="1"/>
          <p:nvPr/>
        </p:nvSpPr>
        <p:spPr>
          <a:xfrm>
            <a:off x="10660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57" name="shape-170"/>
          <p:cNvSpPr/>
          <p:nvPr/>
        </p:nvSpPr>
        <p:spPr>
          <a:xfrm>
            <a:off x="11070492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8" name="text-171"/>
          <p:cNvSpPr txBox="1"/>
          <p:nvPr/>
        </p:nvSpPr>
        <p:spPr>
          <a:xfrm>
            <a:off x="11070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59" name="shape-172"/>
          <p:cNvSpPr/>
          <p:nvPr/>
        </p:nvSpPr>
        <p:spPr>
          <a:xfrm>
            <a:off x="1508369" y="4165600"/>
            <a:ext cx="558800" cy="558800"/>
          </a:xfrm>
          <a:prstGeom prst="ellipse">
            <a:avLst/>
          </a:prstGeom>
          <a:ln w="38100">
            <a:solidFill>
              <a:srgbClr val="D3263A"/>
            </a:solidFill>
            <a:prstDash val="dash"/>
          </a:ln>
        </p:spPr>
      </p:sp>
      <p:sp>
        <p:nvSpPr>
          <p:cNvPr id="60" name="shape-173"/>
          <p:cNvSpPr/>
          <p:nvPr/>
        </p:nvSpPr>
        <p:spPr>
          <a:xfrm>
            <a:off x="2232269" y="2540000"/>
            <a:ext cx="2984500" cy="635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1" name="text-174"/>
          <p:cNvSpPr txBox="1"/>
          <p:nvPr/>
        </p:nvSpPr>
        <p:spPr>
          <a:xfrm>
            <a:off x="2397369" y="25908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заказов</a:t>
            </a:r>
            <a:endParaRPr lang="en-US" sz="2000" dirty="0"/>
          </a:p>
        </p:txBody>
      </p:sp>
      <p:sp>
        <p:nvSpPr>
          <p:cNvPr id="62" name="text-175"/>
          <p:cNvSpPr txBox="1"/>
          <p:nvPr/>
        </p:nvSpPr>
        <p:spPr>
          <a:xfrm>
            <a:off x="2397369" y="2921000"/>
            <a:ext cx="273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ноябрь 2016 молча выпадет из отчёта</a:t>
            </a:r>
            <a:endParaRPr lang="en-US" sz="950" dirty="0"/>
          </a:p>
        </p:txBody>
      </p:sp>
      <p:sp>
        <p:nvSpPr>
          <p:cNvPr id="63" name="line-176"/>
          <p:cNvSpPr/>
          <p:nvPr/>
        </p:nvSpPr>
        <p:spPr>
          <a:xfrm>
            <a:off x="762000" y="52070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64" name="text-177"/>
          <p:cNvSpPr txBox="1"/>
          <p:nvPr/>
        </p:nvSpPr>
        <p:spPr>
          <a:xfrm>
            <a:off x="762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610</a:t>
            </a:r>
            <a:endParaRPr lang="en-US" sz="2800" dirty="0"/>
          </a:p>
        </p:txBody>
      </p:sp>
      <p:sp>
        <p:nvSpPr>
          <p:cNvPr id="65" name="text-178"/>
          <p:cNvSpPr txBox="1"/>
          <p:nvPr/>
        </p:nvSpPr>
        <p:spPr>
          <a:xfrm>
            <a:off x="762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товаров без категории</a:t>
            </a:r>
            <a:endParaRPr lang="en-US" sz="1000" dirty="0"/>
          </a:p>
        </p:txBody>
      </p:sp>
      <p:sp>
        <p:nvSpPr>
          <p:cNvPr id="66" name="text-179"/>
          <p:cNvSpPr txBox="1"/>
          <p:nvPr/>
        </p:nvSpPr>
        <p:spPr>
          <a:xfrm>
            <a:off x="3492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775</a:t>
            </a:r>
            <a:endParaRPr lang="en-US" sz="2800" dirty="0"/>
          </a:p>
        </p:txBody>
      </p:sp>
      <p:sp>
        <p:nvSpPr>
          <p:cNvPr id="67" name="text-180"/>
          <p:cNvSpPr txBox="1"/>
          <p:nvPr/>
        </p:nvSpPr>
        <p:spPr>
          <a:xfrm>
            <a:off x="3492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 без позиций: unavailable и canceled</a:t>
            </a:r>
            <a:endParaRPr lang="en-US" sz="1000" dirty="0"/>
          </a:p>
        </p:txBody>
      </p:sp>
      <p:sp>
        <p:nvSpPr>
          <p:cNvPr id="68" name="text-181"/>
          <p:cNvSpPr txBox="1"/>
          <p:nvPr/>
        </p:nvSpPr>
        <p:spPr>
          <a:xfrm>
            <a:off x="6223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170 726,63</a:t>
            </a:r>
            <a:endParaRPr lang="en-US" sz="2800" dirty="0"/>
          </a:p>
        </p:txBody>
      </p:sp>
      <p:sp>
        <p:nvSpPr>
          <p:cNvPr id="69" name="text-182"/>
          <p:cNvSpPr txBox="1"/>
          <p:nvPr/>
        </p:nvSpPr>
        <p:spPr>
          <a:xfrm>
            <a:off x="6223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выручки на товарах без категории</a:t>
            </a:r>
            <a:endParaRPr lang="en-US" sz="1000" dirty="0"/>
          </a:p>
        </p:txBody>
      </p:sp>
      <p:sp>
        <p:nvSpPr>
          <p:cNvPr id="70" name="text-183"/>
          <p:cNvSpPr txBox="1"/>
          <p:nvPr/>
        </p:nvSpPr>
        <p:spPr>
          <a:xfrm>
            <a:off x="8953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≠ 71</a:t>
            </a:r>
            <a:endParaRPr lang="en-US" sz="2800" dirty="0"/>
          </a:p>
        </p:txBody>
      </p:sp>
      <p:sp>
        <p:nvSpPr>
          <p:cNvPr id="71" name="text-184"/>
          <p:cNvSpPr txBox="1"/>
          <p:nvPr/>
        </p:nvSpPr>
        <p:spPr>
          <a:xfrm>
            <a:off x="8953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категорий в товарах и в переводах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68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31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8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338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338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58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3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78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38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38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35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3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9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35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218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38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38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18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35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23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338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338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39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3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25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338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338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5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3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6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3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338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338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35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29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338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338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99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3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338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338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3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33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33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3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338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338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3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338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338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35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401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38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38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401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35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421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338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338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421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35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338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338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3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461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338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338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61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3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338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338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3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502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33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33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502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35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135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522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338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338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522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13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542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338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338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542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135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53" presetClass="entr" presetSubtype="16" fill="hold" grpId="0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338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338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135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58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338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338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583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35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603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338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338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603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135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53" presetClass="entr" presetSubtype="16" fill="hold" grpId="0" nodeType="withEffect">
                                  <p:stCondLst>
                                    <p:cond delay="623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338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338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623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135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644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338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338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644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5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664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338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338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664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135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08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27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27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108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108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108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8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7" dur="315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923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158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158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986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158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158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1013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25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6" presetClass="emph" presetSubtype="0" fill="hold" grpId="1" nodeType="withEffect">
                                  <p:stCondLst>
                                    <p:cond delay="1035"/>
                                  </p:stCondLst>
                                  <p:childTnLst>
                                    <p:animScale>
                                      <p:cBhvr>
                                        <p:cTn id="230" dur="800" repeatCount="indefinite" accel="50000" decel="50000" autoRev="1" fill="hold"/>
                                        <p:tgtEl>
                                          <p:spTgt spid="5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nodeType="withEffect">
                                  <p:stCondLst>
                                    <p:cond delay="1049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158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4" dur="158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107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25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entr" presetSubtype="0" fill="hold" grpId="0" nodeType="withEffect">
                                  <p:stCondLst>
                                    <p:cond delay="1112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158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1" dur="158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1139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225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1202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225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59" grpId="1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85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Хронология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грязь</a:t>
            </a:r>
            <a:endParaRPr lang="en-US" sz="3400" dirty="0"/>
          </a:p>
        </p:txBody>
      </p:sp>
      <p:sp>
        <p:nvSpPr>
          <p:cNvPr id="4" name="line-186"/>
          <p:cNvSpPr/>
          <p:nvPr/>
        </p:nvSpPr>
        <p:spPr>
          <a:xfrm>
            <a:off x="1016000" y="4572000"/>
            <a:ext cx="6858000" cy="0"/>
          </a:xfrm>
          <a:prstGeom prst="line">
            <a:avLst/>
          </a:prstGeom>
          <a:noFill/>
          <a:ln w="38100">
            <a:solidFill>
              <a:srgbClr val="C9C9D1"/>
            </a:solidFill>
            <a:prstDash val="solid"/>
          </a:ln>
        </p:spPr>
      </p:sp>
      <p:sp>
        <p:nvSpPr>
          <p:cNvPr id="5" name="shape-187"/>
          <p:cNvSpPr/>
          <p:nvPr/>
        </p:nvSpPr>
        <p:spPr>
          <a:xfrm>
            <a:off x="1155700" y="4457700"/>
            <a:ext cx="228600" cy="228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6" name="text-188"/>
          <p:cNvSpPr txBox="1"/>
          <p:nvPr/>
        </p:nvSpPr>
        <p:spPr>
          <a:xfrm>
            <a:off x="571500" y="4762500"/>
            <a:ext cx="1397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оформлен</a:t>
            </a:r>
            <a:endParaRPr lang="en-US" sz="1200" dirty="0"/>
          </a:p>
        </p:txBody>
      </p:sp>
      <p:sp>
        <p:nvSpPr>
          <p:cNvPr id="7" name="shape-189"/>
          <p:cNvSpPr/>
          <p:nvPr/>
        </p:nvSpPr>
        <p:spPr>
          <a:xfrm>
            <a:off x="3251200" y="4457700"/>
            <a:ext cx="228600" cy="228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8" name="text-190"/>
          <p:cNvSpPr txBox="1"/>
          <p:nvPr/>
        </p:nvSpPr>
        <p:spPr>
          <a:xfrm>
            <a:off x="2667000" y="4762500"/>
            <a:ext cx="1397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оплачен</a:t>
            </a:r>
            <a:endParaRPr lang="en-US" sz="1200" dirty="0"/>
          </a:p>
        </p:txBody>
      </p:sp>
      <p:sp>
        <p:nvSpPr>
          <p:cNvPr id="9" name="shape-191"/>
          <p:cNvSpPr/>
          <p:nvPr/>
        </p:nvSpPr>
        <p:spPr>
          <a:xfrm>
            <a:off x="5410200" y="4457700"/>
            <a:ext cx="228600" cy="228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10" name="text-192"/>
          <p:cNvSpPr txBox="1"/>
          <p:nvPr/>
        </p:nvSpPr>
        <p:spPr>
          <a:xfrm>
            <a:off x="4826000" y="4762500"/>
            <a:ext cx="1397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передан</a:t>
            </a:r>
            <a:endParaRPr lang="en-US" sz="1200" dirty="0"/>
          </a:p>
        </p:txBody>
      </p:sp>
      <p:sp>
        <p:nvSpPr>
          <p:cNvPr id="11" name="shape-193"/>
          <p:cNvSpPr/>
          <p:nvPr/>
        </p:nvSpPr>
        <p:spPr>
          <a:xfrm>
            <a:off x="7505700" y="4457700"/>
            <a:ext cx="228600" cy="228600"/>
          </a:xfrm>
          <a:prstGeom prst="ellipse">
            <a:avLst/>
          </a:prstGeom>
          <a:solidFill>
            <a:srgbClr val="2348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12" name="text-194"/>
          <p:cNvSpPr txBox="1"/>
          <p:nvPr/>
        </p:nvSpPr>
        <p:spPr>
          <a:xfrm>
            <a:off x="6921500" y="4762500"/>
            <a:ext cx="1397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вручён</a:t>
            </a:r>
            <a:endParaRPr lang="en-US" sz="1200" dirty="0"/>
          </a:p>
        </p:txBody>
      </p:sp>
      <p:sp>
        <p:nvSpPr>
          <p:cNvPr id="13" name="arc-195"/>
          <p:cNvSpPr/>
          <p:nvPr/>
        </p:nvSpPr>
        <p:spPr>
          <a:xfrm>
            <a:off x="3365500" y="3365500"/>
            <a:ext cx="2159000" cy="1079500"/>
          </a:xfrm>
          <a:custGeom>
            <a:avLst/>
            <a:gdLst/>
            <a:ahLst/>
            <a:cxnLst/>
            <a:rect l="l" t="t" r="r" b="b"/>
            <a:pathLst>
              <a:path w="2159000" h="1079500">
                <a:moveTo>
                  <a:pt x="2159000" y="1079500"/>
                </a:moveTo>
                <a:cubicBezTo>
                  <a:pt x="2159000" y="-356235"/>
                  <a:pt x="0" y="-356235"/>
                  <a:pt x="0" y="1079500"/>
                </a:cubicBezTo>
              </a:path>
            </a:pathLst>
          </a:custGeom>
          <a:ln w="114300">
            <a:solidFill>
              <a:srgbClr val="D3263A"/>
            </a:solidFill>
            <a:prstDash val="solid"/>
            <a:tailEnd type="triangle"/>
          </a:ln>
        </p:spPr>
      </p:sp>
      <p:sp>
        <p:nvSpPr>
          <p:cNvPr id="14" name="arc-196"/>
          <p:cNvSpPr/>
          <p:nvPr/>
        </p:nvSpPr>
        <p:spPr>
          <a:xfrm>
            <a:off x="1270000" y="2540000"/>
            <a:ext cx="4254500" cy="1905000"/>
          </a:xfrm>
          <a:custGeom>
            <a:avLst/>
            <a:gdLst/>
            <a:ahLst/>
            <a:cxnLst/>
            <a:rect l="l" t="t" r="r" b="b"/>
            <a:pathLst>
              <a:path w="4254500" h="1905000">
                <a:moveTo>
                  <a:pt x="4254500" y="1905000"/>
                </a:moveTo>
                <a:cubicBezTo>
                  <a:pt x="4254500" y="-628650"/>
                  <a:pt x="0" y="-628650"/>
                  <a:pt x="0" y="1905000"/>
                </a:cubicBezTo>
              </a:path>
            </a:pathLst>
          </a:custGeom>
          <a:ln w="57150">
            <a:solidFill>
              <a:srgbClr val="D3263A"/>
            </a:solidFill>
            <a:prstDash val="solid"/>
            <a:tailEnd type="triangle"/>
          </a:ln>
        </p:spPr>
      </p:sp>
      <p:sp>
        <p:nvSpPr>
          <p:cNvPr id="15" name="arc-197"/>
          <p:cNvSpPr/>
          <p:nvPr/>
        </p:nvSpPr>
        <p:spPr>
          <a:xfrm>
            <a:off x="5524500" y="3683000"/>
            <a:ext cx="2095500" cy="762000"/>
          </a:xfrm>
          <a:custGeom>
            <a:avLst/>
            <a:gdLst/>
            <a:ahLst/>
            <a:cxnLst/>
            <a:rect l="l" t="t" r="r" b="b"/>
            <a:pathLst>
              <a:path w="2095500" h="762000">
                <a:moveTo>
                  <a:pt x="2095500" y="762000"/>
                </a:moveTo>
                <a:cubicBezTo>
                  <a:pt x="2095500" y="-251460"/>
                  <a:pt x="0" y="-251460"/>
                  <a:pt x="0" y="762000"/>
                </a:cubicBezTo>
              </a:path>
            </a:pathLst>
          </a:custGeom>
          <a:ln w="44450">
            <a:solidFill>
              <a:srgbClr val="D3263A"/>
            </a:solidFill>
            <a:prstDash val="solid"/>
            <a:tailEnd type="triangle"/>
          </a:ln>
        </p:spPr>
      </p:sp>
      <p:sp>
        <p:nvSpPr>
          <p:cNvPr id="16" name="text-198"/>
          <p:cNvSpPr txBox="1"/>
          <p:nvPr/>
        </p:nvSpPr>
        <p:spPr>
          <a:xfrm>
            <a:off x="3175000" y="3619500"/>
            <a:ext cx="254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1 359</a:t>
            </a:r>
            <a:endParaRPr lang="en-US" sz="2400" dirty="0"/>
          </a:p>
        </p:txBody>
      </p:sp>
      <p:sp>
        <p:nvSpPr>
          <p:cNvPr id="17" name="text-199"/>
          <p:cNvSpPr txBox="1"/>
          <p:nvPr/>
        </p:nvSpPr>
        <p:spPr>
          <a:xfrm>
            <a:off x="3175000" y="39878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отгружены раньше оплаты</a:t>
            </a:r>
            <a:endParaRPr lang="en-US" sz="950" dirty="0"/>
          </a:p>
        </p:txBody>
      </p:sp>
      <p:sp>
        <p:nvSpPr>
          <p:cNvPr id="18" name="text-200"/>
          <p:cNvSpPr txBox="1"/>
          <p:nvPr/>
        </p:nvSpPr>
        <p:spPr>
          <a:xfrm>
            <a:off x="2127250" y="1905000"/>
            <a:ext cx="254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2400" dirty="0"/>
          </a:p>
        </p:txBody>
      </p:sp>
      <p:sp>
        <p:nvSpPr>
          <p:cNvPr id="19" name="text-201"/>
          <p:cNvSpPr txBox="1"/>
          <p:nvPr/>
        </p:nvSpPr>
        <p:spPr>
          <a:xfrm>
            <a:off x="2127250" y="22733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отгружены раньше оформления</a:t>
            </a:r>
            <a:endParaRPr lang="en-US" sz="950" dirty="0"/>
          </a:p>
        </p:txBody>
      </p:sp>
      <p:sp>
        <p:nvSpPr>
          <p:cNvPr id="20" name="text-202"/>
          <p:cNvSpPr txBox="1"/>
          <p:nvPr/>
        </p:nvSpPr>
        <p:spPr>
          <a:xfrm>
            <a:off x="5302250" y="3022600"/>
            <a:ext cx="254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400" dirty="0"/>
          </a:p>
        </p:txBody>
      </p:sp>
      <p:sp>
        <p:nvSpPr>
          <p:cNvPr id="21" name="text-203"/>
          <p:cNvSpPr txBox="1"/>
          <p:nvPr/>
        </p:nvSpPr>
        <p:spPr>
          <a:xfrm>
            <a:off x="5302250" y="33909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вручены раньше отгрузки</a:t>
            </a:r>
            <a:endParaRPr lang="en-US" sz="950" dirty="0"/>
          </a:p>
        </p:txBody>
      </p:sp>
      <p:sp>
        <p:nvSpPr>
          <p:cNvPr id="22" name="shape-204"/>
          <p:cNvSpPr/>
          <p:nvPr/>
        </p:nvSpPr>
        <p:spPr>
          <a:xfrm>
            <a:off x="6413500" y="5067300"/>
            <a:ext cx="24130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23" name="text-205"/>
          <p:cNvSpPr txBox="1"/>
          <p:nvPr/>
        </p:nvSpPr>
        <p:spPr>
          <a:xfrm>
            <a:off x="6413500" y="5067300"/>
            <a:ext cx="2413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отменённых с датой вручения</a:t>
            </a:r>
            <a:endParaRPr lang="en-US" sz="950" dirty="0"/>
          </a:p>
        </p:txBody>
      </p:sp>
      <p:sp>
        <p:nvSpPr>
          <p:cNvPr id="24" name="text-206"/>
          <p:cNvSpPr txBox="1"/>
          <p:nvPr/>
        </p:nvSpPr>
        <p:spPr>
          <a:xfrm>
            <a:off x="8890000" y="19050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611</a:t>
            </a:r>
            <a:endParaRPr lang="en-US" sz="3200" dirty="0"/>
          </a:p>
        </p:txBody>
      </p:sp>
      <p:sp>
        <p:nvSpPr>
          <p:cNvPr id="25" name="text-207"/>
          <p:cNvSpPr txBox="1"/>
          <p:nvPr/>
        </p:nvSpPr>
        <p:spPr>
          <a:xfrm>
            <a:off x="8890000" y="23749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написаний городов у продавцов</a:t>
            </a:r>
            <a:endParaRPr lang="en-US" sz="1000" dirty="0"/>
          </a:p>
        </p:txBody>
      </p:sp>
      <p:sp>
        <p:nvSpPr>
          <p:cNvPr id="26" name="shape-208"/>
          <p:cNvSpPr/>
          <p:nvPr/>
        </p:nvSpPr>
        <p:spPr>
          <a:xfrm>
            <a:off x="8890000" y="2667000"/>
            <a:ext cx="11493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7" name="text-209"/>
          <p:cNvSpPr txBox="1"/>
          <p:nvPr/>
        </p:nvSpPr>
        <p:spPr>
          <a:xfrm>
            <a:off x="8890000" y="2667000"/>
            <a:ext cx="1149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auriflama/sp</a:t>
            </a:r>
            <a:endParaRPr lang="en-US" sz="950" dirty="0"/>
          </a:p>
        </p:txBody>
      </p:sp>
      <p:sp>
        <p:nvSpPr>
          <p:cNvPr id="28" name="shape-210"/>
          <p:cNvSpPr/>
          <p:nvPr/>
        </p:nvSpPr>
        <p:spPr>
          <a:xfrm>
            <a:off x="8890000" y="2971800"/>
            <a:ext cx="25209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9" name="text-211"/>
          <p:cNvSpPr txBox="1"/>
          <p:nvPr/>
        </p:nvSpPr>
        <p:spPr>
          <a:xfrm>
            <a:off x="8890000" y="2971800"/>
            <a:ext cx="25209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rio de janeiro \ rio de janeiro</a:t>
            </a:r>
            <a:endParaRPr lang="en-US" sz="950" dirty="0"/>
          </a:p>
        </p:txBody>
      </p:sp>
      <p:sp>
        <p:nvSpPr>
          <p:cNvPr id="30" name="shape-212"/>
          <p:cNvSpPr/>
          <p:nvPr/>
        </p:nvSpPr>
        <p:spPr>
          <a:xfrm>
            <a:off x="8890000" y="3276600"/>
            <a:ext cx="857250" cy="2540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1" name="text-213"/>
          <p:cNvSpPr txBox="1"/>
          <p:nvPr/>
        </p:nvSpPr>
        <p:spPr>
          <a:xfrm>
            <a:off x="8890000" y="3276600"/>
            <a:ext cx="857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04482255</a:t>
            </a:r>
            <a:endParaRPr lang="en-US" sz="950" dirty="0"/>
          </a:p>
        </p:txBody>
      </p:sp>
      <p:sp>
        <p:nvSpPr>
          <p:cNvPr id="32" name="text-214"/>
          <p:cNvSpPr txBox="1"/>
          <p:nvPr/>
        </p:nvSpPr>
        <p:spPr>
          <a:xfrm>
            <a:off x="8890000" y="3746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1 139</a:t>
            </a:r>
            <a:endParaRPr lang="en-US" sz="3200" dirty="0"/>
          </a:p>
        </p:txBody>
      </p:sp>
      <p:sp>
        <p:nvSpPr>
          <p:cNvPr id="33" name="text-215"/>
          <p:cNvSpPr txBox="1"/>
          <p:nvPr/>
        </p:nvSpPr>
        <p:spPr>
          <a:xfrm>
            <a:off x="8890000" y="42164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заказов: платежи не бьются с суммой позиций</a:t>
            </a:r>
            <a:endParaRPr lang="en-US" sz="1000" dirty="0"/>
          </a:p>
        </p:txBody>
      </p:sp>
      <p:sp>
        <p:nvSpPr>
          <p:cNvPr id="34" name="shape-216"/>
          <p:cNvSpPr/>
          <p:nvPr/>
        </p:nvSpPr>
        <p:spPr>
          <a:xfrm>
            <a:off x="762000" y="5715000"/>
            <a:ext cx="10668000" cy="508000"/>
          </a:xfrm>
          <a:prstGeom prst="roundRect">
            <a:avLst>
              <a:gd name="adj" fmla="val 32500"/>
            </a:avLst>
          </a:prstGeom>
          <a:solidFill>
            <a:srgbClr val="F0E4FF"/>
          </a:solidFill>
          <a:ln/>
        </p:spPr>
      </p:sp>
      <p:pic>
        <p:nvPicPr>
          <p:cNvPr id="35" name="pic-217" descr="W:\Projects\hacks\rwb-new\presentation\pptx\assets\ico-shield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54700"/>
            <a:ext cx="228600" cy="228600"/>
          </a:xfrm>
          <a:prstGeom prst="rect">
            <a:avLst/>
          </a:prstGeom>
        </p:spPr>
      </p:pic>
      <p:sp>
        <p:nvSpPr>
          <p:cNvPr id="36" name="text-218"/>
          <p:cNvSpPr txBox="1"/>
          <p:nvPr/>
        </p:nvSpPr>
        <p:spPr>
          <a:xfrm>
            <a:off x="1308100" y="5715000"/>
            <a:ext cx="993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источникам доверять нельзя. Проверки живут в модели, а не в голове аналитика.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5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31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25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25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13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18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162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25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25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9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8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18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2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3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135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9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18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306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25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25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9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3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203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3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203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29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18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3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203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3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203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31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2" fill="hold" grpId="0" nodeType="withEffect">
                                  <p:stCondLst>
                                    <p:cond delay="42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3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203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2" fill="hold" grpId="0" nodeType="withEffect">
                                  <p:stCondLst>
                                    <p:cond delay="423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3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203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49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3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135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518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31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225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225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9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31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9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98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743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225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225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9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788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22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22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9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9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2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225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22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225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22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225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1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решили: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правила переноса</a:t>
            </a:r>
            <a:endParaRPr lang="en-US" sz="3400" dirty="0"/>
          </a:p>
        </p:txBody>
      </p:sp>
      <p:sp>
        <p:nvSpPr>
          <p:cNvPr id="4" name="shape-220"/>
          <p:cNvSpPr/>
          <p:nvPr/>
        </p:nvSpPr>
        <p:spPr>
          <a:xfrm>
            <a:off x="762000" y="161925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F0E4FF"/>
          </a:solidFill>
          <a:ln/>
        </p:spPr>
      </p:sp>
      <p:sp>
        <p:nvSpPr>
          <p:cNvPr id="5" name="text-221"/>
          <p:cNvSpPr txBox="1"/>
          <p:nvPr/>
        </p:nvSpPr>
        <p:spPr>
          <a:xfrm>
            <a:off x="762000" y="1619250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raw: всё text</a:t>
            </a:r>
            <a:endParaRPr lang="en-US" sz="1050" dirty="0"/>
          </a:p>
        </p:txBody>
      </p:sp>
      <p:sp>
        <p:nvSpPr>
          <p:cNvPr id="6" name="shape-222"/>
          <p:cNvSpPr/>
          <p:nvPr/>
        </p:nvSpPr>
        <p:spPr>
          <a:xfrm>
            <a:off x="8667750" y="1619250"/>
            <a:ext cx="27622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7" name="text-223"/>
          <p:cNvSpPr txBox="1"/>
          <p:nvPr/>
        </p:nvSpPr>
        <p:spPr>
          <a:xfrm>
            <a:off x="8667750" y="1619250"/>
            <a:ext cx="2762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core: типы, NULL, PK, FK, CHECK</a:t>
            </a:r>
            <a:endParaRPr lang="en-US" sz="1050" dirty="0"/>
          </a:p>
        </p:txBody>
      </p:sp>
      <p:sp>
        <p:nvSpPr>
          <p:cNvPr id="8" name="text-224"/>
          <p:cNvSpPr txBox="1"/>
          <p:nvPr/>
        </p:nvSpPr>
        <p:spPr>
          <a:xfrm>
            <a:off x="76200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purchase_ts</a:t>
            </a:r>
            <a:endParaRPr lang="en-US" sz="950" dirty="0"/>
          </a:p>
        </p:txBody>
      </p:sp>
      <p:sp>
        <p:nvSpPr>
          <p:cNvPr id="9" name="shape-225"/>
          <p:cNvSpPr/>
          <p:nvPr/>
        </p:nvSpPr>
        <p:spPr>
          <a:xfrm>
            <a:off x="76200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0" name="text-226"/>
          <p:cNvSpPr txBox="1"/>
          <p:nvPr/>
        </p:nvSpPr>
        <p:spPr>
          <a:xfrm>
            <a:off x="85090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'2017-10-02 10:56'</a:t>
            </a:r>
            <a:endParaRPr lang="en-US" sz="950" dirty="0"/>
          </a:p>
        </p:txBody>
      </p:sp>
      <p:sp>
        <p:nvSpPr>
          <p:cNvPr id="11" name="shape-227"/>
          <p:cNvSpPr/>
          <p:nvPr/>
        </p:nvSpPr>
        <p:spPr>
          <a:xfrm>
            <a:off x="158009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12" name="run-228"/>
          <p:cNvSpPr/>
          <p:nvPr/>
        </p:nvSpPr>
        <p:spPr>
          <a:xfrm>
            <a:off x="155469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3" name="shape-229"/>
          <p:cNvSpPr/>
          <p:nvPr/>
        </p:nvSpPr>
        <p:spPr>
          <a:xfrm>
            <a:off x="1067075" y="3251200"/>
            <a:ext cx="1051433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14" name="text-230"/>
          <p:cNvSpPr txBox="1"/>
          <p:nvPr/>
        </p:nvSpPr>
        <p:spPr>
          <a:xfrm>
            <a:off x="1067075" y="3251200"/>
            <a:ext cx="10514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::timestamp</a:t>
            </a:r>
            <a:endParaRPr lang="en-US" sz="950" dirty="0"/>
          </a:p>
        </p:txBody>
      </p:sp>
      <p:sp>
        <p:nvSpPr>
          <p:cNvPr id="15" name="shape-231"/>
          <p:cNvSpPr/>
          <p:nvPr/>
        </p:nvSpPr>
        <p:spPr>
          <a:xfrm>
            <a:off x="76200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16" name="text-232"/>
          <p:cNvSpPr txBox="1"/>
          <p:nvPr/>
        </p:nvSpPr>
        <p:spPr>
          <a:xfrm>
            <a:off x="86360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2017-10-02 10:56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17" name="text-233"/>
          <p:cNvSpPr txBox="1"/>
          <p:nvPr/>
        </p:nvSpPr>
        <p:spPr>
          <a:xfrm>
            <a:off x="256328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approved_at</a:t>
            </a:r>
            <a:endParaRPr lang="en-US" sz="950" dirty="0"/>
          </a:p>
        </p:txBody>
      </p:sp>
      <p:sp>
        <p:nvSpPr>
          <p:cNvPr id="18" name="shape-234"/>
          <p:cNvSpPr/>
          <p:nvPr/>
        </p:nvSpPr>
        <p:spPr>
          <a:xfrm>
            <a:off x="256328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9" name="text-235"/>
          <p:cNvSpPr txBox="1"/>
          <p:nvPr/>
        </p:nvSpPr>
        <p:spPr>
          <a:xfrm>
            <a:off x="265218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endParaRPr lang="en-US" sz="950" dirty="0"/>
          </a:p>
        </p:txBody>
      </p:sp>
      <p:sp>
        <p:nvSpPr>
          <p:cNvPr id="20" name="shape-236"/>
          <p:cNvSpPr/>
          <p:nvPr/>
        </p:nvSpPr>
        <p:spPr>
          <a:xfrm>
            <a:off x="338137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21" name="run-237"/>
          <p:cNvSpPr/>
          <p:nvPr/>
        </p:nvSpPr>
        <p:spPr>
          <a:xfrm>
            <a:off x="335597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22" name="shape-238"/>
          <p:cNvSpPr/>
          <p:nvPr/>
        </p:nvSpPr>
        <p:spPr>
          <a:xfrm>
            <a:off x="2830957" y="3251200"/>
            <a:ext cx="1126236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23" name="text-239"/>
          <p:cNvSpPr txBox="1"/>
          <p:nvPr/>
        </p:nvSpPr>
        <p:spPr>
          <a:xfrm>
            <a:off x="2830957" y="3251200"/>
            <a:ext cx="11262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NULLIF(trim)</a:t>
            </a:r>
            <a:endParaRPr lang="en-US" sz="950" dirty="0"/>
          </a:p>
        </p:txBody>
      </p:sp>
      <p:sp>
        <p:nvSpPr>
          <p:cNvPr id="24" name="shape-240"/>
          <p:cNvSpPr/>
          <p:nvPr/>
        </p:nvSpPr>
        <p:spPr>
          <a:xfrm>
            <a:off x="256328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25" name="text-241"/>
          <p:cNvSpPr txBox="1"/>
          <p:nvPr/>
        </p:nvSpPr>
        <p:spPr>
          <a:xfrm>
            <a:off x="266488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данных нет</a:t>
            </a:r>
            <a:endParaRPr lang="en-US" sz="1100" dirty="0"/>
          </a:p>
        </p:txBody>
      </p:sp>
      <p:sp>
        <p:nvSpPr>
          <p:cNvPr id="26" name="text-242"/>
          <p:cNvSpPr txBox="1"/>
          <p:nvPr/>
        </p:nvSpPr>
        <p:spPr>
          <a:xfrm>
            <a:off x="436456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950" dirty="0"/>
          </a:p>
        </p:txBody>
      </p:sp>
      <p:sp>
        <p:nvSpPr>
          <p:cNvPr id="27" name="shape-243"/>
          <p:cNvSpPr/>
          <p:nvPr/>
        </p:nvSpPr>
        <p:spPr>
          <a:xfrm>
            <a:off x="436456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28" name="text-244"/>
          <p:cNvSpPr txBox="1"/>
          <p:nvPr/>
        </p:nvSpPr>
        <p:spPr>
          <a:xfrm>
            <a:off x="445346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'29.99'</a:t>
            </a:r>
            <a:endParaRPr lang="en-US" sz="950" dirty="0"/>
          </a:p>
        </p:txBody>
      </p:sp>
      <p:sp>
        <p:nvSpPr>
          <p:cNvPr id="29" name="shape-245"/>
          <p:cNvSpPr/>
          <p:nvPr/>
        </p:nvSpPr>
        <p:spPr>
          <a:xfrm>
            <a:off x="5182658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0" name="run-246"/>
          <p:cNvSpPr/>
          <p:nvPr/>
        </p:nvSpPr>
        <p:spPr>
          <a:xfrm>
            <a:off x="5157258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31" name="shape-247"/>
          <p:cNvSpPr/>
          <p:nvPr/>
        </p:nvSpPr>
        <p:spPr>
          <a:xfrm>
            <a:off x="4594839" y="3251200"/>
            <a:ext cx="1201039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32" name="text-248"/>
          <p:cNvSpPr txBox="1"/>
          <p:nvPr/>
        </p:nvSpPr>
        <p:spPr>
          <a:xfrm>
            <a:off x="4594839" y="3251200"/>
            <a:ext cx="120103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::numeric ≥ 0</a:t>
            </a:r>
            <a:endParaRPr lang="en-US" sz="950" dirty="0"/>
          </a:p>
        </p:txBody>
      </p:sp>
      <p:sp>
        <p:nvSpPr>
          <p:cNvPr id="33" name="shape-249"/>
          <p:cNvSpPr/>
          <p:nvPr/>
        </p:nvSpPr>
        <p:spPr>
          <a:xfrm>
            <a:off x="436456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34" name="text-250"/>
          <p:cNvSpPr txBox="1"/>
          <p:nvPr/>
        </p:nvSpPr>
        <p:spPr>
          <a:xfrm>
            <a:off x="446616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29.99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</a:t>
            </a:r>
            <a:endParaRPr lang="en-US" sz="1100" dirty="0"/>
          </a:p>
        </p:txBody>
      </p:sp>
      <p:sp>
        <p:nvSpPr>
          <p:cNvPr id="35" name="text-251"/>
          <p:cNvSpPr txBox="1"/>
          <p:nvPr/>
        </p:nvSpPr>
        <p:spPr>
          <a:xfrm>
            <a:off x="616585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order_status</a:t>
            </a:r>
            <a:endParaRPr lang="en-US" sz="950" dirty="0"/>
          </a:p>
        </p:txBody>
      </p:sp>
      <p:sp>
        <p:nvSpPr>
          <p:cNvPr id="36" name="shape-252"/>
          <p:cNvSpPr/>
          <p:nvPr/>
        </p:nvSpPr>
        <p:spPr>
          <a:xfrm>
            <a:off x="616585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37" name="text-253"/>
          <p:cNvSpPr txBox="1"/>
          <p:nvPr/>
        </p:nvSpPr>
        <p:spPr>
          <a:xfrm>
            <a:off x="625475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'delivered'</a:t>
            </a:r>
            <a:endParaRPr lang="en-US" sz="950" dirty="0"/>
          </a:p>
        </p:txBody>
      </p:sp>
      <p:sp>
        <p:nvSpPr>
          <p:cNvPr id="38" name="shape-254"/>
          <p:cNvSpPr/>
          <p:nvPr/>
        </p:nvSpPr>
        <p:spPr>
          <a:xfrm>
            <a:off x="698394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9" name="run-255"/>
          <p:cNvSpPr/>
          <p:nvPr/>
        </p:nvSpPr>
        <p:spPr>
          <a:xfrm>
            <a:off x="695854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0" name="shape-256"/>
          <p:cNvSpPr/>
          <p:nvPr/>
        </p:nvSpPr>
        <p:spPr>
          <a:xfrm>
            <a:off x="6321319" y="3251200"/>
            <a:ext cx="135064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41" name="text-257"/>
          <p:cNvSpPr txBox="1"/>
          <p:nvPr/>
        </p:nvSpPr>
        <p:spPr>
          <a:xfrm>
            <a:off x="6321319" y="3251200"/>
            <a:ext cx="135064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из списка</a:t>
            </a:r>
            <a:endParaRPr lang="en-US" sz="950" dirty="0"/>
          </a:p>
        </p:txBody>
      </p:sp>
      <p:sp>
        <p:nvSpPr>
          <p:cNvPr id="42" name="shape-258"/>
          <p:cNvSpPr/>
          <p:nvPr/>
        </p:nvSpPr>
        <p:spPr>
          <a:xfrm>
            <a:off x="616585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43" name="text-259"/>
          <p:cNvSpPr txBox="1"/>
          <p:nvPr/>
        </p:nvSpPr>
        <p:spPr>
          <a:xfrm>
            <a:off x="626745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 есть</a:t>
            </a:r>
            <a:endParaRPr lang="en-US" sz="1100" dirty="0"/>
          </a:p>
        </p:txBody>
      </p:sp>
      <p:sp>
        <p:nvSpPr>
          <p:cNvPr id="44" name="text-260"/>
          <p:cNvSpPr txBox="1"/>
          <p:nvPr/>
        </p:nvSpPr>
        <p:spPr>
          <a:xfrm>
            <a:off x="796713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seller_id</a:t>
            </a:r>
            <a:endParaRPr lang="en-US" sz="950" dirty="0"/>
          </a:p>
        </p:txBody>
      </p:sp>
      <p:sp>
        <p:nvSpPr>
          <p:cNvPr id="45" name="shape-261"/>
          <p:cNvSpPr/>
          <p:nvPr/>
        </p:nvSpPr>
        <p:spPr>
          <a:xfrm>
            <a:off x="796713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46" name="text-262"/>
          <p:cNvSpPr txBox="1"/>
          <p:nvPr/>
        </p:nvSpPr>
        <p:spPr>
          <a:xfrm>
            <a:off x="805603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'3504c0cb…'</a:t>
            </a:r>
            <a:endParaRPr lang="en-US" sz="950" dirty="0"/>
          </a:p>
        </p:txBody>
      </p:sp>
      <p:sp>
        <p:nvSpPr>
          <p:cNvPr id="47" name="shape-263"/>
          <p:cNvSpPr/>
          <p:nvPr/>
        </p:nvSpPr>
        <p:spPr>
          <a:xfrm>
            <a:off x="878522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48" name="run-264"/>
          <p:cNvSpPr/>
          <p:nvPr/>
        </p:nvSpPr>
        <p:spPr>
          <a:xfrm>
            <a:off x="875982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265"/>
          <p:cNvSpPr/>
          <p:nvPr/>
        </p:nvSpPr>
        <p:spPr>
          <a:xfrm>
            <a:off x="8309610" y="3251200"/>
            <a:ext cx="97663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50" name="text-266"/>
          <p:cNvSpPr txBox="1"/>
          <p:nvPr/>
        </p:nvSpPr>
        <p:spPr>
          <a:xfrm>
            <a:off x="8309610" y="3251200"/>
            <a:ext cx="976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51" name="shape-267"/>
          <p:cNvSpPr/>
          <p:nvPr/>
        </p:nvSpPr>
        <p:spPr>
          <a:xfrm>
            <a:off x="796713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52" name="text-268"/>
          <p:cNvSpPr txBox="1"/>
          <p:nvPr/>
        </p:nvSpPr>
        <p:spPr>
          <a:xfrm>
            <a:off x="806873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3504c0cb…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найден</a:t>
            </a:r>
            <a:endParaRPr lang="en-US" sz="1100" dirty="0"/>
          </a:p>
        </p:txBody>
      </p:sp>
      <p:sp>
        <p:nvSpPr>
          <p:cNvPr id="53" name="text-269"/>
          <p:cNvSpPr txBox="1"/>
          <p:nvPr/>
        </p:nvSpPr>
        <p:spPr>
          <a:xfrm>
            <a:off x="976841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950" dirty="0"/>
          </a:p>
        </p:txBody>
      </p:sp>
      <p:sp>
        <p:nvSpPr>
          <p:cNvPr id="54" name="shape-270"/>
          <p:cNvSpPr/>
          <p:nvPr/>
        </p:nvSpPr>
        <p:spPr>
          <a:xfrm>
            <a:off x="976841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55" name="text-271"/>
          <p:cNvSpPr txBox="1"/>
          <p:nvPr/>
        </p:nvSpPr>
        <p:spPr>
          <a:xfrm>
            <a:off x="985731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'7'</a:t>
            </a:r>
            <a:endParaRPr lang="en-US" sz="950" dirty="0"/>
          </a:p>
        </p:txBody>
      </p:sp>
      <p:sp>
        <p:nvSpPr>
          <p:cNvPr id="56" name="shape-272"/>
          <p:cNvSpPr/>
          <p:nvPr/>
        </p:nvSpPr>
        <p:spPr>
          <a:xfrm>
            <a:off x="10586508" y="2768600"/>
            <a:ext cx="25400" cy="1270000"/>
          </a:xfrm>
          <a:prstGeom prst="rect">
            <a:avLst/>
          </a:prstGeom>
          <a:solidFill>
            <a:srgbClr val="D3263A"/>
          </a:solidFill>
          <a:ln/>
        </p:spPr>
      </p:sp>
      <p:sp>
        <p:nvSpPr>
          <p:cNvPr id="57" name="run-273"/>
          <p:cNvSpPr/>
          <p:nvPr/>
        </p:nvSpPr>
        <p:spPr>
          <a:xfrm>
            <a:off x="10561108" y="2755900"/>
            <a:ext cx="76200" cy="762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58" name="shape-274"/>
          <p:cNvSpPr/>
          <p:nvPr/>
        </p:nvSpPr>
        <p:spPr>
          <a:xfrm>
            <a:off x="10148295" y="3251200"/>
            <a:ext cx="901827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3263A"/>
            </a:solidFill>
            <a:prstDash val="solid"/>
          </a:ln>
        </p:spPr>
      </p:sp>
      <p:sp>
        <p:nvSpPr>
          <p:cNvPr id="59" name="text-275"/>
          <p:cNvSpPr txBox="1"/>
          <p:nvPr/>
        </p:nvSpPr>
        <p:spPr>
          <a:xfrm>
            <a:off x="10148295" y="3251200"/>
            <a:ext cx="9018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1–5</a:t>
            </a:r>
            <a:endParaRPr lang="en-US" sz="950" dirty="0"/>
          </a:p>
        </p:txBody>
      </p:sp>
      <p:sp>
        <p:nvSpPr>
          <p:cNvPr id="60" name="shape-276"/>
          <p:cNvSpPr/>
          <p:nvPr/>
        </p:nvSpPr>
        <p:spPr>
          <a:xfrm>
            <a:off x="976841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D3263A"/>
          </a:solidFill>
          <a:ln/>
        </p:spPr>
      </p:sp>
      <p:sp>
        <p:nvSpPr>
          <p:cNvPr id="61" name="text-277"/>
          <p:cNvSpPr txBox="1"/>
          <p:nvPr/>
        </p:nvSpPr>
        <p:spPr>
          <a:xfrm>
            <a:off x="987001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отказ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падает</a:t>
            </a:r>
            <a:endParaRPr lang="en-US" sz="1100" dirty="0"/>
          </a:p>
        </p:txBody>
      </p:sp>
      <p:pic>
        <p:nvPicPr>
          <p:cNvPr id="62" name="pic-278" descr="W:\Projects\hacks\rwb-new\presentation\pptx\assets\ico-refresh-cob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56200"/>
            <a:ext cx="215900" cy="215900"/>
          </a:xfrm>
          <a:prstGeom prst="rect">
            <a:avLst/>
          </a:prstGeom>
        </p:spPr>
      </p:pic>
      <p:sp>
        <p:nvSpPr>
          <p:cNvPr id="63" name="text-279"/>
          <p:cNvSpPr txBox="1"/>
          <p:nvPr/>
        </p:nvSpPr>
        <p:spPr>
          <a:xfrm>
            <a:off x="1079500" y="5118100"/>
            <a:ext cx="1035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скрипт </a:t>
            </a:r>
            <a:r>
              <a:rPr lang="en-US" sz="12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 нуля, DROP SCHEMA и BEGIN … COMMIT: наполовину собранной модели не бывает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25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25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225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1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36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36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94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1" fill="hold" grpId="0" nodeType="withEffect">
                                  <p:stCondLst>
                                    <p:cond delay="194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36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grpId="0" nodeType="withEffect">
                                  <p:stCondLst>
                                    <p:cond delay="19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36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1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36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36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1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36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36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1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8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36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8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36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8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1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8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36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1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8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36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grpId="0" nodeType="withEffect">
                                  <p:stCondLst>
                                    <p:cond delay="464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4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51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248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248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9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518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24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24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99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1" fill="hold" grpId="0" nodeType="withEffect">
                                  <p:stCondLst>
                                    <p:cond delay="522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248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248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99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248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248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99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grpId="0" nodeType="withEffect">
                                  <p:stCondLst>
                                    <p:cond delay="581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248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248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99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248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248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99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1" fill="hold" grpId="0" nodeType="withEffect">
                                  <p:stCondLst>
                                    <p:cond delay="639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3" dur="27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293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293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117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293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293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117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" presetClass="entr" presetSubtype="2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2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225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2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22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225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693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248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248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99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693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24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24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99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1" fill="hold" grpId="0" nodeType="withEffect">
                                  <p:stCondLst>
                                    <p:cond delay="698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27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711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293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293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117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711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293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293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117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53" presetClass="entr" presetSubtype="16" fill="hold" grpId="0" nodeType="withEffect">
                                  <p:stCondLst>
                                    <p:cond delay="752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248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248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99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752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248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248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99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293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293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117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29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29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117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187" dur="16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248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248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99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248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248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99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53" presetClass="entr" presetSubtype="16" fill="hold" grpId="0" nodeType="withEffect">
                                  <p:stCondLst>
                                    <p:cond delay="828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0" dur="29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1" dur="29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2" dur="117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53" presetClass="entr" presetSubtype="16" fill="hold" grpId="0" nodeType="withEffect">
                                  <p:stCondLst>
                                    <p:cond delay="828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5" dur="293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6" dur="293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7" dur="117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0" presetClass="entr" presetSubtype="0" fill="hold" grpId="0" nodeType="withEffect">
                                  <p:stCondLst>
                                    <p:cond delay="869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10" dur="16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887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293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293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117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887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293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293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117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0" presetClass="entr" presetSubtype="0" fill="hold" grpId="0" nodeType="withEffect">
                                  <p:stCondLst>
                                    <p:cond delay="927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23" dur="1600" repeatCount="indefinite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4" presetID="53" presetClass="entr" presetSubtype="16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6" dur="293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7" dur="293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8" dur="117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293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293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117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0" presetClass="entr" presetSubtype="0" fill="hold" grpId="0" nodeType="withEffect">
                                  <p:stCondLst>
                                    <p:cond delay="986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6" dur="1600" repeatCount="indefinite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0" presetClass="entr" presetSubtype="0" fill="hold" grpId="0" nodeType="withEffect">
                                  <p:stCondLst>
                                    <p:cond delay="1044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9" dur="1600" repeatCount="indefinite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225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225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9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0" presetClass="entr" presetSubtype="0" fill="hold" grpId="0" nodeType="withEffect">
                                  <p:stCondLst>
                                    <p:cond delay="1103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47" dur="1600" repeatCount="indefinite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8" presetID="2" presetClass="entr" presetSubtype="8" fill="hold" grpId="0" nodeType="withEffect">
                                  <p:stCondLst>
                                    <p:cond delay="1103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27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27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80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слоя,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как в нашем знаке</a:t>
            </a:r>
            <a:endParaRPr lang="en-US" sz="3400" dirty="0"/>
          </a:p>
        </p:txBody>
      </p:sp>
      <p:pic>
        <p:nvPicPr>
          <p:cNvPr id="4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5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6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7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8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sp>
        <p:nvSpPr>
          <p:cNvPr id="9" name="shape-286"/>
          <p:cNvSpPr/>
          <p:nvPr/>
        </p:nvSpPr>
        <p:spPr>
          <a:xfrm>
            <a:off x="5842000" y="2019300"/>
            <a:ext cx="152400" cy="1524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0" name="text-287"/>
          <p:cNvSpPr txBox="1"/>
          <p:nvPr/>
        </p:nvSpPr>
        <p:spPr>
          <a:xfrm>
            <a:off x="6127750" y="1905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</a:t>
            </a:r>
            <a:endParaRPr lang="en-US" sz="2100" dirty="0"/>
          </a:p>
        </p:txBody>
      </p:sp>
      <p:sp>
        <p:nvSpPr>
          <p:cNvPr id="11" name="text-288"/>
          <p:cNvSpPr txBox="1"/>
          <p:nvPr/>
        </p:nvSpPr>
        <p:spPr>
          <a:xfrm>
            <a:off x="7366000" y="1905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считаются из core</a:t>
            </a:r>
            <a:endParaRPr lang="en-US" sz="1350" dirty="0"/>
          </a:p>
        </p:txBody>
      </p:sp>
      <p:sp>
        <p:nvSpPr>
          <p:cNvPr id="12" name="shape-289"/>
          <p:cNvSpPr/>
          <p:nvPr/>
        </p:nvSpPr>
        <p:spPr>
          <a:xfrm>
            <a:off x="5842000" y="2844800"/>
            <a:ext cx="152400" cy="152400"/>
          </a:xfrm>
          <a:prstGeom prst="ellipse">
            <a:avLst/>
          </a:prstGeom>
          <a:solidFill>
            <a:srgbClr val="3BC4EE"/>
          </a:solidFill>
          <a:ln/>
        </p:spPr>
      </p:sp>
      <p:sp>
        <p:nvSpPr>
          <p:cNvPr id="13" name="text-290"/>
          <p:cNvSpPr txBox="1"/>
          <p:nvPr/>
        </p:nvSpPr>
        <p:spPr>
          <a:xfrm>
            <a:off x="6127750" y="2730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mart</a:t>
            </a:r>
            <a:endParaRPr lang="en-US" sz="2100" dirty="0"/>
          </a:p>
        </p:txBody>
      </p:sp>
      <p:sp>
        <p:nvSpPr>
          <p:cNvPr id="14" name="text-291"/>
          <p:cNvSpPr txBox="1"/>
          <p:nvPr/>
        </p:nvSpPr>
        <p:spPr>
          <a:xfrm>
            <a:off x="7366000" y="2730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 под задачу: исполнение заказа</a:t>
            </a:r>
            <a:endParaRPr lang="en-US" sz="1350" dirty="0"/>
          </a:p>
        </p:txBody>
      </p:sp>
      <p:sp>
        <p:nvSpPr>
          <p:cNvPr id="15" name="shape-292"/>
          <p:cNvSpPr/>
          <p:nvPr/>
        </p:nvSpPr>
        <p:spPr>
          <a:xfrm>
            <a:off x="5842000" y="3670300"/>
            <a:ext cx="152400" cy="152400"/>
          </a:xfrm>
          <a:prstGeom prst="ellipse">
            <a:avLst/>
          </a:prstGeom>
          <a:solidFill>
            <a:srgbClr val="518FF2"/>
          </a:solidFill>
          <a:ln/>
        </p:spPr>
      </p:sp>
      <p:sp>
        <p:nvSpPr>
          <p:cNvPr id="16" name="text-293"/>
          <p:cNvSpPr txBox="1"/>
          <p:nvPr/>
        </p:nvSpPr>
        <p:spPr>
          <a:xfrm>
            <a:off x="6127750" y="3556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2100" dirty="0"/>
          </a:p>
        </p:txBody>
      </p:sp>
      <p:sp>
        <p:nvSpPr>
          <p:cNvPr id="17" name="text-294"/>
          <p:cNvSpPr txBox="1"/>
          <p:nvPr/>
        </p:nvSpPr>
        <p:spPr>
          <a:xfrm>
            <a:off x="7366000" y="3556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модель: типы, ключи, связи, дедупликация</a:t>
            </a:r>
            <a:endParaRPr lang="en-US" sz="1350" dirty="0"/>
          </a:p>
        </p:txBody>
      </p:sp>
      <p:sp>
        <p:nvSpPr>
          <p:cNvPr id="18" name="shape-295"/>
          <p:cNvSpPr/>
          <p:nvPr/>
        </p:nvSpPr>
        <p:spPr>
          <a:xfrm>
            <a:off x="5842000" y="4495800"/>
            <a:ext cx="152400" cy="1524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19" name="text-296"/>
          <p:cNvSpPr txBox="1"/>
          <p:nvPr/>
        </p:nvSpPr>
        <p:spPr>
          <a:xfrm>
            <a:off x="6127750" y="4381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2100" dirty="0"/>
          </a:p>
        </p:txBody>
      </p:sp>
      <p:sp>
        <p:nvSpPr>
          <p:cNvPr id="20" name="text-297"/>
          <p:cNvSpPr txBox="1"/>
          <p:nvPr/>
        </p:nvSpPr>
        <p:spPr>
          <a:xfrm>
            <a:off x="7366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приехало, только читаем</a:t>
            </a:r>
            <a:endParaRPr lang="en-US" sz="1350" dirty="0"/>
          </a:p>
        </p:txBody>
      </p:sp>
      <p:sp>
        <p:nvSpPr>
          <p:cNvPr id="21" name="shape-298"/>
          <p:cNvSpPr/>
          <p:nvPr/>
        </p:nvSpPr>
        <p:spPr>
          <a:xfrm>
            <a:off x="6127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2" name="text-299"/>
          <p:cNvSpPr txBox="1"/>
          <p:nvPr/>
        </p:nvSpPr>
        <p:spPr>
          <a:xfrm>
            <a:off x="6127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endParaRPr lang="en-US" sz="1000" dirty="0"/>
          </a:p>
        </p:txBody>
      </p:sp>
      <p:pic>
        <p:nvPicPr>
          <p:cNvPr id="23" name="pic-300" descr="W:\Projects\hacks\rwb-new\presentation\pptx\assets\ico-arrow-right-mu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7450" y="5518150"/>
            <a:ext cx="177800" cy="177800"/>
          </a:xfrm>
          <a:prstGeom prst="rect">
            <a:avLst/>
          </a:prstGeom>
        </p:spPr>
      </p:pic>
      <p:sp>
        <p:nvSpPr>
          <p:cNvPr id="24" name="shape-301"/>
          <p:cNvSpPr/>
          <p:nvPr/>
        </p:nvSpPr>
        <p:spPr>
          <a:xfrm>
            <a:off x="7778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5" name="text-302"/>
          <p:cNvSpPr txBox="1"/>
          <p:nvPr/>
        </p:nvSpPr>
        <p:spPr>
          <a:xfrm>
            <a:off x="7778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build_mart.sql</a:t>
            </a:r>
            <a:endParaRPr lang="en-US" sz="1000" dirty="0"/>
          </a:p>
        </p:txBody>
      </p:sp>
      <p:pic>
        <p:nvPicPr>
          <p:cNvPr id="26" name="pic-303" descr="W:\Projects\hacks\rwb-new\presentation\pptx\assets\ico-arrow-right-mu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8450" y="5518150"/>
            <a:ext cx="177800" cy="177800"/>
          </a:xfrm>
          <a:prstGeom prst="rect">
            <a:avLst/>
          </a:prstGeom>
        </p:spPr>
      </p:pic>
      <p:sp>
        <p:nvSpPr>
          <p:cNvPr id="27" name="shape-304"/>
          <p:cNvSpPr/>
          <p:nvPr/>
        </p:nvSpPr>
        <p:spPr>
          <a:xfrm>
            <a:off x="942975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8" name="text-305"/>
          <p:cNvSpPr txBox="1"/>
          <p:nvPr/>
        </p:nvSpPr>
        <p:spPr>
          <a:xfrm>
            <a:off x="942975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build_dashboard.py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68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3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9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27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36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27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2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2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9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261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27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27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33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225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225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9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fill="hold" grpId="0" nodeType="withEffect">
                                  <p:stCondLst>
                                    <p:cond delay="338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27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3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2" fill="hold" grpId="0" nodeType="withEffect">
                                  <p:stCondLst>
                                    <p:cond delay="392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27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" fill="hold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25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0" presetClass="path" presetSubtype="0" fill="hold" nodeType="withEffect">
                                  <p:stCondLst>
                                    <p:cond delay="668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61" dur="26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9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27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2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2" fill="hold" grpId="0" nodeType="withEffect">
                                  <p:stCondLst>
                                    <p:cond delay="729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27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225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225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9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22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22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9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8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18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2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2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9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225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225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9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" presetClass="entr" presetSubtype="8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18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225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225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9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225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225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9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0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core: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 это решение</a:t>
            </a:r>
            <a:endParaRPr lang="en-US" sz="3400" dirty="0"/>
          </a:p>
        </p:txBody>
      </p:sp>
      <p:sp>
        <p:nvSpPr>
          <p:cNvPr id="4" name="line-307"/>
          <p:cNvSpPr/>
          <p:nvPr/>
        </p:nvSpPr>
        <p:spPr>
          <a:xfrm>
            <a:off x="34290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5" name="line-308"/>
          <p:cNvSpPr/>
          <p:nvPr/>
        </p:nvSpPr>
        <p:spPr>
          <a:xfrm>
            <a:off x="74295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line-309"/>
          <p:cNvSpPr/>
          <p:nvPr/>
        </p:nvSpPr>
        <p:spPr>
          <a:xfrm>
            <a:off x="6096000" y="27305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7" name="line-310"/>
          <p:cNvSpPr/>
          <p:nvPr/>
        </p:nvSpPr>
        <p:spPr>
          <a:xfrm>
            <a:off x="3429000" y="38100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line-311"/>
          <p:cNvSpPr/>
          <p:nvPr/>
        </p:nvSpPr>
        <p:spPr>
          <a:xfrm>
            <a:off x="6096000" y="43180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9" name="line-312"/>
          <p:cNvSpPr/>
          <p:nvPr/>
        </p:nvSpPr>
        <p:spPr>
          <a:xfrm>
            <a:off x="3429000" y="5397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geom-313"/>
          <p:cNvSpPr/>
          <p:nvPr/>
        </p:nvSpPr>
        <p:spPr>
          <a:xfrm>
            <a:off x="7429500" y="2476500"/>
            <a:ext cx="1333500" cy="1333500"/>
          </a:xfrm>
          <a:custGeom>
            <a:avLst/>
            <a:gdLst/>
            <a:ahLst/>
            <a:cxnLst/>
            <a:rect l="l" t="t" r="r" b="b"/>
            <a:pathLst>
              <a:path w="1333500" h="1333500">
                <a:moveTo>
                  <a:pt x="0" y="0"/>
                </a:moveTo>
                <a:lnTo>
                  <a:pt x="666750" y="0"/>
                </a:lnTo>
                <a:lnTo>
                  <a:pt x="666750" y="1333500"/>
                </a:lnTo>
                <a:lnTo>
                  <a:pt x="1333500" y="1333500"/>
                </a:lnTo>
              </a:path>
            </a:pathLst>
          </a:custGeom>
          <a:ln w="28575">
            <a:solidFill>
              <a:srgbClr val="2348FF"/>
            </a:solidFill>
            <a:prstDash val="solid"/>
          </a:ln>
        </p:spPr>
      </p:sp>
      <p:sp>
        <p:nvSpPr>
          <p:cNvPr id="11" name="shape-314"/>
          <p:cNvSpPr/>
          <p:nvPr/>
        </p:nvSpPr>
        <p:spPr>
          <a:xfrm>
            <a:off x="723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12" name="shape-315"/>
          <p:cNvSpPr/>
          <p:nvPr/>
        </p:nvSpPr>
        <p:spPr>
          <a:xfrm>
            <a:off x="762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13" name="text-316"/>
          <p:cNvSpPr txBox="1"/>
          <p:nvPr/>
        </p:nvSpPr>
        <p:spPr>
          <a:xfrm>
            <a:off x="952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14" name="text-317"/>
          <p:cNvSpPr txBox="1"/>
          <p:nvPr/>
        </p:nvSpPr>
        <p:spPr>
          <a:xfrm>
            <a:off x="952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customer_unique_id</a:t>
            </a:r>
            <a:endParaRPr lang="en-US" sz="1050" dirty="0"/>
          </a:p>
        </p:txBody>
      </p:sp>
      <p:sp>
        <p:nvSpPr>
          <p:cNvPr id="15" name="text-318"/>
          <p:cNvSpPr txBox="1"/>
          <p:nvPr/>
        </p:nvSpPr>
        <p:spPr>
          <a:xfrm>
            <a:off x="952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человек, а не учётка заказа</a:t>
            </a:r>
            <a:endParaRPr lang="en-US" sz="950" dirty="0"/>
          </a:p>
        </p:txBody>
      </p:sp>
      <p:sp>
        <p:nvSpPr>
          <p:cNvPr id="16" name="shape-319"/>
          <p:cNvSpPr/>
          <p:nvPr/>
        </p:nvSpPr>
        <p:spPr>
          <a:xfrm>
            <a:off x="47625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17" name="text-320"/>
          <p:cNvSpPr txBox="1"/>
          <p:nvPr/>
        </p:nvSpPr>
        <p:spPr>
          <a:xfrm>
            <a:off x="49530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1500" dirty="0"/>
          </a:p>
        </p:txBody>
      </p:sp>
      <p:sp>
        <p:nvSpPr>
          <p:cNvPr id="18" name="text-321"/>
          <p:cNvSpPr txBox="1"/>
          <p:nvPr/>
        </p:nvSpPr>
        <p:spPr>
          <a:xfrm>
            <a:off x="49530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</a:t>
            </a:r>
            <a:endParaRPr lang="en-US" sz="1050" dirty="0"/>
          </a:p>
        </p:txBody>
      </p:sp>
      <p:sp>
        <p:nvSpPr>
          <p:cNvPr id="19" name="text-322"/>
          <p:cNvSpPr txBox="1"/>
          <p:nvPr/>
        </p:nvSpPr>
        <p:spPr>
          <a:xfrm>
            <a:off x="49530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по статусам, гео снимком</a:t>
            </a:r>
            <a:endParaRPr lang="en-US" sz="950" dirty="0"/>
          </a:p>
        </p:txBody>
      </p:sp>
      <p:sp>
        <p:nvSpPr>
          <p:cNvPr id="20" name="shape-323"/>
          <p:cNvSpPr/>
          <p:nvPr/>
        </p:nvSpPr>
        <p:spPr>
          <a:xfrm>
            <a:off x="8724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21" name="shape-324"/>
          <p:cNvSpPr/>
          <p:nvPr/>
        </p:nvSpPr>
        <p:spPr>
          <a:xfrm>
            <a:off x="8763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22" name="text-325"/>
          <p:cNvSpPr txBox="1"/>
          <p:nvPr/>
        </p:nvSpPr>
        <p:spPr>
          <a:xfrm>
            <a:off x="8953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order_reviews</a:t>
            </a:r>
            <a:endParaRPr lang="en-US" sz="1500" dirty="0"/>
          </a:p>
        </p:txBody>
      </p:sp>
      <p:sp>
        <p:nvSpPr>
          <p:cNvPr id="23" name="text-326"/>
          <p:cNvSpPr txBox="1"/>
          <p:nvPr/>
        </p:nvSpPr>
        <p:spPr>
          <a:xfrm>
            <a:off x="8953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review_id + order_id</a:t>
            </a:r>
            <a:endParaRPr lang="en-US" sz="1050" dirty="0"/>
          </a:p>
        </p:txBody>
      </p:sp>
      <p:sp>
        <p:nvSpPr>
          <p:cNvPr id="24" name="text-327"/>
          <p:cNvSpPr txBox="1"/>
          <p:nvPr/>
        </p:nvSpPr>
        <p:spPr>
          <a:xfrm>
            <a:off x="8953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отзыв на нескольких заказах</a:t>
            </a:r>
            <a:endParaRPr lang="en-US" sz="950" dirty="0"/>
          </a:p>
        </p:txBody>
      </p:sp>
      <p:sp>
        <p:nvSpPr>
          <p:cNvPr id="25" name="shape-328"/>
          <p:cNvSpPr/>
          <p:nvPr/>
        </p:nvSpPr>
        <p:spPr>
          <a:xfrm>
            <a:off x="762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26" name="text-329"/>
          <p:cNvSpPr txBox="1"/>
          <p:nvPr/>
        </p:nvSpPr>
        <p:spPr>
          <a:xfrm>
            <a:off x="952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sellers</a:t>
            </a:r>
            <a:endParaRPr lang="en-US" sz="1500" dirty="0"/>
          </a:p>
        </p:txBody>
      </p:sp>
      <p:sp>
        <p:nvSpPr>
          <p:cNvPr id="27" name="text-330"/>
          <p:cNvSpPr txBox="1"/>
          <p:nvPr/>
        </p:nvSpPr>
        <p:spPr>
          <a:xfrm>
            <a:off x="952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seller_id</a:t>
            </a:r>
            <a:endParaRPr lang="en-US" sz="1050" dirty="0"/>
          </a:p>
        </p:txBody>
      </p:sp>
      <p:sp>
        <p:nvSpPr>
          <p:cNvPr id="28" name="text-331"/>
          <p:cNvSpPr txBox="1"/>
          <p:nvPr/>
        </p:nvSpPr>
        <p:spPr>
          <a:xfrm>
            <a:off x="952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город и штат как в источнике</a:t>
            </a:r>
            <a:endParaRPr lang="en-US" sz="950" dirty="0"/>
          </a:p>
        </p:txBody>
      </p:sp>
      <p:sp>
        <p:nvSpPr>
          <p:cNvPr id="29" name="shape-332"/>
          <p:cNvSpPr/>
          <p:nvPr/>
        </p:nvSpPr>
        <p:spPr>
          <a:xfrm>
            <a:off x="4724400" y="32639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30" name="shape-333"/>
          <p:cNvSpPr/>
          <p:nvPr/>
        </p:nvSpPr>
        <p:spPr>
          <a:xfrm>
            <a:off x="47625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31" name="text-334"/>
          <p:cNvSpPr txBox="1"/>
          <p:nvPr/>
        </p:nvSpPr>
        <p:spPr>
          <a:xfrm>
            <a:off x="49530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order_items</a:t>
            </a:r>
            <a:endParaRPr lang="en-US" sz="1500" dirty="0"/>
          </a:p>
        </p:txBody>
      </p:sp>
      <p:sp>
        <p:nvSpPr>
          <p:cNvPr id="32" name="text-335"/>
          <p:cNvSpPr txBox="1"/>
          <p:nvPr/>
        </p:nvSpPr>
        <p:spPr>
          <a:xfrm>
            <a:off x="49530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item_no</a:t>
            </a:r>
            <a:endParaRPr lang="en-US" sz="1050" dirty="0"/>
          </a:p>
        </p:txBody>
      </p:sp>
      <p:sp>
        <p:nvSpPr>
          <p:cNvPr id="33" name="text-336"/>
          <p:cNvSpPr txBox="1"/>
          <p:nvPr/>
        </p:nvSpPr>
        <p:spPr>
          <a:xfrm>
            <a:off x="49530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позиции стал частью ключа</a:t>
            </a:r>
            <a:endParaRPr lang="en-US" sz="950" dirty="0"/>
          </a:p>
        </p:txBody>
      </p:sp>
      <p:sp>
        <p:nvSpPr>
          <p:cNvPr id="34" name="shape-337"/>
          <p:cNvSpPr/>
          <p:nvPr/>
        </p:nvSpPr>
        <p:spPr>
          <a:xfrm>
            <a:off x="8763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5" name="text-338"/>
          <p:cNvSpPr txBox="1"/>
          <p:nvPr/>
        </p:nvSpPr>
        <p:spPr>
          <a:xfrm>
            <a:off x="8953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order_payments</a:t>
            </a:r>
            <a:endParaRPr lang="en-US" sz="1500" dirty="0"/>
          </a:p>
        </p:txBody>
      </p:sp>
      <p:sp>
        <p:nvSpPr>
          <p:cNvPr id="36" name="text-339"/>
          <p:cNvSpPr txBox="1"/>
          <p:nvPr/>
        </p:nvSpPr>
        <p:spPr>
          <a:xfrm>
            <a:off x="8953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payment_no</a:t>
            </a:r>
            <a:endParaRPr lang="en-US" sz="1050" dirty="0"/>
          </a:p>
        </p:txBody>
      </p:sp>
      <p:sp>
        <p:nvSpPr>
          <p:cNvPr id="37" name="text-340"/>
          <p:cNvSpPr txBox="1"/>
          <p:nvPr/>
        </p:nvSpPr>
        <p:spPr>
          <a:xfrm>
            <a:off x="8953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платежей легально</a:t>
            </a:r>
            <a:endParaRPr lang="en-US" sz="950" dirty="0"/>
          </a:p>
        </p:txBody>
      </p:sp>
      <p:sp>
        <p:nvSpPr>
          <p:cNvPr id="38" name="shape-341"/>
          <p:cNvSpPr/>
          <p:nvPr/>
        </p:nvSpPr>
        <p:spPr>
          <a:xfrm>
            <a:off x="7620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9" name="text-342"/>
          <p:cNvSpPr txBox="1"/>
          <p:nvPr/>
        </p:nvSpPr>
        <p:spPr>
          <a:xfrm>
            <a:off x="9525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product_categories</a:t>
            </a:r>
            <a:endParaRPr lang="en-US" sz="1500" dirty="0"/>
          </a:p>
        </p:txBody>
      </p:sp>
      <p:sp>
        <p:nvSpPr>
          <p:cNvPr id="40" name="text-343"/>
          <p:cNvSpPr txBox="1"/>
          <p:nvPr/>
        </p:nvSpPr>
        <p:spPr>
          <a:xfrm>
            <a:off x="9525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category_name</a:t>
            </a:r>
            <a:endParaRPr lang="en-US" sz="1050" dirty="0"/>
          </a:p>
        </p:txBody>
      </p:sp>
      <p:sp>
        <p:nvSpPr>
          <p:cNvPr id="41" name="text-344"/>
          <p:cNvSpPr txBox="1"/>
          <p:nvPr/>
        </p:nvSpPr>
        <p:spPr>
          <a:xfrm>
            <a:off x="9525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товаров, перевод опционален</a:t>
            </a:r>
            <a:endParaRPr lang="en-US" sz="950" dirty="0"/>
          </a:p>
        </p:txBody>
      </p:sp>
      <p:sp>
        <p:nvSpPr>
          <p:cNvPr id="42" name="shape-345"/>
          <p:cNvSpPr/>
          <p:nvPr/>
        </p:nvSpPr>
        <p:spPr>
          <a:xfrm>
            <a:off x="47625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43" name="text-346"/>
          <p:cNvSpPr txBox="1"/>
          <p:nvPr/>
        </p:nvSpPr>
        <p:spPr>
          <a:xfrm>
            <a:off x="49530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</a:t>
            </a:r>
            <a:endParaRPr lang="en-US" sz="1500" dirty="0"/>
          </a:p>
        </p:txBody>
      </p:sp>
      <p:sp>
        <p:nvSpPr>
          <p:cNvPr id="44" name="text-347"/>
          <p:cNvSpPr txBox="1"/>
          <p:nvPr/>
        </p:nvSpPr>
        <p:spPr>
          <a:xfrm>
            <a:off x="49530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product_id</a:t>
            </a:r>
            <a:endParaRPr lang="en-US" sz="1050" dirty="0"/>
          </a:p>
        </p:txBody>
      </p:sp>
      <p:sp>
        <p:nvSpPr>
          <p:cNvPr id="45" name="text-348"/>
          <p:cNvSpPr txBox="1"/>
          <p:nvPr/>
        </p:nvSpPr>
        <p:spPr>
          <a:xfrm>
            <a:off x="49530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категория: nullable FK</a:t>
            </a:r>
            <a:endParaRPr lang="en-US" sz="950" dirty="0"/>
          </a:p>
        </p:txBody>
      </p:sp>
      <p:sp>
        <p:nvSpPr>
          <p:cNvPr id="46" name="shape-349"/>
          <p:cNvSpPr/>
          <p:nvPr/>
        </p:nvSpPr>
        <p:spPr>
          <a:xfrm>
            <a:off x="47053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7" name="shape-350"/>
          <p:cNvSpPr/>
          <p:nvPr/>
        </p:nvSpPr>
        <p:spPr>
          <a:xfrm>
            <a:off x="87058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8" name="shape-351"/>
          <p:cNvSpPr/>
          <p:nvPr/>
        </p:nvSpPr>
        <p:spPr>
          <a:xfrm>
            <a:off x="6038850" y="3244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352"/>
          <p:cNvSpPr/>
          <p:nvPr/>
        </p:nvSpPr>
        <p:spPr>
          <a:xfrm>
            <a:off x="3371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0" name="shape-353"/>
          <p:cNvSpPr/>
          <p:nvPr/>
        </p:nvSpPr>
        <p:spPr>
          <a:xfrm>
            <a:off x="6038850" y="4832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1" name="shape-354"/>
          <p:cNvSpPr/>
          <p:nvPr/>
        </p:nvSpPr>
        <p:spPr>
          <a:xfrm>
            <a:off x="3371850" y="5340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2" name="shape-355"/>
          <p:cNvSpPr/>
          <p:nvPr/>
        </p:nvSpPr>
        <p:spPr>
          <a:xfrm>
            <a:off x="8705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3" name="run-356"/>
          <p:cNvSpPr/>
          <p:nvPr/>
        </p:nvSpPr>
        <p:spPr>
          <a:xfrm>
            <a:off x="6057900" y="2692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4" name="run-357"/>
          <p:cNvSpPr/>
          <p:nvPr/>
        </p:nvSpPr>
        <p:spPr>
          <a:xfrm>
            <a:off x="6057900" y="4279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5" name="run-358"/>
          <p:cNvSpPr/>
          <p:nvPr/>
        </p:nvSpPr>
        <p:spPr>
          <a:xfrm>
            <a:off x="4724400" y="2184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6" name="run-359"/>
          <p:cNvSpPr/>
          <p:nvPr/>
        </p:nvSpPr>
        <p:spPr>
          <a:xfrm>
            <a:off x="7391400" y="2438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7" name="shape-360"/>
          <p:cNvSpPr/>
          <p:nvPr/>
        </p:nvSpPr>
        <p:spPr>
          <a:xfrm>
            <a:off x="8763000" y="49212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8" name="text-361"/>
          <p:cNvSpPr txBox="1"/>
          <p:nvPr/>
        </p:nvSpPr>
        <p:spPr>
          <a:xfrm>
            <a:off x="8763000" y="49212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numeric</a:t>
            </a:r>
            <a:endParaRPr lang="en-US" sz="1050" dirty="0"/>
          </a:p>
        </p:txBody>
      </p:sp>
      <p:sp>
        <p:nvSpPr>
          <p:cNvPr id="59" name="shape-362"/>
          <p:cNvSpPr/>
          <p:nvPr/>
        </p:nvSpPr>
        <p:spPr>
          <a:xfrm>
            <a:off x="8763000" y="52895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0" name="text-363"/>
          <p:cNvSpPr txBox="1"/>
          <p:nvPr/>
        </p:nvSpPr>
        <p:spPr>
          <a:xfrm>
            <a:off x="8763000" y="52895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даты timestamp</a:t>
            </a:r>
            <a:endParaRPr lang="en-US" sz="1050" dirty="0"/>
          </a:p>
        </p:txBody>
      </p:sp>
      <p:sp>
        <p:nvSpPr>
          <p:cNvPr id="61" name="shape-364"/>
          <p:cNvSpPr/>
          <p:nvPr/>
        </p:nvSpPr>
        <p:spPr>
          <a:xfrm>
            <a:off x="7493000" y="5657850"/>
            <a:ext cx="393700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62" name="text-365"/>
          <p:cNvSpPr txBox="1"/>
          <p:nvPr/>
        </p:nvSpPr>
        <p:spPr>
          <a:xfrm>
            <a:off x="7493000" y="5657850"/>
            <a:ext cx="393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дубль или провисшая связь не запишется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93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93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17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93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93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17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93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93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17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293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293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17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293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293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17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93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93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17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93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93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17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93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93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17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93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93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17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93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93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117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293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293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17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207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293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293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17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243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93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93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117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4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293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293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117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243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293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293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117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243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93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93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17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293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293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17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293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293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17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293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293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117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293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293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117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293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293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117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293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293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117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293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293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117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293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293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117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29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29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117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293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293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117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293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293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117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293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293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117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38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29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29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117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387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29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29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17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387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293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293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117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387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293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293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117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203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491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0" dur="203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1" fill="hold" grpId="0" nodeType="withEffect">
                                  <p:stCondLst>
                                    <p:cond delay="531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203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2" fill="hold" grpId="0" nodeType="withEffect">
                                  <p:stCondLst>
                                    <p:cond delay="572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203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1" fill="hold" grpId="0" nodeType="withEffect">
                                  <p:stCondLst>
                                    <p:cond delay="612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9" dur="203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2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2" dur="203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53" presetClass="entr" presetSubtype="16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18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18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72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8" fill="hold" grpId="0" nodeType="withEffect">
                                  <p:stCondLst>
                                    <p:cond delay="698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0" dur="2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702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18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18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72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729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18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18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72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756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18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18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72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8" dur="18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18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72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18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18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72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837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18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18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72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225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225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225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225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2" presetClass="entr" presetSubtype="2" fill="hold" grpId="0" nodeType="withEffect">
                                  <p:stCondLst>
                                    <p:cond delay="954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25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225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2" presetClass="entr" presetSubtype="2" fill="hold" grpId="0" nodeType="withEffect">
                                  <p:stCondLst>
                                    <p:cond delay="954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225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225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39" dur="1400" repeatCount="indefinite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1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108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6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7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8" dur="108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0" presetClass="entr" presetSubtype="0" fill="hold" grpId="0" nodeType="withEffect">
                                  <p:stCondLst>
                                    <p:cond delay="1058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1094 0.0000 E" pathEditMode="relative" ptsTypes="">
                                      <p:cBhvr>
                                        <p:cTn id="261" dur="1700" repeatCount="indefinite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6" presetClass="emph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animScale>
                                      <p:cBhvr>
                                        <p:cTn id="263" dur="1100" repeatCount="indefinite" accel="50000" decel="500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4" presetID="6" presetClass="emph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animScale>
                                      <p:cBhvr>
                                        <p:cTn id="265" dur="1100" repeatCount="indefinite" accel="50000" decel="500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animScale>
                                      <p:cBhvr>
                                        <p:cTn id="267" dur="1100" repeatCount="indefinite" accel="50000" decel="500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0" presetClass="entr" presetSubtype="0" fill="hold" grpId="0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70" dur="1400" repeatCount="indefinite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0" presetClass="entr" presetSubtype="0" fill="hold" grpId="0" nodeType="withEffect">
                                  <p:stCondLst>
                                    <p:cond delay="1193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547 0.0000 L 0.0547 0.1944 L 0.1094 0.1944 E" pathEditMode="relative" ptsTypes="">
                                      <p:cBhvr>
                                        <p:cTn id="273" dur="2400" repeatCount="indefinite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0" grpId="1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29" grpId="1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6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именно так</a:t>
            </a:r>
            <a:endParaRPr lang="en-US" sz="3400" dirty="0"/>
          </a:p>
        </p:txBody>
      </p:sp>
      <p:sp>
        <p:nvSpPr>
          <p:cNvPr id="4" name="text-367"/>
          <p:cNvSpPr txBox="1"/>
          <p:nvPr/>
        </p:nvSpPr>
        <p:spPr>
          <a:xfrm>
            <a:off x="2730500" y="16383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наивно</a:t>
            </a:r>
            <a:endParaRPr lang="en-US" sz="1000" dirty="0"/>
          </a:p>
        </p:txBody>
      </p:sp>
      <p:sp>
        <p:nvSpPr>
          <p:cNvPr id="5" name="text-368"/>
          <p:cNvSpPr txBox="1"/>
          <p:nvPr/>
        </p:nvSpPr>
        <p:spPr>
          <a:xfrm>
            <a:off x="48895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модели</a:t>
            </a:r>
            <a:endParaRPr lang="en-US" sz="1000" dirty="0"/>
          </a:p>
        </p:txBody>
      </p:sp>
      <p:sp>
        <p:nvSpPr>
          <p:cNvPr id="6" name="text-369"/>
          <p:cNvSpPr txBox="1"/>
          <p:nvPr/>
        </p:nvSpPr>
        <p:spPr>
          <a:xfrm>
            <a:off x="6921500" y="16383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потеря</a:t>
            </a:r>
            <a:endParaRPr lang="en-US" sz="1000" dirty="0"/>
          </a:p>
        </p:txBody>
      </p:sp>
      <p:sp>
        <p:nvSpPr>
          <p:cNvPr id="7" name="text-370"/>
          <p:cNvSpPr txBox="1"/>
          <p:nvPr/>
        </p:nvSpPr>
        <p:spPr>
          <a:xfrm>
            <a:off x="8763000" y="16383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8" name="shape-371"/>
          <p:cNvSpPr/>
          <p:nvPr/>
        </p:nvSpPr>
        <p:spPr>
          <a:xfrm>
            <a:off x="762000" y="19050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9" name="text-372"/>
          <p:cNvSpPr txBox="1"/>
          <p:nvPr/>
        </p:nvSpPr>
        <p:spPr>
          <a:xfrm>
            <a:off x="939800" y="19050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Покупатель</a:t>
            </a:r>
            <a:endParaRPr lang="en-US" sz="1350" dirty="0"/>
          </a:p>
        </p:txBody>
      </p:sp>
      <p:sp>
        <p:nvSpPr>
          <p:cNvPr id="10" name="text-373"/>
          <p:cNvSpPr txBox="1"/>
          <p:nvPr/>
        </p:nvSpPr>
        <p:spPr>
          <a:xfrm>
            <a:off x="2730500" y="19050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600" dirty="0"/>
          </a:p>
        </p:txBody>
      </p:sp>
      <p:sp>
        <p:nvSpPr>
          <p:cNvPr id="11" name="shape-374"/>
          <p:cNvSpPr/>
          <p:nvPr/>
        </p:nvSpPr>
        <p:spPr>
          <a:xfrm>
            <a:off x="2730500" y="22352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12" name="pic-375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146300"/>
            <a:ext cx="203200" cy="203200"/>
          </a:xfrm>
          <a:prstGeom prst="rect">
            <a:avLst/>
          </a:prstGeom>
        </p:spPr>
      </p:pic>
      <p:sp>
        <p:nvSpPr>
          <p:cNvPr id="13" name="text-376"/>
          <p:cNvSpPr txBox="1"/>
          <p:nvPr/>
        </p:nvSpPr>
        <p:spPr>
          <a:xfrm>
            <a:off x="4889500" y="19050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700" dirty="0"/>
          </a:p>
        </p:txBody>
      </p:sp>
      <p:sp>
        <p:nvSpPr>
          <p:cNvPr id="14" name="shape-377"/>
          <p:cNvSpPr/>
          <p:nvPr/>
        </p:nvSpPr>
        <p:spPr>
          <a:xfrm>
            <a:off x="6921500" y="21018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15" name="text-378"/>
          <p:cNvSpPr txBox="1"/>
          <p:nvPr/>
        </p:nvSpPr>
        <p:spPr>
          <a:xfrm>
            <a:off x="6921500" y="21018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3 345 дублей</a:t>
            </a:r>
            <a:endParaRPr lang="en-US" sz="1000" dirty="0"/>
          </a:p>
        </p:txBody>
      </p:sp>
      <p:sp>
        <p:nvSpPr>
          <p:cNvPr id="16" name="text-379"/>
          <p:cNvSpPr txBox="1"/>
          <p:nvPr/>
        </p:nvSpPr>
        <p:spPr>
          <a:xfrm>
            <a:off x="8763000" y="19050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customer_unique_id, повторных 3,12% вместо 0</a:t>
            </a:r>
            <a:endParaRPr lang="en-US" sz="1000" dirty="0"/>
          </a:p>
        </p:txBody>
      </p:sp>
      <p:sp>
        <p:nvSpPr>
          <p:cNvPr id="17" name="shape-380"/>
          <p:cNvSpPr/>
          <p:nvPr/>
        </p:nvSpPr>
        <p:spPr>
          <a:xfrm>
            <a:off x="762000" y="26924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18" name="text-381"/>
          <p:cNvSpPr txBox="1"/>
          <p:nvPr/>
        </p:nvSpPr>
        <p:spPr>
          <a:xfrm>
            <a:off x="939800" y="26924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География</a:t>
            </a:r>
            <a:endParaRPr lang="en-US" sz="1350" dirty="0"/>
          </a:p>
        </p:txBody>
      </p:sp>
      <p:sp>
        <p:nvSpPr>
          <p:cNvPr id="19" name="text-382"/>
          <p:cNvSpPr txBox="1"/>
          <p:nvPr/>
        </p:nvSpPr>
        <p:spPr>
          <a:xfrm>
            <a:off x="2730500" y="26924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сейчас</a:t>
            </a:r>
            <a:endParaRPr lang="en-US" sz="1600" dirty="0"/>
          </a:p>
        </p:txBody>
      </p:sp>
      <p:sp>
        <p:nvSpPr>
          <p:cNvPr id="20" name="shape-383"/>
          <p:cNvSpPr/>
          <p:nvPr/>
        </p:nvSpPr>
        <p:spPr>
          <a:xfrm>
            <a:off x="2730500" y="3022600"/>
            <a:ext cx="141427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21" name="pic-384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933700"/>
            <a:ext cx="203200" cy="203200"/>
          </a:xfrm>
          <a:prstGeom prst="rect">
            <a:avLst/>
          </a:prstGeom>
        </p:spPr>
      </p:pic>
      <p:sp>
        <p:nvSpPr>
          <p:cNvPr id="22" name="text-385"/>
          <p:cNvSpPr txBox="1"/>
          <p:nvPr/>
        </p:nvSpPr>
        <p:spPr>
          <a:xfrm>
            <a:off x="4889500" y="26924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в заказе</a:t>
            </a:r>
            <a:endParaRPr lang="en-US" sz="1700" dirty="0"/>
          </a:p>
        </p:txBody>
      </p:sp>
      <p:sp>
        <p:nvSpPr>
          <p:cNvPr id="23" name="shape-386"/>
          <p:cNvSpPr/>
          <p:nvPr/>
        </p:nvSpPr>
        <p:spPr>
          <a:xfrm>
            <a:off x="6921500" y="28892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24" name="text-387"/>
          <p:cNvSpPr txBox="1"/>
          <p:nvPr/>
        </p:nvSpPr>
        <p:spPr>
          <a:xfrm>
            <a:off x="6921500" y="28892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 переездов</a:t>
            </a:r>
            <a:endParaRPr lang="en-US" sz="1000" dirty="0"/>
          </a:p>
        </p:txBody>
      </p:sp>
      <p:sp>
        <p:nvSpPr>
          <p:cNvPr id="25" name="text-388"/>
          <p:cNvSpPr txBox="1"/>
          <p:nvPr/>
        </p:nvSpPr>
        <p:spPr>
          <a:xfrm>
            <a:off x="8763000" y="26924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снимок в заказе, регионы не плывут</a:t>
            </a:r>
            <a:endParaRPr lang="en-US" sz="1000" dirty="0"/>
          </a:p>
        </p:txBody>
      </p:sp>
      <p:sp>
        <p:nvSpPr>
          <p:cNvPr id="26" name="shape-389"/>
          <p:cNvSpPr/>
          <p:nvPr/>
        </p:nvSpPr>
        <p:spPr>
          <a:xfrm>
            <a:off x="762000" y="34798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27" name="text-390"/>
          <p:cNvSpPr txBox="1"/>
          <p:nvPr/>
        </p:nvSpPr>
        <p:spPr>
          <a:xfrm>
            <a:off x="939800" y="34798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</a:t>
            </a:r>
            <a:endParaRPr lang="en-US" sz="1350" dirty="0"/>
          </a:p>
        </p:txBody>
      </p:sp>
      <p:sp>
        <p:nvSpPr>
          <p:cNvPr id="28" name="text-391"/>
          <p:cNvSpPr txBox="1"/>
          <p:nvPr/>
        </p:nvSpPr>
        <p:spPr>
          <a:xfrm>
            <a:off x="2730500" y="34798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600" dirty="0"/>
          </a:p>
        </p:txBody>
      </p:sp>
      <p:sp>
        <p:nvSpPr>
          <p:cNvPr id="29" name="shape-392"/>
          <p:cNvSpPr/>
          <p:nvPr/>
        </p:nvSpPr>
        <p:spPr>
          <a:xfrm>
            <a:off x="2730500" y="3810000"/>
            <a:ext cx="23571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0" name="pic-393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3721100"/>
            <a:ext cx="203200" cy="203200"/>
          </a:xfrm>
          <a:prstGeom prst="rect">
            <a:avLst/>
          </a:prstGeom>
        </p:spPr>
      </p:pic>
      <p:sp>
        <p:nvSpPr>
          <p:cNvPr id="31" name="text-394"/>
          <p:cNvSpPr txBox="1"/>
          <p:nvPr/>
        </p:nvSpPr>
        <p:spPr>
          <a:xfrm>
            <a:off x="4889500" y="34798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1700" dirty="0"/>
          </a:p>
        </p:txBody>
      </p:sp>
      <p:sp>
        <p:nvSpPr>
          <p:cNvPr id="32" name="shape-395"/>
          <p:cNvSpPr/>
          <p:nvPr/>
        </p:nvSpPr>
        <p:spPr>
          <a:xfrm>
            <a:off x="6921500" y="36766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3" name="text-396"/>
          <p:cNvSpPr txBox="1"/>
          <p:nvPr/>
        </p:nvSpPr>
        <p:spPr>
          <a:xfrm>
            <a:off x="6921500" y="36766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 категории</a:t>
            </a:r>
            <a:endParaRPr lang="en-US" sz="1000" dirty="0"/>
          </a:p>
        </p:txBody>
      </p:sp>
      <p:sp>
        <p:nvSpPr>
          <p:cNvPr id="34" name="text-397"/>
          <p:cNvSpPr txBox="1"/>
          <p:nvPr/>
        </p:nvSpPr>
        <p:spPr>
          <a:xfrm>
            <a:off x="8763000" y="34798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справочник из товаров, перевод опционален</a:t>
            </a:r>
            <a:endParaRPr lang="en-US" sz="1000" dirty="0"/>
          </a:p>
        </p:txBody>
      </p:sp>
      <p:sp>
        <p:nvSpPr>
          <p:cNvPr id="35" name="shape-398"/>
          <p:cNvSpPr/>
          <p:nvPr/>
        </p:nvSpPr>
        <p:spPr>
          <a:xfrm>
            <a:off x="762000" y="42672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36" name="text-399"/>
          <p:cNvSpPr txBox="1"/>
          <p:nvPr/>
        </p:nvSpPr>
        <p:spPr>
          <a:xfrm>
            <a:off x="939800" y="42672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категории</a:t>
            </a:r>
            <a:endParaRPr lang="en-US" sz="1350" dirty="0"/>
          </a:p>
        </p:txBody>
      </p:sp>
      <p:sp>
        <p:nvSpPr>
          <p:cNvPr id="37" name="text-400"/>
          <p:cNvSpPr txBox="1"/>
          <p:nvPr/>
        </p:nvSpPr>
        <p:spPr>
          <a:xfrm>
            <a:off x="2730500" y="42672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13 050 771,48</a:t>
            </a:r>
            <a:endParaRPr lang="en-US" sz="1600" dirty="0"/>
          </a:p>
        </p:txBody>
      </p:sp>
      <p:sp>
        <p:nvSpPr>
          <p:cNvPr id="38" name="shape-401"/>
          <p:cNvSpPr/>
          <p:nvPr/>
        </p:nvSpPr>
        <p:spPr>
          <a:xfrm>
            <a:off x="2730500" y="4597400"/>
            <a:ext cx="1532128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9" name="pic-402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4508500"/>
            <a:ext cx="203200" cy="203200"/>
          </a:xfrm>
          <a:prstGeom prst="rect">
            <a:avLst/>
          </a:prstGeom>
        </p:spPr>
      </p:pic>
      <p:sp>
        <p:nvSpPr>
          <p:cNvPr id="40" name="text-403"/>
          <p:cNvSpPr txBox="1"/>
          <p:nvPr/>
        </p:nvSpPr>
        <p:spPr>
          <a:xfrm>
            <a:off x="4889500" y="42672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1700" dirty="0"/>
          </a:p>
        </p:txBody>
      </p:sp>
      <p:sp>
        <p:nvSpPr>
          <p:cNvPr id="41" name="shape-404"/>
          <p:cNvSpPr/>
          <p:nvPr/>
        </p:nvSpPr>
        <p:spPr>
          <a:xfrm>
            <a:off x="6921500" y="44640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42" name="text-405"/>
          <p:cNvSpPr txBox="1"/>
          <p:nvPr/>
        </p:nvSpPr>
        <p:spPr>
          <a:xfrm>
            <a:off x="6921500" y="44640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−170 726,63</a:t>
            </a:r>
            <a:endParaRPr lang="en-US" sz="1000" dirty="0"/>
          </a:p>
        </p:txBody>
      </p:sp>
      <p:sp>
        <p:nvSpPr>
          <p:cNvPr id="43" name="text-406"/>
          <p:cNvSpPr txBox="1"/>
          <p:nvPr/>
        </p:nvSpPr>
        <p:spPr>
          <a:xfrm>
            <a:off x="8763000" y="42672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строка, сумма сходится</a:t>
            </a:r>
            <a:endParaRPr lang="en-US" sz="1000" dirty="0"/>
          </a:p>
        </p:txBody>
      </p:sp>
      <p:sp>
        <p:nvSpPr>
          <p:cNvPr id="44" name="shape-407"/>
          <p:cNvSpPr/>
          <p:nvPr/>
        </p:nvSpPr>
        <p:spPr>
          <a:xfrm>
            <a:off x="762000" y="50546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45" name="text-408"/>
          <p:cNvSpPr txBox="1"/>
          <p:nvPr/>
        </p:nvSpPr>
        <p:spPr>
          <a:xfrm>
            <a:off x="939800" y="50546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 в отчётах</a:t>
            </a:r>
            <a:endParaRPr lang="en-US" sz="1350" dirty="0"/>
          </a:p>
        </p:txBody>
      </p:sp>
      <p:sp>
        <p:nvSpPr>
          <p:cNvPr id="46" name="text-409"/>
          <p:cNvSpPr txBox="1"/>
          <p:nvPr/>
        </p:nvSpPr>
        <p:spPr>
          <a:xfrm>
            <a:off x="2730500" y="50546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98 666</a:t>
            </a:r>
            <a:endParaRPr lang="en-US" sz="1600" dirty="0"/>
          </a:p>
        </p:txBody>
      </p:sp>
      <p:sp>
        <p:nvSpPr>
          <p:cNvPr id="47" name="shape-410"/>
          <p:cNvSpPr/>
          <p:nvPr/>
        </p:nvSpPr>
        <p:spPr>
          <a:xfrm>
            <a:off x="2730500" y="53848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48" name="pic-411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295900"/>
            <a:ext cx="203200" cy="203200"/>
          </a:xfrm>
          <a:prstGeom prst="rect">
            <a:avLst/>
          </a:prstGeom>
        </p:spPr>
      </p:pic>
      <p:sp>
        <p:nvSpPr>
          <p:cNvPr id="49" name="text-412"/>
          <p:cNvSpPr txBox="1"/>
          <p:nvPr/>
        </p:nvSpPr>
        <p:spPr>
          <a:xfrm>
            <a:off x="4889500" y="50546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700" dirty="0"/>
          </a:p>
        </p:txBody>
      </p:sp>
      <p:sp>
        <p:nvSpPr>
          <p:cNvPr id="50" name="shape-413"/>
          <p:cNvSpPr/>
          <p:nvPr/>
        </p:nvSpPr>
        <p:spPr>
          <a:xfrm>
            <a:off x="6921500" y="52514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1" name="text-414"/>
          <p:cNvSpPr txBox="1"/>
          <p:nvPr/>
        </p:nvSpPr>
        <p:spPr>
          <a:xfrm>
            <a:off x="6921500" y="52514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−775 заказов</a:t>
            </a:r>
            <a:endParaRPr lang="en-US" sz="1000" dirty="0"/>
          </a:p>
        </p:txBody>
      </p:sp>
      <p:sp>
        <p:nvSpPr>
          <p:cNvPr id="52" name="text-415"/>
          <p:cNvSpPr txBox="1"/>
          <p:nvPr/>
        </p:nvSpPr>
        <p:spPr>
          <a:xfrm>
            <a:off x="8763000" y="50546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 JOIN, где пары может не быть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27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27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27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27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8" fill="hold" grpId="0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27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fill="hold" grpId="0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27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2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27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8" fill="hold" grpId="0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27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7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1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27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27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8" fill="hold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18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1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31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8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2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2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0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8" fill="hold" nodeType="withEffect">
                                  <p:stCondLst>
                                    <p:cond delay="572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18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581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158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225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225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9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2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2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9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617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2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2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25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8" fill="hold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18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657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158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684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22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9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684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2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2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9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693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27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27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108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707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2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8" fill="hold" nodeType="withEffect">
                                  <p:stCondLst>
                                    <p:cond delay="72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18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734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3" dur="158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761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22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22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9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grpId="0" nodeType="withEffect">
                                  <p:stCondLst>
                                    <p:cond delay="761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22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22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9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27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27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108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22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" presetClass="entr" presetSubtype="8" fill="hold" nodeType="withEffect">
                                  <p:stCondLst>
                                    <p:cond delay="801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18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18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837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225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225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9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837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225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225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9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846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8" dur="27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27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108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25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914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225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225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9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914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225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225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9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225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41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Ничего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не потеряли</a:t>
            </a:r>
            <a:endParaRPr lang="en-US" sz="3400" dirty="0"/>
          </a:p>
        </p:txBody>
      </p:sp>
      <p:sp>
        <p:nvSpPr>
          <p:cNvPr id="4" name="text-417"/>
          <p:cNvSpPr txBox="1"/>
          <p:nvPr/>
        </p:nvSpPr>
        <p:spPr>
          <a:xfrm>
            <a:off x="762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1300" dirty="0"/>
          </a:p>
        </p:txBody>
      </p:sp>
      <p:sp>
        <p:nvSpPr>
          <p:cNvPr id="5" name="text-418"/>
          <p:cNvSpPr txBox="1"/>
          <p:nvPr/>
        </p:nvSpPr>
        <p:spPr>
          <a:xfrm>
            <a:off x="4826000" y="16256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потерь: </a:t>
            </a:r>
            <a:r>
              <a:rPr lang="en-US" sz="17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-419"/>
          <p:cNvSpPr txBox="1"/>
          <p:nvPr/>
        </p:nvSpPr>
        <p:spPr>
          <a:xfrm>
            <a:off x="10160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1300" dirty="0"/>
          </a:p>
        </p:txBody>
      </p:sp>
      <p:sp>
        <p:nvSpPr>
          <p:cNvPr id="7" name="text-420"/>
          <p:cNvSpPr txBox="1"/>
          <p:nvPr/>
        </p:nvSpPr>
        <p:spPr>
          <a:xfrm>
            <a:off x="5334000" y="20320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</a:t>
            </a:r>
            <a:endParaRPr lang="en-US" sz="1250" dirty="0"/>
          </a:p>
        </p:txBody>
      </p:sp>
      <p:sp>
        <p:nvSpPr>
          <p:cNvPr id="8" name="shape-421"/>
          <p:cNvSpPr/>
          <p:nvPr/>
        </p:nvSpPr>
        <p:spPr>
          <a:xfrm>
            <a:off x="2579899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9" name="text-422"/>
          <p:cNvSpPr txBox="1"/>
          <p:nvPr/>
        </p:nvSpPr>
        <p:spPr>
          <a:xfrm>
            <a:off x="762000" y="20320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0" name="shape-423"/>
          <p:cNvSpPr/>
          <p:nvPr/>
        </p:nvSpPr>
        <p:spPr>
          <a:xfrm>
            <a:off x="6921500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1" name="text-424"/>
          <p:cNvSpPr txBox="1"/>
          <p:nvPr/>
        </p:nvSpPr>
        <p:spPr>
          <a:xfrm>
            <a:off x="9713701" y="20320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2" name="shape-425"/>
          <p:cNvSpPr/>
          <p:nvPr/>
        </p:nvSpPr>
        <p:spPr>
          <a:xfrm>
            <a:off x="6540500" y="20637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13" name="pic-426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101850"/>
            <a:ext cx="139700" cy="139700"/>
          </a:xfrm>
          <a:prstGeom prst="rect">
            <a:avLst/>
          </a:prstGeom>
        </p:spPr>
      </p:pic>
      <p:sp>
        <p:nvSpPr>
          <p:cNvPr id="14" name="text-427"/>
          <p:cNvSpPr txBox="1"/>
          <p:nvPr/>
        </p:nvSpPr>
        <p:spPr>
          <a:xfrm>
            <a:off x="5334000" y="25019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позиции</a:t>
            </a:r>
            <a:endParaRPr lang="en-US" sz="1250" dirty="0"/>
          </a:p>
        </p:txBody>
      </p:sp>
      <p:sp>
        <p:nvSpPr>
          <p:cNvPr id="15" name="shape-428"/>
          <p:cNvSpPr/>
          <p:nvPr/>
        </p:nvSpPr>
        <p:spPr>
          <a:xfrm>
            <a:off x="2222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16" name="text-429"/>
          <p:cNvSpPr txBox="1"/>
          <p:nvPr/>
        </p:nvSpPr>
        <p:spPr>
          <a:xfrm>
            <a:off x="762000" y="25019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7" name="shape-430"/>
          <p:cNvSpPr/>
          <p:nvPr/>
        </p:nvSpPr>
        <p:spPr>
          <a:xfrm>
            <a:off x="6921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8" name="text-431"/>
          <p:cNvSpPr txBox="1"/>
          <p:nvPr/>
        </p:nvSpPr>
        <p:spPr>
          <a:xfrm>
            <a:off x="10071100" y="25019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9" name="shape-432"/>
          <p:cNvSpPr/>
          <p:nvPr/>
        </p:nvSpPr>
        <p:spPr>
          <a:xfrm>
            <a:off x="6540500" y="25336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0" name="pic-433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571750"/>
            <a:ext cx="139700" cy="139700"/>
          </a:xfrm>
          <a:prstGeom prst="rect">
            <a:avLst/>
          </a:prstGeom>
        </p:spPr>
      </p:pic>
      <p:sp>
        <p:nvSpPr>
          <p:cNvPr id="21" name="text-434"/>
          <p:cNvSpPr txBox="1"/>
          <p:nvPr/>
        </p:nvSpPr>
        <p:spPr>
          <a:xfrm>
            <a:off x="5334000" y="29718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2" name="shape-435"/>
          <p:cNvSpPr/>
          <p:nvPr/>
        </p:nvSpPr>
        <p:spPr>
          <a:xfrm>
            <a:off x="245963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23" name="text-436"/>
          <p:cNvSpPr txBox="1"/>
          <p:nvPr/>
        </p:nvSpPr>
        <p:spPr>
          <a:xfrm>
            <a:off x="762000" y="29718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4" name="shape-437"/>
          <p:cNvSpPr/>
          <p:nvPr/>
        </p:nvSpPr>
        <p:spPr>
          <a:xfrm>
            <a:off x="692150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25" name="text-438"/>
          <p:cNvSpPr txBox="1"/>
          <p:nvPr/>
        </p:nvSpPr>
        <p:spPr>
          <a:xfrm>
            <a:off x="9833970" y="29718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6" name="shape-439"/>
          <p:cNvSpPr/>
          <p:nvPr/>
        </p:nvSpPr>
        <p:spPr>
          <a:xfrm>
            <a:off x="6540500" y="30035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7" name="pic-440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041650"/>
            <a:ext cx="139700" cy="139700"/>
          </a:xfrm>
          <a:prstGeom prst="rect">
            <a:avLst/>
          </a:prstGeom>
        </p:spPr>
      </p:pic>
      <p:sp>
        <p:nvSpPr>
          <p:cNvPr id="28" name="text-441"/>
          <p:cNvSpPr txBox="1"/>
          <p:nvPr/>
        </p:nvSpPr>
        <p:spPr>
          <a:xfrm>
            <a:off x="5334000" y="34417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отзывы</a:t>
            </a:r>
            <a:endParaRPr lang="en-US" sz="1250" dirty="0"/>
          </a:p>
        </p:txBody>
      </p:sp>
      <p:sp>
        <p:nvSpPr>
          <p:cNvPr id="29" name="shape-442"/>
          <p:cNvSpPr/>
          <p:nvPr/>
        </p:nvSpPr>
        <p:spPr>
          <a:xfrm>
            <a:off x="2585771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0" name="text-443"/>
          <p:cNvSpPr txBox="1"/>
          <p:nvPr/>
        </p:nvSpPr>
        <p:spPr>
          <a:xfrm>
            <a:off x="762000" y="34417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1" name="shape-444"/>
          <p:cNvSpPr/>
          <p:nvPr/>
        </p:nvSpPr>
        <p:spPr>
          <a:xfrm>
            <a:off x="6921500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2" name="text-445"/>
          <p:cNvSpPr txBox="1"/>
          <p:nvPr/>
        </p:nvSpPr>
        <p:spPr>
          <a:xfrm>
            <a:off x="9707829" y="34417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3" name="shape-446"/>
          <p:cNvSpPr/>
          <p:nvPr/>
        </p:nvSpPr>
        <p:spPr>
          <a:xfrm>
            <a:off x="6540500" y="34734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34" name="pic-447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511550"/>
            <a:ext cx="139700" cy="139700"/>
          </a:xfrm>
          <a:prstGeom prst="rect">
            <a:avLst/>
          </a:prstGeom>
        </p:spPr>
      </p:pic>
      <p:sp>
        <p:nvSpPr>
          <p:cNvPr id="35" name="text-448"/>
          <p:cNvSpPr txBox="1"/>
          <p:nvPr/>
        </p:nvSpPr>
        <p:spPr>
          <a:xfrm>
            <a:off x="5334000" y="39116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товары</a:t>
            </a:r>
            <a:endParaRPr lang="en-US" sz="1250" dirty="0"/>
          </a:p>
        </p:txBody>
      </p:sp>
      <p:sp>
        <p:nvSpPr>
          <p:cNvPr id="36" name="shape-449"/>
          <p:cNvSpPr/>
          <p:nvPr/>
        </p:nvSpPr>
        <p:spPr>
          <a:xfrm>
            <a:off x="4378936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7" name="text-450"/>
          <p:cNvSpPr txBox="1"/>
          <p:nvPr/>
        </p:nvSpPr>
        <p:spPr>
          <a:xfrm>
            <a:off x="762000" y="39116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38" name="shape-451"/>
          <p:cNvSpPr/>
          <p:nvPr/>
        </p:nvSpPr>
        <p:spPr>
          <a:xfrm>
            <a:off x="6921500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9" name="text-452"/>
          <p:cNvSpPr txBox="1"/>
          <p:nvPr/>
        </p:nvSpPr>
        <p:spPr>
          <a:xfrm>
            <a:off x="7914664" y="39116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40" name="shape-453"/>
          <p:cNvSpPr/>
          <p:nvPr/>
        </p:nvSpPr>
        <p:spPr>
          <a:xfrm>
            <a:off x="6540500" y="39433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1" name="pic-454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981450"/>
            <a:ext cx="139700" cy="139700"/>
          </a:xfrm>
          <a:prstGeom prst="rect">
            <a:avLst/>
          </a:prstGeom>
        </p:spPr>
      </p:pic>
      <p:sp>
        <p:nvSpPr>
          <p:cNvPr id="42" name="text-455"/>
          <p:cNvSpPr txBox="1"/>
          <p:nvPr/>
        </p:nvSpPr>
        <p:spPr>
          <a:xfrm>
            <a:off x="5334000" y="43815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продавцы</a:t>
            </a:r>
            <a:endParaRPr lang="en-US" sz="1250" dirty="0"/>
          </a:p>
        </p:txBody>
      </p:sp>
      <p:sp>
        <p:nvSpPr>
          <p:cNvPr id="43" name="shape-456"/>
          <p:cNvSpPr/>
          <p:nvPr/>
        </p:nvSpPr>
        <p:spPr>
          <a:xfrm>
            <a:off x="51816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C9C9D1"/>
          </a:solidFill>
          <a:ln/>
        </p:spPr>
      </p:sp>
      <p:sp>
        <p:nvSpPr>
          <p:cNvPr id="44" name="text-457"/>
          <p:cNvSpPr txBox="1"/>
          <p:nvPr/>
        </p:nvSpPr>
        <p:spPr>
          <a:xfrm>
            <a:off x="762000" y="43815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5" name="shape-458"/>
          <p:cNvSpPr/>
          <p:nvPr/>
        </p:nvSpPr>
        <p:spPr>
          <a:xfrm>
            <a:off x="69215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46" name="text-459"/>
          <p:cNvSpPr txBox="1"/>
          <p:nvPr/>
        </p:nvSpPr>
        <p:spPr>
          <a:xfrm>
            <a:off x="7112000" y="43815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7" name="shape-460"/>
          <p:cNvSpPr/>
          <p:nvPr/>
        </p:nvSpPr>
        <p:spPr>
          <a:xfrm>
            <a:off x="6540500" y="44132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8" name="pic-461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451350"/>
            <a:ext cx="139700" cy="139700"/>
          </a:xfrm>
          <a:prstGeom prst="rect">
            <a:avLst/>
          </a:prstGeom>
        </p:spPr>
      </p:pic>
      <p:sp>
        <p:nvSpPr>
          <p:cNvPr id="49" name="text-462"/>
          <p:cNvSpPr txBox="1"/>
          <p:nvPr/>
        </p:nvSpPr>
        <p:spPr>
          <a:xfrm>
            <a:off x="5334000" y="48514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покупатели</a:t>
            </a:r>
            <a:endParaRPr lang="en-US" sz="1250" dirty="0"/>
          </a:p>
        </p:txBody>
      </p:sp>
      <p:sp>
        <p:nvSpPr>
          <p:cNvPr id="50" name="shape-463"/>
          <p:cNvSpPr/>
          <p:nvPr/>
        </p:nvSpPr>
        <p:spPr>
          <a:xfrm>
            <a:off x="2579899" y="48768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51" name="text-464"/>
          <p:cNvSpPr txBox="1"/>
          <p:nvPr/>
        </p:nvSpPr>
        <p:spPr>
          <a:xfrm>
            <a:off x="762000" y="48514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52" name="shape-465"/>
          <p:cNvSpPr/>
          <p:nvPr/>
        </p:nvSpPr>
        <p:spPr>
          <a:xfrm>
            <a:off x="6921500" y="4876800"/>
            <a:ext cx="2600094" cy="228600"/>
          </a:xfrm>
          <a:prstGeom prst="roundRect">
            <a:avLst>
              <a:gd name="adj" fmla="val 25000"/>
            </a:avLst>
          </a:prstGeom>
          <a:solidFill>
            <a:srgbClr val="7F57EB"/>
          </a:solidFill>
          <a:ln/>
        </p:spPr>
      </p:sp>
      <p:sp>
        <p:nvSpPr>
          <p:cNvPr id="53" name="text-466"/>
          <p:cNvSpPr txBox="1"/>
          <p:nvPr/>
        </p:nvSpPr>
        <p:spPr>
          <a:xfrm>
            <a:off x="9623194" y="48514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200" dirty="0"/>
          </a:p>
        </p:txBody>
      </p:sp>
      <p:sp>
        <p:nvSpPr>
          <p:cNvPr id="54" name="shape-467"/>
          <p:cNvSpPr/>
          <p:nvPr/>
        </p:nvSpPr>
        <p:spPr>
          <a:xfrm>
            <a:off x="6540500" y="4883150"/>
            <a:ext cx="215900" cy="215900"/>
          </a:xfrm>
          <a:prstGeom prst="ellipse">
            <a:avLst/>
          </a:prstGeom>
          <a:solidFill>
            <a:srgbClr val="7F57EB"/>
          </a:solidFill>
          <a:ln/>
        </p:spPr>
      </p:sp>
      <p:pic>
        <p:nvPicPr>
          <p:cNvPr id="55" name="pic-468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921250"/>
            <a:ext cx="139700" cy="139700"/>
          </a:xfrm>
          <a:prstGeom prst="rect">
            <a:avLst/>
          </a:prstGeom>
        </p:spPr>
      </p:pic>
      <p:sp>
        <p:nvSpPr>
          <p:cNvPr id="56" name="shape-469"/>
          <p:cNvSpPr/>
          <p:nvPr/>
        </p:nvSpPr>
        <p:spPr>
          <a:xfrm>
            <a:off x="10347094" y="4870450"/>
            <a:ext cx="1079500" cy="241300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/>
        </p:spPr>
      </p:sp>
      <p:sp>
        <p:nvSpPr>
          <p:cNvPr id="57" name="text-470"/>
          <p:cNvSpPr txBox="1"/>
          <p:nvPr/>
        </p:nvSpPr>
        <p:spPr>
          <a:xfrm>
            <a:off x="10347094" y="4870450"/>
            <a:ext cx="1079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дедупликация</a:t>
            </a:r>
            <a:endParaRPr lang="en-US" sz="850" dirty="0"/>
          </a:p>
        </p:txBody>
      </p:sp>
      <p:sp>
        <p:nvSpPr>
          <p:cNvPr id="58" name="shape-471"/>
          <p:cNvSpPr/>
          <p:nvPr/>
        </p:nvSpPr>
        <p:spPr>
          <a:xfrm>
            <a:off x="76200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9" name="text-472"/>
          <p:cNvSpPr txBox="1"/>
          <p:nvPr/>
        </p:nvSpPr>
        <p:spPr>
          <a:xfrm>
            <a:off x="76200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 EXCEPTION</a:t>
            </a:r>
            <a:endParaRPr lang="en-US" sz="1050" dirty="0"/>
          </a:p>
        </p:txBody>
      </p:sp>
      <p:sp>
        <p:nvSpPr>
          <p:cNvPr id="60" name="text-473"/>
          <p:cNvSpPr txBox="1"/>
          <p:nvPr/>
        </p:nvSpPr>
        <p:spPr>
          <a:xfrm>
            <a:off x="2540000" y="5461000"/>
            <a:ext cx="889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число строк, пары заказ и продавец, сумма денег. Расхождение валит сборку, а не молчит</a:t>
            </a:r>
            <a:endParaRPr lang="en-US" sz="11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2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25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2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225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03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03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8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94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3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03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8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203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203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203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203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1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3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3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61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3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3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203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203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81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36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36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36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36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35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135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20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20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81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78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36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36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378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36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36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40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35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135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419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35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135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20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203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81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437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36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36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437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36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36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64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3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135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477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3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135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48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203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203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81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36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36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36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36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522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3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135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536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35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135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554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36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36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554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36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36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225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225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9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581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3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135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203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203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8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594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13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135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225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225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9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639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13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135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53" presetClass="entr" presetSubtype="16" fill="hold" nodeType="withEffect">
                                  <p:stCondLst>
                                    <p:cond delay="644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203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203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653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3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135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0" dur="225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1" dur="225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2" dur="9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698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5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135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53" presetClass="entr" presetSubtype="16" fill="hold" nodeType="withEffect">
                                  <p:stCondLst>
                                    <p:cond delay="702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203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203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81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711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35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135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22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22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9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756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35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135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nodeType="withEffect">
                                  <p:stCondLst>
                                    <p:cond delay="761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20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203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81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797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225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225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9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nodeType="withEffect">
                                  <p:stCondLst>
                                    <p:cond delay="81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203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203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81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225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225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9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nodeType="withEffect">
                                  <p:stCondLst>
                                    <p:cond delay="878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203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203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81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grpId="0" nodeType="withEffect">
                                  <p:stCondLst>
                                    <p:cond delay="914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225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225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9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203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203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81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2" dur="315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3" dur="315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12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grpId="0" nodeType="withEffect">
                                  <p:stCondLst>
                                    <p:cond delay="1004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7" dur="225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8" dur="225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9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1004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225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225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9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27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27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108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08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2" presetClass="entr" presetSubtype="8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7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8" dur="27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9" presetID="6" presetClass="emph" presetSubtype="0" fill="hold" grpId="1" nodeType="withEffect">
                                  <p:stCondLst>
                                    <p:cond delay="1305"/>
                                  </p:stCondLst>
                                  <p:childTnLst>
                                    <p:animScale>
                                      <p:cBhvr>
                                        <p:cTn id="260" dur="1200" repeatCount="indefinite" accel="50000" decel="500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5" grpId="1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474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один SELECT без join</a:t>
            </a:r>
            <a:endParaRPr lang="en-US" sz="3400" dirty="0"/>
          </a:p>
        </p:txBody>
      </p:sp>
      <p:sp>
        <p:nvSpPr>
          <p:cNvPr id="4" name="shape-475"/>
          <p:cNvSpPr/>
          <p:nvPr/>
        </p:nvSpPr>
        <p:spPr>
          <a:xfrm>
            <a:off x="762000" y="2730500"/>
            <a:ext cx="2413000" cy="1460500"/>
          </a:xfrm>
          <a:prstGeom prst="roundRect">
            <a:avLst>
              <a:gd name="adj" fmla="val 13913"/>
            </a:avLst>
          </a:prstGeom>
          <a:solidFill>
            <a:srgbClr val="2348FF"/>
          </a:solidFill>
          <a:ln/>
        </p:spPr>
      </p:sp>
      <p:sp>
        <p:nvSpPr>
          <p:cNvPr id="5" name="text-476"/>
          <p:cNvSpPr txBox="1"/>
          <p:nvPr/>
        </p:nvSpPr>
        <p:spPr>
          <a:xfrm>
            <a:off x="990600" y="2895600"/>
            <a:ext cx="203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заказ</a:t>
            </a:r>
            <a:endParaRPr lang="en-US" sz="2400" dirty="0"/>
          </a:p>
        </p:txBody>
      </p:sp>
      <p:sp>
        <p:nvSpPr>
          <p:cNvPr id="6" name="shape-477"/>
          <p:cNvSpPr/>
          <p:nvPr/>
        </p:nvSpPr>
        <p:spPr>
          <a:xfrm>
            <a:off x="9906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7" name="text-478"/>
          <p:cNvSpPr txBox="1"/>
          <p:nvPr/>
        </p:nvSpPr>
        <p:spPr>
          <a:xfrm>
            <a:off x="9906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П1</a:t>
            </a:r>
            <a:endParaRPr lang="en-US" sz="1050" dirty="0"/>
          </a:p>
        </p:txBody>
      </p:sp>
      <p:sp>
        <p:nvSpPr>
          <p:cNvPr id="8" name="shape-479"/>
          <p:cNvSpPr/>
          <p:nvPr/>
        </p:nvSpPr>
        <p:spPr>
          <a:xfrm>
            <a:off x="14478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9" name="text-480"/>
          <p:cNvSpPr txBox="1"/>
          <p:nvPr/>
        </p:nvSpPr>
        <p:spPr>
          <a:xfrm>
            <a:off x="14478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П2</a:t>
            </a:r>
            <a:endParaRPr lang="en-US" sz="1050" dirty="0"/>
          </a:p>
        </p:txBody>
      </p:sp>
      <p:sp>
        <p:nvSpPr>
          <p:cNvPr id="10" name="shape-481"/>
          <p:cNvSpPr/>
          <p:nvPr/>
        </p:nvSpPr>
        <p:spPr>
          <a:xfrm>
            <a:off x="19050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text-482"/>
          <p:cNvSpPr txBox="1"/>
          <p:nvPr/>
        </p:nvSpPr>
        <p:spPr>
          <a:xfrm>
            <a:off x="19050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П3</a:t>
            </a:r>
            <a:endParaRPr lang="en-US" sz="1050" dirty="0"/>
          </a:p>
        </p:txBody>
      </p:sp>
      <p:sp>
        <p:nvSpPr>
          <p:cNvPr id="12" name="text-483"/>
          <p:cNvSpPr txBox="1"/>
          <p:nvPr/>
        </p:nvSpPr>
        <p:spPr>
          <a:xfrm>
            <a:off x="990600" y="3848100"/>
            <a:ext cx="203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продавца</a:t>
            </a:r>
            <a:endParaRPr lang="en-US" sz="1050" dirty="0"/>
          </a:p>
        </p:txBody>
      </p:sp>
      <p:sp>
        <p:nvSpPr>
          <p:cNvPr id="13" name="geom-484"/>
          <p:cNvSpPr/>
          <p:nvPr/>
        </p:nvSpPr>
        <p:spPr>
          <a:xfrm>
            <a:off x="3175000" y="2476500"/>
            <a:ext cx="1905000" cy="698500"/>
          </a:xfrm>
          <a:custGeom>
            <a:avLst/>
            <a:gdLst/>
            <a:ahLst/>
            <a:cxnLst/>
            <a:rect l="l" t="t" r="r" b="b"/>
            <a:pathLst>
              <a:path w="1905000" h="698500">
                <a:moveTo>
                  <a:pt x="0" y="698500"/>
                </a:moveTo>
                <a:lnTo>
                  <a:pt x="889000" y="698500"/>
                </a:lnTo>
                <a:lnTo>
                  <a:pt x="889000" y="0"/>
                </a:lnTo>
                <a:lnTo>
                  <a:pt x="1905000" y="0"/>
                </a:lnTo>
              </a:path>
            </a:pathLst>
          </a:custGeom>
          <a:ln w="38100">
            <a:solidFill>
              <a:srgbClr val="2348FF"/>
            </a:solidFill>
            <a:prstDash val="solid"/>
          </a:ln>
        </p:spPr>
      </p:sp>
      <p:sp>
        <p:nvSpPr>
          <p:cNvPr id="14" name="geom-485"/>
          <p:cNvSpPr/>
          <p:nvPr/>
        </p:nvSpPr>
        <p:spPr>
          <a:xfrm>
            <a:off x="3175000" y="374650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0" y="0"/>
                </a:moveTo>
                <a:lnTo>
                  <a:pt x="889000" y="0"/>
                </a:lnTo>
                <a:lnTo>
                  <a:pt x="889000" y="571500"/>
                </a:lnTo>
                <a:lnTo>
                  <a:pt x="1905000" y="571500"/>
                </a:lnTo>
              </a:path>
            </a:pathLst>
          </a:custGeom>
          <a:ln w="38100">
            <a:solidFill>
              <a:srgbClr val="7F57EB"/>
            </a:solidFill>
            <a:prstDash val="solid"/>
          </a:ln>
        </p:spPr>
      </p:sp>
      <p:sp>
        <p:nvSpPr>
          <p:cNvPr id="15" name="run-486"/>
          <p:cNvSpPr/>
          <p:nvPr/>
        </p:nvSpPr>
        <p:spPr>
          <a:xfrm>
            <a:off x="3130550" y="3130550"/>
            <a:ext cx="88900" cy="889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6" name="run-487"/>
          <p:cNvSpPr/>
          <p:nvPr/>
        </p:nvSpPr>
        <p:spPr>
          <a:xfrm>
            <a:off x="3130550" y="3702050"/>
            <a:ext cx="88900" cy="889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17" name="text-488"/>
          <p:cNvSpPr txBox="1"/>
          <p:nvPr/>
        </p:nvSpPr>
        <p:spPr>
          <a:xfrm>
            <a:off x="5080000" y="1701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order_fulfillment</a:t>
            </a:r>
            <a:endParaRPr lang="en-US" sz="1400" dirty="0"/>
          </a:p>
        </p:txBody>
      </p:sp>
      <p:sp>
        <p:nvSpPr>
          <p:cNvPr id="18" name="text-489"/>
          <p:cNvSpPr txBox="1"/>
          <p:nvPr/>
        </p:nvSpPr>
        <p:spPr>
          <a:xfrm>
            <a:off x="5080000" y="1955800"/>
            <a:ext cx="355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 в днях, on_time, суммы, последний отзыв; сломанная хронология в NULL</a:t>
            </a:r>
            <a:endParaRPr lang="en-US" sz="950" dirty="0"/>
          </a:p>
        </p:txBody>
      </p:sp>
      <p:sp>
        <p:nvSpPr>
          <p:cNvPr id="19" name="shape-490"/>
          <p:cNvSpPr/>
          <p:nvPr/>
        </p:nvSpPr>
        <p:spPr>
          <a:xfrm>
            <a:off x="5080000" y="2298700"/>
            <a:ext cx="3556000" cy="381000"/>
          </a:xfrm>
          <a:prstGeom prst="roundRect">
            <a:avLst>
              <a:gd name="adj" fmla="val 26667"/>
            </a:avLst>
          </a:prstGeom>
          <a:solidFill>
            <a:srgbClr val="E9EDFF"/>
          </a:solidFill>
          <a:ln w="28575">
            <a:solidFill>
              <a:srgbClr val="2348FF"/>
            </a:solidFill>
            <a:prstDash val="solid"/>
          </a:ln>
        </p:spPr>
      </p:sp>
      <p:sp>
        <p:nvSpPr>
          <p:cNvPr id="20" name="text-491"/>
          <p:cNvSpPr txBox="1"/>
          <p:nvPr/>
        </p:nvSpPr>
        <p:spPr>
          <a:xfrm>
            <a:off x="5080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7F5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seller_shipment</a:t>
            </a:r>
            <a:endParaRPr lang="en-US" sz="1400" dirty="0"/>
          </a:p>
        </p:txBody>
      </p:sp>
      <p:sp>
        <p:nvSpPr>
          <p:cNvPr id="21" name="text-492"/>
          <p:cNvSpPr txBox="1"/>
          <p:nvPr/>
        </p:nvSpPr>
        <p:spPr>
          <a:xfrm>
            <a:off x="5080000" y="3810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отгрузки пары и флаг «успел ли»</a:t>
            </a:r>
            <a:endParaRPr lang="en-US" sz="950" dirty="0"/>
          </a:p>
        </p:txBody>
      </p:sp>
      <p:sp>
        <p:nvSpPr>
          <p:cNvPr id="22" name="shape-493"/>
          <p:cNvSpPr/>
          <p:nvPr/>
        </p:nvSpPr>
        <p:spPr>
          <a:xfrm>
            <a:off x="5080000" y="40640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3" name="shape-494"/>
          <p:cNvSpPr/>
          <p:nvPr/>
        </p:nvSpPr>
        <p:spPr>
          <a:xfrm>
            <a:off x="5080000" y="44577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4" name="shape-495"/>
          <p:cNvSpPr/>
          <p:nvPr/>
        </p:nvSpPr>
        <p:spPr>
          <a:xfrm>
            <a:off x="5080000" y="48514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5" name="text-496"/>
          <p:cNvSpPr txBox="1"/>
          <p:nvPr/>
        </p:nvSpPr>
        <p:spPr>
          <a:xfrm>
            <a:off x="9017000" y="20955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3800" dirty="0"/>
          </a:p>
        </p:txBody>
      </p:sp>
      <p:sp>
        <p:nvSpPr>
          <p:cNvPr id="26" name="text-497"/>
          <p:cNvSpPr txBox="1"/>
          <p:nvPr/>
        </p:nvSpPr>
        <p:spPr>
          <a:xfrm>
            <a:off x="9017000" y="2667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1 заказ</a:t>
            </a:r>
            <a:endParaRPr lang="en-US" sz="1050" dirty="0"/>
          </a:p>
        </p:txBody>
      </p:sp>
      <p:sp>
        <p:nvSpPr>
          <p:cNvPr id="27" name="text-498"/>
          <p:cNvSpPr txBox="1"/>
          <p:nvPr/>
        </p:nvSpPr>
        <p:spPr>
          <a:xfrm>
            <a:off x="9017000" y="40640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100 010</a:t>
            </a:r>
            <a:endParaRPr lang="en-US" sz="3800" dirty="0"/>
          </a:p>
        </p:txBody>
      </p:sp>
      <p:sp>
        <p:nvSpPr>
          <p:cNvPr id="28" name="text-499"/>
          <p:cNvSpPr txBox="1"/>
          <p:nvPr/>
        </p:nvSpPr>
        <p:spPr>
          <a:xfrm>
            <a:off x="9017000" y="46355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заказ × продавец</a:t>
            </a:r>
            <a:endParaRPr lang="en-US" sz="1050" dirty="0"/>
          </a:p>
        </p:txBody>
      </p:sp>
      <p:sp>
        <p:nvSpPr>
          <p:cNvPr id="29" name="shape-500"/>
          <p:cNvSpPr/>
          <p:nvPr/>
        </p:nvSpPr>
        <p:spPr>
          <a:xfrm>
            <a:off x="762000" y="5588000"/>
            <a:ext cx="10668000" cy="571500"/>
          </a:xfrm>
          <a:prstGeom prst="roundRect">
            <a:avLst>
              <a:gd name="adj" fmla="val 28889"/>
            </a:avLst>
          </a:prstGeom>
          <a:solidFill>
            <a:srgbClr val="F0E4FF"/>
          </a:solidFill>
          <a:ln/>
        </p:spPr>
      </p:sp>
      <p:pic>
        <p:nvPicPr>
          <p:cNvPr id="30" name="pic-501" descr="W:\Projects\hacks\rwb-new\presentation\pptx\assets\ico-alert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759450"/>
            <a:ext cx="228600" cy="228600"/>
          </a:xfrm>
          <a:prstGeom prst="rect">
            <a:avLst/>
          </a:prstGeom>
        </p:spPr>
      </p:pic>
      <p:sp>
        <p:nvSpPr>
          <p:cNvPr id="31" name="text-502"/>
          <p:cNvSpPr txBox="1"/>
          <p:nvPr/>
        </p:nvSpPr>
        <p:spPr>
          <a:xfrm>
            <a:off x="1308100" y="5588000"/>
            <a:ext cx="9931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is_single_seller: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отгрузки в источнике одна на заказ, поэтому рейтинг продавца честен только для заказов с одним продавцом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15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15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2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2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18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25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25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9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25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25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9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225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225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9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25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9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225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225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9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225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225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9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73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2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2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225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2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15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15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2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2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225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2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31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315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31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15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801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31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31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3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135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3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135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-0.1019 L 0.1563 -0.1019 E" pathEditMode="relative" ptsTypes="">
                                      <p:cBhvr>
                                        <p:cTn id="99" dur="18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27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27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27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0" presetClass="entr" presetSubtype="0" fill="hold" grpId="0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0.0833 L 0.1563 0.0833 E" pathEditMode="relative" ptsTypes="">
                                      <p:cBhvr>
                                        <p:cTn id="114" dur="1800" repeatCount="indefinite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8" name="text-508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 А: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все пять контролей сошлись</a:t>
            </a:r>
            <a:endParaRPr lang="en-US" sz="3400" dirty="0"/>
          </a:p>
        </p:txBody>
      </p:sp>
      <p:sp>
        <p:nvSpPr>
          <p:cNvPr id="9" name="text-509"/>
          <p:cNvSpPr txBox="1"/>
          <p:nvPr/>
        </p:nvSpPr>
        <p:spPr>
          <a:xfrm>
            <a:off x="762000" y="1524000"/>
            <a:ext cx="571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4800" dirty="0"/>
          </a:p>
        </p:txBody>
      </p:sp>
      <p:sp>
        <p:nvSpPr>
          <p:cNvPr id="10" name="text-510"/>
          <p:cNvSpPr txBox="1"/>
          <p:nvPr/>
        </p:nvSpPr>
        <p:spPr>
          <a:xfrm>
            <a:off x="762000" y="22352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за 24 месяца, R$, товары без доставки по доставленным заказам</a:t>
            </a:r>
            <a:endParaRPr lang="en-US" sz="1050" dirty="0"/>
          </a:p>
        </p:txBody>
      </p:sp>
      <p:sp>
        <p:nvSpPr>
          <p:cNvPr id="11" name="line-511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12" name="geom-512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  <a:lnTo>
                  <a:pt x="10668000" y="2222500"/>
                </a:lnTo>
                <a:lnTo>
                  <a:pt x="0" y="2222500"/>
                </a:lnTo>
                <a:close/>
              </a:path>
            </a:pathLst>
          </a:custGeom>
          <a:solidFill>
            <a:srgbClr val="328EF9">
              <a:alpha val="22000"/>
            </a:srgbClr>
          </a:solidFill>
          <a:ln/>
        </p:spPr>
      </p:sp>
      <p:sp>
        <p:nvSpPr>
          <p:cNvPr id="13" name="geom-513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</a:path>
            </a:pathLst>
          </a:custGeom>
          <a:ln w="44450">
            <a:solidFill>
              <a:srgbClr val="2348FF"/>
            </a:solidFill>
            <a:prstDash val="solid"/>
          </a:ln>
        </p:spPr>
      </p:sp>
      <p:sp>
        <p:nvSpPr>
          <p:cNvPr id="14" name="run-514"/>
          <p:cNvSpPr/>
          <p:nvPr/>
        </p:nvSpPr>
        <p:spPr>
          <a:xfrm>
            <a:off x="704850" y="4768546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5" name="text-515"/>
          <p:cNvSpPr txBox="1"/>
          <p:nvPr/>
        </p:nvSpPr>
        <p:spPr>
          <a:xfrm>
            <a:off x="762000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сен 2016</a:t>
            </a:r>
            <a:endParaRPr lang="en-US" sz="950" dirty="0"/>
          </a:p>
        </p:txBody>
      </p:sp>
      <p:sp>
        <p:nvSpPr>
          <p:cNvPr id="16" name="text-516"/>
          <p:cNvSpPr txBox="1"/>
          <p:nvPr/>
        </p:nvSpPr>
        <p:spPr>
          <a:xfrm>
            <a:off x="2299804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2017</a:t>
            </a:r>
            <a:endParaRPr lang="en-US" sz="950" dirty="0"/>
          </a:p>
        </p:txBody>
      </p:sp>
      <p:sp>
        <p:nvSpPr>
          <p:cNvPr id="17" name="text-517"/>
          <p:cNvSpPr txBox="1"/>
          <p:nvPr/>
        </p:nvSpPr>
        <p:spPr>
          <a:xfrm>
            <a:off x="7865717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2018</a:t>
            </a:r>
            <a:endParaRPr lang="en-US" sz="950" dirty="0"/>
          </a:p>
        </p:txBody>
      </p:sp>
      <p:sp>
        <p:nvSpPr>
          <p:cNvPr id="18" name="shape-518"/>
          <p:cNvSpPr/>
          <p:nvPr/>
        </p:nvSpPr>
        <p:spPr>
          <a:xfrm>
            <a:off x="1619802" y="4756150"/>
            <a:ext cx="139700" cy="1397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19" name="text-519"/>
          <p:cNvSpPr txBox="1"/>
          <p:nvPr/>
        </p:nvSpPr>
        <p:spPr>
          <a:xfrm>
            <a:off x="1626152" y="42164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generate_series: ноябрь 2016 = 0, строка есть</a:t>
            </a:r>
            <a:endParaRPr lang="en-US" sz="950" dirty="0"/>
          </a:p>
        </p:txBody>
      </p:sp>
      <p:sp>
        <p:nvSpPr>
          <p:cNvPr id="20" name="line-520"/>
          <p:cNvSpPr/>
          <p:nvPr/>
        </p:nvSpPr>
        <p:spPr>
          <a:xfrm>
            <a:off x="762000" y="52705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21" name="text-521"/>
          <p:cNvSpPr txBox="1"/>
          <p:nvPr/>
        </p:nvSpPr>
        <p:spPr>
          <a:xfrm>
            <a:off x="762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226 987,93</a:t>
            </a:r>
            <a:endParaRPr lang="en-US" sz="2300" dirty="0"/>
          </a:p>
        </p:txBody>
      </p:sp>
      <p:sp>
        <p:nvSpPr>
          <p:cNvPr id="22" name="text-522"/>
          <p:cNvSpPr txBox="1"/>
          <p:nvPr/>
        </p:nvSpPr>
        <p:spPr>
          <a:xfrm>
            <a:off x="762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топ-продавец из Гуарибы: выручка от позиций</a:t>
            </a:r>
            <a:endParaRPr lang="en-US" sz="1000" dirty="0"/>
          </a:p>
        </p:txBody>
      </p:sp>
      <p:sp>
        <p:nvSpPr>
          <p:cNvPr id="23" name="text-523"/>
          <p:cNvSpPr txBox="1"/>
          <p:nvPr/>
        </p:nvSpPr>
        <p:spPr>
          <a:xfrm>
            <a:off x="3492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159,88</a:t>
            </a:r>
            <a:endParaRPr lang="en-US" sz="2300" dirty="0"/>
          </a:p>
        </p:txBody>
      </p:sp>
      <p:sp>
        <p:nvSpPr>
          <p:cNvPr id="24" name="text-524"/>
          <p:cNvSpPr txBox="1"/>
          <p:nvPr/>
        </p:nvSpPr>
        <p:spPr>
          <a:xfrm>
            <a:off x="3492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средний чек: заказ, потом среднее</a:t>
            </a:r>
            <a:endParaRPr lang="en-US" sz="1000" dirty="0"/>
          </a:p>
        </p:txBody>
      </p:sp>
      <p:sp>
        <p:nvSpPr>
          <p:cNvPr id="25" name="text-525"/>
          <p:cNvSpPr txBox="1"/>
          <p:nvPr/>
        </p:nvSpPr>
        <p:spPr>
          <a:xfrm>
            <a:off x="6223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 · 3,12%</a:t>
            </a:r>
            <a:endParaRPr lang="en-US" sz="2300" dirty="0"/>
          </a:p>
        </p:txBody>
      </p:sp>
      <p:sp>
        <p:nvSpPr>
          <p:cNvPr id="26" name="text-526"/>
          <p:cNvSpPr txBox="1"/>
          <p:nvPr/>
        </p:nvSpPr>
        <p:spPr>
          <a:xfrm>
            <a:off x="6223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 по customer_unique_id</a:t>
            </a:r>
            <a:endParaRPr lang="en-US" sz="1000" dirty="0"/>
          </a:p>
        </p:txBody>
      </p:sp>
      <p:sp>
        <p:nvSpPr>
          <p:cNvPr id="27" name="text-527"/>
          <p:cNvSpPr txBox="1"/>
          <p:nvPr/>
        </p:nvSpPr>
        <p:spPr>
          <a:xfrm>
            <a:off x="8953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2300" dirty="0"/>
          </a:p>
        </p:txBody>
      </p:sp>
      <p:sp>
        <p:nvSpPr>
          <p:cNvPr id="28" name="text-528"/>
          <p:cNvSpPr txBox="1"/>
          <p:nvPr/>
        </p:nvSpPr>
        <p:spPr>
          <a:xfrm>
            <a:off x="8953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 с «(без категории)»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3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44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44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35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25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59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25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9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8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25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225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6" presetClass="emph" presetSubtype="0" fill="hold" grpId="1" nodeType="withEffect">
                                  <p:stCondLst>
                                    <p:cond delay="855"/>
                                  </p:stCondLst>
                                  <p:childTnLst>
                                    <p:animScale>
                                      <p:cBhvr>
                                        <p:cTn id="37" dur="800" repeatCount="indefinite" accel="50000" decel="500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91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31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94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3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135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13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3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135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2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3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135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2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148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3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135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25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238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25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380 -0.0132 L 0.0761 0.0000 L 0.1141 0.0000 L 0.1522 -0.0366 L 0.1902 -0.0768 L 0.2283 -0.1178 L 0.2663 -0.1117 L 0.3043 -0.1605 L 0.3424 -0.1384 L 0.3804 -0.1580 L 0.4185 -0.1819 L 0.4565 -0.1992 L 0.4946 -0.2126 L 0.5326 -0.3240 L 0.5707 -0.2382 L 0.6087 -0.3033 L 0.6467 -0.2711 L 0.6848 -0.3127 L 0.7228 -0.3194 L 0.7609 -0.3207 L 0.7989 -0.2808 L 0.8370 -0.2847 L 0.8750 -0.2751 E" pathEditMode="relative" ptsTypes="">
                                      <p:cBhvr>
                                        <p:cTn id="74" dur="600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8" grpId="1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8" name="pic-534" descr="W:\Projects\hacks\rwb-new\presentation\pptx\assets\wm-0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9" name="pic-535" descr="W:\Projects\hacks\rwb-new\presentation\pptx\assets\wm-1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10" name="pic-536" descr="W:\Projects\hacks\rwb-new\presentation\pptx\assets\wm-2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11" name="pic-537" descr="W:\Projects\hacks\rwb-new\presentation\pptx\assets\wm-3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12" name="pic-538" descr="W:\Projects\hacks\rwb-new\presentation\pptx\assets\wm-4-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sp>
        <p:nvSpPr>
          <p:cNvPr id="13" name="text-539"/>
          <p:cNvSpPr txBox="1"/>
          <p:nvPr/>
        </p:nvSpPr>
        <p:spPr>
          <a:xfrm>
            <a:off x="762000" y="4318000"/>
            <a:ext cx="1066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Готовы к вашим </a:t>
            </a:r>
            <a:r>
              <a:rPr lang="en-US" sz="6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вопросам</a:t>
            </a:r>
            <a:endParaRPr lang="en-US" sz="5800" dirty="0"/>
          </a:p>
        </p:txBody>
      </p:sp>
      <p:sp>
        <p:nvSpPr>
          <p:cNvPr id="14" name="text-540"/>
          <p:cNvSpPr txBox="1"/>
          <p:nvPr/>
        </p:nvSpPr>
        <p:spPr>
          <a:xfrm>
            <a:off x="762000" y="5461000"/>
            <a:ext cx="1066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44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443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44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44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95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189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44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0" presetClass="path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30" dur="2600" repeatCount="indefinite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558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3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3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44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1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1835</Words>
  <Application>Microsoft Office PowerPoint</Application>
  <PresentationFormat>Widescreen</PresentationFormat>
  <Paragraphs>297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Inter</vt:lpstr>
      <vt:lpstr>Consolas</vt:lpstr>
      <vt:lpstr>Arial</vt:lpstr>
      <vt:lpstr>PT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Datum: модель данных Capibara</dc:title>
  <dc:subject>PptxGenJS Presentation</dc:subject>
  <dc:creator>Команда RWB</dc:creator>
  <cp:lastModifiedBy>MIkhail Khorokhorin</cp:lastModifiedBy>
  <cp:revision>2</cp:revision>
  <dcterms:created xsi:type="dcterms:W3CDTF">2026-10-28T13:07:34Z</dcterms:created>
  <dcterms:modified xsi:type="dcterms:W3CDTF">2026-10-28T13:07:36Z</dcterms:modified>
</cp:coreProperties>
</file>